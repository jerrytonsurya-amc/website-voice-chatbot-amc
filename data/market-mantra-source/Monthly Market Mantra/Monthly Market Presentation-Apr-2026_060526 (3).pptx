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551" r:id="rId3"/>
    <p:sldId id="508" r:id="rId4"/>
    <p:sldId id="566" r:id="rId5"/>
    <p:sldId id="582" r:id="rId6"/>
    <p:sldId id="455" r:id="rId7"/>
    <p:sldId id="550" r:id="rId8"/>
    <p:sldId id="590" r:id="rId9"/>
    <p:sldId id="588" r:id="rId10"/>
    <p:sldId id="585" r:id="rId11"/>
    <p:sldId id="497" r:id="rId12"/>
    <p:sldId id="450" r:id="rId13"/>
    <p:sldId id="573" r:id="rId14"/>
    <p:sldId id="452" r:id="rId15"/>
    <p:sldId id="260" r:id="rId16"/>
    <p:sldId id="503" r:id="rId17"/>
    <p:sldId id="502" r:id="rId18"/>
    <p:sldId id="461" r:id="rId19"/>
    <p:sldId id="589" r:id="rId20"/>
    <p:sldId id="580" r:id="rId21"/>
    <p:sldId id="496" r:id="rId22"/>
    <p:sldId id="559" r:id="rId23"/>
    <p:sldId id="552" r:id="rId24"/>
    <p:sldId id="261" r:id="rId25"/>
    <p:sldId id="298" r:id="rId26"/>
  </p:sldIdLst>
  <p:sldSz cx="9144000" cy="5143500" type="screen16x9"/>
  <p:notesSz cx="6858000" cy="9144000"/>
  <p:embeddedFontLst>
    <p:embeddedFont>
      <p:font typeface="Bebas Neue" panose="020B0606020202050201" pitchFamily="34" charset="0"/>
      <p:regular r:id="rId28"/>
    </p:embeddedFont>
    <p:embeddedFont>
      <p:font typeface="DM Sans" pitchFamily="2" charset="0"/>
      <p:regular r:id="rId29"/>
      <p:bold r:id="rId30"/>
      <p:italic r:id="rId31"/>
      <p:boldItalic r:id="rId32"/>
    </p:embeddedFont>
    <p:embeddedFont>
      <p:font typeface="DM Sans Medium" pitchFamily="2" charset="0"/>
      <p:regular r:id="rId33"/>
      <p:bold r:id="rId34"/>
      <p:italic r:id="rId35"/>
      <p:boldItalic r:id="rId36"/>
    </p:embeddedFont>
    <p:embeddedFont>
      <p:font typeface="Montserrat" panose="00000500000000000000" pitchFamily="2" charset="0"/>
      <p:regular r:id="rId37"/>
      <p:bold r:id="rId38"/>
      <p:italic r:id="rId39"/>
      <p:boldItalic r:id="rId40"/>
    </p:embeddedFont>
    <p:embeddedFont>
      <p:font typeface="Nunito Light" pitchFamily="2"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gtpNPjNvlHWwJ9kNntkaGnj72nc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A26D13-1640-5731-07C0-2633E89926DF}" name="ajay bhanushali" initials="ab" userId="7b362fd27c767146" providerId="Windows Live"/>
  <p188:author id="{0EA99517-056F-B13A-5DBF-44FDDDC7429F}" name="Ajay Bhanushali" initials="AR" userId="S::ajay@shriramamc.in::cb6c4228-ba46-4e04-8e35-8344592da834" providerId="AD"/>
  <p188:author id="{953B9D5E-DB98-3C3D-ED2E-F6F0EB4CF391}" name="Sheetal Keswani" initials="SK" userId="093a91d09d0f67a5" providerId="Windows Live"/>
  <p188:author id="{E84E6873-F220-4674-57D1-0CDCF9F38013}" name="Gargi Bhattacharyya Banerjee" initials="GB" userId="e1c9d0a53214f6ac" providerId="Windows Live"/>
  <p188:author id="{E9E5827F-8045-D629-AFD7-1463DEBBDFF4}" name="Gargi" initials="G" userId="S::gargi@shriramamc.in::34837e9c-ce14-468e-9e73-8e1968613f58" providerId="AD"/>
  <p188:author id="{7FE69591-7E67-9B37-9C72-CF5BE52CD564}" name="Sheetal Keswani" initials="SK" userId="S::sheetal@shriramamc.in::bf30985f-1661-43ee-8fa6-db08001090d7" providerId="AD"/>
  <p188:author id="{C81E1A97-3728-CC8F-5A0E-CB0099683B7A}" name="Shibangi Choudhury" initials="SC" userId="S::shibangi.choudhury@shriramamc.in::381f474d-aeb1-47f1-ad8d-9ca6d716be72" providerId="AD"/>
  <p188:author id="{316931B9-E745-2BAE-02A8-76DFFA56C75B}" name="Ajay Ramesh Bhanushali" initials="ARB" userId="Ajay Ramesh Bhanushali" providerId="None"/>
  <p188:author id="{AA075AEC-8ACF-3BC0-D21D-763E3103F0B4}" name="ajay bhanushali" initials="ab" userId="a2a0343971f8c688"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eetal Keswani" initials="SK" lastIdx="1" clrIdx="0">
    <p:extLst>
      <p:ext uri="{19B8F6BF-5375-455C-9EA6-DF929625EA0E}">
        <p15:presenceInfo xmlns:p15="http://schemas.microsoft.com/office/powerpoint/2012/main" userId="Sheetal Keswani" providerId="None"/>
      </p:ext>
    </p:extLst>
  </p:cmAuthor>
  <p:cmAuthor id="2" name="Gargi Bhattacharyya Banerjee" initials="GB" lastIdx="7" clrIdx="1">
    <p:extLst>
      <p:ext uri="{19B8F6BF-5375-455C-9EA6-DF929625EA0E}">
        <p15:presenceInfo xmlns:p15="http://schemas.microsoft.com/office/powerpoint/2012/main" userId="e1c9d0a53214f6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999999"/>
    <a:srgbClr val="66CCFF"/>
    <a:srgbClr val="000000"/>
    <a:srgbClr val="66FFFF"/>
    <a:srgbClr val="CCCCFF"/>
    <a:srgbClr val="99CCFF"/>
    <a:srgbClr val="003300"/>
    <a:srgbClr val="FFCC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8A06C3-4186-4947-AB97-5CE784B852D7}">
  <a:tblStyle styleId="{C28A06C3-4186-4947-AB97-5CE784B852D7}"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FBFC67-1CD7-423C-8FB7-7E03140B58E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00" autoAdjust="0"/>
  </p:normalViewPr>
  <p:slideViewPr>
    <p:cSldViewPr snapToGrid="0">
      <p:cViewPr varScale="1">
        <p:scale>
          <a:sx n="139" d="100"/>
          <a:sy n="139" d="100"/>
        </p:scale>
        <p:origin x="850" y="101"/>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93"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287028663503824E-2"/>
          <c:y val="0.1681280439578737"/>
          <c:w val="0.91990572876723664"/>
          <c:h val="0.70357532364817055"/>
        </c:manualLayout>
      </c:layout>
      <c:barChart>
        <c:barDir val="col"/>
        <c:grouping val="clustered"/>
        <c:varyColors val="0"/>
        <c:ser>
          <c:idx val="0"/>
          <c:order val="0"/>
          <c:tx>
            <c:strRef>
              <c:f>Sheet1!$B$1</c:f>
              <c:strCache>
                <c:ptCount val="1"/>
                <c:pt idx="0">
                  <c:v>NIFTY 50</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Sheet1!$B$2:$B$5</c:f>
              <c:numCache>
                <c:formatCode>0.0%</c:formatCode>
                <c:ptCount val="4"/>
                <c:pt idx="0">
                  <c:v>7.4610190135862453E-2</c:v>
                </c:pt>
                <c:pt idx="1">
                  <c:v>-5.225379285286913E-2</c:v>
                </c:pt>
                <c:pt idx="2">
                  <c:v>-6.7045458963303939E-2</c:v>
                </c:pt>
                <c:pt idx="3">
                  <c:v>-1.3834438773413615E-2</c:v>
                </c:pt>
              </c:numCache>
            </c:numRef>
          </c:val>
          <c:extLst>
            <c:ext xmlns:c16="http://schemas.microsoft.com/office/drawing/2014/chart" uri="{C3380CC4-5D6E-409C-BE32-E72D297353CC}">
              <c16:uniqueId val="{00000000-856F-42EA-9694-51B0AD87DA68}"/>
            </c:ext>
          </c:extLst>
        </c:ser>
        <c:ser>
          <c:idx val="1"/>
          <c:order val="1"/>
          <c:tx>
            <c:strRef>
              <c:f>Sheet1!$C$1</c:f>
              <c:strCache>
                <c:ptCount val="1"/>
                <c:pt idx="0">
                  <c:v>NIFTY MIDCAP 50</c:v>
                </c:pt>
              </c:strCache>
            </c:strRef>
          </c:tx>
          <c:spPr>
            <a:solidFill>
              <a:srgbClr val="FFC000"/>
            </a:solidFill>
            <a:ln>
              <a:noFill/>
            </a:ln>
            <a:effectLst/>
          </c:spPr>
          <c:invertIfNegative val="0"/>
          <c:dLbls>
            <c:dLbl>
              <c:idx val="0"/>
              <c:layout>
                <c:manualLayout>
                  <c:x val="-3.5154770493896668E-3"/>
                  <c:y val="-7.97393376529031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6F-42EA-9694-51B0AD87DA68}"/>
                </c:ext>
              </c:extLst>
            </c:dLbl>
            <c:dLbl>
              <c:idx val="2"/>
              <c:layout>
                <c:manualLayout>
                  <c:x val="0"/>
                  <c:y val="-0.11439223495640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C3-41B2-AA16-2D43B794ECCD}"/>
                </c:ext>
              </c:extLst>
            </c:dLbl>
            <c:dLbl>
              <c:idx val="3"/>
              <c:layout>
                <c:manualLayout>
                  <c:x val="1.7327702603139396E-2"/>
                  <c:y val="-4.97357543288708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Sheet1!$C$2:$C$5</c:f>
              <c:numCache>
                <c:formatCode>0.0%</c:formatCode>
                <c:ptCount val="4"/>
                <c:pt idx="0">
                  <c:v>0.12675069326952926</c:v>
                </c:pt>
                <c:pt idx="1">
                  <c:v>1.1336917616401765E-2</c:v>
                </c:pt>
                <c:pt idx="2">
                  <c:v>-7.2796551866072257E-3</c:v>
                </c:pt>
                <c:pt idx="3">
                  <c:v>0.10241542108253165</c:v>
                </c:pt>
              </c:numCache>
            </c:numRef>
          </c:val>
          <c:extLst>
            <c:ext xmlns:c16="http://schemas.microsoft.com/office/drawing/2014/chart" uri="{C3380CC4-5D6E-409C-BE32-E72D297353CC}">
              <c16:uniqueId val="{00000002-856F-42EA-9694-51B0AD87DA68}"/>
            </c:ext>
          </c:extLst>
        </c:ser>
        <c:ser>
          <c:idx val="2"/>
          <c:order val="2"/>
          <c:tx>
            <c:strRef>
              <c:f>Sheet1!$D$1</c:f>
              <c:strCache>
                <c:ptCount val="1"/>
                <c:pt idx="0">
                  <c:v>NIFTY SMALLCAP 100</c:v>
                </c:pt>
              </c:strCache>
            </c:strRef>
          </c:tx>
          <c:spPr>
            <a:solidFill>
              <a:schemeClr val="tx1">
                <a:lumMod val="50000"/>
                <a:lumOff val="50000"/>
              </a:schemeClr>
            </a:solidFill>
            <a:ln>
              <a:noFill/>
            </a:ln>
            <a:effectLst/>
          </c:spPr>
          <c:invertIfNegative val="0"/>
          <c:dLbls>
            <c:dLbl>
              <c:idx val="1"/>
              <c:layout>
                <c:manualLayout>
                  <c:x val="0"/>
                  <c:y val="-7.46036314933062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Sheet1!$D$2:$D$5</c:f>
              <c:numCache>
                <c:formatCode>0.0%</c:formatCode>
                <c:ptCount val="4"/>
                <c:pt idx="0">
                  <c:v>0.18438482484642016</c:v>
                </c:pt>
                <c:pt idx="1">
                  <c:v>6.6831169908348365E-2</c:v>
                </c:pt>
                <c:pt idx="2">
                  <c:v>-2.0328277332869016E-2</c:v>
                </c:pt>
                <c:pt idx="3">
                  <c:v>9.4736106171556145E-2</c:v>
                </c:pt>
              </c:numCache>
            </c:numRef>
          </c:val>
          <c:extLst>
            <c:ext xmlns:c16="http://schemas.microsoft.com/office/drawing/2014/chart" uri="{C3380CC4-5D6E-409C-BE32-E72D297353CC}">
              <c16:uniqueId val="{00000003-856F-42EA-9694-51B0AD87DA68}"/>
            </c:ext>
          </c:extLst>
        </c:ser>
        <c:ser>
          <c:idx val="3"/>
          <c:order val="3"/>
          <c:tx>
            <c:strRef>
              <c:f>Sheet1!$E$1</c:f>
              <c:strCache>
                <c:ptCount val="1"/>
                <c:pt idx="0">
                  <c:v>NIFTY NEXT 50</c:v>
                </c:pt>
              </c:strCache>
            </c:strRef>
          </c:tx>
          <c:spPr>
            <a:solidFill>
              <a:srgbClr val="FF9966"/>
            </a:solidFill>
            <a:ln>
              <a:noFill/>
            </a:ln>
            <a:effectLst/>
          </c:spPr>
          <c:invertIfNegative val="0"/>
          <c:dLbls>
            <c:dLbl>
              <c:idx val="1"/>
              <c:layout>
                <c:manualLayout>
                  <c:x val="-5.1983107809418193E-3"/>
                  <c:y val="1.49207262986612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C3-41B2-AA16-2D43B794ECCD}"/>
                </c:ext>
              </c:extLst>
            </c:dLbl>
            <c:dLbl>
              <c:idx val="2"/>
              <c:layout>
                <c:manualLayout>
                  <c:x val="2.1092999366379456E-2"/>
                  <c:y val="-1.0573200682679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6F-42EA-9694-51B0AD87DA68}"/>
                </c:ext>
              </c:extLst>
            </c:dLbl>
            <c:spPr>
              <a:noFill/>
              <a:ln>
                <a:noFill/>
              </a:ln>
              <a:effectLst/>
            </c:spPr>
            <c:txPr>
              <a:bodyPr rot="0" spcFirstLastPara="1" vertOverflow="ellipsis" vert="horz" wrap="square" anchor="ctr" anchorCtr="1"/>
              <a:lstStyle/>
              <a:p>
                <a:pPr algn="ct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Sheet1!$E$2:$E$5</c:f>
              <c:numCache>
                <c:formatCode>0.0%</c:formatCode>
                <c:ptCount val="4"/>
                <c:pt idx="0">
                  <c:v>0.15400382437058591</c:v>
                </c:pt>
                <c:pt idx="1">
                  <c:v>2.6592776959264874E-2</c:v>
                </c:pt>
                <c:pt idx="2">
                  <c:v>-2.5900558183166167E-3</c:v>
                </c:pt>
                <c:pt idx="3">
                  <c:v>7.9602256124547077E-2</c:v>
                </c:pt>
              </c:numCache>
            </c:numRef>
          </c:val>
          <c:extLst>
            <c:ext xmlns:c16="http://schemas.microsoft.com/office/drawing/2014/chart" uri="{C3380CC4-5D6E-409C-BE32-E72D297353CC}">
              <c16:uniqueId val="{00000005-856F-42EA-9694-51B0AD87DA68}"/>
            </c:ext>
          </c:extLst>
        </c:ser>
        <c:dLbls>
          <c:showLegendKey val="0"/>
          <c:showVal val="0"/>
          <c:showCatName val="0"/>
          <c:showSerName val="0"/>
          <c:showPercent val="0"/>
          <c:showBubbleSize val="0"/>
        </c:dLbls>
        <c:gapWidth val="219"/>
        <c:axId val="602951328"/>
        <c:axId val="602952312"/>
      </c:barChart>
      <c:catAx>
        <c:axId val="6029513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02952312"/>
        <c:crosses val="autoZero"/>
        <c:auto val="1"/>
        <c:lblAlgn val="ctr"/>
        <c:lblOffset val="100"/>
        <c:noMultiLvlLbl val="0"/>
      </c:catAx>
      <c:valAx>
        <c:axId val="602952312"/>
        <c:scaling>
          <c:orientation val="minMax"/>
        </c:scaling>
        <c:delete val="1"/>
        <c:axPos val="l"/>
        <c:numFmt formatCode="0.0%" sourceLinked="1"/>
        <c:majorTickMark val="none"/>
        <c:minorTickMark val="none"/>
        <c:tickLblPos val="nextTo"/>
        <c:crossAx val="602951328"/>
        <c:crosses val="autoZero"/>
        <c:crossBetween val="between"/>
      </c:valAx>
      <c:spPr>
        <a:noFill/>
        <a:ln>
          <a:solidFill>
            <a:schemeClr val="bg1"/>
          </a:solid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solidFill>
      <a:round/>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sz="1200" dirty="0"/>
              <a:t>Global Equity Market  Returns (US$)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1623348362889675E-2"/>
          <c:y val="0.1181596478421145"/>
          <c:w val="0.89495408021435696"/>
          <c:h val="0.67852892185611924"/>
        </c:manualLayout>
      </c:layout>
      <c:barChart>
        <c:barDir val="col"/>
        <c:grouping val="clustered"/>
        <c:varyColors val="0"/>
        <c:ser>
          <c:idx val="0"/>
          <c:order val="0"/>
          <c:tx>
            <c:strRef>
              <c:f>Sheet1!$B$1</c:f>
              <c:strCache>
                <c:ptCount val="1"/>
                <c:pt idx="0">
                  <c:v>1M</c:v>
                </c:pt>
              </c:strCache>
            </c:strRef>
          </c:tx>
          <c:spPr>
            <a:solidFill>
              <a:schemeClr val="bg2"/>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Sheet1!$B$2:$B$15</c:f>
              <c:numCache>
                <c:formatCode>0%</c:formatCode>
                <c:ptCount val="14"/>
                <c:pt idx="0" formatCode="0.0%">
                  <c:v>9.1429999999999997E-2</c:v>
                </c:pt>
                <c:pt idx="1">
                  <c:v>9.1399999999999995E-2</c:v>
                </c:pt>
                <c:pt idx="2">
                  <c:v>0.10428</c:v>
                </c:pt>
                <c:pt idx="3">
                  <c:v>3.7109999999999997E-2</c:v>
                </c:pt>
                <c:pt idx="4">
                  <c:v>7.0169999999999996E-2</c:v>
                </c:pt>
                <c:pt idx="5">
                  <c:v>4.1390000000000003E-2</c:v>
                </c:pt>
                <c:pt idx="6">
                  <c:v>4.9200000000000001E-2</c:v>
                </c:pt>
                <c:pt idx="7">
                  <c:v>7.9549999999999996E-2</c:v>
                </c:pt>
                <c:pt idx="8">
                  <c:v>1.8550000000000001E-2</c:v>
                </c:pt>
                <c:pt idx="9">
                  <c:v>2.0959999999999999E-2</c:v>
                </c:pt>
                <c:pt idx="10">
                  <c:v>5.4719999999999998E-2</c:v>
                </c:pt>
                <c:pt idx="11">
                  <c:v>3.5979999999999998E-2</c:v>
                </c:pt>
                <c:pt idx="12">
                  <c:v>2.197E-2</c:v>
                </c:pt>
              </c:numCache>
            </c:numRef>
          </c:val>
          <c:extLst>
            <c:ext xmlns:c16="http://schemas.microsoft.com/office/drawing/2014/chart" uri="{C3380CC4-5D6E-409C-BE32-E72D297353CC}">
              <c16:uniqueId val="{00000000-A671-4713-9528-E5E7D7BE7E47}"/>
            </c:ext>
          </c:extLst>
        </c:ser>
        <c:ser>
          <c:idx val="1"/>
          <c:order val="1"/>
          <c:tx>
            <c:strRef>
              <c:f>Sheet1!$C$1</c:f>
              <c:strCache>
                <c:ptCount val="1"/>
                <c:pt idx="0">
                  <c:v>3M</c:v>
                </c:pt>
              </c:strCache>
            </c:strRef>
          </c:tx>
          <c:spPr>
            <a:solidFill>
              <a:schemeClr val="tx2">
                <a:lumMod val="75000"/>
              </a:schemeClr>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Sheet1!$C$2:$C$15</c:f>
              <c:numCache>
                <c:formatCode>0%</c:formatCode>
                <c:ptCount val="14"/>
                <c:pt idx="0" formatCode="0.0%">
                  <c:v>-5.9639999999999999E-2</c:v>
                </c:pt>
                <c:pt idx="1">
                  <c:v>2.997E-2</c:v>
                </c:pt>
                <c:pt idx="2">
                  <c:v>3.8580000000000003E-2</c:v>
                </c:pt>
                <c:pt idx="3">
                  <c:v>5.5E-2</c:v>
                </c:pt>
                <c:pt idx="4">
                  <c:v>2.5020000000000001E-2</c:v>
                </c:pt>
                <c:pt idx="5">
                  <c:v>-0.11189</c:v>
                </c:pt>
                <c:pt idx="6">
                  <c:v>7.7799999999999996E-3</c:v>
                </c:pt>
                <c:pt idx="7">
                  <c:v>-3.032E-2</c:v>
                </c:pt>
                <c:pt idx="8">
                  <c:v>-3.1199999999999999E-2</c:v>
                </c:pt>
                <c:pt idx="9">
                  <c:v>-0.12228</c:v>
                </c:pt>
                <c:pt idx="10">
                  <c:v>-1.489E-2</c:v>
                </c:pt>
                <c:pt idx="11">
                  <c:v>-1.376E-2</c:v>
                </c:pt>
                <c:pt idx="12">
                  <c:v>-9.7309999999999994E-2</c:v>
                </c:pt>
              </c:numCache>
            </c:numRef>
          </c:val>
          <c:extLst>
            <c:ext xmlns:c16="http://schemas.microsoft.com/office/drawing/2014/chart" uri="{C3380CC4-5D6E-409C-BE32-E72D297353CC}">
              <c16:uniqueId val="{00000001-A671-4713-9528-E5E7D7BE7E47}"/>
            </c:ext>
          </c:extLst>
        </c:ser>
        <c:ser>
          <c:idx val="2"/>
          <c:order val="2"/>
          <c:tx>
            <c:strRef>
              <c:f>Sheet1!$D$1</c:f>
              <c:strCache>
                <c:ptCount val="1"/>
                <c:pt idx="0">
                  <c:v>1 Yr</c:v>
                </c:pt>
              </c:strCache>
            </c:strRef>
          </c:tx>
          <c:spPr>
            <a:solidFill>
              <a:schemeClr val="tx1"/>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Sheet1!$D$2:$D$15</c:f>
              <c:numCache>
                <c:formatCode>0%</c:formatCode>
                <c:ptCount val="14"/>
                <c:pt idx="0" formatCode="0.0%">
                  <c:v>-9.5030000000000003E-2</c:v>
                </c:pt>
                <c:pt idx="1">
                  <c:v>0.28138000000000002</c:v>
                </c:pt>
                <c:pt idx="2">
                  <c:v>0.29219000000000001</c:v>
                </c:pt>
                <c:pt idx="3">
                  <c:v>0.46820000000000001</c:v>
                </c:pt>
                <c:pt idx="4">
                  <c:v>0.17959</c:v>
                </c:pt>
                <c:pt idx="5">
                  <c:v>7.6850000000000002E-2</c:v>
                </c:pt>
                <c:pt idx="6">
                  <c:v>0.24423</c:v>
                </c:pt>
                <c:pt idx="7">
                  <c:v>6.5920000000000006E-2</c:v>
                </c:pt>
                <c:pt idx="8">
                  <c:v>0.17224999999999999</c:v>
                </c:pt>
                <c:pt idx="9">
                  <c:v>4.1320000000000003E-2</c:v>
                </c:pt>
                <c:pt idx="10">
                  <c:v>9.9909999999999999E-2</c:v>
                </c:pt>
                <c:pt idx="11">
                  <c:v>0.25707999999999998</c:v>
                </c:pt>
                <c:pt idx="12">
                  <c:v>0.44982</c:v>
                </c:pt>
              </c:numCache>
            </c:numRef>
          </c:val>
          <c:extLst>
            <c:ext xmlns:c16="http://schemas.microsoft.com/office/drawing/2014/chart" uri="{C3380CC4-5D6E-409C-BE32-E72D297353CC}">
              <c16:uniqueId val="{00000002-A671-4713-9528-E5E7D7BE7E47}"/>
            </c:ext>
          </c:extLst>
        </c:ser>
        <c:ser>
          <c:idx val="3"/>
          <c:order val="3"/>
          <c:tx>
            <c:strRef>
              <c:f>Sheet1!$E$1</c:f>
              <c:strCache>
                <c:ptCount val="1"/>
                <c:pt idx="0">
                  <c:v>Column1</c:v>
                </c:pt>
              </c:strCache>
            </c:strRef>
          </c:tx>
          <c:spPr>
            <a:solidFill>
              <a:schemeClr val="accent4"/>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Sheet1!$E$2:$E$15</c:f>
            </c:numRef>
          </c:val>
          <c:extLst>
            <c:ext xmlns:c16="http://schemas.microsoft.com/office/drawing/2014/chart" uri="{C3380CC4-5D6E-409C-BE32-E72D297353CC}">
              <c16:uniqueId val="{00000003-A671-4713-9528-E5E7D7BE7E47}"/>
            </c:ext>
          </c:extLst>
        </c:ser>
        <c:ser>
          <c:idx val="4"/>
          <c:order val="4"/>
          <c:tx>
            <c:strRef>
              <c:f>Sheet1!$F$1</c:f>
              <c:strCache>
                <c:ptCount val="1"/>
                <c:pt idx="0">
                  <c:v>Column2</c:v>
                </c:pt>
              </c:strCache>
            </c:strRef>
          </c:tx>
          <c:spPr>
            <a:solidFill>
              <a:schemeClr val="accent5"/>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Sheet1!$F$2:$F$15</c:f>
            </c:numRef>
          </c:val>
          <c:extLst>
            <c:ext xmlns:c16="http://schemas.microsoft.com/office/drawing/2014/chart" uri="{C3380CC4-5D6E-409C-BE32-E72D297353CC}">
              <c16:uniqueId val="{00000004-A671-4713-9528-E5E7D7BE7E47}"/>
            </c:ext>
          </c:extLst>
        </c:ser>
        <c:ser>
          <c:idx val="5"/>
          <c:order val="5"/>
          <c:tx>
            <c:strRef>
              <c:f>Sheet1!$G$1</c:f>
              <c:strCache>
                <c:ptCount val="1"/>
                <c:pt idx="0">
                  <c:v>Column3</c:v>
                </c:pt>
              </c:strCache>
            </c:strRef>
          </c:tx>
          <c:spPr>
            <a:solidFill>
              <a:schemeClr val="accent6"/>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Sheet1!$G$2:$G$15</c:f>
            </c:numRef>
          </c:val>
          <c:extLst>
            <c:ext xmlns:c16="http://schemas.microsoft.com/office/drawing/2014/chart" uri="{C3380CC4-5D6E-409C-BE32-E72D297353CC}">
              <c16:uniqueId val="{00000005-A671-4713-9528-E5E7D7BE7E47}"/>
            </c:ext>
          </c:extLst>
        </c:ser>
        <c:dLbls>
          <c:showLegendKey val="0"/>
          <c:showVal val="0"/>
          <c:showCatName val="0"/>
          <c:showSerName val="0"/>
          <c:showPercent val="0"/>
          <c:showBubbleSize val="0"/>
        </c:dLbls>
        <c:gapWidth val="150"/>
        <c:axId val="146150304"/>
        <c:axId val="146152264"/>
      </c:barChart>
      <c:catAx>
        <c:axId val="1461503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2264"/>
        <c:crosses val="autoZero"/>
        <c:auto val="1"/>
        <c:lblAlgn val="ctr"/>
        <c:lblOffset val="100"/>
        <c:noMultiLvlLbl val="0"/>
      </c:catAx>
      <c:valAx>
        <c:axId val="14615226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0304"/>
        <c:crosses val="autoZero"/>
        <c:crossBetween val="between"/>
      </c:valAx>
      <c:spPr>
        <a:noFill/>
        <a:ln>
          <a:noFill/>
        </a:ln>
        <a:effectLst/>
      </c:spPr>
    </c:plotArea>
    <c:legend>
      <c:legendPos val="b"/>
      <c:layout>
        <c:manualLayout>
          <c:xMode val="edge"/>
          <c:yMode val="edge"/>
          <c:x val="6.2121020520126573E-2"/>
          <c:y val="2.0658309199496495E-2"/>
          <c:w val="0.2218538041754437"/>
          <c:h val="8.2883265579998214E-2"/>
        </c:manualLayout>
      </c:layout>
      <c:overlay val="0"/>
      <c:spPr>
        <a:noFill/>
        <a:ln>
          <a:noFill/>
        </a:ln>
        <a:effectLst/>
      </c:spPr>
      <c:txPr>
        <a:bodyPr rot="0" spcFirstLastPara="1" vertOverflow="ellipsis" vert="horz" wrap="square" anchor="ctr" anchorCtr="1"/>
        <a:lstStyle/>
        <a:p>
          <a:pPr algn="ct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100" b="1" dirty="0">
                <a:solidFill>
                  <a:schemeClr val="tx1"/>
                </a:solidFill>
              </a:rPr>
              <a:t>FII &amp; DII Flows (Rs. Cr</a:t>
            </a:r>
            <a:r>
              <a:rPr lang="en-US" sz="1100" dirty="0">
                <a:solidFill>
                  <a:schemeClr val="tx1"/>
                </a:solidFill>
              </a:rPr>
              <a:t>)</a:t>
            </a:r>
          </a:p>
        </c:rich>
      </c:tx>
      <c:layout>
        <c:manualLayout>
          <c:xMode val="edge"/>
          <c:yMode val="edge"/>
          <c:x val="0.36684473454873756"/>
          <c:y val="3.2429289375413346E-2"/>
        </c:manualLayout>
      </c:layout>
      <c:overlay val="0"/>
      <c:spPr>
        <a:noFill/>
        <a:ln>
          <a:noFill/>
        </a:ln>
        <a:effectLst/>
      </c:spPr>
      <c:txPr>
        <a:bodyPr rot="0" spcFirstLastPara="1" vertOverflow="ellipsis" vert="horz" wrap="square" anchor="ctr" anchorCtr="1"/>
        <a:lstStyle/>
        <a:p>
          <a:pPr>
            <a:defRPr sz="11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41800910207325E-2"/>
          <c:y val="0.15615770854730116"/>
          <c:w val="0.96920302680054904"/>
          <c:h val="0.72542394157252088"/>
        </c:manualLayout>
      </c:layout>
      <c:barChart>
        <c:barDir val="col"/>
        <c:grouping val="clustered"/>
        <c:varyColors val="0"/>
        <c:ser>
          <c:idx val="0"/>
          <c:order val="0"/>
          <c:tx>
            <c:strRef>
              <c:f>Sheet1!$B$1</c:f>
              <c:strCache>
                <c:ptCount val="1"/>
                <c:pt idx="0">
                  <c:v>FII</c:v>
                </c:pt>
              </c:strCache>
            </c:strRef>
          </c:tx>
          <c:spPr>
            <a:solidFill>
              <a:srgbClr val="FFC000"/>
            </a:solidFill>
            <a:ln>
              <a:noFill/>
            </a:ln>
            <a:effectLst/>
          </c:spPr>
          <c:invertIfNegative val="0"/>
          <c:dLbls>
            <c:dLbl>
              <c:idx val="35"/>
              <c:layout>
                <c:manualLayout>
                  <c:x val="-4.5871559633027525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0C-4FBA-922A-4E1B570CD1F7}"/>
                </c:ext>
              </c:extLst>
            </c:dLbl>
            <c:dLbl>
              <c:idx val="39"/>
              <c:layout>
                <c:manualLayout>
                  <c:x val="-2.2935779816513763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0C-4FBA-922A-4E1B570CD1F7}"/>
                </c:ext>
              </c:extLst>
            </c:dLbl>
            <c:dLbl>
              <c:idx val="40"/>
              <c:layout>
                <c:manualLayout>
                  <c:x val="-1.1467889908256881E-2"/>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0C-4FBA-922A-4E1B570CD1F7}"/>
                </c:ext>
              </c:extLst>
            </c:dLbl>
            <c:dLbl>
              <c:idx val="41"/>
              <c:layout>
                <c:manualLayout>
                  <c:x val="-2.2935779816514604E-3"/>
                  <c:y val="0.1811594202898550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0C-4FBA-922A-4E1B570CD1F7}"/>
                </c:ext>
              </c:extLst>
            </c:dLbl>
            <c:dLbl>
              <c:idx val="45"/>
              <c:layout>
                <c:manualLayout>
                  <c:x val="-2.2935779816514604E-3"/>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0C-4FBA-922A-4E1B570CD1F7}"/>
                </c:ext>
              </c:extLst>
            </c:dLbl>
            <c:dLbl>
              <c:idx val="47"/>
              <c:tx>
                <c:rich>
                  <a:bodyPr/>
                  <a:lstStyle/>
                  <a:p>
                    <a:fld id="{40504B35-5486-4C85-87CC-9C0C09B4AD00}"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D9-4CD0-A52B-0347B6F41E17}"/>
                </c:ext>
              </c:extLst>
            </c:dLbl>
            <c:dLbl>
              <c:idx val="49"/>
              <c:layout>
                <c:manualLayout>
                  <c:x val="-1.2860372366148675E-16"/>
                  <c:y val="-7.99203091979428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03A-4730-8491-839B87CC183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Sheet1!$A$2:$A$53</c:f>
              <c:numCache>
                <c:formatCode>mmm\-yy</c:formatCode>
                <c:ptCount val="5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pt idx="50">
                  <c:v>46107</c:v>
                </c:pt>
                <c:pt idx="51">
                  <c:v>46138</c:v>
                </c:pt>
              </c:numCache>
            </c:numRef>
          </c:cat>
          <c:val>
            <c:numRef>
              <c:f>Sheet1!$B$2:$B$53</c:f>
              <c:numCache>
                <c:formatCode>#,##0</c:formatCode>
                <c:ptCount val="52"/>
                <c:pt idx="0">
                  <c:v>-33937.839999999997</c:v>
                </c:pt>
                <c:pt idx="1">
                  <c:v>-37688.959999999992</c:v>
                </c:pt>
                <c:pt idx="2">
                  <c:v>-28311.540000000008</c:v>
                </c:pt>
                <c:pt idx="3">
                  <c:v>-29145.690000000002</c:v>
                </c:pt>
                <c:pt idx="4">
                  <c:v>-37663.39</c:v>
                </c:pt>
                <c:pt idx="5">
                  <c:v>-49468.93</c:v>
                </c:pt>
                <c:pt idx="6">
                  <c:v>6719.7500000000009</c:v>
                </c:pt>
                <c:pt idx="7">
                  <c:v>53993.919999999998</c:v>
                </c:pt>
                <c:pt idx="8">
                  <c:v>-13405.81</c:v>
                </c:pt>
                <c:pt idx="9">
                  <c:v>8430.6</c:v>
                </c:pt>
                <c:pt idx="10">
                  <c:v>38234.9</c:v>
                </c:pt>
                <c:pt idx="11">
                  <c:v>-1353.71</c:v>
                </c:pt>
                <c:pt idx="12">
                  <c:v>-30167.1</c:v>
                </c:pt>
                <c:pt idx="13">
                  <c:v>-5279.04</c:v>
                </c:pt>
                <c:pt idx="14">
                  <c:v>14944.47</c:v>
                </c:pt>
                <c:pt idx="15">
                  <c:v>15733.42</c:v>
                </c:pt>
                <c:pt idx="16">
                  <c:v>38765.42</c:v>
                </c:pt>
                <c:pt idx="17">
                  <c:v>53297.71</c:v>
                </c:pt>
                <c:pt idx="18">
                  <c:v>33994</c:v>
                </c:pt>
                <c:pt idx="19">
                  <c:v>17041</c:v>
                </c:pt>
                <c:pt idx="20">
                  <c:v>-18894</c:v>
                </c:pt>
                <c:pt idx="21">
                  <c:v>-19623</c:v>
                </c:pt>
                <c:pt idx="22">
                  <c:v>16651.03</c:v>
                </c:pt>
                <c:pt idx="23">
                  <c:v>58498</c:v>
                </c:pt>
                <c:pt idx="24">
                  <c:v>-26111</c:v>
                </c:pt>
                <c:pt idx="25">
                  <c:v>4000</c:v>
                </c:pt>
                <c:pt idx="26">
                  <c:v>35282</c:v>
                </c:pt>
                <c:pt idx="27">
                  <c:v>-9175.5</c:v>
                </c:pt>
                <c:pt idx="28">
                  <c:v>-27437.35</c:v>
                </c:pt>
                <c:pt idx="29">
                  <c:v>25940.25</c:v>
                </c:pt>
                <c:pt idx="30">
                  <c:v>27957.71</c:v>
                </c:pt>
                <c:pt idx="31">
                  <c:v>13434.26</c:v>
                </c:pt>
                <c:pt idx="32">
                  <c:v>49792.84</c:v>
                </c:pt>
                <c:pt idx="33">
                  <c:v>-91933.64</c:v>
                </c:pt>
                <c:pt idx="34">
                  <c:v>-18258.59</c:v>
                </c:pt>
                <c:pt idx="35">
                  <c:v>11086</c:v>
                </c:pt>
                <c:pt idx="36">
                  <c:v>-72677.210000000006</c:v>
                </c:pt>
                <c:pt idx="37">
                  <c:v>-46599.08</c:v>
                </c:pt>
                <c:pt idx="38">
                  <c:v>-3973</c:v>
                </c:pt>
                <c:pt idx="39">
                  <c:v>6363.48</c:v>
                </c:pt>
                <c:pt idx="40">
                  <c:v>16441.330000000002</c:v>
                </c:pt>
                <c:pt idx="41">
                  <c:v>20423.64</c:v>
                </c:pt>
                <c:pt idx="42">
                  <c:v>-24723</c:v>
                </c:pt>
                <c:pt idx="43">
                  <c:v>-37823.040000000001</c:v>
                </c:pt>
                <c:pt idx="44">
                  <c:v>-18927.89</c:v>
                </c:pt>
                <c:pt idx="45">
                  <c:v>11049.62</c:v>
                </c:pt>
                <c:pt idx="46">
                  <c:v>332.86</c:v>
                </c:pt>
                <c:pt idx="47">
                  <c:v>-23824.75</c:v>
                </c:pt>
                <c:pt idx="48">
                  <c:v>-29487.33</c:v>
                </c:pt>
                <c:pt idx="49">
                  <c:v>5662.24</c:v>
                </c:pt>
                <c:pt idx="50">
                  <c:v>-125455</c:v>
                </c:pt>
                <c:pt idx="51">
                  <c:v>-68871.58</c:v>
                </c:pt>
              </c:numCache>
            </c:numRef>
          </c:val>
          <c:extLst>
            <c:ext xmlns:c16="http://schemas.microsoft.com/office/drawing/2014/chart" uri="{C3380CC4-5D6E-409C-BE32-E72D297353CC}">
              <c16:uniqueId val="{00000005-5F0C-4FBA-922A-4E1B570CD1F7}"/>
            </c:ext>
          </c:extLst>
        </c:ser>
        <c:ser>
          <c:idx val="1"/>
          <c:order val="1"/>
          <c:tx>
            <c:strRef>
              <c:f>Sheet1!$C$1</c:f>
              <c:strCache>
                <c:ptCount val="1"/>
                <c:pt idx="0">
                  <c:v>DII</c:v>
                </c:pt>
              </c:strCache>
            </c:strRef>
          </c:tx>
          <c:spPr>
            <a:solidFill>
              <a:schemeClr val="tx1"/>
            </a:solidFill>
            <a:ln>
              <a:noFill/>
            </a:ln>
            <a:effectLst/>
          </c:spPr>
          <c:invertIfNegative val="0"/>
          <c:dLbls>
            <c:dLbl>
              <c:idx val="47"/>
              <c:tx>
                <c:rich>
                  <a:bodyPr/>
                  <a:lstStyle/>
                  <a:p>
                    <a:fld id="{D43CB1DD-2BD6-4A46-A507-48B8E50AA0FF}"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B1D9-4CD0-A52B-0347B6F41E17}"/>
                </c:ext>
              </c:extLst>
            </c:dLbl>
            <c:spPr>
              <a:noFill/>
              <a:ln>
                <a:noFill/>
              </a:ln>
              <a:effectLst/>
            </c:spPr>
            <c:txPr>
              <a:bodyPr rot="0" spcFirstLastPara="1" vertOverflow="ellipsis" vert="horz" wrap="square" lIns="38100" tIns="19050" rIns="38100" bIns="19050" anchor="ctr" anchorCtr="0">
                <a:spAutoFit/>
              </a:bodyPr>
              <a:lstStyle/>
              <a:p>
                <a:pPr algn="ctr">
                  <a:defRPr lang="en-US"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Sheet1!$A$2:$A$53</c:f>
              <c:numCache>
                <c:formatCode>mmm\-yy</c:formatCode>
                <c:ptCount val="52"/>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pt idx="49">
                  <c:v>46079</c:v>
                </c:pt>
                <c:pt idx="50">
                  <c:v>46107</c:v>
                </c:pt>
                <c:pt idx="51">
                  <c:v>46138</c:v>
                </c:pt>
              </c:numCache>
            </c:numRef>
          </c:cat>
          <c:val>
            <c:numRef>
              <c:f>Sheet1!$C$2:$C$53</c:f>
              <c:numCache>
                <c:formatCode>#,##0</c:formatCode>
                <c:ptCount val="52"/>
                <c:pt idx="0">
                  <c:v>16487.72</c:v>
                </c:pt>
                <c:pt idx="1">
                  <c:v>28180.59</c:v>
                </c:pt>
                <c:pt idx="2">
                  <c:v>22219.86</c:v>
                </c:pt>
                <c:pt idx="3">
                  <c:v>22371.17</c:v>
                </c:pt>
                <c:pt idx="4">
                  <c:v>29413.870000000003</c:v>
                </c:pt>
                <c:pt idx="5">
                  <c:v>22050.810000000005</c:v>
                </c:pt>
                <c:pt idx="6">
                  <c:v>4712.38</c:v>
                </c:pt>
                <c:pt idx="7">
                  <c:v>-1120.7800000000002</c:v>
                </c:pt>
                <c:pt idx="8">
                  <c:v>18601.739999999998</c:v>
                </c:pt>
                <c:pt idx="9">
                  <c:v>6317.63</c:v>
                </c:pt>
                <c:pt idx="10">
                  <c:v>1688.11</c:v>
                </c:pt>
                <c:pt idx="11">
                  <c:v>14692.33</c:v>
                </c:pt>
                <c:pt idx="12">
                  <c:v>17957.759999999998</c:v>
                </c:pt>
                <c:pt idx="13">
                  <c:v>12824.67</c:v>
                </c:pt>
                <c:pt idx="14">
                  <c:v>20764.3</c:v>
                </c:pt>
                <c:pt idx="15">
                  <c:v>-5131.05</c:v>
                </c:pt>
                <c:pt idx="16">
                  <c:v>2186.5500000000002</c:v>
                </c:pt>
                <c:pt idx="17">
                  <c:v>5664</c:v>
                </c:pt>
                <c:pt idx="18">
                  <c:v>7707.46</c:v>
                </c:pt>
                <c:pt idx="19">
                  <c:v>25500.85</c:v>
                </c:pt>
                <c:pt idx="20">
                  <c:v>20506</c:v>
                </c:pt>
                <c:pt idx="21">
                  <c:v>16916</c:v>
                </c:pt>
                <c:pt idx="22">
                  <c:v>18024</c:v>
                </c:pt>
                <c:pt idx="23">
                  <c:v>21750</c:v>
                </c:pt>
                <c:pt idx="24">
                  <c:v>23010.63</c:v>
                </c:pt>
                <c:pt idx="25">
                  <c:v>21983.15</c:v>
                </c:pt>
                <c:pt idx="26">
                  <c:v>45004</c:v>
                </c:pt>
                <c:pt idx="27">
                  <c:v>30995.45</c:v>
                </c:pt>
                <c:pt idx="28">
                  <c:v>45166</c:v>
                </c:pt>
                <c:pt idx="29">
                  <c:v>29312.93</c:v>
                </c:pt>
                <c:pt idx="30">
                  <c:v>20601.34</c:v>
                </c:pt>
                <c:pt idx="31">
                  <c:v>35396.71</c:v>
                </c:pt>
                <c:pt idx="32">
                  <c:v>30383.06</c:v>
                </c:pt>
                <c:pt idx="33">
                  <c:v>89740.4</c:v>
                </c:pt>
                <c:pt idx="34">
                  <c:v>32154.89</c:v>
                </c:pt>
                <c:pt idx="35">
                  <c:v>29159.08</c:v>
                </c:pt>
                <c:pt idx="36">
                  <c:v>57990.42</c:v>
                </c:pt>
                <c:pt idx="37">
                  <c:v>47933.81</c:v>
                </c:pt>
                <c:pt idx="38">
                  <c:v>8053.44</c:v>
                </c:pt>
                <c:pt idx="39">
                  <c:v>19099.919999999998</c:v>
                </c:pt>
                <c:pt idx="40">
                  <c:v>56302.02</c:v>
                </c:pt>
                <c:pt idx="41">
                  <c:v>45518.96</c:v>
                </c:pt>
                <c:pt idx="42">
                  <c:v>47585.7</c:v>
                </c:pt>
                <c:pt idx="43">
                  <c:v>65693.66</c:v>
                </c:pt>
                <c:pt idx="44">
                  <c:v>44582.2</c:v>
                </c:pt>
                <c:pt idx="45">
                  <c:v>20195.560000000001</c:v>
                </c:pt>
                <c:pt idx="46">
                  <c:v>39950.76</c:v>
                </c:pt>
                <c:pt idx="47" formatCode="_(* #,##0_);_(* \(#,##0\);_(* &quot;-&quot;??_);_(@_)">
                  <c:v>32629.54</c:v>
                </c:pt>
                <c:pt idx="48">
                  <c:v>42354.85</c:v>
                </c:pt>
                <c:pt idx="49">
                  <c:v>11180</c:v>
                </c:pt>
                <c:pt idx="50">
                  <c:v>98746</c:v>
                </c:pt>
                <c:pt idx="51">
                  <c:v>26157</c:v>
                </c:pt>
              </c:numCache>
            </c:numRef>
          </c:val>
          <c:extLst>
            <c:ext xmlns:c16="http://schemas.microsoft.com/office/drawing/2014/chart" uri="{C3380CC4-5D6E-409C-BE32-E72D297353CC}">
              <c16:uniqueId val="{00000006-5F0C-4FBA-922A-4E1B570CD1F7}"/>
            </c:ext>
          </c:extLst>
        </c:ser>
        <c:dLbls>
          <c:dLblPos val="outEnd"/>
          <c:showLegendKey val="0"/>
          <c:showVal val="1"/>
          <c:showCatName val="0"/>
          <c:showSerName val="0"/>
          <c:showPercent val="0"/>
          <c:showBubbleSize val="0"/>
        </c:dLbls>
        <c:gapWidth val="219"/>
        <c:overlap val="-27"/>
        <c:axId val="146154616"/>
        <c:axId val="146155400"/>
      </c:barChart>
      <c:dateAx>
        <c:axId val="146154616"/>
        <c:scaling>
          <c:orientation val="minMax"/>
          <c:max val="46113"/>
          <c:min val="45748"/>
        </c:scaling>
        <c:delete val="0"/>
        <c:axPos val="b"/>
        <c:numFmt formatCode="mmm\-yy"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5400"/>
        <c:crosses val="autoZero"/>
        <c:auto val="1"/>
        <c:lblOffset val="100"/>
        <c:baseTimeUnit val="months"/>
      </c:dateAx>
      <c:valAx>
        <c:axId val="146155400"/>
        <c:scaling>
          <c:orientation val="minMax"/>
        </c:scaling>
        <c:delete val="1"/>
        <c:axPos val="l"/>
        <c:numFmt formatCode="#,##0" sourceLinked="1"/>
        <c:majorTickMark val="none"/>
        <c:minorTickMark val="none"/>
        <c:tickLblPos val="nextTo"/>
        <c:crossAx val="146154616"/>
        <c:crosses val="autoZero"/>
        <c:crossBetween val="between"/>
      </c:valAx>
      <c:spPr>
        <a:noFill/>
        <a:ln>
          <a:noFill/>
        </a:ln>
        <a:effectLst/>
      </c:spPr>
    </c:plotArea>
    <c:legend>
      <c:legendPos val="b"/>
      <c:layout>
        <c:manualLayout>
          <c:xMode val="edge"/>
          <c:yMode val="edge"/>
          <c:x val="0.76643125423682712"/>
          <c:y val="3.7478497254917163E-2"/>
          <c:w val="9.4216932745792098E-2"/>
          <c:h val="0.11353132488873674"/>
        </c:manualLayout>
      </c:layout>
      <c:overlay val="0"/>
      <c:spPr>
        <a:noFill/>
        <a:ln>
          <a:noFill/>
        </a:ln>
        <a:effectLst/>
      </c:spPr>
      <c:txPr>
        <a:bodyPr rot="0" spcFirstLastPara="1" vertOverflow="ellipsis" vert="horz" wrap="square" anchor="ctr" anchorCtr="1"/>
        <a:lstStyle/>
        <a:p>
          <a:pPr algn="ctr" rtl="0">
            <a:defRPr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solidFill>
        <a:schemeClr val="tx1"/>
      </a:solidFill>
      <a:round/>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400" dirty="0"/>
              <a:t>Monthly GST Collection (Rs in crores)</a:t>
            </a:r>
          </a:p>
        </c:rich>
      </c:tx>
      <c:layout>
        <c:manualLayout>
          <c:xMode val="edge"/>
          <c:yMode val="edge"/>
          <c:x val="0.2742814350400557"/>
          <c:y val="2.49509368766988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3735806339254609E-2"/>
          <c:y val="0.13257288178400428"/>
          <c:w val="0.95304057819575061"/>
          <c:h val="0.73713224386584975"/>
        </c:manualLayout>
      </c:layout>
      <c:barChart>
        <c:barDir val="col"/>
        <c:grouping val="clustered"/>
        <c:varyColors val="0"/>
        <c:ser>
          <c:idx val="0"/>
          <c:order val="0"/>
          <c:tx>
            <c:strRef>
              <c:f>Sheet1!$E$1</c:f>
              <c:strCache>
                <c:ptCount val="1"/>
                <c:pt idx="0">
                  <c:v>2025-26</c:v>
                </c:pt>
              </c:strCache>
            </c:strRef>
          </c:tx>
          <c:spPr>
            <a:solidFill>
              <a:schemeClr val="bg2"/>
            </a:solidFill>
            <a:ln>
              <a:noFill/>
            </a:ln>
            <a:effectLst/>
          </c:spPr>
          <c:invertIfNegative val="0"/>
          <c:dLbls>
            <c:dLbl>
              <c:idx val="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0-1BFF-4A55-92EF-66A276AE285D}"/>
                </c:ext>
              </c:extLst>
            </c:dLbl>
            <c:dLbl>
              <c:idx val="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1BFF-4A55-92EF-66A276AE285D}"/>
                </c:ext>
              </c:extLst>
            </c:dLbl>
            <c:dLbl>
              <c:idx val="2"/>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2-1BFF-4A55-92EF-66A276AE285D}"/>
                </c:ext>
              </c:extLst>
            </c:dLbl>
            <c:dLbl>
              <c:idx val="3"/>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3-1BFF-4A55-92EF-66A276AE285D}"/>
                </c:ext>
              </c:extLst>
            </c:dLbl>
            <c:dLbl>
              <c:idx val="4"/>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4-1BFF-4A55-92EF-66A276AE285D}"/>
                </c:ext>
              </c:extLst>
            </c:dLbl>
            <c:dLbl>
              <c:idx val="5"/>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5-1BFF-4A55-92EF-66A276AE285D}"/>
                </c:ext>
              </c:extLst>
            </c:dLbl>
            <c:dLbl>
              <c:idx val="6"/>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6-1BFF-4A55-92EF-66A276AE285D}"/>
                </c:ext>
              </c:extLst>
            </c:dLbl>
            <c:dLbl>
              <c:idx val="7"/>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7-1BFF-4A55-92EF-66A276AE285D}"/>
                </c:ext>
              </c:extLst>
            </c:dLbl>
            <c:dLbl>
              <c:idx val="8"/>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8-1BFF-4A55-92EF-66A276AE285D}"/>
                </c:ext>
              </c:extLst>
            </c:dLbl>
            <c:dLbl>
              <c:idx val="9"/>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9-1BFF-4A55-92EF-66A276AE285D}"/>
                </c:ext>
              </c:extLst>
            </c:dLbl>
            <c:dLbl>
              <c:idx val="1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A-1BFF-4A55-92EF-66A276AE285D}"/>
                </c:ext>
              </c:extLst>
            </c:dLbl>
            <c:dLbl>
              <c:idx val="1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B-1BFF-4A55-92EF-66A276AE285D}"/>
                </c:ext>
              </c:extLst>
            </c:dLbl>
            <c:numFmt formatCode="#,##0" sourceLinked="0"/>
            <c:spPr>
              <a:solidFill>
                <a:schemeClr val="bg2"/>
              </a:solid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Sheet1!$E$2:$E$13</c:f>
              <c:numCache>
                <c:formatCode>General</c:formatCode>
                <c:ptCount val="12"/>
                <c:pt idx="0">
                  <c:v>223265</c:v>
                </c:pt>
                <c:pt idx="1">
                  <c:v>201050</c:v>
                </c:pt>
                <c:pt idx="2">
                  <c:v>184597</c:v>
                </c:pt>
                <c:pt idx="3">
                  <c:v>195735</c:v>
                </c:pt>
                <c:pt idx="4">
                  <c:v>186315</c:v>
                </c:pt>
                <c:pt idx="5">
                  <c:v>189017</c:v>
                </c:pt>
                <c:pt idx="6">
                  <c:v>195936</c:v>
                </c:pt>
                <c:pt idx="7">
                  <c:v>170276</c:v>
                </c:pt>
                <c:pt idx="8">
                  <c:v>174550</c:v>
                </c:pt>
                <c:pt idx="9">
                  <c:v>193384</c:v>
                </c:pt>
                <c:pt idx="10">
                  <c:v>183609</c:v>
                </c:pt>
                <c:pt idx="11">
                  <c:v>200064</c:v>
                </c:pt>
              </c:numCache>
            </c:numRef>
          </c:val>
          <c:extLst>
            <c:ext xmlns:c16="http://schemas.microsoft.com/office/drawing/2014/chart" uri="{C3380CC4-5D6E-409C-BE32-E72D297353CC}">
              <c16:uniqueId val="{0000000C-1BFF-4A55-92EF-66A276AE285D}"/>
            </c:ext>
          </c:extLst>
        </c:ser>
        <c:ser>
          <c:idx val="1"/>
          <c:order val="1"/>
          <c:tx>
            <c:strRef>
              <c:f>Sheet1!$F$1</c:f>
              <c:strCache>
                <c:ptCount val="1"/>
                <c:pt idx="0">
                  <c:v>2026-2027</c:v>
                </c:pt>
              </c:strCache>
            </c:strRef>
          </c:tx>
          <c:spPr>
            <a:solidFill>
              <a:schemeClr val="bg1">
                <a:lumMod val="75000"/>
              </a:schemeClr>
            </a:solidFill>
            <a:ln>
              <a:noFill/>
            </a:ln>
            <a:effectLst/>
          </c:spPr>
          <c:invertIfNegative val="0"/>
          <c:dLbls>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Sheet1!$F$2:$F$13</c:f>
              <c:numCache>
                <c:formatCode>General</c:formatCode>
                <c:ptCount val="12"/>
                <c:pt idx="0">
                  <c:v>242702</c:v>
                </c:pt>
              </c:numCache>
            </c:numRef>
          </c:val>
          <c:extLst>
            <c:ext xmlns:c16="http://schemas.microsoft.com/office/drawing/2014/chart" uri="{C3380CC4-5D6E-409C-BE32-E72D297353CC}">
              <c16:uniqueId val="{0000000D-1BFF-4A55-92EF-66A276AE285D}"/>
            </c:ext>
          </c:extLst>
        </c:ser>
        <c:dLbls>
          <c:showLegendKey val="0"/>
          <c:showVal val="0"/>
          <c:showCatName val="0"/>
          <c:showSerName val="0"/>
          <c:showPercent val="0"/>
          <c:showBubbleSize val="0"/>
        </c:dLbls>
        <c:gapWidth val="219"/>
        <c:overlap val="-27"/>
        <c:axId val="203214392"/>
        <c:axId val="203211648"/>
      </c:barChart>
      <c:dateAx>
        <c:axId val="203214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1648"/>
        <c:crosses val="autoZero"/>
        <c:auto val="0"/>
        <c:lblOffset val="100"/>
        <c:baseTimeUnit val="days"/>
      </c:dateAx>
      <c:valAx>
        <c:axId val="203211648"/>
        <c:scaling>
          <c:orientation val="minMax"/>
          <c:min val="80000"/>
        </c:scaling>
        <c:delete val="1"/>
        <c:axPos val="l"/>
        <c:numFmt formatCode="#,##0" sourceLinked="0"/>
        <c:majorTickMark val="none"/>
        <c:minorTickMark val="none"/>
        <c:tickLblPos val="nextTo"/>
        <c:crossAx val="203214392"/>
        <c:crosses val="autoZero"/>
        <c:crossBetween val="between"/>
        <c:majorUnit val="20000"/>
      </c:valAx>
      <c:spPr>
        <a:noFill/>
        <a:ln>
          <a:noFill/>
        </a:ln>
        <a:effectLst/>
      </c:spPr>
    </c:plotArea>
    <c:legend>
      <c:legendPos val="b"/>
      <c:layout>
        <c:manualLayout>
          <c:xMode val="edge"/>
          <c:yMode val="edge"/>
          <c:x val="0.22887791710205505"/>
          <c:y val="0.17273929550402556"/>
          <c:w val="0.22952704444408961"/>
          <c:h val="9.904520716973266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mpd="dbl">
      <a:solidFill>
        <a:schemeClr val="tx1"/>
      </a:solidFill>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296594976230517E-2"/>
          <c:y val="0.17944856706514523"/>
          <c:w val="0.96707811978301039"/>
          <c:h val="0.65522421834507594"/>
        </c:manualLayout>
      </c:layout>
      <c:barChart>
        <c:barDir val="col"/>
        <c:grouping val="clustered"/>
        <c:varyColors val="0"/>
        <c:ser>
          <c:idx val="0"/>
          <c:order val="0"/>
          <c:tx>
            <c:strRef>
              <c:f>Sheet1!$B$1</c:f>
              <c:strCache>
                <c:ptCount val="1"/>
                <c:pt idx="0">
                  <c:v> Manufacturing PMI </c:v>
                </c:pt>
              </c:strCache>
            </c:strRef>
          </c:tx>
          <c:spPr>
            <a:solidFill>
              <a:srgbClr val="FFC000"/>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Sheet1!$A$42:$A$56</c:f>
              <c:numCache>
                <c:formatCode>d\-mmm</c:formatCode>
                <c:ptCount val="15"/>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pt idx="13">
                  <c:v>46107</c:v>
                </c:pt>
                <c:pt idx="14">
                  <c:v>46138</c:v>
                </c:pt>
              </c:numCache>
            </c:numRef>
          </c:cat>
          <c:val>
            <c:numRef>
              <c:f>Sheet1!$B$42:$B$56</c:f>
              <c:numCache>
                <c:formatCode>_(* #,##0.00_);_(* \(#,##0.00\);_(* "-"??_);_(@_)</c:formatCode>
                <c:ptCount val="15"/>
                <c:pt idx="0">
                  <c:v>56.3</c:v>
                </c:pt>
                <c:pt idx="1">
                  <c:v>58.1</c:v>
                </c:pt>
                <c:pt idx="2">
                  <c:v>58.2</c:v>
                </c:pt>
                <c:pt idx="3">
                  <c:v>57.6</c:v>
                </c:pt>
                <c:pt idx="4">
                  <c:v>58.4</c:v>
                </c:pt>
                <c:pt idx="5">
                  <c:v>59.1</c:v>
                </c:pt>
                <c:pt idx="6">
                  <c:v>59.3</c:v>
                </c:pt>
                <c:pt idx="7">
                  <c:v>57.7</c:v>
                </c:pt>
                <c:pt idx="8">
                  <c:v>59.2</c:v>
                </c:pt>
                <c:pt idx="9">
                  <c:v>56.6</c:v>
                </c:pt>
                <c:pt idx="10" formatCode="0.00">
                  <c:v>55</c:v>
                </c:pt>
                <c:pt idx="11">
                  <c:v>55.4</c:v>
                </c:pt>
                <c:pt idx="12">
                  <c:v>56.9</c:v>
                </c:pt>
                <c:pt idx="13">
                  <c:v>53.9</c:v>
                </c:pt>
                <c:pt idx="14">
                  <c:v>55.9</c:v>
                </c:pt>
              </c:numCache>
            </c:numRef>
          </c:val>
          <c:extLst>
            <c:ext xmlns:c16="http://schemas.microsoft.com/office/drawing/2014/chart" uri="{C3380CC4-5D6E-409C-BE32-E72D297353CC}">
              <c16:uniqueId val="{00000000-CF1E-48AF-92E3-027FA3092AED}"/>
            </c:ext>
          </c:extLst>
        </c:ser>
        <c:ser>
          <c:idx val="1"/>
          <c:order val="1"/>
          <c:tx>
            <c:strRef>
              <c:f>Sheet1!$C$1</c:f>
              <c:strCache>
                <c:ptCount val="1"/>
                <c:pt idx="0">
                  <c:v>Service PMI</c:v>
                </c:pt>
              </c:strCache>
            </c:strRef>
          </c:tx>
          <c:spPr>
            <a:solidFill>
              <a:schemeClr val="bg1">
                <a:lumMod val="7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Sheet1!$A$42:$A$56</c:f>
              <c:numCache>
                <c:formatCode>d\-mmm</c:formatCode>
                <c:ptCount val="15"/>
                <c:pt idx="0">
                  <c:v>45713</c:v>
                </c:pt>
                <c:pt idx="1">
                  <c:v>45741</c:v>
                </c:pt>
                <c:pt idx="2">
                  <c:v>45772</c:v>
                </c:pt>
                <c:pt idx="3">
                  <c:v>45808</c:v>
                </c:pt>
                <c:pt idx="4">
                  <c:v>45833</c:v>
                </c:pt>
                <c:pt idx="5">
                  <c:v>45863</c:v>
                </c:pt>
                <c:pt idx="6">
                  <c:v>45894</c:v>
                </c:pt>
                <c:pt idx="7">
                  <c:v>45925</c:v>
                </c:pt>
                <c:pt idx="8">
                  <c:v>45955</c:v>
                </c:pt>
                <c:pt idx="9">
                  <c:v>45986</c:v>
                </c:pt>
                <c:pt idx="10">
                  <c:v>46016</c:v>
                </c:pt>
                <c:pt idx="11">
                  <c:v>46048</c:v>
                </c:pt>
                <c:pt idx="12">
                  <c:v>46079</c:v>
                </c:pt>
                <c:pt idx="13">
                  <c:v>46107</c:v>
                </c:pt>
                <c:pt idx="14">
                  <c:v>46138</c:v>
                </c:pt>
              </c:numCache>
            </c:numRef>
          </c:cat>
          <c:val>
            <c:numRef>
              <c:f>Sheet1!$C$42:$C$56</c:f>
              <c:numCache>
                <c:formatCode>General</c:formatCode>
                <c:ptCount val="15"/>
                <c:pt idx="0">
                  <c:v>58.8</c:v>
                </c:pt>
                <c:pt idx="1">
                  <c:v>58.5</c:v>
                </c:pt>
                <c:pt idx="2">
                  <c:v>58.7</c:v>
                </c:pt>
                <c:pt idx="3">
                  <c:v>58.8</c:v>
                </c:pt>
                <c:pt idx="4">
                  <c:v>60.4</c:v>
                </c:pt>
                <c:pt idx="5">
                  <c:v>60.5</c:v>
                </c:pt>
                <c:pt idx="6">
                  <c:v>62.5</c:v>
                </c:pt>
                <c:pt idx="7">
                  <c:v>61.6</c:v>
                </c:pt>
                <c:pt idx="8">
                  <c:v>58.9</c:v>
                </c:pt>
                <c:pt idx="9">
                  <c:v>59.8</c:v>
                </c:pt>
                <c:pt idx="10">
                  <c:v>58</c:v>
                </c:pt>
                <c:pt idx="11">
                  <c:v>58.5</c:v>
                </c:pt>
                <c:pt idx="12">
                  <c:v>58.1</c:v>
                </c:pt>
                <c:pt idx="13">
                  <c:v>57.5</c:v>
                </c:pt>
                <c:pt idx="14">
                  <c:v>57.9</c:v>
                </c:pt>
              </c:numCache>
            </c:numRef>
          </c:val>
          <c:extLst>
            <c:ext xmlns:c16="http://schemas.microsoft.com/office/drawing/2014/chart" uri="{C3380CC4-5D6E-409C-BE32-E72D297353CC}">
              <c16:uniqueId val="{00000001-CF1E-48AF-92E3-027FA3092AED}"/>
            </c:ext>
          </c:extLst>
        </c:ser>
        <c:dLbls>
          <c:showLegendKey val="0"/>
          <c:showVal val="0"/>
          <c:showCatName val="0"/>
          <c:showSerName val="0"/>
          <c:showPercent val="0"/>
          <c:showBubbleSize val="0"/>
        </c:dLbls>
        <c:gapWidth val="219"/>
        <c:overlap val="-27"/>
        <c:axId val="203217136"/>
        <c:axId val="203212432"/>
      </c:barChart>
      <c:dateAx>
        <c:axId val="203217136"/>
        <c:scaling>
          <c:orientation val="minMax"/>
          <c:max val="46113"/>
          <c:min val="45748"/>
        </c:scaling>
        <c:delete val="0"/>
        <c:axPos val="b"/>
        <c:numFmt formatCode="[$-409]mmm\-yy;@"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2432"/>
        <c:crosses val="autoZero"/>
        <c:auto val="0"/>
        <c:lblOffset val="100"/>
        <c:baseTimeUnit val="months"/>
      </c:dateAx>
      <c:valAx>
        <c:axId val="203212432"/>
        <c:scaling>
          <c:orientation val="minMax"/>
          <c:min val="52"/>
        </c:scaling>
        <c:delete val="1"/>
        <c:axPos val="l"/>
        <c:numFmt formatCode="_(* #,##0.00_);_(* \(#,##0.00\);_(* &quot;-&quot;??_);_(@_)" sourceLinked="1"/>
        <c:majorTickMark val="none"/>
        <c:minorTickMark val="none"/>
        <c:tickLblPos val="nextTo"/>
        <c:crossAx val="203217136"/>
        <c:crosses val="autoZero"/>
        <c:crossBetween val="between"/>
        <c:majorUnit val="2"/>
      </c:valAx>
      <c:spPr>
        <a:noFill/>
        <a:ln w="25400">
          <a:noFill/>
        </a:ln>
        <a:effectLst/>
      </c:spPr>
    </c:plotArea>
    <c:legend>
      <c:legendPos val="b"/>
      <c:layout>
        <c:manualLayout>
          <c:xMode val="edge"/>
          <c:yMode val="edge"/>
          <c:x val="4.5653878487276638E-2"/>
          <c:y val="6.1388149090732126E-2"/>
          <c:w val="0.55895911579490887"/>
          <c:h val="8.3449682621843241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sz="8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FCD27F-1CE5-415B-ACB8-0A5C3E5B93E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1FEC35B1-9147-47A1-AE7C-5D954D60E25C}">
      <dgm:prSet phldrT="[Text]" custT="1"/>
      <dgm:spPr>
        <a:solidFill>
          <a:schemeClr val="tx1"/>
        </a:solidFill>
      </dgm:spPr>
      <dgm:t>
        <a:bodyPr/>
        <a:lstStyle/>
        <a:p>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gm:t>
    </dgm:pt>
    <dgm:pt modelId="{C194B499-7B44-4BB8-9674-0A378851F704}" type="par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89DDF03F-6DC8-44F2-A41E-D5051ED2D1F0}" type="sib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34FB794-0F17-4C4B-81BB-90443F14226D}">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RBI absorbed ₹2tn via 7-day VRRR (10</a:t>
          </a:r>
          <a:r>
            <a:rPr lang="en-US" sz="1000" kern="1200" baseline="30000" dirty="0"/>
            <a:t>th</a:t>
          </a:r>
          <a:r>
            <a:rPr lang="en-US" sz="1000" kern="1200" dirty="0"/>
            <a:t> April,2026), tightening liquidity and pushing bond yields higher</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F840171C-A443-49D1-B18C-66D07CEEA250}" type="par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6CD333-F840-4315-85E8-A037F6A3D70D}" type="sib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0EDAEE4-A668-40C2-BF09-4F51903BAEB4}">
      <dgm:prSet phldrT="[Text]" custT="1"/>
      <dgm:spPr>
        <a:solidFill>
          <a:schemeClr val="bg1">
            <a:lumMod val="65000"/>
          </a:schemeClr>
        </a:solidFill>
      </dgm:spPr>
      <dgm:t>
        <a:bodyPr/>
        <a:lstStyle/>
        <a:p>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gm:t>
    </dgm:pt>
    <dgm:pt modelId="{7E2FEA2E-459E-4BD9-AE5E-EC0FA97608AB}" type="par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9B8F70-38D1-4902-98F6-A0812896ADBB}" type="sib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F7A8909-3B6D-4AF0-A11E-BF3EF9252D33}">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rates unchanged in Apr-26, maintains neutral stance </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413A9B4A-07E4-4BED-86E3-5CA7DE2FC5D3}" type="par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38BC8B9C-F25B-4F6D-BE48-06AA3ED6E461}" type="sib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5C782F8-4FB3-417E-BC74-3E9D60A4761B}">
      <dgm:prSet custT="1"/>
      <dgm:spPr>
        <a:solidFill>
          <a:schemeClr val="bg2"/>
        </a:solidFill>
      </dgm:spPr>
      <dgm: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gm:t>
    </dgm:pt>
    <dgm:pt modelId="{221DA5EF-100B-4195-8DAE-0E661E511B4B}" type="par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8CAC1E-B0A7-4EBD-AEC8-B5B6756A06DD}" type="sib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526C50-E77A-41BB-9582-FBDC4D52C0EA}">
      <dgm:prSet custT="1"/>
      <dgm:spPr>
        <a:solidFill>
          <a:schemeClr val="tx1"/>
        </a:solidFill>
      </dgm:spPr>
      <dgm: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gm:t>
    </dgm:pt>
    <dgm:pt modelId="{4CA67D3B-F473-4C68-A8A9-649E9DC992EC}" type="par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B36EA36-BB44-4925-82BE-B12F6B93545F}" type="sib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01AD256-0ECE-481B-8C26-C90B1EA79969}">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rose to  ~7% in Apr-26, geopolitics lifted oil, pressuring inflation and rupee</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50A19A1D-28E4-439C-B218-27E77AFBD8B6}" type="par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7BE84C1-E328-4377-82C3-23E24A9BD9B9}" type="sib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8DA415-3471-48A2-8BB7-5F5F0F2305B3}">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Indian markets remain volatile, weighed by rising crude oil prices, FII outflows, and geopolitical tensions in West Asia</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E66C7AC-D8AF-45BF-8BFF-3A645BABF5F2}" type="par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F8CC799-E71F-4DC5-A1BF-6B46F8BABD0F}" type="sib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8DD43CC-58EE-41C8-B9DC-43860610FFB0}">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Apr-26, amid geopolitical risk</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B367E7FB-2D03-4BDD-84D9-5D181866B3C2}" type="parTrans" cxnId="{CBBC056E-BD75-490B-9B78-63BFA9D74F98}">
      <dgm:prSet/>
      <dgm:spPr/>
      <dgm:t>
        <a:bodyPr/>
        <a:lstStyle/>
        <a:p>
          <a:endParaRPr lang="en-US"/>
        </a:p>
      </dgm:t>
    </dgm:pt>
    <dgm:pt modelId="{1932BAC4-500F-48F0-8A1A-521F13F83BA2}" type="sibTrans" cxnId="{CBBC056E-BD75-490B-9B78-63BFA9D74F98}">
      <dgm:prSet/>
      <dgm:spPr/>
      <dgm:t>
        <a:bodyPr/>
        <a:lstStyle/>
        <a:p>
          <a:endParaRPr lang="en-US"/>
        </a:p>
      </dgm:t>
    </dgm:pt>
    <dgm:pt modelId="{FDB5D91C-9737-42AC-93AF-78FD4F0979B2}">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rose to ~4.4% in Apr-26, m</a:t>
          </a:r>
          <a:r>
            <a:rPr lang="en-US" sz="1000" b="0" dirty="0"/>
            <a:t>iddle East tensions fuel inflation fears</a:t>
          </a:r>
          <a:endParaRPr lang="en-US" sz="1000" b="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gm:t>
    </dgm:pt>
    <dgm:pt modelId="{3CABFE0E-7BF9-4C08-999A-8D000203BFFB}" type="parTrans" cxnId="{9E5B6502-E895-45D7-9FDE-D41071FFF2F9}">
      <dgm:prSet/>
      <dgm:spPr/>
      <dgm:t>
        <a:bodyPr/>
        <a:lstStyle/>
        <a:p>
          <a:endParaRPr lang="en-US"/>
        </a:p>
      </dgm:t>
    </dgm:pt>
    <dgm:pt modelId="{2556701D-BD34-4DF2-A176-953412D0E784}" type="sibTrans" cxnId="{9E5B6502-E895-45D7-9FDE-D41071FFF2F9}">
      <dgm:prSet/>
      <dgm:spPr/>
      <dgm:t>
        <a:bodyPr/>
        <a:lstStyle/>
        <a:p>
          <a:endParaRPr lang="en-US"/>
        </a:p>
      </dgm:t>
    </dgm:pt>
    <dgm:pt modelId="{23ECF797-B6B9-45AB-B19E-121073D0C222}">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Global markets in turmoil amid crude spike, geopolitics, inflation fears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7C951EE-8E5B-494B-8D61-B15CDAF09585}" type="parTrans" cxnId="{3BE6F7C3-40A6-4FA7-AB1A-7B8206C38A1D}">
      <dgm:prSet/>
      <dgm:spPr/>
      <dgm:t>
        <a:bodyPr/>
        <a:lstStyle/>
        <a:p>
          <a:endParaRPr lang="en-US"/>
        </a:p>
      </dgm:t>
    </dgm:pt>
    <dgm:pt modelId="{3F3BBC79-0D69-4284-B7CB-14955A8361EC}" type="sibTrans" cxnId="{3BE6F7C3-40A6-4FA7-AB1A-7B8206C38A1D}">
      <dgm:prSet/>
      <dgm:spPr/>
      <dgm:t>
        <a:bodyPr/>
        <a:lstStyle/>
        <a:p>
          <a:endParaRPr lang="en-US"/>
        </a:p>
      </dgm:t>
    </dgm:pt>
    <dgm:pt modelId="{92CD2999-9042-4C8A-BF20-45F774828A05}">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INR remained under pressure, with RBI managing liquidity to ensure market stability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4162EF96-F262-4970-9194-B2D00D05B177}" type="sibTrans" cxnId="{6455739A-7081-4C10-9BC3-1F03E164FAFA}">
      <dgm:prSet/>
      <dgm:spPr/>
      <dgm:t>
        <a:bodyPr/>
        <a:lstStyle/>
        <a:p>
          <a:endParaRPr lang="en-US"/>
        </a:p>
      </dgm:t>
    </dgm:pt>
    <dgm:pt modelId="{2C04C16F-AAC4-4D07-A10A-3CCF05AD6139}" type="parTrans" cxnId="{6455739A-7081-4C10-9BC3-1F03E164FAFA}">
      <dgm:prSet/>
      <dgm:spPr/>
      <dgm:t>
        <a:bodyPr/>
        <a:lstStyle/>
        <a:p>
          <a:endParaRPr lang="en-US"/>
        </a:p>
      </dgm:t>
    </dgm:pt>
    <dgm:pt modelId="{E09C8E44-E9BA-4C00-BE50-7957EADE6D1A}">
      <dgm:prSet phldrT="[Text]" custT="1"/>
      <dgm:spPr>
        <a:solidFill>
          <a:schemeClr val="bg2"/>
        </a:solidFill>
      </dgm:spPr>
      <dgm:t>
        <a:bodyPr/>
        <a:lstStyle/>
        <a:p>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gm:t>
    </dgm:pt>
    <dgm:pt modelId="{41CCB44C-74E2-454F-BA07-D26BA7B68AC6}" type="sib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EF4EFFDF-1140-4B20-8AB2-F5D9DEF30092}" type="par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6914C3C6-9ADF-456D-9144-C11F06ECD3C3}">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India’s CPI rose to 3.4% in Mar-26, while core inflation stayed firm, reflecting sustained underlying price pressures</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5C9325E3-CCCD-4D85-85D0-78F9A872D55B}" type="sib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7500A90-FF1D-497E-8BD3-14E10465EDDE}" type="par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35EF413-0834-483B-9E3F-D35D11BDD597}">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US headline CPI  jumped to 3.3% (Mar-26), led by high energy costs amid the war with Iran </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6B7623E8-1C43-45EB-B3AB-02FBD79F4E8D}" type="sibTrans" cxnId="{9397BF4F-31B4-43DF-AED1-36216013D386}">
      <dgm:prSet/>
      <dgm:spPr/>
      <dgm:t>
        <a:bodyPr/>
        <a:lstStyle/>
        <a:p>
          <a:endParaRPr lang="en-US"/>
        </a:p>
      </dgm:t>
    </dgm:pt>
    <dgm:pt modelId="{8B135719-9701-4816-BBE8-779163697469}" type="parTrans" cxnId="{9397BF4F-31B4-43DF-AED1-36216013D386}">
      <dgm:prSet/>
      <dgm:spPr/>
      <dgm:t>
        <a:bodyPr/>
        <a:lstStyle/>
        <a:p>
          <a:endParaRPr lang="en-US"/>
        </a:p>
      </dgm:t>
    </dgm:pt>
    <dgm:pt modelId="{CFBEF807-85A7-47E8-8450-E7C94BF1F6F8}" type="pres">
      <dgm:prSet presAssocID="{19FCD27F-1CE5-415B-ACB8-0A5C3E5B93E9}" presName="Name0" presStyleCnt="0">
        <dgm:presLayoutVars>
          <dgm:dir/>
          <dgm:animLvl val="lvl"/>
          <dgm:resizeHandles val="exact"/>
        </dgm:presLayoutVars>
      </dgm:prSet>
      <dgm:spPr/>
    </dgm:pt>
    <dgm:pt modelId="{F8A7EED5-AD1C-4606-8F84-72642D631DFF}" type="pres">
      <dgm:prSet presAssocID="{E09C8E44-E9BA-4C00-BE50-7957EADE6D1A}" presName="linNode" presStyleCnt="0"/>
      <dgm:spPr/>
    </dgm:pt>
    <dgm:pt modelId="{BA6CE1E8-E35B-494E-8F9E-6082FFA7C39D}" type="pres">
      <dgm:prSet presAssocID="{E09C8E44-E9BA-4C00-BE50-7957EADE6D1A}" presName="parentText" presStyleLbl="node1" presStyleIdx="0" presStyleCnt="5" custScaleX="55317" custLinFactNeighborX="25" custLinFactNeighborY="-164">
        <dgm:presLayoutVars>
          <dgm:chMax val="1"/>
          <dgm:bulletEnabled val="1"/>
        </dgm:presLayoutVars>
      </dgm:prSet>
      <dgm:spPr/>
    </dgm:pt>
    <dgm:pt modelId="{DA931B39-482F-49D3-A948-4D0006D84345}" type="pres">
      <dgm:prSet presAssocID="{E09C8E44-E9BA-4C00-BE50-7957EADE6D1A}" presName="descendantText" presStyleLbl="alignAccFollowNode1" presStyleIdx="0" presStyleCnt="5" custScaleX="115334" custScaleY="112639">
        <dgm:presLayoutVars>
          <dgm:bulletEnabled val="1"/>
        </dgm:presLayoutVars>
      </dgm:prSet>
      <dgm:spPr/>
    </dgm:pt>
    <dgm:pt modelId="{09776274-6F27-403F-A851-FC0A8ECC41B3}" type="pres">
      <dgm:prSet presAssocID="{41CCB44C-74E2-454F-BA07-D26BA7B68AC6}" presName="sp" presStyleCnt="0"/>
      <dgm:spPr/>
    </dgm:pt>
    <dgm:pt modelId="{113E90EC-AFB2-446E-BCA0-004AE742C32F}" type="pres">
      <dgm:prSet presAssocID="{1FEC35B1-9147-47A1-AE7C-5D954D60E25C}" presName="linNode" presStyleCnt="0"/>
      <dgm:spPr/>
    </dgm:pt>
    <dgm:pt modelId="{4F5C1862-7C91-408E-BE9B-595AADD59ADD}" type="pres">
      <dgm:prSet presAssocID="{1FEC35B1-9147-47A1-AE7C-5D954D60E25C}" presName="parentText" presStyleLbl="node1" presStyleIdx="1" presStyleCnt="5" custScaleX="55317">
        <dgm:presLayoutVars>
          <dgm:chMax val="1"/>
          <dgm:bulletEnabled val="1"/>
        </dgm:presLayoutVars>
      </dgm:prSet>
      <dgm:spPr/>
    </dgm:pt>
    <dgm:pt modelId="{64EC0D4D-8F17-4312-8EC3-540AE7D77BD6}" type="pres">
      <dgm:prSet presAssocID="{1FEC35B1-9147-47A1-AE7C-5D954D60E25C}" presName="descendantText" presStyleLbl="alignAccFollowNode1" presStyleIdx="1" presStyleCnt="5" custScaleX="116220" custLinFactNeighborX="-1685" custLinFactNeighborY="-4396">
        <dgm:presLayoutVars>
          <dgm:bulletEnabled val="1"/>
        </dgm:presLayoutVars>
      </dgm:prSet>
      <dgm:spPr/>
    </dgm:pt>
    <dgm:pt modelId="{5F9FC963-5747-4B47-9207-83F05AF7323F}" type="pres">
      <dgm:prSet presAssocID="{89DDF03F-6DC8-44F2-A41E-D5051ED2D1F0}" presName="sp" presStyleCnt="0"/>
      <dgm:spPr/>
    </dgm:pt>
    <dgm:pt modelId="{7809419F-1694-4AE7-917F-B6313D7C4593}" type="pres">
      <dgm:prSet presAssocID="{A0EDAEE4-A668-40C2-BF09-4F51903BAEB4}" presName="linNode" presStyleCnt="0"/>
      <dgm:spPr/>
    </dgm:pt>
    <dgm:pt modelId="{A615328F-6E27-4EC6-BADB-D1A6A25A2B11}" type="pres">
      <dgm:prSet presAssocID="{A0EDAEE4-A668-40C2-BF09-4F51903BAEB4}" presName="parentText" presStyleLbl="node1" presStyleIdx="2" presStyleCnt="5" custScaleX="55317">
        <dgm:presLayoutVars>
          <dgm:chMax val="1"/>
          <dgm:bulletEnabled val="1"/>
        </dgm:presLayoutVars>
      </dgm:prSet>
      <dgm:spPr/>
    </dgm:pt>
    <dgm:pt modelId="{B0712708-6A42-4CBC-82DB-22D2FAD3BAE7}" type="pres">
      <dgm:prSet presAssocID="{A0EDAEE4-A668-40C2-BF09-4F51903BAEB4}" presName="descendantText" presStyleLbl="alignAccFollowNode1" presStyleIdx="2" presStyleCnt="5" custScaleX="114095">
        <dgm:presLayoutVars>
          <dgm:bulletEnabled val="1"/>
        </dgm:presLayoutVars>
      </dgm:prSet>
      <dgm:spPr/>
    </dgm:pt>
    <dgm:pt modelId="{2967583E-B15F-4665-A712-427240234858}" type="pres">
      <dgm:prSet presAssocID="{5A9B8F70-38D1-4902-98F6-A0812896ADBB}" presName="sp" presStyleCnt="0"/>
      <dgm:spPr/>
    </dgm:pt>
    <dgm:pt modelId="{0B19905A-1920-48B2-8A47-3A5CF3FF61C7}" type="pres">
      <dgm:prSet presAssocID="{95C782F8-4FB3-417E-BC74-3E9D60A4761B}" presName="linNode" presStyleCnt="0"/>
      <dgm:spPr/>
    </dgm:pt>
    <dgm:pt modelId="{69934606-21FB-4815-BC2B-3CE0D88084C6}" type="pres">
      <dgm:prSet presAssocID="{95C782F8-4FB3-417E-BC74-3E9D60A4761B}" presName="parentText" presStyleLbl="node1" presStyleIdx="3" presStyleCnt="5" custScaleX="55317">
        <dgm:presLayoutVars>
          <dgm:chMax val="1"/>
          <dgm:bulletEnabled val="1"/>
        </dgm:presLayoutVars>
      </dgm:prSet>
      <dgm:spPr/>
    </dgm:pt>
    <dgm:pt modelId="{7DA2FAD3-01FF-4501-8613-AA9FC08459C5}" type="pres">
      <dgm:prSet presAssocID="{95C782F8-4FB3-417E-BC74-3E9D60A4761B}" presName="descendantText" presStyleLbl="alignAccFollowNode1" presStyleIdx="3" presStyleCnt="5" custScaleX="114634">
        <dgm:presLayoutVars>
          <dgm:bulletEnabled val="1"/>
        </dgm:presLayoutVars>
      </dgm:prSet>
      <dgm:spPr/>
    </dgm:pt>
    <dgm:pt modelId="{9145F7A9-126A-4417-B19C-C3F4459D5FAB}" type="pres">
      <dgm:prSet presAssocID="{F38CAC1E-B0A7-4EBD-AEC8-B5B6756A06DD}" presName="sp" presStyleCnt="0"/>
      <dgm:spPr/>
    </dgm:pt>
    <dgm:pt modelId="{A69D04E3-9316-4250-A433-02A69865D502}" type="pres">
      <dgm:prSet presAssocID="{5A526C50-E77A-41BB-9582-FBDC4D52C0EA}" presName="linNode" presStyleCnt="0"/>
      <dgm:spPr/>
    </dgm:pt>
    <dgm:pt modelId="{BAE5F833-757C-48F1-840C-6B26D323D812}" type="pres">
      <dgm:prSet presAssocID="{5A526C50-E77A-41BB-9582-FBDC4D52C0EA}" presName="parentText" presStyleLbl="node1" presStyleIdx="4" presStyleCnt="5" custScaleX="55317">
        <dgm:presLayoutVars>
          <dgm:chMax val="1"/>
          <dgm:bulletEnabled val="1"/>
        </dgm:presLayoutVars>
      </dgm:prSet>
      <dgm:spPr/>
    </dgm:pt>
    <dgm:pt modelId="{76D6997D-CD2E-455F-A2A9-723E10F80EB0}" type="pres">
      <dgm:prSet presAssocID="{5A526C50-E77A-41BB-9582-FBDC4D52C0EA}" presName="descendantText" presStyleLbl="alignAccFollowNode1" presStyleIdx="4" presStyleCnt="5" custScaleX="113935" custScaleY="139525">
        <dgm:presLayoutVars>
          <dgm:bulletEnabled val="1"/>
        </dgm:presLayoutVars>
      </dgm:prSet>
      <dgm:spPr/>
    </dgm:pt>
  </dgm:ptLst>
  <dgm:cxnLst>
    <dgm:cxn modelId="{9E5B6502-E895-45D7-9FDE-D41071FFF2F9}" srcId="{95C782F8-4FB3-417E-BC74-3E9D60A4761B}" destId="{FDB5D91C-9737-42AC-93AF-78FD4F0979B2}" srcOrd="1" destOrd="0" parTransId="{3CABFE0E-7BF9-4C08-999A-8D000203BFFB}" sibTransId="{2556701D-BD34-4DF2-A176-953412D0E784}"/>
    <dgm:cxn modelId="{DA5E7905-EA77-42C1-AC09-7E66CFF62780}" type="presOf" srcId="{95C782F8-4FB3-417E-BC74-3E9D60A4761B}" destId="{69934606-21FB-4815-BC2B-3CE0D88084C6}" srcOrd="0" destOrd="0" presId="urn:microsoft.com/office/officeart/2005/8/layout/vList5"/>
    <dgm:cxn modelId="{2A90BD05-4399-45F9-B96B-3B2B5C6DC6D4}" type="presOf" srcId="{23ECF797-B6B9-45AB-B19E-121073D0C222}" destId="{76D6997D-CD2E-455F-A2A9-723E10F80EB0}" srcOrd="0" destOrd="1" presId="urn:microsoft.com/office/officeart/2005/8/layout/vList5"/>
    <dgm:cxn modelId="{67274D08-BCBB-4651-A1BF-713EF9BEF183}" srcId="{19FCD27F-1CE5-415B-ACB8-0A5C3E5B93E9}" destId="{1FEC35B1-9147-47A1-AE7C-5D954D60E25C}" srcOrd="1" destOrd="0" parTransId="{C194B499-7B44-4BB8-9674-0A378851F704}" sibTransId="{89DDF03F-6DC8-44F2-A41E-D5051ED2D1F0}"/>
    <dgm:cxn modelId="{EF039814-1778-4C2D-ADAE-2E3F068216A7}" type="presOf" srcId="{418DA415-3471-48A2-8BB7-5F5F0F2305B3}" destId="{76D6997D-CD2E-455F-A2A9-723E10F80EB0}" srcOrd="0" destOrd="0" presId="urn:microsoft.com/office/officeart/2005/8/layout/vList5"/>
    <dgm:cxn modelId="{5E132F2D-8925-494E-8F89-03B33D8A7208}" srcId="{5A526C50-E77A-41BB-9582-FBDC4D52C0EA}" destId="{418DA415-3471-48A2-8BB7-5F5F0F2305B3}" srcOrd="0" destOrd="0" parTransId="{AE66C7AC-D8AF-45BF-8BFF-3A645BABF5F2}" sibTransId="{AF8CC799-E71F-4DC5-A1BF-6B46F8BABD0F}"/>
    <dgm:cxn modelId="{BEADEF3B-E5A9-4B02-AE4F-8D7A46E7DA2D}" type="presOf" srcId="{C8DD43CC-58EE-41C8-B9DC-43860610FFB0}" destId="{B0712708-6A42-4CBC-82DB-22D2FAD3BAE7}" srcOrd="0" destOrd="1" presId="urn:microsoft.com/office/officeart/2005/8/layout/vList5"/>
    <dgm:cxn modelId="{43D4904C-1CD1-4E77-A947-B36B1C508DEC}" type="presOf" srcId="{19FCD27F-1CE5-415B-ACB8-0A5C3E5B93E9}" destId="{CFBEF807-85A7-47E8-8450-E7C94BF1F6F8}" srcOrd="0" destOrd="0" presId="urn:microsoft.com/office/officeart/2005/8/layout/vList5"/>
    <dgm:cxn modelId="{CBBC056E-BD75-490B-9B78-63BFA9D74F98}" srcId="{A0EDAEE4-A668-40C2-BF09-4F51903BAEB4}" destId="{C8DD43CC-58EE-41C8-B9DC-43860610FFB0}" srcOrd="1" destOrd="0" parTransId="{B367E7FB-2D03-4BDD-84D9-5D181866B3C2}" sibTransId="{1932BAC4-500F-48F0-8A1A-521F13F83BA2}"/>
    <dgm:cxn modelId="{EA74136E-9C3D-4355-AC3F-78AF7E575D06}" srcId="{95C782F8-4FB3-417E-BC74-3E9D60A4761B}" destId="{101AD256-0ECE-481B-8C26-C90B1EA79969}" srcOrd="0" destOrd="0" parTransId="{50A19A1D-28E4-439C-B218-27E77AFBD8B6}" sibTransId="{57BE84C1-E328-4377-82C3-23E24A9BD9B9}"/>
    <dgm:cxn modelId="{9397BF4F-31B4-43DF-AED1-36216013D386}" srcId="{E09C8E44-E9BA-4C00-BE50-7957EADE6D1A}" destId="{C35EF413-0834-483B-9E3F-D35D11BDD597}" srcOrd="1" destOrd="0" parTransId="{8B135719-9701-4816-BBE8-779163697469}" sibTransId="{6B7623E8-1C43-45EB-B3AB-02FBD79F4E8D}"/>
    <dgm:cxn modelId="{F14BE675-AEE7-47DA-BB09-DBCC8F0249B0}" type="presOf" srcId="{5A526C50-E77A-41BB-9582-FBDC4D52C0EA}" destId="{BAE5F833-757C-48F1-840C-6B26D323D812}" srcOrd="0" destOrd="0" presId="urn:microsoft.com/office/officeart/2005/8/layout/vList5"/>
    <dgm:cxn modelId="{90340757-3B7D-45EB-85AD-96C6053FB371}" srcId="{19FCD27F-1CE5-415B-ACB8-0A5C3E5B93E9}" destId="{95C782F8-4FB3-417E-BC74-3E9D60A4761B}" srcOrd="3" destOrd="0" parTransId="{221DA5EF-100B-4195-8DAE-0E661E511B4B}" sibTransId="{F38CAC1E-B0A7-4EBD-AEC8-B5B6756A06DD}"/>
    <dgm:cxn modelId="{EDC8707A-1C00-4499-96FA-226E509653F2}" type="presOf" srcId="{FDB5D91C-9737-42AC-93AF-78FD4F0979B2}" destId="{7DA2FAD3-01FF-4501-8613-AA9FC08459C5}" srcOrd="0" destOrd="1" presId="urn:microsoft.com/office/officeart/2005/8/layout/vList5"/>
    <dgm:cxn modelId="{CD7D0A85-E078-4080-8A69-00302D4C21DE}" srcId="{E09C8E44-E9BA-4C00-BE50-7957EADE6D1A}" destId="{6914C3C6-9ADF-456D-9144-C11F06ECD3C3}" srcOrd="0" destOrd="0" parTransId="{F7500A90-FF1D-497E-8BD3-14E10465EDDE}" sibTransId="{5C9325E3-CCCD-4D85-85D0-78F9A872D55B}"/>
    <dgm:cxn modelId="{21BDCE92-F92F-4D31-8326-A2BF69C4D057}" srcId="{A0EDAEE4-A668-40C2-BF09-4F51903BAEB4}" destId="{9F7A8909-3B6D-4AF0-A11E-BF3EF9252D33}" srcOrd="0" destOrd="0" parTransId="{413A9B4A-07E4-4BED-86E3-5CA7DE2FC5D3}" sibTransId="{38BC8B9C-F25B-4F6D-BE48-06AA3ED6E461}"/>
    <dgm:cxn modelId="{6455739A-7081-4C10-9BC3-1F03E164FAFA}" srcId="{1FEC35B1-9147-47A1-AE7C-5D954D60E25C}" destId="{92CD2999-9042-4C8A-BF20-45F774828A05}" srcOrd="1" destOrd="0" parTransId="{2C04C16F-AAC4-4D07-A10A-3CCF05AD6139}" sibTransId="{4162EF96-F262-4970-9194-B2D00D05B177}"/>
    <dgm:cxn modelId="{C39286AB-DE45-448C-890B-E1ED66D5159D}" srcId="{19FCD27F-1CE5-415B-ACB8-0A5C3E5B93E9}" destId="{A0EDAEE4-A668-40C2-BF09-4F51903BAEB4}" srcOrd="2" destOrd="0" parTransId="{7E2FEA2E-459E-4BD9-AE5E-EC0FA97608AB}" sibTransId="{5A9B8F70-38D1-4902-98F6-A0812896ADBB}"/>
    <dgm:cxn modelId="{8FFA08B1-E424-45E3-AA90-1237D79FAA91}" type="presOf" srcId="{101AD256-0ECE-481B-8C26-C90B1EA79969}" destId="{7DA2FAD3-01FF-4501-8613-AA9FC08459C5}" srcOrd="0" destOrd="0" presId="urn:microsoft.com/office/officeart/2005/8/layout/vList5"/>
    <dgm:cxn modelId="{F1BBAABA-DAC3-4AD0-BF89-55C261FF6A50}" type="presOf" srcId="{A0EDAEE4-A668-40C2-BF09-4F51903BAEB4}" destId="{A615328F-6E27-4EC6-BADB-D1A6A25A2B11}" srcOrd="0" destOrd="0" presId="urn:microsoft.com/office/officeart/2005/8/layout/vList5"/>
    <dgm:cxn modelId="{BE806CBD-8E6B-4240-8A6A-BA253475A6ED}" type="presOf" srcId="{1FEC35B1-9147-47A1-AE7C-5D954D60E25C}" destId="{4F5C1862-7C91-408E-BE9B-595AADD59ADD}" srcOrd="0" destOrd="0" presId="urn:microsoft.com/office/officeart/2005/8/layout/vList5"/>
    <dgm:cxn modelId="{3BE6F7C3-40A6-4FA7-AB1A-7B8206C38A1D}" srcId="{5A526C50-E77A-41BB-9582-FBDC4D52C0EA}" destId="{23ECF797-B6B9-45AB-B19E-121073D0C222}" srcOrd="1" destOrd="0" parTransId="{A7C951EE-8E5B-494B-8D61-B15CDAF09585}" sibTransId="{3F3BBC79-0D69-4284-B7CB-14955A8361EC}"/>
    <dgm:cxn modelId="{D2D76CCA-6826-47AA-ADD8-FC41683E0B61}" type="presOf" srcId="{92CD2999-9042-4C8A-BF20-45F774828A05}" destId="{64EC0D4D-8F17-4312-8EC3-540AE7D77BD6}" srcOrd="0" destOrd="1" presId="urn:microsoft.com/office/officeart/2005/8/layout/vList5"/>
    <dgm:cxn modelId="{6B15F3CB-1075-4E94-B70B-BA594A8401EC}" type="presOf" srcId="{C35EF413-0834-483B-9E3F-D35D11BDD597}" destId="{DA931B39-482F-49D3-A948-4D0006D84345}" srcOrd="0" destOrd="1" presId="urn:microsoft.com/office/officeart/2005/8/layout/vList5"/>
    <dgm:cxn modelId="{97FA1CCF-EA89-43EB-B756-3A9F6715F1F8}" type="presOf" srcId="{6914C3C6-9ADF-456D-9144-C11F06ECD3C3}" destId="{DA931B39-482F-49D3-A948-4D0006D84345}" srcOrd="0" destOrd="0" presId="urn:microsoft.com/office/officeart/2005/8/layout/vList5"/>
    <dgm:cxn modelId="{650171D2-CCBD-453D-BB5B-31EC244064BB}" srcId="{1FEC35B1-9147-47A1-AE7C-5D954D60E25C}" destId="{A34FB794-0F17-4C4B-81BB-90443F14226D}" srcOrd="0" destOrd="0" parTransId="{F840171C-A443-49D1-B18C-66D07CEEA250}" sibTransId="{F36CD333-F840-4315-85E8-A037F6A3D70D}"/>
    <dgm:cxn modelId="{EA6C78E0-E107-4C9A-A1F7-6CD910F9EEE2}" srcId="{19FCD27F-1CE5-415B-ACB8-0A5C3E5B93E9}" destId="{5A526C50-E77A-41BB-9582-FBDC4D52C0EA}" srcOrd="4" destOrd="0" parTransId="{4CA67D3B-F473-4C68-A8A9-649E9DC992EC}" sibTransId="{FB36EA36-BB44-4925-82BE-B12F6B93545F}"/>
    <dgm:cxn modelId="{8619D4EF-E090-4715-AD99-2C45E8DB2F0D}" srcId="{19FCD27F-1CE5-415B-ACB8-0A5C3E5B93E9}" destId="{E09C8E44-E9BA-4C00-BE50-7957EADE6D1A}" srcOrd="0" destOrd="0" parTransId="{EF4EFFDF-1140-4B20-8AB2-F5D9DEF30092}" sibTransId="{41CCB44C-74E2-454F-BA07-D26BA7B68AC6}"/>
    <dgm:cxn modelId="{50C2D6F0-D6E4-4FCB-9FB6-14FC9424E78A}" type="presOf" srcId="{9F7A8909-3B6D-4AF0-A11E-BF3EF9252D33}" destId="{B0712708-6A42-4CBC-82DB-22D2FAD3BAE7}" srcOrd="0" destOrd="0" presId="urn:microsoft.com/office/officeart/2005/8/layout/vList5"/>
    <dgm:cxn modelId="{5D3F21F4-0D11-40DC-9806-47DB3E164FF8}" type="presOf" srcId="{A34FB794-0F17-4C4B-81BB-90443F14226D}" destId="{64EC0D4D-8F17-4312-8EC3-540AE7D77BD6}" srcOrd="0" destOrd="0" presId="urn:microsoft.com/office/officeart/2005/8/layout/vList5"/>
    <dgm:cxn modelId="{062329F4-6DCC-4A1E-AFE4-9DFAAC417935}" type="presOf" srcId="{E09C8E44-E9BA-4C00-BE50-7957EADE6D1A}" destId="{BA6CE1E8-E35B-494E-8F9E-6082FFA7C39D}" srcOrd="0" destOrd="0" presId="urn:microsoft.com/office/officeart/2005/8/layout/vList5"/>
    <dgm:cxn modelId="{0FDA2A53-993F-4425-A253-BD24ED960D04}" type="presParOf" srcId="{CFBEF807-85A7-47E8-8450-E7C94BF1F6F8}" destId="{F8A7EED5-AD1C-4606-8F84-72642D631DFF}" srcOrd="0" destOrd="0" presId="urn:microsoft.com/office/officeart/2005/8/layout/vList5"/>
    <dgm:cxn modelId="{0353443C-FF75-478E-8016-FAEA0B8D7A1E}" type="presParOf" srcId="{F8A7EED5-AD1C-4606-8F84-72642D631DFF}" destId="{BA6CE1E8-E35B-494E-8F9E-6082FFA7C39D}" srcOrd="0" destOrd="0" presId="urn:microsoft.com/office/officeart/2005/8/layout/vList5"/>
    <dgm:cxn modelId="{DE3B830E-B02F-4CD0-BD70-48547672D814}" type="presParOf" srcId="{F8A7EED5-AD1C-4606-8F84-72642D631DFF}" destId="{DA931B39-482F-49D3-A948-4D0006D84345}" srcOrd="1" destOrd="0" presId="urn:microsoft.com/office/officeart/2005/8/layout/vList5"/>
    <dgm:cxn modelId="{92033485-F18A-407B-96A0-1BCD5AC10F7E}" type="presParOf" srcId="{CFBEF807-85A7-47E8-8450-E7C94BF1F6F8}" destId="{09776274-6F27-403F-A851-FC0A8ECC41B3}" srcOrd="1" destOrd="0" presId="urn:microsoft.com/office/officeart/2005/8/layout/vList5"/>
    <dgm:cxn modelId="{0495EA29-7DD2-46F1-BD51-CC55431BEB8A}" type="presParOf" srcId="{CFBEF807-85A7-47E8-8450-E7C94BF1F6F8}" destId="{113E90EC-AFB2-446E-BCA0-004AE742C32F}" srcOrd="2" destOrd="0" presId="urn:microsoft.com/office/officeart/2005/8/layout/vList5"/>
    <dgm:cxn modelId="{A57F7D96-A92A-4570-8A48-5F166DEC9703}" type="presParOf" srcId="{113E90EC-AFB2-446E-BCA0-004AE742C32F}" destId="{4F5C1862-7C91-408E-BE9B-595AADD59ADD}" srcOrd="0" destOrd="0" presId="urn:microsoft.com/office/officeart/2005/8/layout/vList5"/>
    <dgm:cxn modelId="{29C4161F-2A3C-499A-B404-F32269AF3C97}" type="presParOf" srcId="{113E90EC-AFB2-446E-BCA0-004AE742C32F}" destId="{64EC0D4D-8F17-4312-8EC3-540AE7D77BD6}" srcOrd="1" destOrd="0" presId="urn:microsoft.com/office/officeart/2005/8/layout/vList5"/>
    <dgm:cxn modelId="{2109AC77-8AF1-4E2E-98D8-48DFB296A3F1}" type="presParOf" srcId="{CFBEF807-85A7-47E8-8450-E7C94BF1F6F8}" destId="{5F9FC963-5747-4B47-9207-83F05AF7323F}" srcOrd="3" destOrd="0" presId="urn:microsoft.com/office/officeart/2005/8/layout/vList5"/>
    <dgm:cxn modelId="{7533EF07-E5C5-495E-A239-AED740080C4D}" type="presParOf" srcId="{CFBEF807-85A7-47E8-8450-E7C94BF1F6F8}" destId="{7809419F-1694-4AE7-917F-B6313D7C4593}" srcOrd="4" destOrd="0" presId="urn:microsoft.com/office/officeart/2005/8/layout/vList5"/>
    <dgm:cxn modelId="{C825EBCB-7857-4B4F-AD22-36FA3B2EFB08}" type="presParOf" srcId="{7809419F-1694-4AE7-917F-B6313D7C4593}" destId="{A615328F-6E27-4EC6-BADB-D1A6A25A2B11}" srcOrd="0" destOrd="0" presId="urn:microsoft.com/office/officeart/2005/8/layout/vList5"/>
    <dgm:cxn modelId="{735883B3-5178-42AE-A156-CDB906F3324F}" type="presParOf" srcId="{7809419F-1694-4AE7-917F-B6313D7C4593}" destId="{B0712708-6A42-4CBC-82DB-22D2FAD3BAE7}" srcOrd="1" destOrd="0" presId="urn:microsoft.com/office/officeart/2005/8/layout/vList5"/>
    <dgm:cxn modelId="{D7A0658D-9B72-4D50-BEC4-5F9B6945D53B}" type="presParOf" srcId="{CFBEF807-85A7-47E8-8450-E7C94BF1F6F8}" destId="{2967583E-B15F-4665-A712-427240234858}" srcOrd="5" destOrd="0" presId="urn:microsoft.com/office/officeart/2005/8/layout/vList5"/>
    <dgm:cxn modelId="{6909188A-F93E-426E-80CD-AF15867C00E9}" type="presParOf" srcId="{CFBEF807-85A7-47E8-8450-E7C94BF1F6F8}" destId="{0B19905A-1920-48B2-8A47-3A5CF3FF61C7}" srcOrd="6" destOrd="0" presId="urn:microsoft.com/office/officeart/2005/8/layout/vList5"/>
    <dgm:cxn modelId="{F4FE2360-5BEE-4AB0-A86F-50512B152E88}" type="presParOf" srcId="{0B19905A-1920-48B2-8A47-3A5CF3FF61C7}" destId="{69934606-21FB-4815-BC2B-3CE0D88084C6}" srcOrd="0" destOrd="0" presId="urn:microsoft.com/office/officeart/2005/8/layout/vList5"/>
    <dgm:cxn modelId="{84C6BB7D-46C7-4597-BB4A-09B54D3B7505}" type="presParOf" srcId="{0B19905A-1920-48B2-8A47-3A5CF3FF61C7}" destId="{7DA2FAD3-01FF-4501-8613-AA9FC08459C5}" srcOrd="1" destOrd="0" presId="urn:microsoft.com/office/officeart/2005/8/layout/vList5"/>
    <dgm:cxn modelId="{F5EB5167-2C6E-4BB2-B72C-225195E54B24}" type="presParOf" srcId="{CFBEF807-85A7-47E8-8450-E7C94BF1F6F8}" destId="{9145F7A9-126A-4417-B19C-C3F4459D5FAB}" srcOrd="7" destOrd="0" presId="urn:microsoft.com/office/officeart/2005/8/layout/vList5"/>
    <dgm:cxn modelId="{EBF870F2-51C2-438E-BC27-829C96E02310}" type="presParOf" srcId="{CFBEF807-85A7-47E8-8450-E7C94BF1F6F8}" destId="{A69D04E3-9316-4250-A433-02A69865D502}" srcOrd="8" destOrd="0" presId="urn:microsoft.com/office/officeart/2005/8/layout/vList5"/>
    <dgm:cxn modelId="{BD5780C0-70E9-4C7A-BFD1-6668ACA1F36D}" type="presParOf" srcId="{A69D04E3-9316-4250-A433-02A69865D502}" destId="{BAE5F833-757C-48F1-840C-6B26D323D812}" srcOrd="0" destOrd="0" presId="urn:microsoft.com/office/officeart/2005/8/layout/vList5"/>
    <dgm:cxn modelId="{1D2F44DB-F234-4126-B8E1-44E5B6E69FEE}" type="presParOf" srcId="{A69D04E3-9316-4250-A433-02A69865D502}" destId="{76D6997D-CD2E-455F-A2A9-723E10F80EB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31B39-482F-49D3-A948-4D0006D84345}">
      <dsp:nvSpPr>
        <dsp:cNvPr id="0" name=""/>
        <dsp:cNvSpPr/>
      </dsp:nvSpPr>
      <dsp:spPr>
        <a:xfrm rot="5400000">
          <a:off x="4489952" y="-2628189"/>
          <a:ext cx="601153" cy="5925691"/>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India’s CPI rose to 3.4% in Mar-26, while core inflation stayed firm, reflecting sustained underlying price pressures</a:t>
          </a:r>
          <a:endParaRPr lang="en-US" sz="1000" kern="1200" dirty="0">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US headline CPI  jumped to 3.3% (Mar-26), led by high energy costs amid the war with Iran </a:t>
          </a:r>
          <a:endParaRPr lang="en-US" sz="10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827683" y="63426"/>
        <a:ext cx="5896345" cy="542461"/>
      </dsp:txXfrm>
    </dsp:sp>
    <dsp:sp modelId="{BA6CE1E8-E35B-494E-8F9E-6082FFA7C39D}">
      <dsp:nvSpPr>
        <dsp:cNvPr id="0" name=""/>
        <dsp:cNvSpPr/>
      </dsp:nvSpPr>
      <dsp:spPr>
        <a:xfrm>
          <a:off x="230283" y="0"/>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sp:txBody>
      <dsp:txXfrm>
        <a:off x="262849" y="32566"/>
        <a:ext cx="1533552" cy="601991"/>
      </dsp:txXfrm>
    </dsp:sp>
    <dsp:sp modelId="{64EC0D4D-8F17-4312-8EC3-540AE7D77BD6}">
      <dsp:nvSpPr>
        <dsp:cNvPr id="0" name=""/>
        <dsp:cNvSpPr/>
      </dsp:nvSpPr>
      <dsp:spPr>
        <a:xfrm rot="5400000">
          <a:off x="4497743" y="-1973931"/>
          <a:ext cx="533698" cy="5971212"/>
        </a:xfrm>
        <a:prstGeom prst="round2SameRect">
          <a:avLst/>
        </a:prstGeom>
        <a:solidFill>
          <a:schemeClr val="bg1">
            <a:alpha val="9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RBI absorbed ₹2tn via 7-day VRRR (10</a:t>
          </a:r>
          <a:r>
            <a:rPr lang="en-US" sz="1000" kern="1200" baseline="30000" dirty="0"/>
            <a:t>th</a:t>
          </a:r>
          <a:r>
            <a:rPr lang="en-US" sz="1000" kern="1200" dirty="0"/>
            <a:t> April,2026), tightening liquidity and pushing bond yields higher</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INR remained under pressure, with RBI managing liquidity to ensure market stability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778987" y="770878"/>
        <a:ext cx="5945159" cy="481592"/>
      </dsp:txXfrm>
    </dsp:sp>
    <dsp:sp modelId="{4F5C1862-7C91-408E-BE9B-595AADD59ADD}">
      <dsp:nvSpPr>
        <dsp:cNvPr id="0" name=""/>
        <dsp:cNvSpPr/>
      </dsp:nvSpPr>
      <dsp:spPr>
        <a:xfrm>
          <a:off x="228998" y="701574"/>
          <a:ext cx="1598684"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sp:txBody>
      <dsp:txXfrm>
        <a:off x="261564" y="734140"/>
        <a:ext cx="1533552" cy="601991"/>
      </dsp:txXfrm>
    </dsp:sp>
    <dsp:sp modelId="{B0712708-6A42-4CBC-82DB-22D2FAD3BAE7}">
      <dsp:nvSpPr>
        <dsp:cNvPr id="0" name=""/>
        <dsp:cNvSpPr/>
      </dsp:nvSpPr>
      <dsp:spPr>
        <a:xfrm rot="5400000">
          <a:off x="4491850" y="-1195400"/>
          <a:ext cx="533698" cy="5862033"/>
        </a:xfrm>
        <a:prstGeom prst="round2SameRect">
          <a:avLst/>
        </a:prstGeom>
        <a:noFill/>
        <a:ln w="25400" cap="flat" cmpd="sng" algn="ctr">
          <a:solidFill>
            <a:schemeClr val="bg1">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rates unchanged in Apr-26, maintains neutral stance </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Apr-26, amid geopolitical risk</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sp:txBody>
      <dsp:txXfrm rot="-5400000">
        <a:off x="1827683" y="1494820"/>
        <a:ext cx="5835980" cy="481592"/>
      </dsp:txXfrm>
    </dsp:sp>
    <dsp:sp modelId="{A615328F-6E27-4EC6-BADB-D1A6A25A2B11}">
      <dsp:nvSpPr>
        <dsp:cNvPr id="0" name=""/>
        <dsp:cNvSpPr/>
      </dsp:nvSpPr>
      <dsp:spPr>
        <a:xfrm>
          <a:off x="228998" y="1402053"/>
          <a:ext cx="1598684" cy="66712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sp:txBody>
      <dsp:txXfrm>
        <a:off x="261564" y="1434619"/>
        <a:ext cx="1533552" cy="601991"/>
      </dsp:txXfrm>
    </dsp:sp>
    <dsp:sp modelId="{7DA2FAD3-01FF-4501-8613-AA9FC08459C5}">
      <dsp:nvSpPr>
        <dsp:cNvPr id="0" name=""/>
        <dsp:cNvSpPr/>
      </dsp:nvSpPr>
      <dsp:spPr>
        <a:xfrm rot="5400000">
          <a:off x="4505697" y="-508767"/>
          <a:ext cx="533698" cy="5889726"/>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rose to  ~7% in Apr-26, geopolitics lifted oil, pressuring inflation and rupee</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rose to ~4.4% in Apr-26, m</a:t>
          </a:r>
          <a:r>
            <a:rPr lang="en-US" sz="1000" b="0" dirty="0"/>
            <a:t>iddle East tensions fuel inflation fears</a:t>
          </a:r>
          <a:endParaRPr lang="en-US" sz="1000" b="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sp:txBody>
      <dsp:txXfrm rot="-5400000">
        <a:off x="1827684" y="2195299"/>
        <a:ext cx="5863673" cy="481592"/>
      </dsp:txXfrm>
    </dsp:sp>
    <dsp:sp modelId="{69934606-21FB-4815-BC2B-3CE0D88084C6}">
      <dsp:nvSpPr>
        <dsp:cNvPr id="0" name=""/>
        <dsp:cNvSpPr/>
      </dsp:nvSpPr>
      <dsp:spPr>
        <a:xfrm>
          <a:off x="228998" y="2102533"/>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sp:txBody>
      <dsp:txXfrm>
        <a:off x="261564" y="2135099"/>
        <a:ext cx="1533552" cy="601991"/>
      </dsp:txXfrm>
    </dsp:sp>
    <dsp:sp modelId="{76D6997D-CD2E-455F-A2A9-723E10F80EB0}">
      <dsp:nvSpPr>
        <dsp:cNvPr id="0" name=""/>
        <dsp:cNvSpPr/>
      </dsp:nvSpPr>
      <dsp:spPr>
        <a:xfrm rot="5400000">
          <a:off x="4377848" y="251287"/>
          <a:ext cx="744643" cy="5848095"/>
        </a:xfrm>
        <a:prstGeom prst="round2SameRect">
          <a:avLst/>
        </a:prstGeom>
        <a:noFill/>
        <a:ln w="2540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Indian markets remain volatile, weighed by rising crude oil prices, FII outflows, and geopolitical tensions in West Asia</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Global markets in turmoil amid crude spike, geopolitics, inflation fears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826122" y="2839363"/>
        <a:ext cx="5811745" cy="671943"/>
      </dsp:txXfrm>
    </dsp:sp>
    <dsp:sp modelId="{BAE5F833-757C-48F1-840C-6B26D323D812}">
      <dsp:nvSpPr>
        <dsp:cNvPr id="0" name=""/>
        <dsp:cNvSpPr/>
      </dsp:nvSpPr>
      <dsp:spPr>
        <a:xfrm>
          <a:off x="228998" y="2841773"/>
          <a:ext cx="1597123"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sp:txBody>
      <dsp:txXfrm>
        <a:off x="261564" y="2874339"/>
        <a:ext cx="1531991" cy="60199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36" name="Google Shape;2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27576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944486FB-18BC-95BC-6959-C2FCD6030687}"/>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EE50A503-563D-B21C-287F-F0B9D10FB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58" name="Google Shape;258;p6:notes">
            <a:extLst>
              <a:ext uri="{FF2B5EF4-FFF2-40B4-BE49-F238E27FC236}">
                <a16:creationId xmlns:a16="http://schemas.microsoft.com/office/drawing/2014/main" id="{5D5147BF-B239-A080-60C9-FEB0F9E604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72991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01402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7ADC907-AD6D-1BAC-E623-BFB493BDD9F4}"/>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E0C2CBFC-F919-919E-10B7-1D17C0CAE7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CD026BE-4C3C-C74E-4D56-51F30243D7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14577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1382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7429EF4-4624-FBF7-089B-247A1C82E35B}"/>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D7C3C3C-AA14-ACC8-D861-A03AFA47B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BF3D071-9002-BAE7-D00A-B2181AD98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737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53C879F-CBC2-F6BA-99B4-52AA35C4AD30}"/>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F1E9A3D8-F0F6-50C8-C9EB-D64B097998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91001BE-3371-3AA1-A687-16EF3772F3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06039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C4D7933-2A02-97B4-E954-424B79B150A4}"/>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494A438E-D312-E6F1-27CF-0AF6676307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274026E6-5B4F-0070-A2C6-0B0004BB60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2975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DDDA2DD-7BDD-0E4A-EDA6-0133084D478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D7F2FC94-B537-0F59-89E1-DBD4A5144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642645D6-0556-10DE-1D05-A2170EDFFE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47775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EAD8F2F-77AE-A8F9-2F8F-0D6659FA0AF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5990F977-A8E8-EC4D-12D0-F67C453B01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F61A841E-0DBE-CF3A-C1A8-3A61EEFCD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7130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5852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06057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99808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82338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00287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63857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C8447F5-514F-3C51-0950-D6002A5FEC87}"/>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7A69EEB-E4C8-CE4C-DBFC-A0413CAA51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750E8E0C-9AA0-A9AD-5F2D-5FCD7A0F33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02070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EBF171B-1EDD-7AF1-D755-D01941CCBB31}"/>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F6CA85C-4362-28CD-AF43-3B4721483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316C112-10F4-4C37-2893-114BDD1877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39064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B76E18A-1211-B46B-F9A1-C280C1021C4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3B453ED-C382-41B9-17F4-12EE13618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A8461-A04A-3416-CF5C-4EDEAD560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40803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57236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9668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58"/>
          <p:cNvSpPr>
            <a:spLocks noGrp="1"/>
          </p:cNvSpPr>
          <p:nvPr>
            <p:ph type="pic" idx="2"/>
          </p:nvPr>
        </p:nvSpPr>
        <p:spPr>
          <a:xfrm>
            <a:off x="3330125" y="0"/>
            <a:ext cx="5814000" cy="4422300"/>
          </a:xfrm>
          <a:prstGeom prst="rect">
            <a:avLst/>
          </a:prstGeom>
          <a:noFill/>
          <a:ln>
            <a:noFill/>
          </a:ln>
        </p:spPr>
        <p:txBody>
          <a:bodyPr/>
          <a:lstStyle/>
          <a:p>
            <a:endParaRPr lang="en-US" dirty="0"/>
          </a:p>
        </p:txBody>
      </p:sp>
      <p:sp>
        <p:nvSpPr>
          <p:cNvPr id="10" name="Google Shape;10;p58"/>
          <p:cNvSpPr txBox="1">
            <a:spLocks noGrp="1"/>
          </p:cNvSpPr>
          <p:nvPr>
            <p:ph type="ctrTitle"/>
          </p:nvPr>
        </p:nvSpPr>
        <p:spPr>
          <a:xfrm>
            <a:off x="713225" y="1799800"/>
            <a:ext cx="5814000" cy="22014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191919"/>
              </a:buClr>
              <a:buSzPts val="5200"/>
              <a:buNone/>
              <a:defRPr sz="96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58"/>
          <p:cNvSpPr txBox="1">
            <a:spLocks noGrp="1"/>
          </p:cNvSpPr>
          <p:nvPr>
            <p:ph type="subTitle" idx="1"/>
          </p:nvPr>
        </p:nvSpPr>
        <p:spPr>
          <a:xfrm>
            <a:off x="713225" y="4198100"/>
            <a:ext cx="5814000" cy="4059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9"/>
        <p:cNvGrpSpPr/>
        <p:nvPr/>
      </p:nvGrpSpPr>
      <p:grpSpPr>
        <a:xfrm>
          <a:off x="0" y="0"/>
          <a:ext cx="0" cy="0"/>
          <a:chOff x="0" y="0"/>
          <a:chExt cx="0" cy="0"/>
        </a:xfrm>
      </p:grpSpPr>
      <p:grpSp>
        <p:nvGrpSpPr>
          <p:cNvPr id="20" name="Google Shape;20;p60"/>
          <p:cNvGrpSpPr/>
          <p:nvPr/>
        </p:nvGrpSpPr>
        <p:grpSpPr>
          <a:xfrm>
            <a:off x="-94975" y="704675"/>
            <a:ext cx="8809210" cy="4167775"/>
            <a:chOff x="-94975" y="704675"/>
            <a:chExt cx="8809210" cy="4167775"/>
          </a:xfrm>
        </p:grpSpPr>
        <p:cxnSp>
          <p:nvCxnSpPr>
            <p:cNvPr id="21" name="Google Shape;21;p60"/>
            <p:cNvCxnSpPr/>
            <p:nvPr/>
          </p:nvCxnSpPr>
          <p:spPr>
            <a:xfrm rot="10800000">
              <a:off x="6247635" y="704675"/>
              <a:ext cx="2466600" cy="0"/>
            </a:xfrm>
            <a:prstGeom prst="straightConnector1">
              <a:avLst/>
            </a:prstGeom>
            <a:noFill/>
            <a:ln w="9525" cap="flat" cmpd="sng">
              <a:solidFill>
                <a:schemeClr val="dk1"/>
              </a:solidFill>
              <a:prstDash val="solid"/>
              <a:round/>
              <a:headEnd type="none" w="sm" len="sm"/>
              <a:tailEnd type="none" w="sm" len="sm"/>
            </a:ln>
          </p:spPr>
        </p:cxnSp>
        <p:cxnSp>
          <p:nvCxnSpPr>
            <p:cNvPr id="22" name="Google Shape;22;p6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 name="Google Shape;23;p6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24" name="Google Shape;24;p60"/>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 name="Google Shape;25;p60"/>
          <p:cNvSpPr txBox="1">
            <a:spLocks noGrp="1"/>
          </p:cNvSpPr>
          <p:nvPr>
            <p:ph type="subTitle" idx="1"/>
          </p:nvPr>
        </p:nvSpPr>
        <p:spPr>
          <a:xfrm>
            <a:off x="720000"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6" name="Google Shape;26;p60"/>
          <p:cNvSpPr txBox="1">
            <a:spLocks noGrp="1"/>
          </p:cNvSpPr>
          <p:nvPr>
            <p:ph type="subTitle" idx="2"/>
          </p:nvPr>
        </p:nvSpPr>
        <p:spPr>
          <a:xfrm>
            <a:off x="3419269"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7" name="Google Shape;27;p60"/>
          <p:cNvSpPr txBox="1">
            <a:spLocks noGrp="1"/>
          </p:cNvSpPr>
          <p:nvPr>
            <p:ph type="subTitle" idx="3"/>
          </p:nvPr>
        </p:nvSpPr>
        <p:spPr>
          <a:xfrm>
            <a:off x="720000"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8" name="Google Shape;28;p60"/>
          <p:cNvSpPr txBox="1">
            <a:spLocks noGrp="1"/>
          </p:cNvSpPr>
          <p:nvPr>
            <p:ph type="subTitle" idx="4"/>
          </p:nvPr>
        </p:nvSpPr>
        <p:spPr>
          <a:xfrm>
            <a:off x="3419269"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9" name="Google Shape;29;p60"/>
          <p:cNvSpPr txBox="1">
            <a:spLocks noGrp="1"/>
          </p:cNvSpPr>
          <p:nvPr>
            <p:ph type="subTitle" idx="5"/>
          </p:nvPr>
        </p:nvSpPr>
        <p:spPr>
          <a:xfrm>
            <a:off x="6118545"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0" name="Google Shape;30;p60"/>
          <p:cNvSpPr txBox="1">
            <a:spLocks noGrp="1"/>
          </p:cNvSpPr>
          <p:nvPr>
            <p:ph type="subTitle" idx="6"/>
          </p:nvPr>
        </p:nvSpPr>
        <p:spPr>
          <a:xfrm>
            <a:off x="6118545"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1" name="Google Shape;31;p60"/>
          <p:cNvSpPr txBox="1">
            <a:spLocks noGrp="1"/>
          </p:cNvSpPr>
          <p:nvPr>
            <p:ph type="title" idx="7"/>
          </p:nvPr>
        </p:nvSpPr>
        <p:spPr>
          <a:xfrm>
            <a:off x="720000"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2" name="Google Shape;32;p60"/>
          <p:cNvSpPr txBox="1">
            <a:spLocks noGrp="1"/>
          </p:cNvSpPr>
          <p:nvPr>
            <p:ph type="title" idx="8"/>
          </p:nvPr>
        </p:nvSpPr>
        <p:spPr>
          <a:xfrm>
            <a:off x="720000"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3" name="Google Shape;33;p60"/>
          <p:cNvSpPr txBox="1">
            <a:spLocks noGrp="1"/>
          </p:cNvSpPr>
          <p:nvPr>
            <p:ph type="title" idx="9"/>
          </p:nvPr>
        </p:nvSpPr>
        <p:spPr>
          <a:xfrm>
            <a:off x="3419269"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60"/>
          <p:cNvSpPr txBox="1">
            <a:spLocks noGrp="1"/>
          </p:cNvSpPr>
          <p:nvPr>
            <p:ph type="title" idx="13"/>
          </p:nvPr>
        </p:nvSpPr>
        <p:spPr>
          <a:xfrm>
            <a:off x="3419269"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60"/>
          <p:cNvSpPr txBox="1">
            <a:spLocks noGrp="1"/>
          </p:cNvSpPr>
          <p:nvPr>
            <p:ph type="title" idx="14"/>
          </p:nvPr>
        </p:nvSpPr>
        <p:spPr>
          <a:xfrm>
            <a:off x="6118545"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0"/>
          <p:cNvSpPr txBox="1">
            <a:spLocks noGrp="1"/>
          </p:cNvSpPr>
          <p:nvPr>
            <p:ph type="title" idx="15"/>
          </p:nvPr>
        </p:nvSpPr>
        <p:spPr>
          <a:xfrm>
            <a:off x="6118545"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7" name="Google Shape;37;p60"/>
          <p:cNvSpPr txBox="1">
            <a:spLocks noGrp="1"/>
          </p:cNvSpPr>
          <p:nvPr>
            <p:ph type="subTitle" idx="16"/>
          </p:nvPr>
        </p:nvSpPr>
        <p:spPr>
          <a:xfrm>
            <a:off x="720000"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 name="Google Shape;38;p60"/>
          <p:cNvSpPr txBox="1">
            <a:spLocks noGrp="1"/>
          </p:cNvSpPr>
          <p:nvPr>
            <p:ph type="subTitle" idx="17"/>
          </p:nvPr>
        </p:nvSpPr>
        <p:spPr>
          <a:xfrm>
            <a:off x="3419271"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 name="Google Shape;39;p60"/>
          <p:cNvSpPr txBox="1">
            <a:spLocks noGrp="1"/>
          </p:cNvSpPr>
          <p:nvPr>
            <p:ph type="subTitle" idx="18"/>
          </p:nvPr>
        </p:nvSpPr>
        <p:spPr>
          <a:xfrm>
            <a:off x="6118549"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 name="Google Shape;40;p60"/>
          <p:cNvSpPr txBox="1">
            <a:spLocks noGrp="1"/>
          </p:cNvSpPr>
          <p:nvPr>
            <p:ph type="subTitle" idx="19"/>
          </p:nvPr>
        </p:nvSpPr>
        <p:spPr>
          <a:xfrm>
            <a:off x="720000"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 name="Google Shape;41;p60"/>
          <p:cNvSpPr txBox="1">
            <a:spLocks noGrp="1"/>
          </p:cNvSpPr>
          <p:nvPr>
            <p:ph type="subTitle" idx="20"/>
          </p:nvPr>
        </p:nvSpPr>
        <p:spPr>
          <a:xfrm>
            <a:off x="3419271"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 name="Google Shape;42;p60"/>
          <p:cNvSpPr txBox="1">
            <a:spLocks noGrp="1"/>
          </p:cNvSpPr>
          <p:nvPr>
            <p:ph type="subTitle" idx="21"/>
          </p:nvPr>
        </p:nvSpPr>
        <p:spPr>
          <a:xfrm>
            <a:off x="6118549"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2"/>
          <p:cNvSpPr>
            <a:spLocks noGrp="1"/>
          </p:cNvSpPr>
          <p:nvPr>
            <p:ph type="pic" idx="2"/>
          </p:nvPr>
        </p:nvSpPr>
        <p:spPr>
          <a:xfrm>
            <a:off x="2295650" y="0"/>
            <a:ext cx="6982800" cy="4605300"/>
          </a:xfrm>
          <a:prstGeom prst="rect">
            <a:avLst/>
          </a:prstGeom>
          <a:noFill/>
          <a:ln>
            <a:noFill/>
          </a:ln>
        </p:spPr>
        <p:txBody>
          <a:bodyPr/>
          <a:lstStyle/>
          <a:p>
            <a:endParaRPr lang="en-US" dirty="0"/>
          </a:p>
        </p:txBody>
      </p:sp>
      <p:sp>
        <p:nvSpPr>
          <p:cNvPr id="49" name="Google Shape;49;p62"/>
          <p:cNvSpPr txBox="1">
            <a:spLocks noGrp="1"/>
          </p:cNvSpPr>
          <p:nvPr>
            <p:ph type="title"/>
          </p:nvPr>
        </p:nvSpPr>
        <p:spPr>
          <a:xfrm>
            <a:off x="1990325" y="2029125"/>
            <a:ext cx="4904400" cy="16002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41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0" name="Google Shape;50;p62"/>
          <p:cNvSpPr txBox="1">
            <a:spLocks noGrp="1"/>
          </p:cNvSpPr>
          <p:nvPr>
            <p:ph type="title" idx="3"/>
          </p:nvPr>
        </p:nvSpPr>
        <p:spPr>
          <a:xfrm>
            <a:off x="713225" y="2029113"/>
            <a:ext cx="1162800" cy="16002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1" name="Google Shape;51;p62"/>
          <p:cNvSpPr txBox="1">
            <a:spLocks noGrp="1"/>
          </p:cNvSpPr>
          <p:nvPr>
            <p:ph type="subTitle" idx="1"/>
          </p:nvPr>
        </p:nvSpPr>
        <p:spPr>
          <a:xfrm>
            <a:off x="1990325" y="3838100"/>
            <a:ext cx="4904400" cy="3750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2"/>
        <p:cNvGrpSpPr/>
        <p:nvPr/>
      </p:nvGrpSpPr>
      <p:grpSpPr>
        <a:xfrm>
          <a:off x="0" y="0"/>
          <a:ext cx="0" cy="0"/>
          <a:chOff x="0" y="0"/>
          <a:chExt cx="0" cy="0"/>
        </a:xfrm>
      </p:grpSpPr>
      <p:grpSp>
        <p:nvGrpSpPr>
          <p:cNvPr id="53" name="Google Shape;53;p63"/>
          <p:cNvGrpSpPr/>
          <p:nvPr/>
        </p:nvGrpSpPr>
        <p:grpSpPr>
          <a:xfrm>
            <a:off x="362225" y="730725"/>
            <a:ext cx="8809210" cy="4141500"/>
            <a:chOff x="362225" y="730725"/>
            <a:chExt cx="8809210" cy="4141500"/>
          </a:xfrm>
        </p:grpSpPr>
        <p:cxnSp>
          <p:nvCxnSpPr>
            <p:cNvPr id="54" name="Google Shape;54;p63"/>
            <p:cNvCxnSpPr/>
            <p:nvPr/>
          </p:nvCxnSpPr>
          <p:spPr>
            <a:xfrm>
              <a:off x="362225" y="731375"/>
              <a:ext cx="2466600" cy="0"/>
            </a:xfrm>
            <a:prstGeom prst="straightConnector1">
              <a:avLst/>
            </a:prstGeom>
            <a:noFill/>
            <a:ln w="9525" cap="flat" cmpd="sng">
              <a:solidFill>
                <a:schemeClr val="dk1"/>
              </a:solidFill>
              <a:prstDash val="solid"/>
              <a:round/>
              <a:headEnd type="none" w="sm" len="sm"/>
              <a:tailEnd type="none" w="sm" len="sm"/>
            </a:ln>
          </p:spPr>
        </p:cxnSp>
        <p:cxnSp>
          <p:nvCxnSpPr>
            <p:cNvPr id="55" name="Google Shape;55;p63"/>
            <p:cNvCxnSpPr/>
            <p:nvPr/>
          </p:nvCxnSpPr>
          <p:spPr>
            <a:xfrm>
              <a:off x="366400" y="730725"/>
              <a:ext cx="0" cy="4141500"/>
            </a:xfrm>
            <a:prstGeom prst="straightConnector1">
              <a:avLst/>
            </a:prstGeom>
            <a:noFill/>
            <a:ln w="9525" cap="flat" cmpd="sng">
              <a:solidFill>
                <a:schemeClr val="dk1"/>
              </a:solidFill>
              <a:prstDash val="solid"/>
              <a:round/>
              <a:headEnd type="none" w="sm" len="sm"/>
              <a:tailEnd type="none" w="sm" len="sm"/>
            </a:ln>
          </p:spPr>
        </p:cxnSp>
        <p:cxnSp>
          <p:nvCxnSpPr>
            <p:cNvPr id="56" name="Google Shape;56;p6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57" name="Google Shape;57;p63"/>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8" name="Google Shape;58;p63"/>
          <p:cNvSpPr txBox="1">
            <a:spLocks noGrp="1"/>
          </p:cNvSpPr>
          <p:nvPr>
            <p:ph type="subTitle" idx="1"/>
          </p:nvPr>
        </p:nvSpPr>
        <p:spPr>
          <a:xfrm>
            <a:off x="4811363"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63"/>
          <p:cNvSpPr txBox="1">
            <a:spLocks noGrp="1"/>
          </p:cNvSpPr>
          <p:nvPr>
            <p:ph type="subTitle" idx="2"/>
          </p:nvPr>
        </p:nvSpPr>
        <p:spPr>
          <a:xfrm>
            <a:off x="896725"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sp>
        <p:nvSpPr>
          <p:cNvPr id="61" name="Google Shape;61;p64"/>
          <p:cNvSpPr txBox="1">
            <a:spLocks noGrp="1"/>
          </p:cNvSpPr>
          <p:nvPr>
            <p:ph type="title"/>
          </p:nvPr>
        </p:nvSpPr>
        <p:spPr>
          <a:xfrm>
            <a:off x="720000" y="445025"/>
            <a:ext cx="77109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62" name="Google Shape;62;p64"/>
          <p:cNvSpPr txBox="1">
            <a:spLocks noGrp="1"/>
          </p:cNvSpPr>
          <p:nvPr>
            <p:ph type="subTitle" idx="1"/>
          </p:nvPr>
        </p:nvSpPr>
        <p:spPr>
          <a:xfrm>
            <a:off x="720000" y="1788597"/>
            <a:ext cx="4028100" cy="21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FDD900"/>
              </a:buClr>
              <a:buSzPts val="1400"/>
              <a:buFont typeface="Nunito Light"/>
              <a:buChar char="●"/>
              <a:defRPr sz="1600">
                <a:latin typeface="DM Sans Medium"/>
                <a:ea typeface="DM Sans Medium"/>
                <a:cs typeface="DM Sans Medium"/>
                <a:sym typeface="DM Sans Medium"/>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a:endParaRPr/>
          </a:p>
        </p:txBody>
      </p:sp>
      <p:sp>
        <p:nvSpPr>
          <p:cNvPr id="63" name="Google Shape;63;p64"/>
          <p:cNvSpPr>
            <a:spLocks noGrp="1"/>
          </p:cNvSpPr>
          <p:nvPr>
            <p:ph type="pic" idx="2"/>
          </p:nvPr>
        </p:nvSpPr>
        <p:spPr>
          <a:xfrm>
            <a:off x="5008500" y="1345975"/>
            <a:ext cx="4135500" cy="3013200"/>
          </a:xfrm>
          <a:prstGeom prst="rect">
            <a:avLst/>
          </a:prstGeom>
          <a:noFill/>
          <a:ln>
            <a:noFill/>
          </a:ln>
        </p:spPr>
        <p:txBody>
          <a:bodyPr/>
          <a:lstStyle/>
          <a:p>
            <a:endParaRPr lang="en-US" dirty="0"/>
          </a:p>
        </p:txBody>
      </p:sp>
      <p:grpSp>
        <p:nvGrpSpPr>
          <p:cNvPr id="64" name="Google Shape;64;p64"/>
          <p:cNvGrpSpPr/>
          <p:nvPr/>
        </p:nvGrpSpPr>
        <p:grpSpPr>
          <a:xfrm>
            <a:off x="362235" y="727975"/>
            <a:ext cx="8809200" cy="4144225"/>
            <a:chOff x="362235" y="727975"/>
            <a:chExt cx="8809200" cy="4144225"/>
          </a:xfrm>
        </p:grpSpPr>
        <p:cxnSp>
          <p:nvCxnSpPr>
            <p:cNvPr id="65" name="Google Shape;65;p6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grpSp>
          <p:nvGrpSpPr>
            <p:cNvPr id="66" name="Google Shape;66;p64"/>
            <p:cNvGrpSpPr/>
            <p:nvPr/>
          </p:nvGrpSpPr>
          <p:grpSpPr>
            <a:xfrm>
              <a:off x="362235" y="731375"/>
              <a:ext cx="8809200" cy="4140825"/>
              <a:chOff x="362235" y="731375"/>
              <a:chExt cx="8809200" cy="4140825"/>
            </a:xfrm>
          </p:grpSpPr>
          <p:cxnSp>
            <p:nvCxnSpPr>
              <p:cNvPr id="67" name="Google Shape;67;p6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68" name="Google Shape;68;p6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6"/>
        <p:cNvGrpSpPr/>
        <p:nvPr/>
      </p:nvGrpSpPr>
      <p:grpSpPr>
        <a:xfrm>
          <a:off x="0" y="0"/>
          <a:ext cx="0" cy="0"/>
          <a:chOff x="0" y="0"/>
          <a:chExt cx="0" cy="0"/>
        </a:xfrm>
      </p:grpSpPr>
      <p:sp>
        <p:nvSpPr>
          <p:cNvPr id="127" name="Google Shape;127;p70"/>
          <p:cNvSpPr>
            <a:spLocks noGrp="1"/>
          </p:cNvSpPr>
          <p:nvPr>
            <p:ph type="pic" idx="2"/>
          </p:nvPr>
        </p:nvSpPr>
        <p:spPr>
          <a:xfrm>
            <a:off x="2723600" y="-29900"/>
            <a:ext cx="6420300" cy="4383000"/>
          </a:xfrm>
          <a:prstGeom prst="rect">
            <a:avLst/>
          </a:prstGeom>
          <a:noFill/>
          <a:ln>
            <a:noFill/>
          </a:ln>
        </p:spPr>
        <p:txBody>
          <a:bodyPr/>
          <a:lstStyle/>
          <a:p>
            <a:endParaRPr lang="en-US" dirty="0"/>
          </a:p>
        </p:txBody>
      </p:sp>
      <p:sp>
        <p:nvSpPr>
          <p:cNvPr id="128" name="Google Shape;128;p70"/>
          <p:cNvSpPr txBox="1">
            <a:spLocks noGrp="1"/>
          </p:cNvSpPr>
          <p:nvPr>
            <p:ph type="title"/>
          </p:nvPr>
        </p:nvSpPr>
        <p:spPr>
          <a:xfrm>
            <a:off x="713225" y="4056500"/>
            <a:ext cx="4712400" cy="5475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2400">
                <a:solidFill>
                  <a:schemeClr val="lt1"/>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29" name="Google Shape;129;p70"/>
          <p:cNvSpPr txBox="1">
            <a:spLocks noGrp="1"/>
          </p:cNvSpPr>
          <p:nvPr>
            <p:ph type="subTitle" idx="1"/>
          </p:nvPr>
        </p:nvSpPr>
        <p:spPr>
          <a:xfrm>
            <a:off x="713305" y="2339100"/>
            <a:ext cx="4712400" cy="1622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2400">
                <a:latin typeface="DM Sans Medium"/>
                <a:ea typeface="DM Sans Medium"/>
                <a:cs typeface="DM Sans Medium"/>
                <a:sym typeface="DM Sans Medium"/>
              </a:defRPr>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71"/>
          <p:cNvSpPr>
            <a:spLocks noGrp="1"/>
          </p:cNvSpPr>
          <p:nvPr>
            <p:ph type="pic" idx="2"/>
          </p:nvPr>
        </p:nvSpPr>
        <p:spPr>
          <a:xfrm>
            <a:off x="-9450" y="-16175"/>
            <a:ext cx="9162900" cy="5211600"/>
          </a:xfrm>
          <a:prstGeom prst="rect">
            <a:avLst/>
          </a:prstGeom>
          <a:noFill/>
          <a:ln>
            <a:noFill/>
          </a:ln>
        </p:spPr>
        <p:txBody>
          <a:bodyPr/>
          <a:lstStyle/>
          <a:p>
            <a:endParaRPr lang="en-US" dirty="0"/>
          </a:p>
        </p:txBody>
      </p:sp>
      <p:sp>
        <p:nvSpPr>
          <p:cNvPr id="132" name="Google Shape;132;p71"/>
          <p:cNvSpPr txBox="1">
            <a:spLocks noGrp="1"/>
          </p:cNvSpPr>
          <p:nvPr>
            <p:ph type="title"/>
          </p:nvPr>
        </p:nvSpPr>
        <p:spPr>
          <a:xfrm>
            <a:off x="713225" y="3846850"/>
            <a:ext cx="7717500" cy="624300"/>
          </a:xfrm>
          <a:prstGeom prst="rect">
            <a:avLst/>
          </a:prstGeom>
          <a:solidFill>
            <a:schemeClr val="dk2"/>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67"/>
        <p:cNvGrpSpPr/>
        <p:nvPr/>
      </p:nvGrpSpPr>
      <p:grpSpPr>
        <a:xfrm>
          <a:off x="0" y="0"/>
          <a:ext cx="0" cy="0"/>
          <a:chOff x="0" y="0"/>
          <a:chExt cx="0" cy="0"/>
        </a:xfrm>
      </p:grpSpPr>
      <p:grpSp>
        <p:nvGrpSpPr>
          <p:cNvPr id="168" name="Google Shape;168;p77"/>
          <p:cNvGrpSpPr/>
          <p:nvPr/>
        </p:nvGrpSpPr>
        <p:grpSpPr>
          <a:xfrm>
            <a:off x="-51975" y="2068075"/>
            <a:ext cx="8862300" cy="2617200"/>
            <a:chOff x="-51975" y="2068075"/>
            <a:chExt cx="8862300" cy="2617200"/>
          </a:xfrm>
        </p:grpSpPr>
        <p:cxnSp>
          <p:nvCxnSpPr>
            <p:cNvPr id="169" name="Google Shape;169;p77"/>
            <p:cNvCxnSpPr/>
            <p:nvPr/>
          </p:nvCxnSpPr>
          <p:spPr>
            <a:xfrm rot="10800000">
              <a:off x="-51975" y="4682975"/>
              <a:ext cx="8862300" cy="0"/>
            </a:xfrm>
            <a:prstGeom prst="straightConnector1">
              <a:avLst/>
            </a:prstGeom>
            <a:noFill/>
            <a:ln w="9525" cap="flat" cmpd="sng">
              <a:solidFill>
                <a:schemeClr val="dk1"/>
              </a:solidFill>
              <a:prstDash val="solid"/>
              <a:round/>
              <a:headEnd type="none" w="sm" len="sm"/>
              <a:tailEnd type="none" w="sm" len="sm"/>
            </a:ln>
          </p:spPr>
        </p:cxnSp>
        <p:cxnSp>
          <p:nvCxnSpPr>
            <p:cNvPr id="170" name="Google Shape;170;p77"/>
            <p:cNvCxnSpPr/>
            <p:nvPr/>
          </p:nvCxnSpPr>
          <p:spPr>
            <a:xfrm rot="10800000">
              <a:off x="7827000" y="2071300"/>
              <a:ext cx="979800" cy="0"/>
            </a:xfrm>
            <a:prstGeom prst="straightConnector1">
              <a:avLst/>
            </a:prstGeom>
            <a:noFill/>
            <a:ln w="9525" cap="flat" cmpd="sng">
              <a:solidFill>
                <a:schemeClr val="dk1"/>
              </a:solidFill>
              <a:prstDash val="solid"/>
              <a:round/>
              <a:headEnd type="none" w="sm" len="sm"/>
              <a:tailEnd type="none" w="sm" len="sm"/>
            </a:ln>
          </p:spPr>
        </p:cxnSp>
        <p:cxnSp>
          <p:nvCxnSpPr>
            <p:cNvPr id="171" name="Google Shape;171;p77"/>
            <p:cNvCxnSpPr/>
            <p:nvPr/>
          </p:nvCxnSpPr>
          <p:spPr>
            <a:xfrm rot="10800000">
              <a:off x="8806573" y="2068075"/>
              <a:ext cx="0" cy="2617200"/>
            </a:xfrm>
            <a:prstGeom prst="straightConnector1">
              <a:avLst/>
            </a:prstGeom>
            <a:noFill/>
            <a:ln w="9525" cap="flat" cmpd="sng">
              <a:solidFill>
                <a:schemeClr val="dk1"/>
              </a:solidFill>
              <a:prstDash val="solid"/>
              <a:round/>
              <a:headEnd type="none" w="sm" len="sm"/>
              <a:tailEnd type="none" w="sm" len="sm"/>
            </a:ln>
          </p:spPr>
        </p:cxnSp>
      </p:grpSp>
      <p:sp>
        <p:nvSpPr>
          <p:cNvPr id="172" name="Google Shape;172;p77"/>
          <p:cNvSpPr txBox="1">
            <a:spLocks noGrp="1"/>
          </p:cNvSpPr>
          <p:nvPr>
            <p:ph type="title"/>
          </p:nvPr>
        </p:nvSpPr>
        <p:spPr>
          <a:xfrm>
            <a:off x="5196575" y="1456600"/>
            <a:ext cx="2923800" cy="1229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73" name="Google Shape;173;p77"/>
          <p:cNvSpPr txBox="1">
            <a:spLocks noGrp="1"/>
          </p:cNvSpPr>
          <p:nvPr>
            <p:ph type="subTitle" idx="1"/>
          </p:nvPr>
        </p:nvSpPr>
        <p:spPr>
          <a:xfrm>
            <a:off x="5196575" y="2765525"/>
            <a:ext cx="2923800" cy="1080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74"/>
        <p:cNvGrpSpPr/>
        <p:nvPr/>
      </p:nvGrpSpPr>
      <p:grpSpPr>
        <a:xfrm>
          <a:off x="0" y="0"/>
          <a:ext cx="0" cy="0"/>
          <a:chOff x="0" y="0"/>
          <a:chExt cx="0" cy="0"/>
        </a:xfrm>
      </p:grpSpPr>
      <p:grpSp>
        <p:nvGrpSpPr>
          <p:cNvPr id="175" name="Google Shape;175;p78"/>
          <p:cNvGrpSpPr/>
          <p:nvPr/>
        </p:nvGrpSpPr>
        <p:grpSpPr>
          <a:xfrm>
            <a:off x="320525" y="2079400"/>
            <a:ext cx="8862425" cy="2605875"/>
            <a:chOff x="320525" y="2079400"/>
            <a:chExt cx="8862425" cy="2605875"/>
          </a:xfrm>
        </p:grpSpPr>
        <p:cxnSp>
          <p:nvCxnSpPr>
            <p:cNvPr id="176" name="Google Shape;176;p78"/>
            <p:cNvCxnSpPr/>
            <p:nvPr/>
          </p:nvCxnSpPr>
          <p:spPr>
            <a:xfrm>
              <a:off x="326950" y="4682975"/>
              <a:ext cx="8856000" cy="0"/>
            </a:xfrm>
            <a:prstGeom prst="straightConnector1">
              <a:avLst/>
            </a:prstGeom>
            <a:noFill/>
            <a:ln w="9525" cap="flat" cmpd="sng">
              <a:solidFill>
                <a:schemeClr val="dk1"/>
              </a:solidFill>
              <a:prstDash val="solid"/>
              <a:round/>
              <a:headEnd type="none" w="sm" len="sm"/>
              <a:tailEnd type="none" w="sm" len="sm"/>
            </a:ln>
          </p:spPr>
        </p:cxnSp>
        <p:cxnSp>
          <p:nvCxnSpPr>
            <p:cNvPr id="177" name="Google Shape;177;p78"/>
            <p:cNvCxnSpPr/>
            <p:nvPr/>
          </p:nvCxnSpPr>
          <p:spPr>
            <a:xfrm>
              <a:off x="320525" y="2079400"/>
              <a:ext cx="1161600" cy="0"/>
            </a:xfrm>
            <a:prstGeom prst="straightConnector1">
              <a:avLst/>
            </a:prstGeom>
            <a:noFill/>
            <a:ln w="9525" cap="flat" cmpd="sng">
              <a:solidFill>
                <a:schemeClr val="dk1"/>
              </a:solidFill>
              <a:prstDash val="solid"/>
              <a:round/>
              <a:headEnd type="none" w="sm" len="sm"/>
              <a:tailEnd type="none" w="sm" len="sm"/>
            </a:ln>
          </p:spPr>
        </p:cxnSp>
        <p:cxnSp>
          <p:nvCxnSpPr>
            <p:cNvPr id="178" name="Google Shape;178;p78"/>
            <p:cNvCxnSpPr/>
            <p:nvPr/>
          </p:nvCxnSpPr>
          <p:spPr>
            <a:xfrm rot="10800000">
              <a:off x="324525" y="2081875"/>
              <a:ext cx="0" cy="2603400"/>
            </a:xfrm>
            <a:prstGeom prst="straightConnector1">
              <a:avLst/>
            </a:prstGeom>
            <a:noFill/>
            <a:ln w="9525" cap="flat" cmpd="sng">
              <a:solidFill>
                <a:schemeClr val="dk1"/>
              </a:solidFill>
              <a:prstDash val="solid"/>
              <a:round/>
              <a:headEnd type="none" w="sm" len="sm"/>
              <a:tailEnd type="none" w="sm" len="sm"/>
            </a:ln>
          </p:spPr>
        </p:cxnSp>
      </p:grpSp>
      <p:sp>
        <p:nvSpPr>
          <p:cNvPr id="179" name="Google Shape;179;p78"/>
          <p:cNvSpPr txBox="1">
            <a:spLocks noGrp="1"/>
          </p:cNvSpPr>
          <p:nvPr>
            <p:ph type="title"/>
          </p:nvPr>
        </p:nvSpPr>
        <p:spPr>
          <a:xfrm>
            <a:off x="921950" y="1364088"/>
            <a:ext cx="2914500" cy="12837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80" name="Google Shape;180;p78"/>
          <p:cNvSpPr txBox="1">
            <a:spLocks noGrp="1"/>
          </p:cNvSpPr>
          <p:nvPr>
            <p:ph type="subTitle" idx="1"/>
          </p:nvPr>
        </p:nvSpPr>
        <p:spPr>
          <a:xfrm>
            <a:off x="921950" y="2747713"/>
            <a:ext cx="2914500" cy="1031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3"/>
        <p:cNvGrpSpPr/>
        <p:nvPr/>
      </p:nvGrpSpPr>
      <p:grpSpPr>
        <a:xfrm>
          <a:off x="0" y="0"/>
          <a:ext cx="0" cy="0"/>
          <a:chOff x="0" y="0"/>
          <a:chExt cx="0" cy="0"/>
        </a:xfrm>
      </p:grpSpPr>
      <p:sp>
        <p:nvSpPr>
          <p:cNvPr id="204" name="Google Shape;204;p82"/>
          <p:cNvSpPr>
            <a:spLocks noGrp="1"/>
          </p:cNvSpPr>
          <p:nvPr>
            <p:ph type="pic" idx="2"/>
          </p:nvPr>
        </p:nvSpPr>
        <p:spPr>
          <a:xfrm>
            <a:off x="3579400" y="0"/>
            <a:ext cx="5620800" cy="3671700"/>
          </a:xfrm>
          <a:prstGeom prst="rect">
            <a:avLst/>
          </a:prstGeom>
          <a:noFill/>
          <a:ln>
            <a:noFill/>
          </a:ln>
        </p:spPr>
        <p:txBody>
          <a:bodyPr/>
          <a:lstStyle/>
          <a:p>
            <a:endParaRPr lang="en-US" dirty="0"/>
          </a:p>
        </p:txBody>
      </p:sp>
      <p:sp>
        <p:nvSpPr>
          <p:cNvPr id="205" name="Google Shape;205;p82"/>
          <p:cNvSpPr txBox="1"/>
          <p:nvPr/>
        </p:nvSpPr>
        <p:spPr>
          <a:xfrm>
            <a:off x="3397075" y="3805800"/>
            <a:ext cx="50337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0" i="0" u="none" strike="noStrike" cap="none">
                <a:solidFill>
                  <a:schemeClr val="dk1"/>
                </a:solidFill>
                <a:latin typeface="DM Sans Medium"/>
                <a:ea typeface="DM Sans Medium"/>
                <a:cs typeface="DM Sans Medium"/>
                <a:sym typeface="DM Sans Medium"/>
              </a:rPr>
              <a:t>CREDITS: This presentation template was created by </a:t>
            </a:r>
            <a:r>
              <a:rPr lang="en" sz="1100" b="1" i="0" u="none" strike="noStrike" cap="none">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100" b="1" i="0" u="none" strike="noStrike" cap="none">
                <a:solidFill>
                  <a:schemeClr val="dk1"/>
                </a:solidFill>
                <a:latin typeface="DM Sans"/>
                <a:ea typeface="DM Sans"/>
                <a:cs typeface="DM Sans"/>
                <a:sym typeface="DM Sans"/>
              </a:rPr>
              <a:t>,</a:t>
            </a:r>
            <a:r>
              <a:rPr lang="en" sz="1100" b="0" i="0" u="none" strike="noStrike" cap="none">
                <a:solidFill>
                  <a:schemeClr val="dk1"/>
                </a:solidFill>
                <a:latin typeface="DM Sans Medium"/>
                <a:ea typeface="DM Sans Medium"/>
                <a:cs typeface="DM Sans Medium"/>
                <a:sym typeface="DM Sans Medium"/>
              </a:rPr>
              <a:t> and includes icons by </a:t>
            </a:r>
            <a:r>
              <a:rPr lang="en" sz="1100" b="1" i="0" u="none" strike="noStrike" cap="none">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100" b="0" i="0" u="none" strike="noStrike" cap="none">
                <a:solidFill>
                  <a:schemeClr val="dk1"/>
                </a:solidFill>
                <a:latin typeface="DM Sans Medium"/>
                <a:ea typeface="DM Sans Medium"/>
                <a:cs typeface="DM Sans Medium"/>
                <a:sym typeface="DM Sans Medium"/>
              </a:rPr>
              <a:t>, and infographics &amp; images by </a:t>
            </a:r>
            <a:r>
              <a:rPr lang="en" sz="1100" b="1" i="0" u="none" strike="noStrike" cap="none">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100" b="1" i="0" u="sng" strike="noStrike" cap="none">
                <a:solidFill>
                  <a:schemeClr val="dk1"/>
                </a:solidFill>
                <a:latin typeface="DM Sans"/>
                <a:ea typeface="DM Sans"/>
                <a:cs typeface="DM Sans"/>
                <a:sym typeface="DM Sans"/>
              </a:rPr>
              <a:t> </a:t>
            </a:r>
            <a:endParaRPr sz="1100" b="1" i="0" u="sng" strike="noStrike" cap="none" dirty="0">
              <a:solidFill>
                <a:schemeClr val="dk1"/>
              </a:solidFill>
              <a:latin typeface="DM Sans"/>
              <a:ea typeface="DM Sans"/>
              <a:cs typeface="DM Sans"/>
              <a:sym typeface="DM Sans"/>
            </a:endParaRPr>
          </a:p>
        </p:txBody>
      </p:sp>
      <p:sp>
        <p:nvSpPr>
          <p:cNvPr id="206" name="Google Shape;206;p82"/>
          <p:cNvSpPr txBox="1">
            <a:spLocks noGrp="1"/>
          </p:cNvSpPr>
          <p:nvPr>
            <p:ph type="title"/>
          </p:nvPr>
        </p:nvSpPr>
        <p:spPr>
          <a:xfrm>
            <a:off x="713284" y="1396063"/>
            <a:ext cx="4077000" cy="1058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71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7" name="Google Shape;207;p82"/>
          <p:cNvSpPr txBox="1">
            <a:spLocks noGrp="1"/>
          </p:cNvSpPr>
          <p:nvPr>
            <p:ph type="subTitle" idx="1"/>
          </p:nvPr>
        </p:nvSpPr>
        <p:spPr>
          <a:xfrm>
            <a:off x="713250" y="2608412"/>
            <a:ext cx="4077000" cy="11748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208"/>
        <p:cNvGrpSpPr/>
        <p:nvPr/>
      </p:nvGrpSpPr>
      <p:grpSpPr>
        <a:xfrm>
          <a:off x="0" y="0"/>
          <a:ext cx="0" cy="0"/>
          <a:chOff x="0" y="0"/>
          <a:chExt cx="0" cy="0"/>
        </a:xfrm>
      </p:grpSpPr>
      <p:sp>
        <p:nvSpPr>
          <p:cNvPr id="209" name="Google Shape;209;p83"/>
          <p:cNvSpPr txBox="1">
            <a:spLocks noGrp="1"/>
          </p:cNvSpPr>
          <p:nvPr>
            <p:ph type="title"/>
          </p:nvPr>
        </p:nvSpPr>
        <p:spPr>
          <a:xfrm>
            <a:off x="722376"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0" name="Google Shape;210;p83"/>
          <p:cNvSpPr txBox="1">
            <a:spLocks noGrp="1"/>
          </p:cNvSpPr>
          <p:nvPr>
            <p:ph type="subTitle" idx="1"/>
          </p:nvPr>
        </p:nvSpPr>
        <p:spPr>
          <a:xfrm>
            <a:off x="713225" y="1353325"/>
            <a:ext cx="7247700" cy="316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grpSp>
        <p:nvGrpSpPr>
          <p:cNvPr id="211" name="Google Shape;211;p83"/>
          <p:cNvGrpSpPr/>
          <p:nvPr/>
        </p:nvGrpSpPr>
        <p:grpSpPr>
          <a:xfrm>
            <a:off x="362235" y="727975"/>
            <a:ext cx="8809200" cy="4144225"/>
            <a:chOff x="362235" y="727975"/>
            <a:chExt cx="8809200" cy="4144225"/>
          </a:xfrm>
        </p:grpSpPr>
        <p:cxnSp>
          <p:nvCxnSpPr>
            <p:cNvPr id="212" name="Google Shape;212;p83"/>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3" name="Google Shape;213;p8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4" name="Google Shape;214;p83"/>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215"/>
        <p:cNvGrpSpPr/>
        <p:nvPr/>
      </p:nvGrpSpPr>
      <p:grpSpPr>
        <a:xfrm>
          <a:off x="0" y="0"/>
          <a:ext cx="0" cy="0"/>
          <a:chOff x="0" y="0"/>
          <a:chExt cx="0" cy="0"/>
        </a:xfrm>
      </p:grpSpPr>
      <p:grpSp>
        <p:nvGrpSpPr>
          <p:cNvPr id="216" name="Google Shape;216;p84"/>
          <p:cNvGrpSpPr/>
          <p:nvPr/>
        </p:nvGrpSpPr>
        <p:grpSpPr>
          <a:xfrm>
            <a:off x="362235" y="727975"/>
            <a:ext cx="8809200" cy="4144225"/>
            <a:chOff x="362235" y="727975"/>
            <a:chExt cx="8809200" cy="4144225"/>
          </a:xfrm>
        </p:grpSpPr>
        <p:cxnSp>
          <p:nvCxnSpPr>
            <p:cNvPr id="217" name="Google Shape;217;p8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8" name="Google Shape;218;p8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9" name="Google Shape;219;p8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
        <p:nvSpPr>
          <p:cNvPr id="220" name="Google Shape;220;p84"/>
          <p:cNvSpPr txBox="1">
            <a:spLocks noGrp="1"/>
          </p:cNvSpPr>
          <p:nvPr>
            <p:ph type="title"/>
          </p:nvPr>
        </p:nvSpPr>
        <p:spPr>
          <a:xfrm>
            <a:off x="731520"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1" name="Google Shape;221;p84"/>
          <p:cNvSpPr txBox="1">
            <a:spLocks noGrp="1"/>
          </p:cNvSpPr>
          <p:nvPr>
            <p:ph type="subTitle" idx="1"/>
          </p:nvPr>
        </p:nvSpPr>
        <p:spPr>
          <a:xfrm>
            <a:off x="4544625" y="1722525"/>
            <a:ext cx="38862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sp>
        <p:nvSpPr>
          <p:cNvPr id="222" name="Google Shape;222;p84"/>
          <p:cNvSpPr txBox="1">
            <a:spLocks noGrp="1"/>
          </p:cNvSpPr>
          <p:nvPr>
            <p:ph type="subTitle" idx="2"/>
          </p:nvPr>
        </p:nvSpPr>
        <p:spPr>
          <a:xfrm>
            <a:off x="713150" y="1722525"/>
            <a:ext cx="39246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004E-C463-B146-52C9-89735495264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250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
        <p:cNvGrpSpPr/>
        <p:nvPr/>
      </p:nvGrpSpPr>
      <p:grpSpPr>
        <a:xfrm>
          <a:off x="0" y="0"/>
          <a:ext cx="0" cy="0"/>
          <a:chOff x="0" y="0"/>
          <a:chExt cx="0" cy="0"/>
        </a:xfrm>
      </p:grpSpPr>
      <p:grpSp>
        <p:nvGrpSpPr>
          <p:cNvPr id="225" name="Google Shape;225;p89"/>
          <p:cNvGrpSpPr/>
          <p:nvPr/>
        </p:nvGrpSpPr>
        <p:grpSpPr>
          <a:xfrm>
            <a:off x="362235" y="727975"/>
            <a:ext cx="8809200" cy="4144225"/>
            <a:chOff x="362235" y="727975"/>
            <a:chExt cx="8809200" cy="4144225"/>
          </a:xfrm>
        </p:grpSpPr>
        <p:cxnSp>
          <p:nvCxnSpPr>
            <p:cNvPr id="226" name="Google Shape;226;p89"/>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27" name="Google Shape;227;p89"/>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28" name="Google Shape;228;p89"/>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9"/>
        <p:cNvGrpSpPr/>
        <p:nvPr/>
      </p:nvGrpSpPr>
      <p:grpSpPr>
        <a:xfrm>
          <a:off x="0" y="0"/>
          <a:ext cx="0" cy="0"/>
          <a:chOff x="0" y="0"/>
          <a:chExt cx="0" cy="0"/>
        </a:xfrm>
      </p:grpSpPr>
      <p:grpSp>
        <p:nvGrpSpPr>
          <p:cNvPr id="230" name="Google Shape;230;p90"/>
          <p:cNvGrpSpPr/>
          <p:nvPr/>
        </p:nvGrpSpPr>
        <p:grpSpPr>
          <a:xfrm>
            <a:off x="-94975" y="704675"/>
            <a:ext cx="8809210" cy="4167775"/>
            <a:chOff x="-94975" y="704675"/>
            <a:chExt cx="8809210" cy="4167775"/>
          </a:xfrm>
        </p:grpSpPr>
        <p:cxnSp>
          <p:nvCxnSpPr>
            <p:cNvPr id="231" name="Google Shape;231;p90"/>
            <p:cNvCxnSpPr/>
            <p:nvPr/>
          </p:nvCxnSpPr>
          <p:spPr>
            <a:xfrm rot="10800000">
              <a:off x="8439135" y="704675"/>
              <a:ext cx="275100" cy="0"/>
            </a:xfrm>
            <a:prstGeom prst="straightConnector1">
              <a:avLst/>
            </a:prstGeom>
            <a:noFill/>
            <a:ln w="9525" cap="flat" cmpd="sng">
              <a:solidFill>
                <a:schemeClr val="dk1"/>
              </a:solidFill>
              <a:prstDash val="solid"/>
              <a:round/>
              <a:headEnd type="none" w="sm" len="sm"/>
              <a:tailEnd type="none" w="sm" len="sm"/>
            </a:ln>
          </p:spPr>
        </p:cxnSp>
        <p:cxnSp>
          <p:nvCxnSpPr>
            <p:cNvPr id="232" name="Google Shape;232;p9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3" name="Google Shape;233;p9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9pPr>
          </a:lstStyle>
          <a:p>
            <a:endParaRPr/>
          </a:p>
        </p:txBody>
      </p:sp>
      <p:sp>
        <p:nvSpPr>
          <p:cNvPr id="7" name="Google Shape;7;p5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61" r:id="rId6"/>
    <p:sldLayoutId id="2147483662" r:id="rId7"/>
    <p:sldLayoutId id="2147483668" r:id="rId8"/>
    <p:sldLayoutId id="2147483669" r:id="rId9"/>
    <p:sldLayoutId id="2147483673" r:id="rId10"/>
    <p:sldLayoutId id="2147483674" r:id="rId11"/>
    <p:sldLayoutId id="2147483675" r:id="rId12"/>
    <p:sldLayoutId id="2147483679" r:id="rId13"/>
    <p:sldLayoutId id="2147483676"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hemeOverride" Target="../theme/themeOverride2.xml"/><Relationship Id="rId5" Type="http://schemas.openxmlformats.org/officeDocument/2006/relationships/image" Target="../media/image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1"/>
          <p:cNvGrpSpPr/>
          <p:nvPr/>
        </p:nvGrpSpPr>
        <p:grpSpPr>
          <a:xfrm>
            <a:off x="384044" y="411300"/>
            <a:ext cx="8385633" cy="4320925"/>
            <a:chOff x="1565825" y="551275"/>
            <a:chExt cx="7758010" cy="4320925"/>
          </a:xfrm>
        </p:grpSpPr>
        <p:cxnSp>
          <p:nvCxnSpPr>
            <p:cNvPr id="239" name="Google Shape;239;p1"/>
            <p:cNvCxnSpPr>
              <a:cxnSpLocks/>
            </p:cNvCxnSpPr>
            <p:nvPr/>
          </p:nvCxnSpPr>
          <p:spPr>
            <a:xfrm>
              <a:off x="1565825" y="551275"/>
              <a:ext cx="838999" cy="13"/>
            </a:xfrm>
            <a:prstGeom prst="straightConnector1">
              <a:avLst/>
            </a:prstGeom>
            <a:noFill/>
            <a:ln w="9525" cap="flat" cmpd="sng">
              <a:solidFill>
                <a:schemeClr val="dk1"/>
              </a:solidFill>
              <a:prstDash val="solid"/>
              <a:round/>
              <a:headEnd type="none" w="sm" len="sm"/>
              <a:tailEnd type="none" w="sm" len="sm"/>
            </a:ln>
          </p:spPr>
        </p:cxnSp>
        <p:cxnSp>
          <p:nvCxnSpPr>
            <p:cNvPr id="240" name="Google Shape;240;p1"/>
            <p:cNvCxnSpPr/>
            <p:nvPr/>
          </p:nvCxnSpPr>
          <p:spPr>
            <a:xfrm>
              <a:off x="1570000" y="551288"/>
              <a:ext cx="0" cy="4320900"/>
            </a:xfrm>
            <a:prstGeom prst="straightConnector1">
              <a:avLst/>
            </a:prstGeom>
            <a:noFill/>
            <a:ln w="9525" cap="flat" cmpd="sng">
              <a:solidFill>
                <a:schemeClr val="dk1"/>
              </a:solidFill>
              <a:prstDash val="solid"/>
              <a:round/>
              <a:headEnd type="none" w="sm" len="sm"/>
              <a:tailEnd type="none" w="sm" len="sm"/>
            </a:ln>
          </p:spPr>
        </p:cxnSp>
        <p:cxnSp>
          <p:nvCxnSpPr>
            <p:cNvPr id="241" name="Google Shape;241;p1"/>
            <p:cNvCxnSpPr/>
            <p:nvPr/>
          </p:nvCxnSpPr>
          <p:spPr>
            <a:xfrm>
              <a:off x="1565835" y="4872200"/>
              <a:ext cx="7758000" cy="0"/>
            </a:xfrm>
            <a:prstGeom prst="straightConnector1">
              <a:avLst/>
            </a:prstGeom>
            <a:noFill/>
            <a:ln w="9525" cap="flat" cmpd="sng">
              <a:solidFill>
                <a:schemeClr val="dk1"/>
              </a:solidFill>
              <a:prstDash val="solid"/>
              <a:round/>
              <a:headEnd type="none" w="sm" len="sm"/>
              <a:tailEnd type="none" w="sm" len="sm"/>
            </a:ln>
          </p:spPr>
        </p:cxnSp>
      </p:grpSp>
      <p:cxnSp>
        <p:nvCxnSpPr>
          <p:cNvPr id="243" name="Google Shape;243;p1"/>
          <p:cNvCxnSpPr/>
          <p:nvPr/>
        </p:nvCxnSpPr>
        <p:spPr>
          <a:xfrm>
            <a:off x="4101654" y="1548000"/>
            <a:ext cx="0" cy="2047500"/>
          </a:xfrm>
          <a:prstGeom prst="straightConnector1">
            <a:avLst/>
          </a:prstGeom>
          <a:noFill/>
          <a:ln w="19050" cap="flat" cmpd="sng">
            <a:solidFill>
              <a:srgbClr val="595959"/>
            </a:solidFill>
            <a:prstDash val="solid"/>
            <a:miter lim="800000"/>
            <a:headEnd type="none" w="sm" len="sm"/>
            <a:tailEnd type="none" w="sm" len="sm"/>
          </a:ln>
        </p:spPr>
      </p:cxnSp>
      <p:sp>
        <p:nvSpPr>
          <p:cNvPr id="244" name="Google Shape;244;p1"/>
          <p:cNvSpPr txBox="1"/>
          <p:nvPr/>
        </p:nvSpPr>
        <p:spPr>
          <a:xfrm>
            <a:off x="4357330" y="2082461"/>
            <a:ext cx="3457421" cy="839988"/>
          </a:xfrm>
          <a:prstGeom prst="rect">
            <a:avLst/>
          </a:prstGeom>
          <a:noFill/>
          <a:ln>
            <a:noFill/>
          </a:ln>
        </p:spPr>
        <p:txBody>
          <a:bodyPr spcFirstLastPara="1" wrap="square" lIns="91200" tIns="45600" rIns="91200" bIns="45600" anchor="t" anchorCtr="0">
            <a:spAutoFit/>
          </a:bodyPr>
          <a:lstStyle/>
          <a:p>
            <a:pPr marL="0" marR="0" lvl="0" indent="0" algn="l" rtl="0">
              <a:lnSpc>
                <a:spcPct val="90000"/>
              </a:lnSpc>
              <a:spcBef>
                <a:spcPts val="0"/>
              </a:spcBef>
              <a:spcAft>
                <a:spcPts val="0"/>
              </a:spcAft>
              <a:buClr>
                <a:srgbClr val="7F4900"/>
              </a:buClr>
              <a:buSzPts val="4000"/>
              <a:buFont typeface="Arial"/>
              <a:buNone/>
            </a:pPr>
            <a:r>
              <a:rPr lang="en" sz="2400" b="1" i="0" u="none" strike="noStrike" cap="none" dirty="0">
                <a:solidFill>
                  <a:srgbClr val="7F4900"/>
                </a:solidFill>
                <a:latin typeface="Calibri" panose="020F0502020204030204" pitchFamily="34" charset="0"/>
                <a:ea typeface="Calibri" panose="020F0502020204030204" pitchFamily="34" charset="0"/>
                <a:cs typeface="Calibri" panose="020F0502020204030204" pitchFamily="34" charset="0"/>
                <a:sym typeface="Montserrat"/>
              </a:rPr>
              <a:t>Monthly Market Mantra</a:t>
            </a:r>
          </a:p>
          <a:p>
            <a:pPr marL="0" marR="0" lvl="0" indent="0" algn="l" rtl="0">
              <a:lnSpc>
                <a:spcPct val="150000"/>
              </a:lnSpc>
              <a:spcBef>
                <a:spcPts val="0"/>
              </a:spcBef>
              <a:spcAft>
                <a:spcPts val="0"/>
              </a:spcAft>
              <a:buClr>
                <a:srgbClr val="7F4900"/>
              </a:buClr>
              <a:buSzPts val="4000"/>
              <a:buFont typeface="Arial"/>
              <a:buNone/>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May,</a:t>
            </a:r>
            <a:r>
              <a:rPr lang="en"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2026</a:t>
            </a:r>
            <a:endParaRPr sz="2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pic>
        <p:nvPicPr>
          <p:cNvPr id="7" name="Picture 6">
            <a:extLst>
              <a:ext uri="{FF2B5EF4-FFF2-40B4-BE49-F238E27FC236}">
                <a16:creationId xmlns:a16="http://schemas.microsoft.com/office/drawing/2014/main" id="{58A88408-A669-4097-EF41-D1DE335DFE34}"/>
              </a:ext>
            </a:extLst>
          </p:cNvPr>
          <p:cNvPicPr>
            <a:picLocks noChangeAspect="1"/>
          </p:cNvPicPr>
          <p:nvPr/>
        </p:nvPicPr>
        <p:blipFill>
          <a:blip r:embed="rId3"/>
          <a:stretch>
            <a:fillRect/>
          </a:stretch>
        </p:blipFill>
        <p:spPr>
          <a:xfrm>
            <a:off x="801906" y="1774754"/>
            <a:ext cx="2886400" cy="1372302"/>
          </a:xfrm>
          <a:prstGeom prst="rect">
            <a:avLst/>
          </a:prstGeom>
        </p:spPr>
      </p:pic>
      <p:pic>
        <p:nvPicPr>
          <p:cNvPr id="9" name="Picture 8">
            <a:extLst>
              <a:ext uri="{FF2B5EF4-FFF2-40B4-BE49-F238E27FC236}">
                <a16:creationId xmlns:a16="http://schemas.microsoft.com/office/drawing/2014/main" id="{4896CCE2-B457-545A-DC10-5E2A3E2B9067}"/>
              </a:ext>
            </a:extLst>
          </p:cNvPr>
          <p:cNvPicPr>
            <a:picLocks noChangeAspect="1"/>
          </p:cNvPicPr>
          <p:nvPr/>
        </p:nvPicPr>
        <p:blipFill>
          <a:blip r:embed="rId3"/>
          <a:stretch>
            <a:fillRect/>
          </a:stretch>
        </p:blipFill>
        <p:spPr>
          <a:xfrm>
            <a:off x="7819053" y="116485"/>
            <a:ext cx="1190504" cy="566010"/>
          </a:xfrm>
          <a:prstGeom prst="rect">
            <a:avLst/>
          </a:prstGeom>
        </p:spPr>
      </p:pic>
      <p:sp>
        <p:nvSpPr>
          <p:cNvPr id="2" name="Google Shape;244;p1">
            <a:extLst>
              <a:ext uri="{FF2B5EF4-FFF2-40B4-BE49-F238E27FC236}">
                <a16:creationId xmlns:a16="http://schemas.microsoft.com/office/drawing/2014/main" id="{C67C7DA0-2F52-AC8A-32DC-A951E550BEC3}"/>
              </a:ext>
            </a:extLst>
          </p:cNvPr>
          <p:cNvSpPr txBox="1"/>
          <p:nvPr/>
        </p:nvSpPr>
        <p:spPr>
          <a:xfrm>
            <a:off x="6479383" y="4492292"/>
            <a:ext cx="2434096" cy="230590"/>
          </a:xfrm>
          <a:prstGeom prst="rect">
            <a:avLst/>
          </a:prstGeom>
          <a:noFill/>
          <a:ln>
            <a:noFill/>
          </a:ln>
        </p:spPr>
        <p:txBody>
          <a:bodyPr spcFirstLastPara="1" wrap="square" lIns="91200" tIns="45600" rIns="91200" bIns="45600" anchor="t" anchorCtr="0">
            <a:spAutoFit/>
          </a:bodyPr>
          <a:lstStyle/>
          <a:p>
            <a:pPr marL="0" marR="0" lvl="0" indent="0" rtl="0">
              <a:lnSpc>
                <a:spcPct val="90000"/>
              </a:lnSpc>
              <a:spcBef>
                <a:spcPts val="0"/>
              </a:spcBef>
              <a:spcAft>
                <a:spcPts val="0"/>
              </a:spcAft>
              <a:buClr>
                <a:srgbClr val="7F4900"/>
              </a:buClr>
              <a:buSzPts val="4000"/>
              <a:buFont typeface="Arial"/>
              <a:buNone/>
            </a:pP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Monthly Market Update </a:t>
            </a:r>
            <a:r>
              <a:rPr lang="en-US"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April</a:t>
            </a:r>
            <a:r>
              <a:rPr lang="en"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a:t>
            </a: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2026</a:t>
            </a:r>
            <a:endParaRPr sz="1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sp>
        <p:nvSpPr>
          <p:cNvPr id="3" name="TextBox 2">
            <a:extLst>
              <a:ext uri="{FF2B5EF4-FFF2-40B4-BE49-F238E27FC236}">
                <a16:creationId xmlns:a16="http://schemas.microsoft.com/office/drawing/2014/main" id="{DB12265A-9041-6420-F956-B35AFE4C28C6}"/>
              </a:ext>
            </a:extLst>
          </p:cNvPr>
          <p:cNvSpPr txBox="1"/>
          <p:nvPr/>
        </p:nvSpPr>
        <p:spPr>
          <a:xfrm>
            <a:off x="384044" y="4417040"/>
            <a:ext cx="4088804" cy="261610"/>
          </a:xfrm>
          <a:prstGeom prst="rect">
            <a:avLst/>
          </a:prstGeom>
          <a:noFill/>
        </p:spPr>
        <p:txBody>
          <a:bodyPr wrap="square" rtlCol="0">
            <a:spAutoFit/>
          </a:bodyPr>
          <a:lstStyle/>
          <a:p>
            <a:r>
              <a:rPr lang="en-US" sz="1100" b="1" dirty="0">
                <a:latin typeface="+mj-lt"/>
              </a:rPr>
              <a:t>SEBI Registered: SHRIRAMMF | Registration no: MF/017/94/4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Market Overview  </a:t>
            </a:r>
          </a:p>
        </p:txBody>
      </p:sp>
      <p:grpSp>
        <p:nvGrpSpPr>
          <p:cNvPr id="303" name="Google Shape;303;p7"/>
          <p:cNvGrpSpPr/>
          <p:nvPr/>
        </p:nvGrpSpPr>
        <p:grpSpPr>
          <a:xfrm>
            <a:off x="-25" y="4872600"/>
            <a:ext cx="9144000" cy="281585"/>
            <a:chOff x="-25" y="4872600"/>
            <a:chExt cx="9144000" cy="28158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81585"/>
              <a:chOff x="3084200" y="4934525"/>
              <a:chExt cx="2941800" cy="281585"/>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81585"/>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 name="Group 2">
            <a:extLst>
              <a:ext uri="{FF2B5EF4-FFF2-40B4-BE49-F238E27FC236}">
                <a16:creationId xmlns:a16="http://schemas.microsoft.com/office/drawing/2014/main" id="{F26486A1-9941-91F5-95E6-6A05CED0F9F3}"/>
              </a:ext>
            </a:extLst>
          </p:cNvPr>
          <p:cNvGrpSpPr/>
          <p:nvPr/>
        </p:nvGrpSpPr>
        <p:grpSpPr>
          <a:xfrm>
            <a:off x="732267" y="1065914"/>
            <a:ext cx="8127196" cy="3414126"/>
            <a:chOff x="1378555" y="651509"/>
            <a:chExt cx="6203903" cy="3597870"/>
          </a:xfrm>
        </p:grpSpPr>
        <p:sp>
          <p:nvSpPr>
            <p:cNvPr id="4" name="Freeform: Shape 3">
              <a:extLst>
                <a:ext uri="{FF2B5EF4-FFF2-40B4-BE49-F238E27FC236}">
                  <a16:creationId xmlns:a16="http://schemas.microsoft.com/office/drawing/2014/main" id="{F8707A78-3CBD-A393-D0C0-50BB01646FAA}"/>
                </a:ext>
              </a:extLst>
            </p:cNvPr>
            <p:cNvSpPr/>
            <p:nvPr/>
          </p:nvSpPr>
          <p:spPr>
            <a:xfrm>
              <a:off x="1378555" y="670510"/>
              <a:ext cx="2966675" cy="1567257"/>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6" name="Freeform: Shape 5">
              <a:extLst>
                <a:ext uri="{FF2B5EF4-FFF2-40B4-BE49-F238E27FC236}">
                  <a16:creationId xmlns:a16="http://schemas.microsoft.com/office/drawing/2014/main" id="{3D92FB1A-D8B0-E020-2A40-F4642D0266C6}"/>
                </a:ext>
              </a:extLst>
            </p:cNvPr>
            <p:cNvSpPr/>
            <p:nvPr/>
          </p:nvSpPr>
          <p:spPr>
            <a:xfrm>
              <a:off x="4601963" y="651509"/>
              <a:ext cx="2980495" cy="1567866"/>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7" name="Freeform: Shape 6">
              <a:extLst>
                <a:ext uri="{FF2B5EF4-FFF2-40B4-BE49-F238E27FC236}">
                  <a16:creationId xmlns:a16="http://schemas.microsoft.com/office/drawing/2014/main" id="{5DEBFF31-8295-B9DE-B194-970F9A1C81FE}"/>
                </a:ext>
              </a:extLst>
            </p:cNvPr>
            <p:cNvSpPr/>
            <p:nvPr/>
          </p:nvSpPr>
          <p:spPr>
            <a:xfrm>
              <a:off x="1378555" y="2502945"/>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8" name="Freeform: Shape 7">
              <a:extLst>
                <a:ext uri="{FF2B5EF4-FFF2-40B4-BE49-F238E27FC236}">
                  <a16:creationId xmlns:a16="http://schemas.microsoft.com/office/drawing/2014/main" id="{DABD1A88-54D9-6462-D3F4-865B1A159A49}"/>
                </a:ext>
              </a:extLst>
            </p:cNvPr>
            <p:cNvSpPr/>
            <p:nvPr/>
          </p:nvSpPr>
          <p:spPr>
            <a:xfrm>
              <a:off x="4588849" y="2508330"/>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grpSp>
      <p:sp>
        <p:nvSpPr>
          <p:cNvPr id="9" name="TextBox 8">
            <a:extLst>
              <a:ext uri="{FF2B5EF4-FFF2-40B4-BE49-F238E27FC236}">
                <a16:creationId xmlns:a16="http://schemas.microsoft.com/office/drawing/2014/main" id="{E14FFC10-0386-0CD1-9B88-EF967B5C1276}"/>
              </a:ext>
            </a:extLst>
          </p:cNvPr>
          <p:cNvSpPr txBox="1"/>
          <p:nvPr/>
        </p:nvSpPr>
        <p:spPr>
          <a:xfrm>
            <a:off x="719999" y="1117313"/>
            <a:ext cx="3904488" cy="1384995"/>
          </a:xfrm>
          <a:prstGeom prst="rect">
            <a:avLst/>
          </a:prstGeom>
          <a:noFill/>
        </p:spPr>
        <p:txBody>
          <a:bodyPr wrap="square">
            <a:spAutoFit/>
          </a:bodyPr>
          <a:lstStyle/>
          <a:p>
            <a:pPr marL="0" indent="0" algn="just"/>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India</a:t>
            </a:r>
          </a:p>
          <a:p>
            <a:pPr marL="0" indent="0" algn="just"/>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just"/>
            <a:r>
              <a:rPr lang="en-US" sz="1000" dirty="0">
                <a:solidFill>
                  <a:schemeClr val="tx1"/>
                </a:solidFill>
                <a:latin typeface="+mj-lt"/>
                <a:ea typeface="Calibri" panose="020F0502020204030204" pitchFamily="34" charset="0"/>
                <a:cs typeface="Calibri" panose="020F0502020204030204" pitchFamily="34" charset="0"/>
              </a:rPr>
              <a:t>India CPI edged up to ~3.4% in Mar-26,  core inflation remains sticky</a:t>
            </a:r>
          </a:p>
          <a:p>
            <a:pPr marL="0" indent="0" algn="just"/>
            <a:endParaRPr lang="en-US" sz="1000" dirty="0">
              <a:solidFill>
                <a:schemeClr val="tx1"/>
              </a:solidFill>
              <a:latin typeface="+mj-lt"/>
              <a:ea typeface="Calibri" panose="020F0502020204030204" pitchFamily="34" charset="0"/>
              <a:cs typeface="Calibri" panose="020F0502020204030204" pitchFamily="34" charset="0"/>
            </a:endParaRPr>
          </a:p>
          <a:p>
            <a:pPr marL="0" indent="0" algn="just"/>
            <a:r>
              <a:rPr lang="en-US" sz="1000" dirty="0">
                <a:solidFill>
                  <a:schemeClr val="tx1"/>
                </a:solidFill>
                <a:latin typeface="+mj-lt"/>
                <a:ea typeface="Calibri" panose="020F0502020204030204" pitchFamily="34" charset="0"/>
                <a:cs typeface="Calibri" panose="020F0502020204030204" pitchFamily="34" charset="0"/>
              </a:rPr>
              <a:t>GDP growth projected at ~6.9% for FY27, easing from 7.6% in FY26</a:t>
            </a:r>
          </a:p>
          <a:p>
            <a:pPr marL="0" indent="0" algn="just"/>
            <a:endParaRPr lang="en-US" sz="1000" dirty="0">
              <a:solidFill>
                <a:schemeClr val="tx1"/>
              </a:solidFill>
              <a:latin typeface="+mj-lt"/>
              <a:ea typeface="Calibri" panose="020F0502020204030204" pitchFamily="34" charset="0"/>
              <a:cs typeface="Calibri" panose="020F0502020204030204" pitchFamily="34" charset="0"/>
            </a:endParaRPr>
          </a:p>
          <a:p>
            <a:pPr marL="0" indent="0" algn="just"/>
            <a:r>
              <a:rPr lang="en-US" sz="1000" dirty="0">
                <a:solidFill>
                  <a:schemeClr val="tx1"/>
                </a:solidFill>
                <a:latin typeface="+mj-lt"/>
              </a:rPr>
              <a:t>India’s goods trade deficit narrowed to $20.1 bn in Mar-26, driven by lower gold and oil imports</a:t>
            </a:r>
          </a:p>
        </p:txBody>
      </p:sp>
      <p:sp>
        <p:nvSpPr>
          <p:cNvPr id="10" name="TextBox 9">
            <a:extLst>
              <a:ext uri="{FF2B5EF4-FFF2-40B4-BE49-F238E27FC236}">
                <a16:creationId xmlns:a16="http://schemas.microsoft.com/office/drawing/2014/main" id="{20B278AE-3837-4396-8693-A4E67E5DDA1B}"/>
              </a:ext>
            </a:extLst>
          </p:cNvPr>
          <p:cNvSpPr txBox="1"/>
          <p:nvPr/>
        </p:nvSpPr>
        <p:spPr>
          <a:xfrm>
            <a:off x="4960811" y="1188888"/>
            <a:ext cx="3904488" cy="1384995"/>
          </a:xfrm>
          <a:prstGeom prst="rect">
            <a:avLst/>
          </a:prstGeom>
          <a:noFill/>
        </p:spPr>
        <p:txBody>
          <a:bodyPr wrap="square" anchor="ctr">
            <a:spAutoFit/>
          </a:bodyPr>
          <a:lstStyle/>
          <a:p>
            <a:r>
              <a:rPr lang="en-US" sz="1200" b="1" dirty="0">
                <a:latin typeface="+mn-lt"/>
                <a:ea typeface="Calibri" panose="020F0502020204030204" pitchFamily="34" charset="0"/>
                <a:cs typeface="Calibri" panose="020F0502020204030204" pitchFamily="34" charset="0"/>
              </a:rPr>
              <a:t>Other International Market</a:t>
            </a:r>
          </a:p>
          <a:p>
            <a:endParaRPr lang="en-US" sz="1200" b="1" dirty="0">
              <a:latin typeface="+mn-lt"/>
              <a:ea typeface="Calibri" panose="020F0502020204030204" pitchFamily="34" charset="0"/>
              <a:cs typeface="Calibri" panose="020F0502020204030204" pitchFamily="34" charset="0"/>
            </a:endParaRPr>
          </a:p>
          <a:p>
            <a:r>
              <a:rPr lang="en-US" sz="1000" dirty="0">
                <a:solidFill>
                  <a:schemeClr val="tx1"/>
                </a:solidFill>
                <a:latin typeface="+mn-lt"/>
              </a:rPr>
              <a:t>Bank of England holds rates, flags inflation risks from Iran war</a:t>
            </a:r>
            <a:endParaRPr lang="en-US" sz="1000" dirty="0">
              <a:solidFill>
                <a:srgbClr val="FF0000"/>
              </a:solidFill>
              <a:latin typeface="+mn-lt"/>
            </a:endParaRPr>
          </a:p>
          <a:p>
            <a:endParaRPr lang="en-US" sz="1000" dirty="0">
              <a:solidFill>
                <a:srgbClr val="FF0000"/>
              </a:solidFill>
              <a:latin typeface="+mn-lt"/>
            </a:endParaRPr>
          </a:p>
          <a:p>
            <a:r>
              <a:rPr lang="en-US" sz="1000" dirty="0">
                <a:solidFill>
                  <a:schemeClr val="tx1"/>
                </a:solidFill>
                <a:latin typeface="+mn-lt"/>
              </a:rPr>
              <a:t>Japan’s 1O-Year bond yield hit 2.48% in Apr-26, reflecting inflation &amp; market volatility </a:t>
            </a:r>
          </a:p>
          <a:p>
            <a:pPr algn="just"/>
            <a:endParaRPr lang="en-US" sz="1000" dirty="0">
              <a:solidFill>
                <a:schemeClr val="tx1"/>
              </a:solidFill>
              <a:latin typeface="+mn-lt"/>
            </a:endParaRPr>
          </a:p>
          <a:p>
            <a:pPr algn="just"/>
            <a:r>
              <a:rPr lang="en-US" sz="1000" dirty="0">
                <a:latin typeface="+mn-lt"/>
                <a:cs typeface="Arial" panose="020B0604020202020204" pitchFamily="34" charset="0"/>
              </a:rPr>
              <a:t>South Korea GDP up 3.6% YoY, led by strong semiconductor exports</a:t>
            </a:r>
          </a:p>
        </p:txBody>
      </p:sp>
      <p:sp>
        <p:nvSpPr>
          <p:cNvPr id="11" name="TextBox 10">
            <a:extLst>
              <a:ext uri="{FF2B5EF4-FFF2-40B4-BE49-F238E27FC236}">
                <a16:creationId xmlns:a16="http://schemas.microsoft.com/office/drawing/2014/main" id="{456DDE92-5350-52CB-5EEB-D7D1387EA61D}"/>
              </a:ext>
            </a:extLst>
          </p:cNvPr>
          <p:cNvSpPr txBox="1"/>
          <p:nvPr/>
        </p:nvSpPr>
        <p:spPr>
          <a:xfrm>
            <a:off x="752820" y="2824946"/>
            <a:ext cx="3883935" cy="1810496"/>
          </a:xfrm>
          <a:prstGeom prst="rect">
            <a:avLst/>
          </a:prstGeom>
          <a:noFill/>
        </p:spPr>
        <p:txBody>
          <a:bodyPr wrap="square">
            <a:spAutoFit/>
          </a:bodyPr>
          <a:lstStyle/>
          <a:p>
            <a:pPr algn="just">
              <a:lnSpc>
                <a:spcPct val="110000"/>
              </a:lnSpc>
              <a:buFont typeface="Arial"/>
              <a:buNone/>
            </a:pPr>
            <a:r>
              <a:rPr lang="en-US" sz="1200" b="1" dirty="0">
                <a:latin typeface="+mn-lt"/>
                <a:ea typeface="Calibri" panose="020F0502020204030204" pitchFamily="34" charset="0"/>
                <a:cs typeface="Calibri" panose="020F0502020204030204" pitchFamily="34" charset="0"/>
              </a:rPr>
              <a:t>U.S.</a:t>
            </a:r>
          </a:p>
          <a:p>
            <a:pPr algn="just">
              <a:lnSpc>
                <a:spcPct val="110000"/>
              </a:lnSpc>
            </a:pPr>
            <a:endParaRPr lang="en-US" sz="1000" dirty="0">
              <a:solidFill>
                <a:schemeClr val="tx1"/>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rPr>
              <a:t>US CPI rose to ~3.3% in Mar-26, led by higher energy prices amid the Iran conflict</a:t>
            </a:r>
          </a:p>
          <a:p>
            <a:pPr algn="just">
              <a:lnSpc>
                <a:spcPct val="110000"/>
              </a:lnSpc>
            </a:pPr>
            <a:endParaRPr lang="en-US" sz="1000" dirty="0">
              <a:solidFill>
                <a:schemeClr val="tx1"/>
              </a:solidFill>
              <a:latin typeface="+mn-lt"/>
            </a:endParaRPr>
          </a:p>
          <a:p>
            <a:pPr algn="just">
              <a:lnSpc>
                <a:spcPct val="110000"/>
              </a:lnSpc>
            </a:pPr>
            <a:r>
              <a:rPr lang="en-US" sz="1000" dirty="0">
                <a:solidFill>
                  <a:schemeClr val="tx1"/>
                </a:solidFill>
                <a:latin typeface="+mn-lt"/>
              </a:rPr>
              <a:t>US Fed held interest rates in Apr-26, higher for longer stance persists</a:t>
            </a:r>
          </a:p>
          <a:p>
            <a:pPr algn="just">
              <a:lnSpc>
                <a:spcPct val="110000"/>
              </a:lnSpc>
            </a:pPr>
            <a:endParaRPr lang="en-US" sz="1000" dirty="0">
              <a:solidFill>
                <a:srgbClr val="FF0000"/>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cs typeface="Arial" panose="020B0604020202020204" pitchFamily="34" charset="0"/>
              </a:rPr>
              <a:t>US 10-year Treasury note rose to around 4.4% in Apr-26, driven by sticky inflation and policy Uncertainty</a:t>
            </a:r>
          </a:p>
          <a:p>
            <a:pPr algn="just">
              <a:lnSpc>
                <a:spcPct val="110000"/>
              </a:lnSpc>
            </a:pPr>
            <a:endParaRPr lang="en-US" sz="1000" dirty="0">
              <a:solidFill>
                <a:schemeClr val="tx1"/>
              </a:solidFill>
              <a:latin typeface="+mn-lt"/>
              <a:cs typeface="Arial" panose="020B0604020202020204" pitchFamily="34" charset="0"/>
            </a:endParaRPr>
          </a:p>
        </p:txBody>
      </p:sp>
      <p:sp>
        <p:nvSpPr>
          <p:cNvPr id="12" name="TextBox 11">
            <a:extLst>
              <a:ext uri="{FF2B5EF4-FFF2-40B4-BE49-F238E27FC236}">
                <a16:creationId xmlns:a16="http://schemas.microsoft.com/office/drawing/2014/main" id="{9B7319D2-C40D-5463-218E-8EE87F5E2E56}"/>
              </a:ext>
            </a:extLst>
          </p:cNvPr>
          <p:cNvSpPr txBox="1"/>
          <p:nvPr/>
        </p:nvSpPr>
        <p:spPr>
          <a:xfrm>
            <a:off x="4937795" y="2867880"/>
            <a:ext cx="3921668" cy="1492716"/>
          </a:xfrm>
          <a:prstGeom prst="rect">
            <a:avLst/>
          </a:prstGeom>
          <a:noFill/>
        </p:spPr>
        <p:txBody>
          <a:bodyPr wrap="square">
            <a:spAutoFit/>
          </a:bodyPr>
          <a:lstStyle/>
          <a:p>
            <a:pPr marL="0" indent="0"/>
            <a:r>
              <a:rPr lang="en-US" sz="1200" b="1" dirty="0">
                <a:latin typeface="Calibri" panose="020F0502020204030204" pitchFamily="34" charset="0"/>
                <a:ea typeface="Calibri" panose="020F0502020204030204" pitchFamily="34" charset="0"/>
                <a:cs typeface="Calibri" panose="020F0502020204030204" pitchFamily="34" charset="0"/>
              </a:rPr>
              <a:t>International </a:t>
            </a:r>
          </a:p>
          <a:p>
            <a:endParaRPr lang="en-US" sz="900" dirty="0">
              <a:latin typeface="+mn-lt"/>
            </a:endParaRPr>
          </a:p>
          <a:p>
            <a:r>
              <a:rPr lang="en-US" sz="1000" dirty="0">
                <a:latin typeface="+mn-lt"/>
              </a:rPr>
              <a:t>Brent crude oil &gt;$100/</a:t>
            </a:r>
            <a:r>
              <a:rPr lang="en-US" sz="1000" dirty="0" err="1">
                <a:latin typeface="+mn-lt"/>
              </a:rPr>
              <a:t>bbl</a:t>
            </a:r>
            <a:r>
              <a:rPr lang="en-US" sz="1000" dirty="0">
                <a:latin typeface="+mn-lt"/>
              </a:rPr>
              <a:t>, driven by tight supply and risks of disruption in the Strait of Hormuz, a key global transit route</a:t>
            </a:r>
          </a:p>
          <a:p>
            <a:endParaRPr lang="en-US" sz="1000" dirty="0">
              <a:latin typeface="+mn-lt"/>
            </a:endParaRPr>
          </a:p>
          <a:p>
            <a:r>
              <a:rPr lang="en-US" sz="1000" dirty="0">
                <a:latin typeface="+mn-lt"/>
              </a:rPr>
              <a:t>Gold trading near  ~ $4,665 / oz  amid Middle east tensions</a:t>
            </a:r>
          </a:p>
          <a:p>
            <a:endParaRPr lang="en-US" sz="1000" dirty="0">
              <a:latin typeface="+mn-lt"/>
            </a:endParaRPr>
          </a:p>
          <a:p>
            <a:r>
              <a:rPr lang="en-US" sz="1000" dirty="0">
                <a:solidFill>
                  <a:schemeClr val="tx1"/>
                </a:solidFill>
                <a:latin typeface="+mn-lt"/>
              </a:rPr>
              <a:t>Global outlook cautious amid West Asia tensions, keeping energy markets and financial conditions volatile </a:t>
            </a:r>
          </a:p>
        </p:txBody>
      </p:sp>
      <p:sp>
        <p:nvSpPr>
          <p:cNvPr id="2" name="TextBox 1">
            <a:extLst>
              <a:ext uri="{FF2B5EF4-FFF2-40B4-BE49-F238E27FC236}">
                <a16:creationId xmlns:a16="http://schemas.microsoft.com/office/drawing/2014/main" id="{BFBD31A5-6529-E59F-27A7-3145111AE894}"/>
              </a:ext>
            </a:extLst>
          </p:cNvPr>
          <p:cNvSpPr txBox="1"/>
          <p:nvPr/>
        </p:nvSpPr>
        <p:spPr>
          <a:xfrm>
            <a:off x="6117557" y="4550246"/>
            <a:ext cx="2892000" cy="338554"/>
          </a:xfrm>
          <a:prstGeom prst="rect">
            <a:avLst/>
          </a:prstGeom>
          <a:noFill/>
        </p:spPr>
        <p:txBody>
          <a:bodyPr wrap="square" rtlCol="0">
            <a:spAutoFit/>
          </a:bodyPr>
          <a:lstStyle/>
          <a:p>
            <a:pPr algn="r"/>
            <a:r>
              <a:rPr lang="en-US" sz="800" i="1" dirty="0">
                <a:latin typeface="Calibri" panose="020F0502020204030204" pitchFamily="34" charset="0"/>
                <a:ea typeface="Calibri" panose="020F0502020204030204" pitchFamily="34" charset="0"/>
                <a:cs typeface="Calibri" panose="020F0502020204030204" pitchFamily="34" charset="0"/>
              </a:rPr>
              <a:t>Source: Moneycontrol, Bloomberg, CNBC, Trading economics</a:t>
            </a:r>
          </a:p>
          <a:p>
            <a:pPr algn="r"/>
            <a:r>
              <a:rPr lang="en-US" sz="800" i="1" dirty="0">
                <a:latin typeface="Calibri" panose="020F0502020204030204" pitchFamily="34" charset="0"/>
                <a:ea typeface="Calibri" panose="020F0502020204030204" pitchFamily="34" charset="0"/>
                <a:cs typeface="Calibri" panose="020F0502020204030204" pitchFamily="34" charset="0"/>
              </a:rPr>
              <a:t>As </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on 5</a:t>
            </a:r>
            <a:r>
              <a:rPr lang="en-US" sz="800" i="1" baseline="30000" dirty="0">
                <a:solidFill>
                  <a:schemeClr val="tx1"/>
                </a:solidFill>
                <a:latin typeface="Calibri" panose="020F0502020204030204" pitchFamily="34" charset="0"/>
                <a:ea typeface="Calibri" panose="020F0502020204030204" pitchFamily="34" charset="0"/>
                <a:cs typeface="Calibri" panose="020F0502020204030204" pitchFamily="34" charset="0"/>
              </a:rPr>
              <a:t>th</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May 2026</a:t>
            </a:r>
          </a:p>
        </p:txBody>
      </p:sp>
      <p:pic>
        <p:nvPicPr>
          <p:cNvPr id="13" name="Picture 12">
            <a:extLst>
              <a:ext uri="{FF2B5EF4-FFF2-40B4-BE49-F238E27FC236}">
                <a16:creationId xmlns:a16="http://schemas.microsoft.com/office/drawing/2014/main" id="{E3185110-CF42-3EBE-3A37-B1860F270B12}"/>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46941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F4B54B36-D814-67AC-9769-FF0DC0EDDDA3}"/>
            </a:ext>
          </a:extLst>
        </p:cNvPr>
        <p:cNvGrpSpPr/>
        <p:nvPr/>
      </p:nvGrpSpPr>
      <p:grpSpPr>
        <a:xfrm>
          <a:off x="0" y="0"/>
          <a:ext cx="0" cy="0"/>
          <a:chOff x="0" y="0"/>
          <a:chExt cx="0" cy="0"/>
        </a:xfrm>
      </p:grpSpPr>
      <p:sp>
        <p:nvSpPr>
          <p:cNvPr id="260" name="Google Shape;260;p6">
            <a:extLst>
              <a:ext uri="{FF2B5EF4-FFF2-40B4-BE49-F238E27FC236}">
                <a16:creationId xmlns:a16="http://schemas.microsoft.com/office/drawing/2014/main" id="{E0B32E16-E79B-429D-CF04-4866835A9BDC}"/>
              </a:ext>
            </a:extLst>
          </p:cNvPr>
          <p:cNvSpPr txBox="1">
            <a:spLocks noGrp="1"/>
          </p:cNvSpPr>
          <p:nvPr>
            <p:ph type="title"/>
          </p:nvPr>
        </p:nvSpPr>
        <p:spPr>
          <a:xfrm>
            <a:off x="682569" y="394620"/>
            <a:ext cx="6983695" cy="521208"/>
          </a:xfrm>
          <a:prstGeom prst="rect">
            <a:avLst/>
          </a:prstGeom>
          <a:solidFill>
            <a:srgbClr val="FECA08"/>
          </a:solidFill>
          <a:ln>
            <a:noFill/>
          </a:ln>
        </p:spPr>
        <p:txBody>
          <a:bodyPr spcFirstLastPara="1" wrap="square" lIns="91425" tIns="91425" rIns="91425" bIns="91425" anchor="t" anchorCtr="0">
            <a:noAutofit/>
          </a:bodyPr>
          <a:lstStyle/>
          <a:p>
            <a:pPr lvl="0"/>
            <a:r>
              <a:rPr lang="en-US" sz="2000" dirty="0">
                <a:latin typeface="+mn-lt"/>
              </a:rPr>
              <a:t>Indian</a:t>
            </a:r>
            <a:r>
              <a:rPr lang="en-US" sz="2000" i="1" dirty="0">
                <a:latin typeface="+mn-lt"/>
              </a:rPr>
              <a:t> </a:t>
            </a:r>
            <a:r>
              <a:rPr lang="en-US" sz="2000" dirty="0">
                <a:latin typeface="+mn-lt"/>
              </a:rPr>
              <a:t>markets rebounded in Apr-26</a:t>
            </a:r>
            <a:endParaRPr sz="2000" dirty="0">
              <a:latin typeface="+mn-lt"/>
              <a:ea typeface="Calibri" panose="020F0502020204030204" pitchFamily="34" charset="0"/>
              <a:cs typeface="Calibri" panose="020F0502020204030204" pitchFamily="34" charset="0"/>
            </a:endParaRPr>
          </a:p>
        </p:txBody>
      </p:sp>
      <p:grpSp>
        <p:nvGrpSpPr>
          <p:cNvPr id="262" name="Google Shape;262;p6">
            <a:extLst>
              <a:ext uri="{FF2B5EF4-FFF2-40B4-BE49-F238E27FC236}">
                <a16:creationId xmlns:a16="http://schemas.microsoft.com/office/drawing/2014/main" id="{413DE8B0-606F-84AB-B13D-C5A22E45A252}"/>
              </a:ext>
            </a:extLst>
          </p:cNvPr>
          <p:cNvGrpSpPr/>
          <p:nvPr/>
        </p:nvGrpSpPr>
        <p:grpSpPr>
          <a:xfrm>
            <a:off x="-25" y="4872600"/>
            <a:ext cx="9144000" cy="270900"/>
            <a:chOff x="-25" y="4872600"/>
            <a:chExt cx="9144000" cy="270900"/>
          </a:xfrm>
        </p:grpSpPr>
        <p:sp>
          <p:nvSpPr>
            <p:cNvPr id="263" name="Google Shape;263;p6">
              <a:extLst>
                <a:ext uri="{FF2B5EF4-FFF2-40B4-BE49-F238E27FC236}">
                  <a16:creationId xmlns:a16="http://schemas.microsoft.com/office/drawing/2014/main" id="{8C817BF0-00F4-4F91-88CE-4793837F3D24}"/>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264" name="Google Shape;264;p6">
              <a:extLst>
                <a:ext uri="{FF2B5EF4-FFF2-40B4-BE49-F238E27FC236}">
                  <a16:creationId xmlns:a16="http://schemas.microsoft.com/office/drawing/2014/main" id="{718FBEA7-FF20-1AE9-DE9F-A04561DC7DC2}"/>
                </a:ext>
              </a:extLst>
            </p:cNvPr>
            <p:cNvGrpSpPr/>
            <p:nvPr/>
          </p:nvGrpSpPr>
          <p:grpSpPr>
            <a:xfrm>
              <a:off x="3101100" y="4872600"/>
              <a:ext cx="2941800" cy="270900"/>
              <a:chOff x="3084200" y="4934525"/>
              <a:chExt cx="2941800" cy="270900"/>
            </a:xfrm>
          </p:grpSpPr>
          <p:sp>
            <p:nvSpPr>
              <p:cNvPr id="265" name="Google Shape;265;p6">
                <a:extLst>
                  <a:ext uri="{FF2B5EF4-FFF2-40B4-BE49-F238E27FC236}">
                    <a16:creationId xmlns:a16="http://schemas.microsoft.com/office/drawing/2014/main" id="{1DC3F893-F79F-3CE0-CEB9-EB4AD8D12FD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266" name="Google Shape;266;p6">
                <a:extLst>
                  <a:ext uri="{FF2B5EF4-FFF2-40B4-BE49-F238E27FC236}">
                    <a16:creationId xmlns:a16="http://schemas.microsoft.com/office/drawing/2014/main" id="{AA1D54D3-4A57-FE4C-FA16-70330DBFCED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36" name="TextBox 35">
            <a:extLst>
              <a:ext uri="{FF2B5EF4-FFF2-40B4-BE49-F238E27FC236}">
                <a16:creationId xmlns:a16="http://schemas.microsoft.com/office/drawing/2014/main" id="{CA1D1660-BE2C-EF5E-EC48-38FE65EE7DD3}"/>
              </a:ext>
            </a:extLst>
          </p:cNvPr>
          <p:cNvSpPr txBox="1"/>
          <p:nvPr/>
        </p:nvSpPr>
        <p:spPr>
          <a:xfrm>
            <a:off x="6470189" y="4557313"/>
            <a:ext cx="2673786"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April, 2026</a:t>
            </a:r>
          </a:p>
        </p:txBody>
      </p:sp>
      <p:cxnSp>
        <p:nvCxnSpPr>
          <p:cNvPr id="39" name="Straight Arrow Connector 38">
            <a:extLst>
              <a:ext uri="{FF2B5EF4-FFF2-40B4-BE49-F238E27FC236}">
                <a16:creationId xmlns:a16="http://schemas.microsoft.com/office/drawing/2014/main" id="{F45315C4-82F9-6939-3FAC-6B5E71C41E97}"/>
              </a:ext>
            </a:extLst>
          </p:cNvPr>
          <p:cNvCxnSpPr>
            <a:cxnSpLocks/>
          </p:cNvCxnSpPr>
          <p:nvPr/>
        </p:nvCxnSpPr>
        <p:spPr>
          <a:xfrm flipV="1">
            <a:off x="3988137" y="3593743"/>
            <a:ext cx="0" cy="11899"/>
          </a:xfrm>
          <a:prstGeom prst="straightConnector1">
            <a:avLst/>
          </a:prstGeom>
          <a:noFill/>
          <a:ln w="6350" cap="flat" cmpd="sng" algn="ctr">
            <a:solidFill>
              <a:srgbClr val="FF9900"/>
            </a:solidFill>
            <a:prstDash val="solid"/>
            <a:miter lim="800000"/>
            <a:tailEnd type="triangle"/>
          </a:ln>
          <a:effectLst/>
        </p:spPr>
      </p:cxnSp>
      <p:cxnSp>
        <p:nvCxnSpPr>
          <p:cNvPr id="42" name="Straight Arrow Connector 41">
            <a:extLst>
              <a:ext uri="{FF2B5EF4-FFF2-40B4-BE49-F238E27FC236}">
                <a16:creationId xmlns:a16="http://schemas.microsoft.com/office/drawing/2014/main" id="{810BB7C4-824C-FBBF-24CD-CEC5E0E22932}"/>
              </a:ext>
            </a:extLst>
          </p:cNvPr>
          <p:cNvCxnSpPr>
            <a:cxnSpLocks/>
          </p:cNvCxnSpPr>
          <p:nvPr/>
        </p:nvCxnSpPr>
        <p:spPr>
          <a:xfrm flipV="1">
            <a:off x="10916494" y="3523406"/>
            <a:ext cx="0" cy="11899"/>
          </a:xfrm>
          <a:prstGeom prst="straightConnector1">
            <a:avLst/>
          </a:prstGeom>
          <a:noFill/>
          <a:ln w="6350" cap="flat" cmpd="sng" algn="ctr">
            <a:solidFill>
              <a:srgbClr val="FF9900"/>
            </a:solidFill>
            <a:prstDash val="solid"/>
            <a:miter lim="800000"/>
            <a:tailEnd type="triangle"/>
          </a:ln>
          <a:effectLst/>
        </p:spPr>
      </p:cxnSp>
      <p:sp>
        <p:nvSpPr>
          <p:cNvPr id="23" name="TextBox 22">
            <a:extLst>
              <a:ext uri="{FF2B5EF4-FFF2-40B4-BE49-F238E27FC236}">
                <a16:creationId xmlns:a16="http://schemas.microsoft.com/office/drawing/2014/main" id="{7F130CB4-49D3-659F-04F3-74728FC77290}"/>
              </a:ext>
            </a:extLst>
          </p:cNvPr>
          <p:cNvSpPr txBox="1"/>
          <p:nvPr/>
        </p:nvSpPr>
        <p:spPr>
          <a:xfrm>
            <a:off x="1813932" y="3987854"/>
            <a:ext cx="5021484" cy="307777"/>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dirty="0">
                <a:solidFill>
                  <a:schemeClr val="tx1"/>
                </a:solidFill>
              </a:rPr>
              <a:t>  Broad-based gains were observed across all indices in 1M period</a:t>
            </a:r>
          </a:p>
        </p:txBody>
      </p:sp>
      <p:sp>
        <p:nvSpPr>
          <p:cNvPr id="2" name="TextBox 1">
            <a:extLst>
              <a:ext uri="{FF2B5EF4-FFF2-40B4-BE49-F238E27FC236}">
                <a16:creationId xmlns:a16="http://schemas.microsoft.com/office/drawing/2014/main" id="{49022C33-E01B-D4DE-077C-B56D31DF0B78}"/>
              </a:ext>
            </a:extLst>
          </p:cNvPr>
          <p:cNvSpPr txBox="1"/>
          <p:nvPr/>
        </p:nvSpPr>
        <p:spPr>
          <a:xfrm>
            <a:off x="682569" y="455147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3" name="Picture 2">
            <a:extLst>
              <a:ext uri="{FF2B5EF4-FFF2-40B4-BE49-F238E27FC236}">
                <a16:creationId xmlns:a16="http://schemas.microsoft.com/office/drawing/2014/main" id="{71309D57-4824-485D-58C3-6352111D390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4" name="Chart 3">
            <a:extLst>
              <a:ext uri="{FF2B5EF4-FFF2-40B4-BE49-F238E27FC236}">
                <a16:creationId xmlns:a16="http://schemas.microsoft.com/office/drawing/2014/main" id="{3E05E245-B646-F070-3C18-3F5B14051407}"/>
              </a:ext>
            </a:extLst>
          </p:cNvPr>
          <p:cNvGraphicFramePr/>
          <p:nvPr>
            <p:extLst>
              <p:ext uri="{D42A27DB-BD31-4B8C-83A1-F6EECF244321}">
                <p14:modId xmlns:p14="http://schemas.microsoft.com/office/powerpoint/2010/main" val="3030517501"/>
              </p:ext>
            </p:extLst>
          </p:nvPr>
        </p:nvGraphicFramePr>
        <p:xfrm>
          <a:off x="682569" y="1155646"/>
          <a:ext cx="7628805" cy="25534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2916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Global Markets (MSCI) – Geopolitical Impact</a:t>
            </a:r>
          </a:p>
        </p:txBody>
      </p:sp>
      <p:grpSp>
        <p:nvGrpSpPr>
          <p:cNvPr id="303" name="Google Shape;303;p7"/>
          <p:cNvGrpSpPr/>
          <p:nvPr/>
        </p:nvGrpSpPr>
        <p:grpSpPr>
          <a:xfrm>
            <a:off x="-25" y="4872600"/>
            <a:ext cx="9144000" cy="270825"/>
            <a:chOff x="-25" y="4872600"/>
            <a:chExt cx="9144000" cy="27082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70813"/>
              <a:chOff x="3084200" y="4934525"/>
              <a:chExt cx="2941800" cy="270813"/>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70813"/>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Rectangle: Rounded Corners 4">
            <a:extLst>
              <a:ext uri="{FF2B5EF4-FFF2-40B4-BE49-F238E27FC236}">
                <a16:creationId xmlns:a16="http://schemas.microsoft.com/office/drawing/2014/main" id="{0AA96379-4720-470F-88B3-AD2818B808BC}"/>
              </a:ext>
            </a:extLst>
          </p:cNvPr>
          <p:cNvSpPr/>
          <p:nvPr/>
        </p:nvSpPr>
        <p:spPr>
          <a:xfrm>
            <a:off x="6831219" y="1273373"/>
            <a:ext cx="2155631" cy="2976645"/>
          </a:xfrm>
          <a:prstGeom prst="round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Wingdings" panose="05000000000000000000" pitchFamily="2" charset="2"/>
              <a:buChar char="q"/>
            </a:pPr>
            <a:r>
              <a:rPr lang="en-US" sz="1000" dirty="0">
                <a:solidFill>
                  <a:schemeClr val="tx1"/>
                </a:solidFill>
                <a:ea typeface="Calibri" panose="020F0502020204030204" pitchFamily="34" charset="0"/>
                <a:cs typeface="Calibri" panose="020F0502020204030204" pitchFamily="34" charset="0"/>
              </a:rPr>
              <a:t>Global markets rebounded in Apr-26 from March lows, supported by recovery in risk sentiment amid ceasefire hopes</a:t>
            </a:r>
          </a:p>
          <a:p>
            <a:pPr marL="171450" indent="-171450">
              <a:buFont typeface="Wingdings" panose="05000000000000000000" pitchFamily="2" charset="2"/>
              <a:buChar char="q"/>
            </a:pPr>
            <a:endParaRPr lang="en-US" sz="1000" dirty="0">
              <a:solidFill>
                <a:schemeClr val="tx1"/>
              </a:solidFill>
              <a:ea typeface="Calibri" panose="020F0502020204030204" pitchFamily="34" charset="0"/>
              <a:cs typeface="Calibri" panose="020F0502020204030204" pitchFamily="34" charset="0"/>
            </a:endParaRPr>
          </a:p>
          <a:p>
            <a:pPr marL="171450" indent="-171450">
              <a:buFont typeface="Wingdings" panose="05000000000000000000" pitchFamily="2" charset="2"/>
              <a:buChar char="q"/>
            </a:pPr>
            <a:r>
              <a:rPr lang="en-US" sz="1000" dirty="0">
                <a:solidFill>
                  <a:schemeClr val="tx1"/>
                </a:solidFill>
                <a:ea typeface="Calibri" panose="020F0502020204030204" pitchFamily="34" charset="0"/>
                <a:cs typeface="Calibri" panose="020F0502020204030204" pitchFamily="34" charset="0"/>
              </a:rPr>
              <a:t>Supply-side disruptions and energy price volatility remain key concerns amid broader global uncertainty</a:t>
            </a:r>
          </a:p>
        </p:txBody>
      </p:sp>
      <p:sp>
        <p:nvSpPr>
          <p:cNvPr id="15" name="TextBox 14">
            <a:extLst>
              <a:ext uri="{FF2B5EF4-FFF2-40B4-BE49-F238E27FC236}">
                <a16:creationId xmlns:a16="http://schemas.microsoft.com/office/drawing/2014/main" id="{447CB0E5-BA9F-45F0-81D3-DB9AE1142DBF}"/>
              </a:ext>
            </a:extLst>
          </p:cNvPr>
          <p:cNvSpPr txBox="1"/>
          <p:nvPr/>
        </p:nvSpPr>
        <p:spPr>
          <a:xfrm>
            <a:off x="5278244" y="4457477"/>
            <a:ext cx="3708606"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Data Source: MSCI.com </a:t>
            </a:r>
          </a:p>
          <a:p>
            <a:pPr algn="r"/>
            <a:r>
              <a:rPr lang="en-US" sz="800" i="1"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st </a:t>
            </a:r>
            <a:r>
              <a:rPr lang="en-US" sz="800" i="1" kern="1200" dirty="0">
                <a:latin typeface="Calibri" panose="020F0502020204030204" pitchFamily="34" charset="0"/>
                <a:ea typeface="Calibri" panose="020F0502020204030204" pitchFamily="34" charset="0"/>
                <a:cs typeface="Calibri" panose="020F0502020204030204" pitchFamily="34" charset="0"/>
              </a:rPr>
              <a:t>April 2026</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41831E-D521-8F5E-75B5-D6D398F7667E}"/>
              </a:ext>
            </a:extLst>
          </p:cNvPr>
          <p:cNvSpPr txBox="1"/>
          <p:nvPr/>
        </p:nvSpPr>
        <p:spPr>
          <a:xfrm>
            <a:off x="523665" y="4576698"/>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4" name="Picture 3">
            <a:extLst>
              <a:ext uri="{FF2B5EF4-FFF2-40B4-BE49-F238E27FC236}">
                <a16:creationId xmlns:a16="http://schemas.microsoft.com/office/drawing/2014/main" id="{12AE9FA2-0C1B-4FE7-AD48-1ABE2A13A02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6" name="Chart 5">
            <a:extLst>
              <a:ext uri="{FF2B5EF4-FFF2-40B4-BE49-F238E27FC236}">
                <a16:creationId xmlns:a16="http://schemas.microsoft.com/office/drawing/2014/main" id="{A8C7CE5C-034F-EF99-9D59-34D688AEFDEF}"/>
              </a:ext>
            </a:extLst>
          </p:cNvPr>
          <p:cNvGraphicFramePr/>
          <p:nvPr>
            <p:extLst>
              <p:ext uri="{D42A27DB-BD31-4B8C-83A1-F6EECF244321}">
                <p14:modId xmlns:p14="http://schemas.microsoft.com/office/powerpoint/2010/main" val="4116305146"/>
              </p:ext>
            </p:extLst>
          </p:nvPr>
        </p:nvGraphicFramePr>
        <p:xfrm>
          <a:off x="720000" y="1273373"/>
          <a:ext cx="6037146" cy="2976645"/>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BA7BB182-D0B1-A909-5E68-DDDB7F07209E}"/>
              </a:ext>
            </a:extLst>
          </p:cNvPr>
          <p:cNvSpPr txBox="1"/>
          <p:nvPr/>
        </p:nvSpPr>
        <p:spPr>
          <a:xfrm>
            <a:off x="2072660" y="4266218"/>
            <a:ext cx="2973267" cy="338554"/>
          </a:xfrm>
          <a:prstGeom prst="rect">
            <a:avLst/>
          </a:prstGeom>
          <a:noFill/>
        </p:spPr>
        <p:txBody>
          <a:bodyPr wrap="square" rtlCol="0">
            <a:spAutoFit/>
          </a:bodyPr>
          <a:lstStyle/>
          <a:p>
            <a:r>
              <a:rPr lang="en-US" sz="800" b="1" dirty="0">
                <a:latin typeface="+mn-lt"/>
              </a:rPr>
              <a:t>                                                 MSCI World Index</a:t>
            </a:r>
            <a:r>
              <a:rPr lang="en-US" sz="800" dirty="0">
                <a:latin typeface="+mn-lt"/>
              </a:rPr>
              <a:t>		</a:t>
            </a:r>
          </a:p>
        </p:txBody>
      </p:sp>
    </p:spTree>
    <p:extLst>
      <p:ext uri="{BB962C8B-B14F-4D97-AF65-F5344CB8AC3E}">
        <p14:creationId xmlns:p14="http://schemas.microsoft.com/office/powerpoint/2010/main" val="47000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9570945-1413-F9B1-BA44-017632043F5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3969978-E454-0B9A-3E6E-3CD6C663415B}"/>
              </a:ext>
            </a:extLst>
          </p:cNvPr>
          <p:cNvPicPr>
            <a:picLocks noChangeAspect="1"/>
          </p:cNvPicPr>
          <p:nvPr/>
        </p:nvPicPr>
        <p:blipFill>
          <a:blip r:embed="rId3"/>
          <a:stretch>
            <a:fillRect/>
          </a:stretch>
        </p:blipFill>
        <p:spPr>
          <a:xfrm>
            <a:off x="735954" y="1230805"/>
            <a:ext cx="3584605" cy="2192450"/>
          </a:xfrm>
          <a:prstGeom prst="rect">
            <a:avLst/>
          </a:prstGeom>
          <a:ln>
            <a:solidFill>
              <a:schemeClr val="tx1"/>
            </a:solidFill>
          </a:ln>
        </p:spPr>
      </p:pic>
      <p:pic>
        <p:nvPicPr>
          <p:cNvPr id="18" name="Picture 17">
            <a:extLst>
              <a:ext uri="{FF2B5EF4-FFF2-40B4-BE49-F238E27FC236}">
                <a16:creationId xmlns:a16="http://schemas.microsoft.com/office/drawing/2014/main" id="{28D7FFE8-B0DF-FBF1-E88B-6D863721FB53}"/>
              </a:ext>
            </a:extLst>
          </p:cNvPr>
          <p:cNvPicPr>
            <a:picLocks noChangeAspect="1"/>
          </p:cNvPicPr>
          <p:nvPr/>
        </p:nvPicPr>
        <p:blipFill>
          <a:blip r:embed="rId4"/>
          <a:srcRect t="1" b="3464"/>
          <a:stretch>
            <a:fillRect/>
          </a:stretch>
        </p:blipFill>
        <p:spPr>
          <a:xfrm>
            <a:off x="4994009" y="1223324"/>
            <a:ext cx="3584605" cy="2192450"/>
          </a:xfrm>
          <a:prstGeom prst="rect">
            <a:avLst/>
          </a:prstGeom>
          <a:ln>
            <a:solidFill>
              <a:schemeClr val="tx1"/>
            </a:solidFill>
          </a:ln>
        </p:spPr>
      </p:pic>
      <p:sp>
        <p:nvSpPr>
          <p:cNvPr id="301" name="Google Shape;301;p7">
            <a:extLst>
              <a:ext uri="{FF2B5EF4-FFF2-40B4-BE49-F238E27FC236}">
                <a16:creationId xmlns:a16="http://schemas.microsoft.com/office/drawing/2014/main" id="{6744CACB-D13D-FFB3-9A46-6000EA132522}"/>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INR weakness driven by stronger DXY</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7A6828B-0012-F876-BC7B-EE4D2655516A}"/>
              </a:ext>
            </a:extLst>
          </p:cNvPr>
          <p:cNvSpPr txBox="1"/>
          <p:nvPr/>
        </p:nvSpPr>
        <p:spPr>
          <a:xfrm>
            <a:off x="4994010" y="3631376"/>
            <a:ext cx="3682531"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DXY strengthened post West Asia conflict, reflecting safe heaven demand and a firmer dollar</a:t>
            </a:r>
          </a:p>
        </p:txBody>
      </p:sp>
      <p:grpSp>
        <p:nvGrpSpPr>
          <p:cNvPr id="2" name="Google Shape;262;p6">
            <a:extLst>
              <a:ext uri="{FF2B5EF4-FFF2-40B4-BE49-F238E27FC236}">
                <a16:creationId xmlns:a16="http://schemas.microsoft.com/office/drawing/2014/main" id="{E3CD1CB6-5A9D-0B72-AAA1-D6693E3D532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B792EE3F-94AE-305D-4327-284ABDCECF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6FFFBCD-076F-1721-14D9-C832E2A235A5}"/>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8E3A940A-D0E7-F612-E1CC-0ABE391AFD8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7FDF42C8-4069-6117-7472-EEC7DEBAC1E2}"/>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704F1BB7-D1D6-E339-C2D1-642740D3687E}"/>
              </a:ext>
            </a:extLst>
          </p:cNvPr>
          <p:cNvPicPr>
            <a:picLocks noChangeAspect="1"/>
          </p:cNvPicPr>
          <p:nvPr/>
        </p:nvPicPr>
        <p:blipFill>
          <a:blip r:embed="rId5"/>
          <a:stretch>
            <a:fillRect/>
          </a:stretch>
        </p:blipFill>
        <p:spPr>
          <a:xfrm>
            <a:off x="7819053" y="116485"/>
            <a:ext cx="1190504" cy="566010"/>
          </a:xfrm>
          <a:prstGeom prst="rect">
            <a:avLst/>
          </a:prstGeom>
        </p:spPr>
      </p:pic>
      <p:sp>
        <p:nvSpPr>
          <p:cNvPr id="15" name="TextBox 14">
            <a:extLst>
              <a:ext uri="{FF2B5EF4-FFF2-40B4-BE49-F238E27FC236}">
                <a16:creationId xmlns:a16="http://schemas.microsoft.com/office/drawing/2014/main" id="{046EC0B2-DBAF-4778-2CCF-74930DE475BF}"/>
              </a:ext>
            </a:extLst>
          </p:cNvPr>
          <p:cNvSpPr txBox="1"/>
          <p:nvPr/>
        </p:nvSpPr>
        <p:spPr>
          <a:xfrm>
            <a:off x="7167514" y="4534046"/>
            <a:ext cx="2349677"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Trading economics</a:t>
            </a:r>
          </a:p>
          <a:p>
            <a:pPr algn="just"/>
            <a:r>
              <a:rPr lang="en-US" sz="800" dirty="0">
                <a:latin typeface="+mn-lt"/>
              </a:rPr>
              <a:t>INR  &amp; DXY Index data as on 6</a:t>
            </a:r>
            <a:r>
              <a:rPr lang="en-US" sz="800" baseline="30000" dirty="0">
                <a:latin typeface="+mn-lt"/>
              </a:rPr>
              <a:t>th</a:t>
            </a:r>
            <a:r>
              <a:rPr lang="en-US" sz="800" dirty="0">
                <a:latin typeface="+mn-lt"/>
              </a:rPr>
              <a:t> May,2026</a:t>
            </a:r>
          </a:p>
        </p:txBody>
      </p:sp>
      <p:sp>
        <p:nvSpPr>
          <p:cNvPr id="12" name="TextBox 11">
            <a:extLst>
              <a:ext uri="{FF2B5EF4-FFF2-40B4-BE49-F238E27FC236}">
                <a16:creationId xmlns:a16="http://schemas.microsoft.com/office/drawing/2014/main" id="{023AE93D-F396-9A36-BB2D-25C52EBB366D}"/>
              </a:ext>
            </a:extLst>
          </p:cNvPr>
          <p:cNvSpPr txBox="1"/>
          <p:nvPr/>
        </p:nvSpPr>
        <p:spPr>
          <a:xfrm>
            <a:off x="6217920" y="1221214"/>
            <a:ext cx="1539240" cy="253916"/>
          </a:xfrm>
          <a:prstGeom prst="rect">
            <a:avLst/>
          </a:prstGeom>
          <a:noFill/>
        </p:spPr>
        <p:txBody>
          <a:bodyPr wrap="square" rtlCol="0">
            <a:spAutoFit/>
          </a:bodyPr>
          <a:lstStyle/>
          <a:p>
            <a:r>
              <a:rPr lang="en-US" sz="1050" b="1" dirty="0">
                <a:latin typeface="+mj-lt"/>
              </a:rPr>
              <a:t>DXY Index 1Y data</a:t>
            </a:r>
          </a:p>
        </p:txBody>
      </p:sp>
      <p:sp>
        <p:nvSpPr>
          <p:cNvPr id="16" name="TextBox 15">
            <a:extLst>
              <a:ext uri="{FF2B5EF4-FFF2-40B4-BE49-F238E27FC236}">
                <a16:creationId xmlns:a16="http://schemas.microsoft.com/office/drawing/2014/main" id="{5ADA83EC-BC0F-CD3C-B479-06003E2716A8}"/>
              </a:ext>
            </a:extLst>
          </p:cNvPr>
          <p:cNvSpPr txBox="1"/>
          <p:nvPr/>
        </p:nvSpPr>
        <p:spPr>
          <a:xfrm>
            <a:off x="1597504" y="1300829"/>
            <a:ext cx="1643743" cy="253916"/>
          </a:xfrm>
          <a:prstGeom prst="rect">
            <a:avLst/>
          </a:prstGeom>
          <a:noFill/>
        </p:spPr>
        <p:txBody>
          <a:bodyPr wrap="square" rtlCol="0">
            <a:spAutoFit/>
          </a:bodyPr>
          <a:lstStyle/>
          <a:p>
            <a:r>
              <a:rPr lang="en-US" sz="1050" b="1" dirty="0">
                <a:latin typeface="+mj-lt"/>
              </a:rPr>
              <a:t>USD/INR price  1 YR data</a:t>
            </a:r>
          </a:p>
        </p:txBody>
      </p:sp>
      <p:sp>
        <p:nvSpPr>
          <p:cNvPr id="17" name="TextBox 16">
            <a:extLst>
              <a:ext uri="{FF2B5EF4-FFF2-40B4-BE49-F238E27FC236}">
                <a16:creationId xmlns:a16="http://schemas.microsoft.com/office/drawing/2014/main" id="{0C01B624-138A-162A-EF4B-9AFA7C229104}"/>
              </a:ext>
            </a:extLst>
          </p:cNvPr>
          <p:cNvSpPr txBox="1"/>
          <p:nvPr/>
        </p:nvSpPr>
        <p:spPr>
          <a:xfrm>
            <a:off x="735954" y="3634886"/>
            <a:ext cx="3682531" cy="617733"/>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INR just below 95 mark, pressured by high oil prices, FII outflows, and a strong dollar</a:t>
            </a:r>
          </a:p>
        </p:txBody>
      </p:sp>
    </p:spTree>
    <p:extLst>
      <p:ext uri="{BB962C8B-B14F-4D97-AF65-F5344CB8AC3E}">
        <p14:creationId xmlns:p14="http://schemas.microsoft.com/office/powerpoint/2010/main" val="185986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46101" y="368375"/>
            <a:ext cx="5695520"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 FIIs remained net sellers in Apr-26</a:t>
            </a:r>
            <a:endParaRPr lang="en-US" sz="2800"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4278086" y="4450965"/>
            <a:ext cx="4774913"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Moneycontrol.com</a:t>
            </a:r>
          </a:p>
          <a:p>
            <a:pPr algn="r"/>
            <a:r>
              <a:rPr lang="en-IN" sz="800" dirty="0">
                <a:latin typeface="Calibri" panose="020F0502020204030204" pitchFamily="34" charset="0"/>
                <a:ea typeface="Calibri" panose="020F0502020204030204" pitchFamily="34" charset="0"/>
                <a:cs typeface="Calibri" panose="020F0502020204030204" pitchFamily="34" charset="0"/>
              </a:rPr>
              <a:t>FII data as on 30</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Apr-26 &amp;DII data as on 28</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Apr-26  </a:t>
            </a:r>
          </a:p>
        </p:txBody>
      </p:sp>
      <p:sp>
        <p:nvSpPr>
          <p:cNvPr id="4" name="TextBox 3">
            <a:extLst>
              <a:ext uri="{FF2B5EF4-FFF2-40B4-BE49-F238E27FC236}">
                <a16:creationId xmlns:a16="http://schemas.microsoft.com/office/drawing/2014/main" id="{3293F608-2FB5-A8D2-B31B-85998ABE1CD6}"/>
              </a:ext>
            </a:extLst>
          </p:cNvPr>
          <p:cNvSpPr txBox="1"/>
          <p:nvPr/>
        </p:nvSpPr>
        <p:spPr>
          <a:xfrm>
            <a:off x="2836037" y="4017010"/>
            <a:ext cx="3749819" cy="261610"/>
          </a:xfrm>
          <a:prstGeom prst="rect">
            <a:avLst/>
          </a:prstGeom>
          <a:noFill/>
          <a:ln w="6350">
            <a:solidFill>
              <a:schemeClr val="tx1"/>
            </a:solidFill>
          </a:ln>
        </p:spPr>
        <p:txBody>
          <a:bodyPr wrap="square">
            <a:spAutoFit/>
          </a:bodyPr>
          <a:lstStyle/>
          <a:p>
            <a:r>
              <a:rPr lang="en-US" sz="1100" dirty="0"/>
              <a:t>             DIIs buying moderated sharply in Apr-26</a:t>
            </a:r>
            <a:endParaRPr lang="en-US" sz="1100" dirty="0">
              <a:latin typeface="+mj-lt"/>
            </a:endParaRPr>
          </a:p>
        </p:txBody>
      </p:sp>
      <p:grpSp>
        <p:nvGrpSpPr>
          <p:cNvPr id="5" name="Google Shape;262;p6">
            <a:extLst>
              <a:ext uri="{FF2B5EF4-FFF2-40B4-BE49-F238E27FC236}">
                <a16:creationId xmlns:a16="http://schemas.microsoft.com/office/drawing/2014/main" id="{00316FCA-DF16-BEAF-DC0D-7A08823A80FF}"/>
              </a:ext>
            </a:extLst>
          </p:cNvPr>
          <p:cNvGrpSpPr/>
          <p:nvPr/>
        </p:nvGrpSpPr>
        <p:grpSpPr>
          <a:xfrm>
            <a:off x="-25" y="4872600"/>
            <a:ext cx="9144000" cy="270900"/>
            <a:chOff x="-25" y="4872600"/>
            <a:chExt cx="9144000" cy="270900"/>
          </a:xfrm>
        </p:grpSpPr>
        <p:sp>
          <p:nvSpPr>
            <p:cNvPr id="6" name="Google Shape;263;p6">
              <a:extLst>
                <a:ext uri="{FF2B5EF4-FFF2-40B4-BE49-F238E27FC236}">
                  <a16:creationId xmlns:a16="http://schemas.microsoft.com/office/drawing/2014/main" id="{9C4F68EB-969C-2C44-DB82-470BED496D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7" name="Google Shape;264;p6">
              <a:extLst>
                <a:ext uri="{FF2B5EF4-FFF2-40B4-BE49-F238E27FC236}">
                  <a16:creationId xmlns:a16="http://schemas.microsoft.com/office/drawing/2014/main" id="{BAC8779C-694B-C91F-BF50-7E2C68CA5E21}"/>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7695A90-D7E7-F1CB-78EC-DA38093850E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3CAEA80-D5A2-55B1-50A1-BD97D196785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C5C31158-9C92-9418-16F6-C81518685E6F}"/>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2" name="Chart 1">
            <a:extLst>
              <a:ext uri="{FF2B5EF4-FFF2-40B4-BE49-F238E27FC236}">
                <a16:creationId xmlns:a16="http://schemas.microsoft.com/office/drawing/2014/main" id="{9B6E021B-7B91-4F6F-9281-EAA1EF796A4C}"/>
              </a:ext>
            </a:extLst>
          </p:cNvPr>
          <p:cNvGraphicFramePr/>
          <p:nvPr>
            <p:extLst>
              <p:ext uri="{D42A27DB-BD31-4B8C-83A1-F6EECF244321}">
                <p14:modId xmlns:p14="http://schemas.microsoft.com/office/powerpoint/2010/main" val="3987753331"/>
              </p:ext>
            </p:extLst>
          </p:nvPr>
        </p:nvGraphicFramePr>
        <p:xfrm>
          <a:off x="577251" y="1073581"/>
          <a:ext cx="7241801" cy="270144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9581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43FA56-3EC3-5F26-510E-277BA938C136}"/>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87388122-676B-4BBA-1DE6-D9125CA53E4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Global LNG supply disruption</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647231B-DD99-A965-E8D2-F2FADFE91E4D}"/>
              </a:ext>
            </a:extLst>
          </p:cNvPr>
          <p:cNvSpPr txBox="1"/>
          <p:nvPr/>
        </p:nvSpPr>
        <p:spPr>
          <a:xfrm>
            <a:off x="7336619" y="4520943"/>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a:t>
            </a:r>
            <a:r>
              <a:rPr lang="en-US" sz="800" dirty="0">
                <a:latin typeface="+mn-lt"/>
                <a:ea typeface="Calibri" panose="020F0502020204030204" pitchFamily="34" charset="0"/>
                <a:cs typeface="Calibri" panose="020F0502020204030204" pitchFamily="34" charset="0"/>
              </a:rPr>
              <a:t>: The </a:t>
            </a:r>
            <a:r>
              <a:rPr lang="en-US" sz="800" dirty="0" err="1">
                <a:latin typeface="+mn-lt"/>
                <a:ea typeface="Calibri" panose="020F0502020204030204" pitchFamily="34" charset="0"/>
                <a:cs typeface="Calibri" panose="020F0502020204030204" pitchFamily="34" charset="0"/>
              </a:rPr>
              <a:t>Kobessi</a:t>
            </a:r>
            <a:r>
              <a:rPr lang="en-US" sz="800" dirty="0">
                <a:latin typeface="+mn-lt"/>
                <a:ea typeface="Calibri" panose="020F0502020204030204" pitchFamily="34" charset="0"/>
                <a:cs typeface="Calibri" panose="020F0502020204030204" pitchFamily="34" charset="0"/>
              </a:rPr>
              <a:t> Letter</a:t>
            </a:r>
            <a:endParaRPr lang="en-US" sz="800" dirty="0">
              <a:latin typeface="+mn-lt"/>
            </a:endParaRPr>
          </a:p>
        </p:txBody>
      </p:sp>
      <p:sp>
        <p:nvSpPr>
          <p:cNvPr id="6" name="TextBox 5">
            <a:extLst>
              <a:ext uri="{FF2B5EF4-FFF2-40B4-BE49-F238E27FC236}">
                <a16:creationId xmlns:a16="http://schemas.microsoft.com/office/drawing/2014/main" id="{DBDBCE0D-4000-B259-19CF-9BFCD47C3178}"/>
              </a:ext>
            </a:extLst>
          </p:cNvPr>
          <p:cNvSpPr txBox="1"/>
          <p:nvPr/>
        </p:nvSpPr>
        <p:spPr>
          <a:xfrm>
            <a:off x="5883377" y="2003649"/>
            <a:ext cx="2530928" cy="1674754"/>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Global LNG exports fell ~7% MoM to ~33 </a:t>
            </a:r>
            <a:r>
              <a:rPr lang="en-US" dirty="0" err="1">
                <a:solidFill>
                  <a:schemeClr val="tx1"/>
                </a:solidFill>
              </a:rPr>
              <a:t>mn</a:t>
            </a:r>
            <a:r>
              <a:rPr lang="en-US" dirty="0">
                <a:solidFill>
                  <a:schemeClr val="tx1"/>
                </a:solidFill>
              </a:rPr>
              <a:t> tons in Apr-26, lowest since May-24, amid Qatar disruption and Strait of Hormuz closure</a:t>
            </a:r>
          </a:p>
        </p:txBody>
      </p:sp>
      <p:grpSp>
        <p:nvGrpSpPr>
          <p:cNvPr id="2" name="Google Shape;262;p6">
            <a:extLst>
              <a:ext uri="{FF2B5EF4-FFF2-40B4-BE49-F238E27FC236}">
                <a16:creationId xmlns:a16="http://schemas.microsoft.com/office/drawing/2014/main" id="{5B56BC42-9932-4D03-3E15-17FBD61FD98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02171DE-246C-80F0-DD5E-80B7D9F1D0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DB304AE2-0A38-E7B6-5BA2-0EC7AE4F02E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4C62877C-1E93-0AC3-C4BD-ABEA1249AD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D90AA9AA-7A8B-90E5-B518-4FF7C6D7311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0B6BC46-6056-6C0E-26C0-64CFD42793BE}"/>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7" name="Picture 6">
            <a:extLst>
              <a:ext uri="{FF2B5EF4-FFF2-40B4-BE49-F238E27FC236}">
                <a16:creationId xmlns:a16="http://schemas.microsoft.com/office/drawing/2014/main" id="{138F37EE-6CCF-684F-2D77-66DC01FB33FB}"/>
              </a:ext>
            </a:extLst>
          </p:cNvPr>
          <p:cNvPicPr>
            <a:picLocks noChangeAspect="1"/>
          </p:cNvPicPr>
          <p:nvPr/>
        </p:nvPicPr>
        <p:blipFill>
          <a:blip r:embed="rId4"/>
          <a:srcRect t="4914" b="12105"/>
          <a:stretch>
            <a:fillRect/>
          </a:stretch>
        </p:blipFill>
        <p:spPr>
          <a:xfrm>
            <a:off x="555171" y="1249971"/>
            <a:ext cx="4882243" cy="2892789"/>
          </a:xfrm>
          <a:prstGeom prst="rect">
            <a:avLst/>
          </a:prstGeom>
          <a:ln>
            <a:solidFill>
              <a:schemeClr val="tx1"/>
            </a:solidFill>
          </a:ln>
        </p:spPr>
      </p:pic>
    </p:spTree>
    <p:extLst>
      <p:ext uri="{BB962C8B-B14F-4D97-AF65-F5344CB8AC3E}">
        <p14:creationId xmlns:p14="http://schemas.microsoft.com/office/powerpoint/2010/main" val="131011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430A976-9059-102D-7400-69BE46EC435D}"/>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2B831986-C196-A6A0-E6B6-A7F9F65083CD}"/>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ea typeface="Calibri" panose="020F0502020204030204" pitchFamily="34" charset="0"/>
                <a:cs typeface="Calibri" panose="020F0502020204030204" pitchFamily="34" charset="0"/>
              </a:rPr>
              <a:t>Global airlines cuts on cost surge</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4ACF2EF5-EE3E-DA04-61C0-922CEE03F7F8}"/>
              </a:ext>
            </a:extLst>
          </p:cNvPr>
          <p:cNvSpPr txBox="1"/>
          <p:nvPr/>
        </p:nvSpPr>
        <p:spPr>
          <a:xfrm>
            <a:off x="7336619" y="4520943"/>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a:t>
            </a:r>
            <a:r>
              <a:rPr lang="en-US" sz="800" dirty="0">
                <a:latin typeface="+mn-lt"/>
                <a:ea typeface="Calibri" panose="020F0502020204030204" pitchFamily="34" charset="0"/>
                <a:cs typeface="Calibri" panose="020F0502020204030204" pitchFamily="34" charset="0"/>
              </a:rPr>
              <a:t>: The </a:t>
            </a:r>
            <a:r>
              <a:rPr lang="en-US" sz="800" dirty="0" err="1">
                <a:latin typeface="+mn-lt"/>
                <a:ea typeface="Calibri" panose="020F0502020204030204" pitchFamily="34" charset="0"/>
                <a:cs typeface="Calibri" panose="020F0502020204030204" pitchFamily="34" charset="0"/>
              </a:rPr>
              <a:t>Kobessi</a:t>
            </a:r>
            <a:r>
              <a:rPr lang="en-US" sz="800" dirty="0">
                <a:latin typeface="+mn-lt"/>
                <a:ea typeface="Calibri" panose="020F0502020204030204" pitchFamily="34" charset="0"/>
                <a:cs typeface="Calibri" panose="020F0502020204030204" pitchFamily="34" charset="0"/>
              </a:rPr>
              <a:t> Letter</a:t>
            </a:r>
            <a:endParaRPr lang="en-US" sz="800" dirty="0">
              <a:latin typeface="+mn-lt"/>
            </a:endParaRPr>
          </a:p>
        </p:txBody>
      </p:sp>
      <p:sp>
        <p:nvSpPr>
          <p:cNvPr id="6" name="TextBox 5">
            <a:extLst>
              <a:ext uri="{FF2B5EF4-FFF2-40B4-BE49-F238E27FC236}">
                <a16:creationId xmlns:a16="http://schemas.microsoft.com/office/drawing/2014/main" id="{29A9EAA5-27DE-9843-2D66-C85A320454A0}"/>
              </a:ext>
            </a:extLst>
          </p:cNvPr>
          <p:cNvSpPr txBox="1"/>
          <p:nvPr/>
        </p:nvSpPr>
        <p:spPr>
          <a:xfrm>
            <a:off x="1801234" y="3603307"/>
            <a:ext cx="6281409"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Global airlines cut ~2mn seats and 12,000 flights in May schedule amid unprecedented cancellations, driven by soaring jet fuel costs and supply disruptions</a:t>
            </a:r>
          </a:p>
        </p:txBody>
      </p:sp>
      <p:grpSp>
        <p:nvGrpSpPr>
          <p:cNvPr id="2" name="Google Shape;262;p6">
            <a:extLst>
              <a:ext uri="{FF2B5EF4-FFF2-40B4-BE49-F238E27FC236}">
                <a16:creationId xmlns:a16="http://schemas.microsoft.com/office/drawing/2014/main" id="{7CF69622-AC62-10A5-EB42-5D0C0F65538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06BE7ADB-6F8B-DD4E-802E-A331FD1D2CA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9711D0D-191F-AC27-2E04-AE07A43DFD6F}"/>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F14558B0-6CB0-57B2-4750-0C9CD4C43C0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1D00025-3A2C-AE0C-0AAC-58D574BBC57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B27100C7-65B9-2A77-FDF5-ED1D893F1393}"/>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13" name="Picture 12">
            <a:extLst>
              <a:ext uri="{FF2B5EF4-FFF2-40B4-BE49-F238E27FC236}">
                <a16:creationId xmlns:a16="http://schemas.microsoft.com/office/drawing/2014/main" id="{DC2870D3-D7DF-3B56-1AF2-E24B4FF80868}"/>
              </a:ext>
            </a:extLst>
          </p:cNvPr>
          <p:cNvPicPr>
            <a:picLocks noChangeAspect="1"/>
          </p:cNvPicPr>
          <p:nvPr/>
        </p:nvPicPr>
        <p:blipFill>
          <a:blip r:embed="rId4"/>
          <a:srcRect l="930" t="11116" r="-140" b="33697"/>
          <a:stretch>
            <a:fillRect/>
          </a:stretch>
        </p:blipFill>
        <p:spPr>
          <a:xfrm>
            <a:off x="593271" y="1134341"/>
            <a:ext cx="6346372" cy="2353336"/>
          </a:xfrm>
          <a:prstGeom prst="rect">
            <a:avLst/>
          </a:prstGeom>
        </p:spPr>
      </p:pic>
    </p:spTree>
    <p:extLst>
      <p:ext uri="{BB962C8B-B14F-4D97-AF65-F5344CB8AC3E}">
        <p14:creationId xmlns:p14="http://schemas.microsoft.com/office/powerpoint/2010/main" val="366180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3F10C8C-C4D7-2829-7616-4C8EC0EB09B5}"/>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DB3761CA-E401-FEB2-CEA4-F401216A5816}"/>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1900" dirty="0">
                <a:latin typeface="+mn-lt"/>
                <a:ea typeface="Calibri" panose="020F0502020204030204" pitchFamily="34" charset="0"/>
                <a:cs typeface="Calibri" panose="020F0502020204030204" pitchFamily="34" charset="0"/>
              </a:rPr>
              <a:t>Japan’s bond yields signal policy shift</a:t>
            </a:r>
          </a:p>
        </p:txBody>
      </p:sp>
      <p:sp>
        <p:nvSpPr>
          <p:cNvPr id="21" name="TextBox 20">
            <a:extLst>
              <a:ext uri="{FF2B5EF4-FFF2-40B4-BE49-F238E27FC236}">
                <a16:creationId xmlns:a16="http://schemas.microsoft.com/office/drawing/2014/main" id="{7CE20F74-98D9-4E72-FC4A-4FA0A331B2EB}"/>
              </a:ext>
            </a:extLst>
          </p:cNvPr>
          <p:cNvSpPr txBox="1"/>
          <p:nvPr/>
        </p:nvSpPr>
        <p:spPr>
          <a:xfrm>
            <a:off x="7413171" y="4427135"/>
            <a:ext cx="1692455"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Trading economics, data as on 5</a:t>
            </a:r>
            <a:r>
              <a:rPr lang="en-IN" sz="800" baseline="30000" dirty="0">
                <a:latin typeface="+mn-lt"/>
                <a:ea typeface="Calibri" panose="020F0502020204030204" pitchFamily="34" charset="0"/>
                <a:cs typeface="Calibri" panose="020F0502020204030204" pitchFamily="34" charset="0"/>
              </a:rPr>
              <a:t>th</a:t>
            </a:r>
            <a:r>
              <a:rPr lang="en-IN" sz="800" dirty="0">
                <a:latin typeface="+mn-lt"/>
                <a:ea typeface="Calibri" panose="020F0502020204030204" pitchFamily="34" charset="0"/>
                <a:cs typeface="Calibri" panose="020F0502020204030204" pitchFamily="34" charset="0"/>
              </a:rPr>
              <a:t> May,2026</a:t>
            </a:r>
          </a:p>
        </p:txBody>
      </p:sp>
      <p:sp>
        <p:nvSpPr>
          <p:cNvPr id="6" name="TextBox 5">
            <a:extLst>
              <a:ext uri="{FF2B5EF4-FFF2-40B4-BE49-F238E27FC236}">
                <a16:creationId xmlns:a16="http://schemas.microsoft.com/office/drawing/2014/main" id="{A64234AB-2294-F9B5-B0C6-5EF515FCD5BD}"/>
              </a:ext>
            </a:extLst>
          </p:cNvPr>
          <p:cNvSpPr txBox="1"/>
          <p:nvPr/>
        </p:nvSpPr>
        <p:spPr>
          <a:xfrm>
            <a:off x="6839729" y="1924823"/>
            <a:ext cx="1692454" cy="1725729"/>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Japan 10Y yield at peak  reflects policy normalization and rising inflation expectations, with potential global spillovers</a:t>
            </a:r>
          </a:p>
        </p:txBody>
      </p:sp>
      <p:grpSp>
        <p:nvGrpSpPr>
          <p:cNvPr id="2" name="Google Shape;262;p6">
            <a:extLst>
              <a:ext uri="{FF2B5EF4-FFF2-40B4-BE49-F238E27FC236}">
                <a16:creationId xmlns:a16="http://schemas.microsoft.com/office/drawing/2014/main" id="{15DBF9E2-56B2-39A6-235B-83D7F992A442}"/>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43820FC6-970D-AC7D-6478-79AA03EA367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617B40E-3120-7B59-B620-8ECFCE5905AB}"/>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F057D83A-4539-DD64-3A98-9160548D3F4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CC2A40E1-EF47-3840-F7C6-A785F21672B4}"/>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0B9E1929-54A6-F1E5-73A2-E8DDB00F425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2" name="TextBox 11">
            <a:extLst>
              <a:ext uri="{FF2B5EF4-FFF2-40B4-BE49-F238E27FC236}">
                <a16:creationId xmlns:a16="http://schemas.microsoft.com/office/drawing/2014/main" id="{BF5D0979-0C67-0E75-0A56-565DCA4F506A}"/>
              </a:ext>
            </a:extLst>
          </p:cNvPr>
          <p:cNvSpPr txBox="1"/>
          <p:nvPr/>
        </p:nvSpPr>
        <p:spPr>
          <a:xfrm>
            <a:off x="3366023" y="1136792"/>
            <a:ext cx="1539240" cy="253916"/>
          </a:xfrm>
          <a:prstGeom prst="rect">
            <a:avLst/>
          </a:prstGeom>
          <a:noFill/>
        </p:spPr>
        <p:txBody>
          <a:bodyPr wrap="square" rtlCol="0">
            <a:spAutoFit/>
          </a:bodyPr>
          <a:lstStyle/>
          <a:p>
            <a:r>
              <a:rPr lang="en-US" sz="1050" b="1" dirty="0">
                <a:latin typeface="+mj-lt"/>
              </a:rPr>
              <a:t>1YR data </a:t>
            </a:r>
          </a:p>
        </p:txBody>
      </p:sp>
      <p:pic>
        <p:nvPicPr>
          <p:cNvPr id="15" name="Picture 14">
            <a:extLst>
              <a:ext uri="{FF2B5EF4-FFF2-40B4-BE49-F238E27FC236}">
                <a16:creationId xmlns:a16="http://schemas.microsoft.com/office/drawing/2014/main" id="{C994C48D-3022-5B9C-A73C-E5DDB822AC27}"/>
              </a:ext>
            </a:extLst>
          </p:cNvPr>
          <p:cNvPicPr>
            <a:picLocks noChangeAspect="1"/>
          </p:cNvPicPr>
          <p:nvPr/>
        </p:nvPicPr>
        <p:blipFill>
          <a:blip r:embed="rId4"/>
          <a:stretch>
            <a:fillRect/>
          </a:stretch>
        </p:blipFill>
        <p:spPr>
          <a:xfrm>
            <a:off x="611817" y="1184943"/>
            <a:ext cx="5821641" cy="2821765"/>
          </a:xfrm>
          <a:prstGeom prst="rect">
            <a:avLst/>
          </a:prstGeom>
          <a:ln>
            <a:solidFill>
              <a:schemeClr val="tx1"/>
            </a:solidFill>
          </a:ln>
        </p:spPr>
      </p:pic>
    </p:spTree>
    <p:extLst>
      <p:ext uri="{BB962C8B-B14F-4D97-AF65-F5344CB8AC3E}">
        <p14:creationId xmlns:p14="http://schemas.microsoft.com/office/powerpoint/2010/main" val="183169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0">
          <a:extLst>
            <a:ext uri="{FF2B5EF4-FFF2-40B4-BE49-F238E27FC236}">
              <a16:creationId xmlns:a16="http://schemas.microsoft.com/office/drawing/2014/main" id="{A2FABF7F-A008-FC7E-987E-F60C9839B3ED}"/>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97ADD445-A1F1-E5DA-3A3B-BC3B6E8DAB2B}"/>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j-lt"/>
              </a:rPr>
              <a:t>US 10Y Yields Signal Tight Liquidity</a:t>
            </a:r>
            <a:endParaRPr lang="en-US" sz="1900" dirty="0">
              <a:latin typeface="+mj-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C6F5D335-0DC5-8FCB-250D-BAD467293250}"/>
              </a:ext>
            </a:extLst>
          </p:cNvPr>
          <p:cNvSpPr txBox="1"/>
          <p:nvPr/>
        </p:nvSpPr>
        <p:spPr>
          <a:xfrm>
            <a:off x="7202201" y="4421964"/>
            <a:ext cx="1807356" cy="338554"/>
          </a:xfrm>
          <a:prstGeom prst="rect">
            <a:avLst/>
          </a:prstGeom>
          <a:noFill/>
        </p:spPr>
        <p:txBody>
          <a:bodyPr wrap="square" rtlCol="0">
            <a:spAutoFit/>
          </a:bodyPr>
          <a:lstStyle/>
          <a:p>
            <a:pPr algn="just"/>
            <a:r>
              <a:rPr lang="en-IN" sz="800" dirty="0">
                <a:latin typeface="+mj-lt"/>
                <a:ea typeface="Calibri" panose="020F0502020204030204" pitchFamily="34" charset="0"/>
                <a:cs typeface="Calibri" panose="020F0502020204030204" pitchFamily="34" charset="0"/>
              </a:rPr>
              <a:t>Source: </a:t>
            </a:r>
            <a:r>
              <a:rPr lang="en-US" sz="800" dirty="0">
                <a:latin typeface="+mj-lt"/>
              </a:rPr>
              <a:t>Trading economics, data as on 5</a:t>
            </a:r>
            <a:r>
              <a:rPr lang="en-US" sz="800" baseline="30000" dirty="0">
                <a:latin typeface="+mj-lt"/>
              </a:rPr>
              <a:t>th</a:t>
            </a:r>
            <a:r>
              <a:rPr lang="en-US" sz="800" dirty="0">
                <a:latin typeface="+mj-lt"/>
              </a:rPr>
              <a:t> May-26</a:t>
            </a:r>
            <a:endParaRPr lang="en-IN" sz="800" dirty="0">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EDBB0EA-29AD-D90A-AF7A-2BD44C04441E}"/>
              </a:ext>
            </a:extLst>
          </p:cNvPr>
          <p:cNvSpPr txBox="1"/>
          <p:nvPr/>
        </p:nvSpPr>
        <p:spPr>
          <a:xfrm>
            <a:off x="6833537" y="1985076"/>
            <a:ext cx="1851287" cy="144873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sz="1200" dirty="0">
                <a:solidFill>
                  <a:schemeClr val="tx1"/>
                </a:solidFill>
              </a:rPr>
              <a:t>US 10Y at ~4.4% signals tighter conditions, higher for longer rates, and pressure on global borrowing and risk assets</a:t>
            </a:r>
          </a:p>
        </p:txBody>
      </p:sp>
      <p:grpSp>
        <p:nvGrpSpPr>
          <p:cNvPr id="2" name="Google Shape;262;p6">
            <a:extLst>
              <a:ext uri="{FF2B5EF4-FFF2-40B4-BE49-F238E27FC236}">
                <a16:creationId xmlns:a16="http://schemas.microsoft.com/office/drawing/2014/main" id="{7BD11FAC-D675-B06B-E46D-312CC8720424}"/>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5382AC4-3D32-6D8E-DE54-971A856F94C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72D26229-013F-8468-B421-9BB762FC53D6}"/>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5A6DF94-808C-3C7D-CE93-C6DB221499ED}"/>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06A995F4-CCCF-4764-9120-8CA84FD492D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84771F46-2103-688F-D103-4D75607645EF}"/>
              </a:ext>
            </a:extLst>
          </p:cNvPr>
          <p:cNvPicPr>
            <a:picLocks noChangeAspect="1"/>
          </p:cNvPicPr>
          <p:nvPr/>
        </p:nvPicPr>
        <p:blipFill>
          <a:blip r:embed="rId4"/>
          <a:stretch>
            <a:fillRect/>
          </a:stretch>
        </p:blipFill>
        <p:spPr>
          <a:xfrm>
            <a:off x="7819053" y="116485"/>
            <a:ext cx="1190504" cy="566010"/>
          </a:xfrm>
          <a:prstGeom prst="rect">
            <a:avLst/>
          </a:prstGeom>
        </p:spPr>
      </p:pic>
      <p:sp>
        <p:nvSpPr>
          <p:cNvPr id="12" name="TextBox 11">
            <a:extLst>
              <a:ext uri="{FF2B5EF4-FFF2-40B4-BE49-F238E27FC236}">
                <a16:creationId xmlns:a16="http://schemas.microsoft.com/office/drawing/2014/main" id="{BC8B632F-8FBE-AD8F-6B67-E778BC00FE4E}"/>
              </a:ext>
            </a:extLst>
          </p:cNvPr>
          <p:cNvSpPr txBox="1"/>
          <p:nvPr/>
        </p:nvSpPr>
        <p:spPr>
          <a:xfrm>
            <a:off x="3142900" y="1116744"/>
            <a:ext cx="1539240" cy="253916"/>
          </a:xfrm>
          <a:prstGeom prst="rect">
            <a:avLst/>
          </a:prstGeom>
          <a:noFill/>
        </p:spPr>
        <p:txBody>
          <a:bodyPr wrap="square" rtlCol="0">
            <a:spAutoFit/>
          </a:bodyPr>
          <a:lstStyle/>
          <a:p>
            <a:r>
              <a:rPr lang="en-US" sz="1050" b="1" dirty="0">
                <a:latin typeface="+mj-lt"/>
              </a:rPr>
              <a:t>           1YR data </a:t>
            </a:r>
          </a:p>
        </p:txBody>
      </p:sp>
      <p:pic>
        <p:nvPicPr>
          <p:cNvPr id="14" name="Picture 13">
            <a:extLst>
              <a:ext uri="{FF2B5EF4-FFF2-40B4-BE49-F238E27FC236}">
                <a16:creationId xmlns:a16="http://schemas.microsoft.com/office/drawing/2014/main" id="{4E3CAD08-3146-EEAE-1ED2-3C68DA1CD02E}"/>
              </a:ext>
            </a:extLst>
          </p:cNvPr>
          <p:cNvPicPr>
            <a:picLocks noChangeAspect="1"/>
          </p:cNvPicPr>
          <p:nvPr/>
        </p:nvPicPr>
        <p:blipFill>
          <a:blip r:embed="rId5"/>
          <a:stretch>
            <a:fillRect/>
          </a:stretch>
        </p:blipFill>
        <p:spPr>
          <a:xfrm>
            <a:off x="615759" y="1116746"/>
            <a:ext cx="5760720" cy="3008939"/>
          </a:xfrm>
          <a:prstGeom prst="rect">
            <a:avLst/>
          </a:prstGeom>
          <a:ln>
            <a:solidFill>
              <a:schemeClr val="tx1"/>
            </a:solidFill>
          </a:ln>
        </p:spPr>
      </p:pic>
    </p:spTree>
    <p:extLst>
      <p:ext uri="{BB962C8B-B14F-4D97-AF65-F5344CB8AC3E}">
        <p14:creationId xmlns:p14="http://schemas.microsoft.com/office/powerpoint/2010/main" val="3001072407"/>
      </p:ext>
    </p:extLst>
  </p:cSld>
  <p:clrMapOvr>
    <a:overrideClrMapping bg1="lt1" tx1="dk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3FF8B99-5BB7-55C6-D55C-878849BF00E4}"/>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A1213E2-D655-5E7F-DB41-284EDB1ABA6C}"/>
              </a:ext>
            </a:extLst>
          </p:cNvPr>
          <p:cNvGraphicFramePr>
            <a:graphicFrameLocks noGrp="1"/>
          </p:cNvGraphicFramePr>
          <p:nvPr>
            <p:extLst>
              <p:ext uri="{D42A27DB-BD31-4B8C-83A1-F6EECF244321}">
                <p14:modId xmlns:p14="http://schemas.microsoft.com/office/powerpoint/2010/main" val="3902876331"/>
              </p:ext>
            </p:extLst>
          </p:nvPr>
        </p:nvGraphicFramePr>
        <p:xfrm>
          <a:off x="719998" y="1355691"/>
          <a:ext cx="8067658" cy="2409580"/>
        </p:xfrm>
        <a:graphic>
          <a:graphicData uri="http://schemas.openxmlformats.org/drawingml/2006/table">
            <a:tbl>
              <a:tblPr/>
              <a:tblGrid>
                <a:gridCol w="604132">
                  <a:extLst>
                    <a:ext uri="{9D8B030D-6E8A-4147-A177-3AD203B41FA5}">
                      <a16:colId xmlns:a16="http://schemas.microsoft.com/office/drawing/2014/main" val="624211874"/>
                    </a:ext>
                  </a:extLst>
                </a:gridCol>
                <a:gridCol w="653653">
                  <a:extLst>
                    <a:ext uri="{9D8B030D-6E8A-4147-A177-3AD203B41FA5}">
                      <a16:colId xmlns:a16="http://schemas.microsoft.com/office/drawing/2014/main" val="2337598546"/>
                    </a:ext>
                  </a:extLst>
                </a:gridCol>
                <a:gridCol w="534808">
                  <a:extLst>
                    <a:ext uri="{9D8B030D-6E8A-4147-A177-3AD203B41FA5}">
                      <a16:colId xmlns:a16="http://schemas.microsoft.com/office/drawing/2014/main" val="2801850226"/>
                    </a:ext>
                  </a:extLst>
                </a:gridCol>
                <a:gridCol w="690902">
                  <a:extLst>
                    <a:ext uri="{9D8B030D-6E8A-4147-A177-3AD203B41FA5}">
                      <a16:colId xmlns:a16="http://schemas.microsoft.com/office/drawing/2014/main" val="463315111"/>
                    </a:ext>
                  </a:extLst>
                </a:gridCol>
                <a:gridCol w="583924">
                  <a:extLst>
                    <a:ext uri="{9D8B030D-6E8A-4147-A177-3AD203B41FA5}">
                      <a16:colId xmlns:a16="http://schemas.microsoft.com/office/drawing/2014/main" val="1184091386"/>
                    </a:ext>
                  </a:extLst>
                </a:gridCol>
                <a:gridCol w="579153">
                  <a:extLst>
                    <a:ext uri="{9D8B030D-6E8A-4147-A177-3AD203B41FA5}">
                      <a16:colId xmlns:a16="http://schemas.microsoft.com/office/drawing/2014/main" val="2139231602"/>
                    </a:ext>
                  </a:extLst>
                </a:gridCol>
                <a:gridCol w="597316">
                  <a:extLst>
                    <a:ext uri="{9D8B030D-6E8A-4147-A177-3AD203B41FA5}">
                      <a16:colId xmlns:a16="http://schemas.microsoft.com/office/drawing/2014/main" val="3413373166"/>
                    </a:ext>
                  </a:extLst>
                </a:gridCol>
                <a:gridCol w="604157">
                  <a:extLst>
                    <a:ext uri="{9D8B030D-6E8A-4147-A177-3AD203B41FA5}">
                      <a16:colId xmlns:a16="http://schemas.microsoft.com/office/drawing/2014/main" val="1913518683"/>
                    </a:ext>
                  </a:extLst>
                </a:gridCol>
                <a:gridCol w="608047">
                  <a:extLst>
                    <a:ext uri="{9D8B030D-6E8A-4147-A177-3AD203B41FA5}">
                      <a16:colId xmlns:a16="http://schemas.microsoft.com/office/drawing/2014/main" val="3186044143"/>
                    </a:ext>
                  </a:extLst>
                </a:gridCol>
                <a:gridCol w="562098">
                  <a:extLst>
                    <a:ext uri="{9D8B030D-6E8A-4147-A177-3AD203B41FA5}">
                      <a16:colId xmlns:a16="http://schemas.microsoft.com/office/drawing/2014/main" val="139409997"/>
                    </a:ext>
                  </a:extLst>
                </a:gridCol>
                <a:gridCol w="609669">
                  <a:extLst>
                    <a:ext uri="{9D8B030D-6E8A-4147-A177-3AD203B41FA5}">
                      <a16:colId xmlns:a16="http://schemas.microsoft.com/office/drawing/2014/main" val="2108164566"/>
                    </a:ext>
                  </a:extLst>
                </a:gridCol>
                <a:gridCol w="604461">
                  <a:extLst>
                    <a:ext uri="{9D8B030D-6E8A-4147-A177-3AD203B41FA5}">
                      <a16:colId xmlns:a16="http://schemas.microsoft.com/office/drawing/2014/main" val="3496611585"/>
                    </a:ext>
                  </a:extLst>
                </a:gridCol>
                <a:gridCol w="835338">
                  <a:extLst>
                    <a:ext uri="{9D8B030D-6E8A-4147-A177-3AD203B41FA5}">
                      <a16:colId xmlns:a16="http://schemas.microsoft.com/office/drawing/2014/main" val="1482322004"/>
                    </a:ext>
                  </a:extLst>
                </a:gridCol>
              </a:tblGrid>
              <a:tr h="66069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Period</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Auto</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Bank</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Consumer Durables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CPSE</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FMCG</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Pharma</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IT</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Metal</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Oil &amp; Gas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Realty</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Energy</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Commodities</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013886"/>
                  </a:ext>
                </a:extLst>
              </a:tr>
              <a:tr h="38698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6%</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13%</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826171"/>
                  </a:ext>
                </a:extLst>
              </a:tr>
              <a:tr h="439084">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8%</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extLst>
                  <a:ext uri="{0D108BD9-81ED-4DB2-BD59-A6C34878D82A}">
                    <a16:rowId xmlns:a16="http://schemas.microsoft.com/office/drawing/2014/main" val="3715848493"/>
                  </a:ext>
                </a:extLst>
              </a:tr>
              <a:tr h="46140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6M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-3%</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12%</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983413"/>
                  </a:ext>
                </a:extLst>
              </a:tr>
              <a:tr h="46140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1Y</a:t>
                      </a: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16%</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0%</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19%</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7%</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50%</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5%</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-10%</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a:solidFill>
                            <a:srgbClr val="000000"/>
                          </a:solidFill>
                          <a:effectLst/>
                          <a:latin typeface="Calibri" panose="020F0502020204030204" pitchFamily="34" charset="0"/>
                        </a:rPr>
                        <a:t>19%</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20%</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3294774"/>
                  </a:ext>
                </a:extLst>
              </a:tr>
            </a:tbl>
          </a:graphicData>
        </a:graphic>
      </p:graphicFrame>
      <p:sp>
        <p:nvSpPr>
          <p:cNvPr id="301" name="Google Shape;301;p7">
            <a:extLst>
              <a:ext uri="{FF2B5EF4-FFF2-40B4-BE49-F238E27FC236}">
                <a16:creationId xmlns:a16="http://schemas.microsoft.com/office/drawing/2014/main" id="{A91D3CF5-2B1E-DA21-B37A-ACBF655A90BF}"/>
              </a:ext>
            </a:extLst>
          </p:cNvPr>
          <p:cNvSpPr txBox="1">
            <a:spLocks noGrp="1"/>
          </p:cNvSpPr>
          <p:nvPr>
            <p:ph type="title"/>
          </p:nvPr>
        </p:nvSpPr>
        <p:spPr>
          <a:xfrm>
            <a:off x="719998" y="445025"/>
            <a:ext cx="5257220"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 Indices performance – Apr-26</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7761202-B856-E71E-B2E4-1E4C539FD6DB}"/>
              </a:ext>
            </a:extLst>
          </p:cNvPr>
          <p:cNvSpPr txBox="1"/>
          <p:nvPr/>
        </p:nvSpPr>
        <p:spPr>
          <a:xfrm>
            <a:off x="6857030" y="4550246"/>
            <a:ext cx="2155631"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April,2026</a:t>
            </a:r>
          </a:p>
        </p:txBody>
      </p:sp>
      <p:sp>
        <p:nvSpPr>
          <p:cNvPr id="22" name="TextBox 21">
            <a:extLst>
              <a:ext uri="{FF2B5EF4-FFF2-40B4-BE49-F238E27FC236}">
                <a16:creationId xmlns:a16="http://schemas.microsoft.com/office/drawing/2014/main" id="{6E478BBA-5CEA-16E5-93CF-93EE2C135DD4}"/>
              </a:ext>
            </a:extLst>
          </p:cNvPr>
          <p:cNvSpPr txBox="1"/>
          <p:nvPr/>
        </p:nvSpPr>
        <p:spPr>
          <a:xfrm>
            <a:off x="884664" y="4058328"/>
            <a:ext cx="6773436" cy="276999"/>
          </a:xfrm>
          <a:prstGeom prst="rect">
            <a:avLst/>
          </a:prstGeom>
          <a:noFill/>
          <a:ln w="6350">
            <a:solidFill>
              <a:schemeClr val="tx1"/>
            </a:solidFill>
          </a:ln>
        </p:spPr>
        <p:txBody>
          <a:bodyPr wrap="square">
            <a:spAutoFit/>
          </a:bodyPr>
          <a:lstStyle/>
          <a:p>
            <a:r>
              <a:rPr lang="en-US" sz="1200" dirty="0"/>
              <a:t>     IT and Pharma were largely flat over the 1M period, while other sectors posted higher gains </a:t>
            </a:r>
          </a:p>
        </p:txBody>
      </p:sp>
      <p:sp>
        <p:nvSpPr>
          <p:cNvPr id="5" name="TextBox 4">
            <a:extLst>
              <a:ext uri="{FF2B5EF4-FFF2-40B4-BE49-F238E27FC236}">
                <a16:creationId xmlns:a16="http://schemas.microsoft.com/office/drawing/2014/main" id="{40FFCB12-AA47-F5F8-7C2A-79A9D0206E23}"/>
              </a:ext>
            </a:extLst>
          </p:cNvPr>
          <p:cNvSpPr txBox="1"/>
          <p:nvPr/>
        </p:nvSpPr>
        <p:spPr>
          <a:xfrm>
            <a:off x="618660" y="468909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grpSp>
        <p:nvGrpSpPr>
          <p:cNvPr id="2" name="Google Shape;262;p6">
            <a:extLst>
              <a:ext uri="{FF2B5EF4-FFF2-40B4-BE49-F238E27FC236}">
                <a16:creationId xmlns:a16="http://schemas.microsoft.com/office/drawing/2014/main" id="{8B50962C-F7A3-54F7-94A1-6A090A312603}"/>
              </a:ext>
            </a:extLst>
          </p:cNvPr>
          <p:cNvGrpSpPr/>
          <p:nvPr/>
        </p:nvGrpSpPr>
        <p:grpSpPr>
          <a:xfrm>
            <a:off x="-25" y="4872600"/>
            <a:ext cx="9144000" cy="270900"/>
            <a:chOff x="-25" y="4872600"/>
            <a:chExt cx="9144000" cy="270900"/>
          </a:xfrm>
        </p:grpSpPr>
        <p:sp>
          <p:nvSpPr>
            <p:cNvPr id="8" name="Google Shape;263;p6">
              <a:extLst>
                <a:ext uri="{FF2B5EF4-FFF2-40B4-BE49-F238E27FC236}">
                  <a16:creationId xmlns:a16="http://schemas.microsoft.com/office/drawing/2014/main" id="{9AC521B3-FD61-ADCF-69AF-6A81FBA9AC55}"/>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9" name="Google Shape;264;p6">
              <a:extLst>
                <a:ext uri="{FF2B5EF4-FFF2-40B4-BE49-F238E27FC236}">
                  <a16:creationId xmlns:a16="http://schemas.microsoft.com/office/drawing/2014/main" id="{CD2D24D4-66C6-CA1C-77E6-1F3FC0C45A97}"/>
                </a:ext>
              </a:extLst>
            </p:cNvPr>
            <p:cNvGrpSpPr/>
            <p:nvPr/>
          </p:nvGrpSpPr>
          <p:grpSpPr>
            <a:xfrm>
              <a:off x="3101100" y="4872600"/>
              <a:ext cx="2941800" cy="270900"/>
              <a:chOff x="3084200" y="4934525"/>
              <a:chExt cx="2941800" cy="270900"/>
            </a:xfrm>
          </p:grpSpPr>
          <p:sp>
            <p:nvSpPr>
              <p:cNvPr id="10" name="Google Shape;265;p6">
                <a:extLst>
                  <a:ext uri="{FF2B5EF4-FFF2-40B4-BE49-F238E27FC236}">
                    <a16:creationId xmlns:a16="http://schemas.microsoft.com/office/drawing/2014/main" id="{E5ACA95E-81E8-4379-68BF-8B530C4B47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37AC26C0-D90A-01E6-4FD8-EBBB5D09B9A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9F125C38-3309-2356-25E8-FFC61D0CC065}"/>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311325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87011889"/>
              </p:ext>
            </p:extLst>
          </p:nvPr>
        </p:nvGraphicFramePr>
        <p:xfrm>
          <a:off x="550494" y="992227"/>
          <a:ext cx="8076811" cy="3634072"/>
        </p:xfrm>
        <a:graphic>
          <a:graphicData uri="http://schemas.openxmlformats.org/drawingml/2006/table">
            <a:tbl>
              <a:tblPr firstRow="1" bandRow="1">
                <a:tableStyleId>{7E9639D4-E3E2-4D34-9284-5A2195B3D0D7}</a:tableStyleId>
              </a:tblPr>
              <a:tblGrid>
                <a:gridCol w="737093">
                  <a:extLst>
                    <a:ext uri="{9D8B030D-6E8A-4147-A177-3AD203B41FA5}">
                      <a16:colId xmlns:a16="http://schemas.microsoft.com/office/drawing/2014/main" val="20000"/>
                    </a:ext>
                  </a:extLst>
                </a:gridCol>
                <a:gridCol w="4426636">
                  <a:extLst>
                    <a:ext uri="{9D8B030D-6E8A-4147-A177-3AD203B41FA5}">
                      <a16:colId xmlns:a16="http://schemas.microsoft.com/office/drawing/2014/main" val="20001"/>
                    </a:ext>
                  </a:extLst>
                </a:gridCol>
                <a:gridCol w="1349828">
                  <a:extLst>
                    <a:ext uri="{9D8B030D-6E8A-4147-A177-3AD203B41FA5}">
                      <a16:colId xmlns:a16="http://schemas.microsoft.com/office/drawing/2014/main" val="20002"/>
                    </a:ext>
                  </a:extLst>
                </a:gridCol>
                <a:gridCol w="1563254">
                  <a:extLst>
                    <a:ext uri="{9D8B030D-6E8A-4147-A177-3AD203B41FA5}">
                      <a16:colId xmlns:a16="http://schemas.microsoft.com/office/drawing/2014/main" val="20003"/>
                    </a:ext>
                  </a:extLst>
                </a:gridCol>
              </a:tblGrid>
              <a:tr h="248103">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819493">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Consumer</a:t>
                      </a:r>
                      <a:r>
                        <a:rPr lang="en-IN" sz="1050" b="1" baseline="0" dirty="0">
                          <a:latin typeface="Calibri" panose="020F0502020204030204" pitchFamily="34" charset="0"/>
                          <a:ea typeface="Calibri" panose="020F0502020204030204" pitchFamily="34" charset="0"/>
                          <a:cs typeface="Calibri" panose="020F0502020204030204" pitchFamily="34" charset="0"/>
                        </a:rPr>
                        <a:t> </a:t>
                      </a:r>
                      <a:r>
                        <a:rPr lang="en-IN" sz="1050" b="1" dirty="0">
                          <a:latin typeface="Calibri" panose="020F0502020204030204" pitchFamily="34" charset="0"/>
                          <a:ea typeface="Calibri" panose="020F0502020204030204" pitchFamily="34" charset="0"/>
                          <a:cs typeface="Calibri" panose="020F0502020204030204" pitchFamily="34" charset="0"/>
                        </a:rPr>
                        <a:t>Durables</a:t>
                      </a:r>
                    </a:p>
                  </a:txBody>
                  <a:tcPr marL="68580" marR="68580" marT="34290" marB="34290" anchor="ctr">
                    <a:noFill/>
                  </a:tcPr>
                </a:tc>
                <a:tc>
                  <a:txBody>
                    <a:bodyPr/>
                    <a:lstStyle/>
                    <a:p>
                      <a:pPr algn="just"/>
                      <a:r>
                        <a:rPr lang="en-US" sz="1000" dirty="0"/>
                        <a:t>RAC demand remains strong on heatwave led sales, though supply constraints persist, especially in premium models. Broader consumer durables, including electricals and cables and wires, show mixed trends, with cables and wires seeing near term demand softness despite cost led price support</a:t>
                      </a:r>
                      <a:endParaRPr lang="en-US" sz="1000" dirty="0">
                        <a:highlight>
                          <a:srgbClr val="FFFF00"/>
                        </a:highlight>
                        <a:latin typeface="+mj-lt"/>
                      </a:endParaRPr>
                    </a:p>
                  </a:txBody>
                  <a:tcPr marL="68580" marR="68580" marT="34290" marB="34290" anchor="ctr">
                    <a:noFill/>
                  </a:tcPr>
                </a:tc>
                <a:tc>
                  <a:txBody>
                    <a:bodyPr/>
                    <a:lstStyle/>
                    <a:p>
                      <a:pPr algn="ctr"/>
                      <a:r>
                        <a:rPr lang="en-US" sz="1000" dirty="0">
                          <a:latin typeface="+mj-lt"/>
                        </a:rPr>
                        <a:t>Trailing P/BV at  5 yr average</a:t>
                      </a:r>
                      <a:endParaRPr lang="en-IN"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pPr algn="ctr"/>
                      <a:r>
                        <a:rPr lang="en-IN" sz="1000" b="0" baseline="0" dirty="0">
                          <a:solidFill>
                            <a:schemeClr val="tx1"/>
                          </a:solidFill>
                          <a:latin typeface="+mj-lt"/>
                          <a:ea typeface="Calibri" panose="020F0502020204030204" pitchFamily="34" charset="0"/>
                          <a:cs typeface="Calibri" panose="020F0502020204030204" pitchFamily="34" charset="0"/>
                        </a:rPr>
                        <a:t>Underweight</a:t>
                      </a:r>
                      <a:endParaRPr lang="en-IN"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837863">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Oil &amp;</a:t>
                      </a:r>
                      <a:r>
                        <a:rPr lang="en-IN" sz="1050" b="1" baseline="0" dirty="0">
                          <a:latin typeface="Calibri" panose="020F0502020204030204" pitchFamily="34" charset="0"/>
                          <a:ea typeface="Calibri" panose="020F0502020204030204" pitchFamily="34" charset="0"/>
                          <a:cs typeface="Calibri" panose="020F0502020204030204" pitchFamily="34" charset="0"/>
                        </a:rPr>
                        <a:t> Gas </a:t>
                      </a:r>
                      <a:endParaRPr lang="en-IN" sz="105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r>
                        <a:rPr lang="en-US" sz="1000" dirty="0"/>
                        <a:t>Crude stayed &gt;$100/</a:t>
                      </a:r>
                      <a:r>
                        <a:rPr lang="en-US" sz="1000" dirty="0" err="1"/>
                        <a:t>bbl</a:t>
                      </a:r>
                      <a:r>
                        <a:rPr lang="en-US" sz="1000" dirty="0"/>
                        <a:t> in Apr-26 amid Strait of Hormuz disruptions and West Asia tensions, keeping markets tight; India’s import bill remained high despite lower volumes, with limited fuel price pass through and fiscal measures cushioning impact</a:t>
                      </a:r>
                      <a:endParaRPr lang="en-US" sz="1000" dirty="0">
                        <a:latin typeface="+mj-lt"/>
                      </a:endParaRPr>
                    </a:p>
                  </a:txBody>
                  <a:tcPr marL="68580" marR="68580" marT="34290" marB="34290" anchor="ctr">
                    <a:solidFill>
                      <a:schemeClr val="accent2"/>
                    </a:solidFill>
                  </a:tcPr>
                </a:tc>
                <a:tc>
                  <a:txBody>
                    <a:bodyPr/>
                    <a:lstStyle/>
                    <a:p>
                      <a:pPr marR="0" algn="ctr" rtl="0">
                        <a:lnSpc>
                          <a:spcPct val="100000"/>
                        </a:lnSpc>
                        <a:spcBef>
                          <a:spcPts val="0"/>
                        </a:spcBef>
                        <a:spcAft>
                          <a:spcPts val="0"/>
                        </a:spcAft>
                        <a:buClr>
                          <a:srgbClr val="000000"/>
                        </a:buClr>
                        <a:buFont typeface="Arial"/>
                      </a:pPr>
                      <a:r>
                        <a:rPr lang="en-US" sz="1000" dirty="0">
                          <a:latin typeface="+mj-lt"/>
                        </a:rPr>
                        <a:t>Trailing P/BV  at 5-yr average </a:t>
                      </a:r>
                      <a:endParaRPr lang="en-IN" sz="1000" b="0" i="0" u="none" strike="noStrike" cap="none" dirty="0">
                        <a:solidFill>
                          <a:schemeClr val="tx1"/>
                        </a:solidFill>
                        <a:latin typeface="+mj-lt"/>
                        <a:ea typeface="Calibri" panose="020F0502020204030204" pitchFamily="34" charset="0"/>
                        <a:cs typeface="Calibri" panose="020F0502020204030204" pitchFamily="34" charset="0"/>
                        <a:sym typeface="Arial"/>
                      </a:endParaRPr>
                    </a:p>
                  </a:txBody>
                  <a:tcPr marL="68580" marR="68580" marT="34290" marB="34290" anchor="ctr">
                    <a:solidFill>
                      <a:schemeClr val="bg1"/>
                    </a:solidFill>
                  </a:tcPr>
                </a:tc>
                <a:tc>
                  <a:txBody>
                    <a:bodyPr/>
                    <a:lstStyle/>
                    <a:p>
                      <a:pPr algn="ctr"/>
                      <a:r>
                        <a:rPr lang="en-IN"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10002"/>
                  </a:ext>
                </a:extLst>
              </a:tr>
              <a:tr h="894676">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Auto</a:t>
                      </a:r>
                    </a:p>
                  </a:txBody>
                  <a:tcPr marL="68580" marR="68580" marT="34290" marB="34290" anchor="ctr"/>
                </a:tc>
                <a:tc>
                  <a:txBody>
                    <a:bodyPr/>
                    <a:lstStyle/>
                    <a:p>
                      <a:pPr algn="just"/>
                      <a:r>
                        <a:rPr lang="en-US" sz="1000" dirty="0"/>
                        <a:t>Apr-26 saw broad YoY growth in 2Ws, PVs and 3Ws, though MoM softened on seasonality and high March base; PVs led by SUVs, 2Ws by rural recovery and EV demand, 3Ws resilient, while CVs and tractors remained weak, with Q1FY27 risks from supply disruptions, high costs and West Asia tensions.</a:t>
                      </a:r>
                      <a:endParaRPr lang="en-IN" sz="1000" b="0" i="0" u="none" strike="noStrike" cap="none" dirty="0">
                        <a:solidFill>
                          <a:schemeClr val="tx1"/>
                        </a:solidFill>
                        <a:highlight>
                          <a:srgbClr val="FFFF00"/>
                        </a:highlight>
                        <a:latin typeface="+mj-lt"/>
                        <a:ea typeface="+mn-ea"/>
                        <a:cs typeface="+mn-cs"/>
                        <a:sym typeface="Arial"/>
                      </a:endParaRPr>
                    </a:p>
                  </a:txBody>
                  <a:tcPr marL="68580" marR="68580" marT="34290" marB="34290" anchor="ctr"/>
                </a:tc>
                <a:tc>
                  <a:txBody>
                    <a:bodyPr/>
                    <a:lstStyle/>
                    <a:p>
                      <a:pPr algn="ctr"/>
                      <a:r>
                        <a:rPr lang="en-US" sz="1000" dirty="0">
                          <a:latin typeface="+mj-lt"/>
                        </a:rPr>
                        <a:t>Trailing P/BV trading above 5-yr average</a:t>
                      </a:r>
                      <a:endParaRPr lang="en-IN"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algn="ctr"/>
                      <a:r>
                        <a:rPr lang="en-IN" sz="1000" b="0" dirty="0">
                          <a:solidFill>
                            <a:schemeClr val="tx1"/>
                          </a:solidFill>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r h="764425">
                <a:tc>
                  <a:txBody>
                    <a:bodyPr/>
                    <a:lstStyle/>
                    <a:p>
                      <a:pPr algn="just"/>
                      <a:r>
                        <a:rPr lang="en-US" sz="1050" b="1" dirty="0">
                          <a:latin typeface="Calibri" panose="020F0502020204030204" pitchFamily="34" charset="0"/>
                          <a:ea typeface="Calibri" panose="020F0502020204030204" pitchFamily="34" charset="0"/>
                          <a:cs typeface="Calibri" panose="020F0502020204030204" pitchFamily="34" charset="0"/>
                        </a:rPr>
                        <a:t>FMCG</a:t>
                      </a:r>
                    </a:p>
                  </a:txBody>
                  <a:tcPr marL="68580" marR="68580" marT="34290" marB="34290" anchor="ctr">
                    <a:no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t>West Asia tensions are likely to impact FMCG through higher crude-linked input costs (petroleum derivatives), along with pressures on packaging, freight and palm oil, making crude volatility a key margin risk for Q1 FY27 (with limited Q4 impact due to inventory buffers). Unseasonal rains across North and East India in March’26 have also dampened demand for summer categories</a:t>
                      </a:r>
                      <a:endParaRPr lang="en-US" sz="1000" strike="sngStrike" dirty="0">
                        <a:latin typeface="+mj-lt"/>
                      </a:endParaRPr>
                    </a:p>
                  </a:txBody>
                  <a:tcPr marL="68580" marR="68580" marT="34290" marB="34290" anchor="ctr">
                    <a:noFill/>
                  </a:tcPr>
                </a:tc>
                <a:tc>
                  <a:txBody>
                    <a:bodyPr/>
                    <a:lstStyle/>
                    <a:p>
                      <a:pPr algn="ctr"/>
                      <a:r>
                        <a:rPr lang="en-US" sz="1000" dirty="0">
                          <a:latin typeface="+mj-lt"/>
                        </a:rPr>
                        <a:t>Trailing P/BV just   above -1 SD</a:t>
                      </a:r>
                      <a:endParaRPr lang="en-US"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3347416445"/>
                  </a:ext>
                </a:extLst>
              </a:tr>
            </a:tbl>
          </a:graphicData>
        </a:graphic>
      </p:graphicFrame>
      <p:sp>
        <p:nvSpPr>
          <p:cNvPr id="2" name="TextBox 1">
            <a:extLst>
              <a:ext uri="{FF2B5EF4-FFF2-40B4-BE49-F238E27FC236}">
                <a16:creationId xmlns:a16="http://schemas.microsoft.com/office/drawing/2014/main" id="{39C53B6D-06C5-2B43-F2ED-586117131F8A}"/>
              </a:ext>
            </a:extLst>
          </p:cNvPr>
          <p:cNvSpPr txBox="1"/>
          <p:nvPr/>
        </p:nvSpPr>
        <p:spPr>
          <a:xfrm>
            <a:off x="720000" y="4688859"/>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367160A0-FDEE-F288-39EE-F9E9F437A299}"/>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379FAD92-B74F-A5C6-2B4E-FD73CAA50546}"/>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606104-F350-29B2-92BC-871B31BE8E8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B61EB2E-1B78-8885-0C05-00A01FA6820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FA5A640D-8F09-8CA6-3815-CB1F0433EA8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B98F33B3-35B4-9BD7-BAAB-4956B59C5BFA}"/>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248219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2880487521"/>
              </p:ext>
            </p:extLst>
          </p:nvPr>
        </p:nvGraphicFramePr>
        <p:xfrm>
          <a:off x="770006" y="1050467"/>
          <a:ext cx="7940479" cy="3590113"/>
        </p:xfrm>
        <a:graphic>
          <a:graphicData uri="http://schemas.openxmlformats.org/drawingml/2006/table">
            <a:tbl>
              <a:tblPr firstRow="1" bandRow="1">
                <a:tableStyleId>{7E9639D4-E3E2-4D34-9284-5A2195B3D0D7}</a:tableStyleId>
              </a:tblPr>
              <a:tblGrid>
                <a:gridCol w="759437">
                  <a:extLst>
                    <a:ext uri="{9D8B030D-6E8A-4147-A177-3AD203B41FA5}">
                      <a16:colId xmlns:a16="http://schemas.microsoft.com/office/drawing/2014/main" val="20000"/>
                    </a:ext>
                  </a:extLst>
                </a:gridCol>
                <a:gridCol w="4071257">
                  <a:extLst>
                    <a:ext uri="{9D8B030D-6E8A-4147-A177-3AD203B41FA5}">
                      <a16:colId xmlns:a16="http://schemas.microsoft.com/office/drawing/2014/main" val="20001"/>
                    </a:ext>
                  </a:extLst>
                </a:gridCol>
                <a:gridCol w="1301085">
                  <a:extLst>
                    <a:ext uri="{9D8B030D-6E8A-4147-A177-3AD203B41FA5}">
                      <a16:colId xmlns:a16="http://schemas.microsoft.com/office/drawing/2014/main" val="20002"/>
                    </a:ext>
                  </a:extLst>
                </a:gridCol>
                <a:gridCol w="1808700">
                  <a:extLst>
                    <a:ext uri="{9D8B030D-6E8A-4147-A177-3AD203B41FA5}">
                      <a16:colId xmlns:a16="http://schemas.microsoft.com/office/drawing/2014/main" val="20003"/>
                    </a:ext>
                  </a:extLst>
                </a:gridCol>
              </a:tblGrid>
              <a:tr h="243680">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92930">
                <a:tc>
                  <a:txBody>
                    <a:bodyPr/>
                    <a:lstStyle/>
                    <a:p>
                      <a:pPr algn="just"/>
                      <a:r>
                        <a:rPr lang="en-US" sz="1000" b="1" dirty="0">
                          <a:latin typeface="+mj-lt"/>
                          <a:ea typeface="Calibri" panose="020F0502020204030204" pitchFamily="34" charset="0"/>
                          <a:cs typeface="Calibri" panose="020F0502020204030204" pitchFamily="34" charset="0"/>
                        </a:rPr>
                        <a:t>Banks</a:t>
                      </a:r>
                    </a:p>
                  </a:txBody>
                  <a:tcPr marL="68580" marR="68580" marT="34290" marB="34290" anchor="ctr"/>
                </a:tc>
                <a:tc>
                  <a:txBody>
                    <a:bodyPr/>
                    <a:lstStyle/>
                    <a:p>
                      <a:pPr algn="just"/>
                      <a:r>
                        <a:rPr lang="en-US" sz="1000" dirty="0"/>
                        <a:t>India’s banking sector remains strong, with credit growth at 14.9% YoY (Apr 15, 2026), seasonal sequential dip, supported by retail and corporate demand and 12.1% deposit growth; Q4FY26 trends healthy, with ECL norms from Apr 2027 manageable via glide path, while near term risks persist but outlook stays positive.</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near –1 SD</a:t>
                      </a:r>
                      <a:endParaRPr lang="en-US" sz="1000" b="1" dirty="0">
                        <a:solidFill>
                          <a:srgbClr val="C00000"/>
                        </a:solidFill>
                        <a:latin typeface="+mj-lt"/>
                        <a:ea typeface="Calibri" panose="020F0502020204030204" pitchFamily="34" charset="0"/>
                        <a:cs typeface="Calibri" panose="020F0502020204030204" pitchFamily="34" charset="0"/>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1110343">
                <a:tc>
                  <a:txBody>
                    <a:bodyPr/>
                    <a:lstStyle/>
                    <a:p>
                      <a:pPr algn="just"/>
                      <a:r>
                        <a:rPr lang="en-US" sz="1000" b="1" dirty="0">
                          <a:latin typeface="+mj-lt"/>
                          <a:ea typeface="Calibri" panose="020F0502020204030204" pitchFamily="34" charset="0"/>
                          <a:cs typeface="Calibri" panose="020F0502020204030204" pitchFamily="34" charset="0"/>
                        </a:rPr>
                        <a:t>Metals</a:t>
                      </a:r>
                    </a:p>
                  </a:txBody>
                  <a:tcPr marL="68580" marR="68580" marT="34290" marB="34290" anchor="ctr"/>
                </a:tc>
                <a:tc>
                  <a:txBody>
                    <a:bodyPr/>
                    <a:lstStyle/>
                    <a:p>
                      <a:r>
                        <a:rPr lang="en-US" sz="1000" dirty="0"/>
                        <a:t>Domestic steel prices remain firm, driven by supply disruptions, high freight and rising raw material costs, with further hikes indicated; iron ore and non coking coal firmed while coking coal softened, exports rose and imports declined, though the rally is cost driven and may weigh on demand, while </a:t>
                      </a:r>
                      <a:r>
                        <a:rPr lang="en-US" sz="1000" dirty="0" err="1"/>
                        <a:t>aluminium</a:t>
                      </a:r>
                      <a:r>
                        <a:rPr lang="en-US" sz="1000" dirty="0"/>
                        <a:t> outperforms and other non ferrous see mild corrections.</a:t>
                      </a:r>
                    </a:p>
                  </a:txBody>
                  <a:tcPr marL="68580" marR="68580" marT="34290" marB="34290" anchor="ctr">
                    <a:solidFill>
                      <a:schemeClr val="bg1"/>
                    </a:solidFill>
                  </a:tcPr>
                </a:tc>
                <a:tc>
                  <a:txBody>
                    <a:bodyPr/>
                    <a:lstStyle/>
                    <a:p>
                      <a:pPr algn="ctr"/>
                      <a:r>
                        <a:rPr lang="en-US" sz="1000" dirty="0">
                          <a:latin typeface="+mj-lt"/>
                        </a:rPr>
                        <a:t>Trailing P/BV  &gt;+2×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2"/>
                  </a:ext>
                </a:extLst>
              </a:tr>
              <a:tr h="882272">
                <a:tc>
                  <a:txBody>
                    <a:bodyPr/>
                    <a:lstStyle/>
                    <a:p>
                      <a:pPr algn="just"/>
                      <a:endParaRPr lang="en-US" sz="1000" b="1" dirty="0">
                        <a:latin typeface="+mj-lt"/>
                        <a:ea typeface="Calibri" panose="020F0502020204030204" pitchFamily="34" charset="0"/>
                        <a:cs typeface="Calibri" panose="020F0502020204030204" pitchFamily="34" charset="0"/>
                      </a:endParaRPr>
                    </a:p>
                    <a:p>
                      <a:pPr algn="just"/>
                      <a:r>
                        <a:rPr lang="en-US" sz="1000" b="1" dirty="0">
                          <a:latin typeface="+mj-lt"/>
                          <a:ea typeface="Calibri" panose="020F0502020204030204" pitchFamily="34" charset="0"/>
                          <a:cs typeface="Calibri" panose="020F0502020204030204" pitchFamily="34" charset="0"/>
                        </a:rPr>
                        <a:t>CPSE</a:t>
                      </a:r>
                    </a:p>
                  </a:txBody>
                  <a:tcPr marL="68580" marR="68580" marT="34290" marB="34290" anchor="ctr">
                    <a:solidFill>
                      <a:schemeClr val="bg1"/>
                    </a:solidFill>
                  </a:tcPr>
                </a:tc>
                <a:tc>
                  <a:txBody>
                    <a:bodyPr/>
                    <a:lstStyle/>
                    <a:p>
                      <a:r>
                        <a:rPr lang="en-US" sz="1000" dirty="0"/>
                        <a:t>India’s </a:t>
                      </a:r>
                      <a:r>
                        <a:rPr lang="en-US" sz="1000" dirty="0" err="1"/>
                        <a:t>defence</a:t>
                      </a:r>
                      <a:r>
                        <a:rPr lang="en-US" sz="1000" dirty="0"/>
                        <a:t> exports surged 63% YoY to ₹38,424 </a:t>
                      </a:r>
                      <a:r>
                        <a:rPr lang="en-US" sz="1000" dirty="0" err="1"/>
                        <a:t>cr</a:t>
                      </a:r>
                      <a:r>
                        <a:rPr lang="en-US" sz="1000" dirty="0"/>
                        <a:t>, reflecting a shift toward a self reliant, export oriented ecosystem, supported by policy push, higher spending and rising private participation alongside DPSUs, improving competitiveness and innovation. Power demand and generation remain strong with record peak demand ~256 GW (Apr-26), driven by heatwaves and rising output, alongside increasing renewable share and continued energy transition.</a:t>
                      </a:r>
                    </a:p>
                  </a:txBody>
                  <a:tcPr marL="68580" marR="68580" marT="34290" marB="34290" anchor="ctr">
                    <a:solidFill>
                      <a:schemeClr val="bg1"/>
                    </a:solidFill>
                  </a:tcPr>
                </a:tc>
                <a:tc>
                  <a:txBody>
                    <a:bodyPr/>
                    <a:lstStyle/>
                    <a:p>
                      <a:pPr algn="ctr"/>
                      <a:r>
                        <a:rPr lang="en-US" sz="1000" dirty="0">
                          <a:latin typeface="+mj-lt"/>
                        </a:rPr>
                        <a:t>Trailing P/BV ~  near +1×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96E35FC3-F6F3-A5CA-A0CF-4909705FCC3C}"/>
              </a:ext>
            </a:extLst>
          </p:cNvPr>
          <p:cNvSpPr txBox="1"/>
          <p:nvPr/>
        </p:nvSpPr>
        <p:spPr>
          <a:xfrm>
            <a:off x="720000" y="4628517"/>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0A5B8D48-E131-B36D-C6A1-1D6706BAAE44}"/>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921A29B-B5C6-2777-F6B9-A8DF5D01602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B1AAFAC-F8A0-C057-2F06-36C5E1AE3CA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DA0DA70-F511-0EB9-C3E6-89483BAB4CDC}"/>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D68E7CDB-4B03-6B81-9182-2EC1117648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C1062F57-F680-BDCF-E43C-721622495479}"/>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700929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767219227"/>
              </p:ext>
            </p:extLst>
          </p:nvPr>
        </p:nvGraphicFramePr>
        <p:xfrm>
          <a:off x="720000" y="1097558"/>
          <a:ext cx="8135998" cy="3413543"/>
        </p:xfrm>
        <a:graphic>
          <a:graphicData uri="http://schemas.openxmlformats.org/drawingml/2006/table">
            <a:tbl>
              <a:tblPr firstRow="1" bandRow="1">
                <a:tableStyleId>{7E9639D4-E3E2-4D34-9284-5A2195B3D0D7}</a:tableStyleId>
              </a:tblPr>
              <a:tblGrid>
                <a:gridCol w="81488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949012">
                  <a:extLst>
                    <a:ext uri="{9D8B030D-6E8A-4147-A177-3AD203B41FA5}">
                      <a16:colId xmlns:a16="http://schemas.microsoft.com/office/drawing/2014/main" val="20003"/>
                    </a:ext>
                  </a:extLst>
                </a:gridCol>
              </a:tblGrid>
              <a:tr h="263569">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ValuationFY25</a:t>
                      </a:r>
                    </a:p>
                  </a:txBody>
                  <a:tcPr marL="68580" marR="68580" marT="34290" marB="34290" anchor="ctr">
                    <a:solidFill>
                      <a:schemeClr val="bg2"/>
                    </a:solidFill>
                  </a:tcPr>
                </a:tc>
                <a:tc>
                  <a:txBody>
                    <a:bodyPr/>
                    <a:lstStyle/>
                    <a:p>
                      <a:pPr algn="ctr"/>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IT</a:t>
                      </a:r>
                    </a:p>
                  </a:txBody>
                  <a:tcPr anchor="ctr"/>
                </a:tc>
                <a:tc>
                  <a:txBody>
                    <a:bodyPr/>
                    <a:lstStyle/>
                    <a:p>
                      <a:r>
                        <a:rPr lang="en-US" sz="1000" dirty="0"/>
                        <a:t>Indian IT sees steady AI-led progress, though near term demand remains cautious with delayed discretionary spends and slower deal conversions; large caps focus on efficiency amid muted growth visibility, while Tier 2 firms benefit from operating leverage and pricing, with INR depreciation offering partial margin support</a:t>
                      </a:r>
                    </a:p>
                  </a:txBody>
                  <a:tcPr anchor="ctr"/>
                </a:tc>
                <a:tc>
                  <a:txBody>
                    <a:bodyPr/>
                    <a:lstStyle/>
                    <a:p>
                      <a:pPr algn="ctr"/>
                      <a:r>
                        <a:rPr lang="en-US" sz="1000" dirty="0">
                          <a:latin typeface="+mj-lt"/>
                        </a:rPr>
                        <a:t>Trailing P/BV at -2 SD</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bg1"/>
                    </a:solidFill>
                  </a:tcP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Stock Specific</a:t>
                      </a:r>
                    </a:p>
                  </a:txBody>
                  <a:tcPr anchor="ctr">
                    <a:solidFill>
                      <a:schemeClr val="accent2"/>
                    </a:solidFill>
                  </a:tcPr>
                </a:tc>
                <a:extLst>
                  <a:ext uri="{0D108BD9-81ED-4DB2-BD59-A6C34878D82A}">
                    <a16:rowId xmlns:a16="http://schemas.microsoft.com/office/drawing/2014/main" val="10001"/>
                  </a:ext>
                </a:extLst>
              </a:tr>
              <a:tr h="952263">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Pharma</a:t>
                      </a:r>
                    </a:p>
                  </a:txBody>
                  <a:tcPr anchor="ctr"/>
                </a:tc>
                <a:tc>
                  <a:txBody>
                    <a:bodyPr/>
                    <a:lstStyle/>
                    <a:p>
                      <a:pPr algn="just"/>
                      <a:r>
                        <a:rPr lang="en-US" sz="1000" dirty="0"/>
                        <a:t>Pharma growth remains supported by stable domestic portfolios, price hikes and launches; US business may see near term drag from high Revlimid base, with currency aiding margins partly offset by higher freight and API costs. Pipeline strength, including semaglutide, and strategic expansion support outlook, while diagnostics sees strong Q4 growth and margins, with reagent cost inflation a key risk</a:t>
                      </a:r>
                      <a:endParaRPr lang="en-US" sz="1000" strike="sngStrike" dirty="0">
                        <a:highlight>
                          <a:srgbClr val="00FFFF"/>
                        </a:highlight>
                        <a:latin typeface="+mj-lt"/>
                      </a:endParaRPr>
                    </a:p>
                  </a:txBody>
                  <a:tcPr anchor="ctr"/>
                </a:tc>
                <a:tc>
                  <a:txBody>
                    <a:bodyPr/>
                    <a:lstStyle/>
                    <a:p>
                      <a:pPr algn="ctr"/>
                      <a:r>
                        <a:rPr lang="en-US" sz="1000" dirty="0">
                          <a:latin typeface="+mj-lt"/>
                        </a:rPr>
                        <a:t>Trailing P/BV near +1 SD</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10002"/>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Chemicals</a:t>
                      </a:r>
                    </a:p>
                  </a:txBody>
                  <a:tcPr anchor="ctr"/>
                </a:tc>
                <a:tc>
                  <a:txBody>
                    <a:bodyPr/>
                    <a:lstStyle/>
                    <a:p>
                      <a:pPr lvl="0" algn="just"/>
                      <a:r>
                        <a:rPr lang="en-US" sz="1000" dirty="0"/>
                        <a:t>Iran war and El Niño risks are driving sharp input cost inflation, with fertilizer prices surging, while supply disruptions offer short term support; however, weak demand, destocking and rising prices may weigh on consumption, with mixed chemical trends as agrochemicals rise and base chemicals correct amid global supply tightness.</a:t>
                      </a:r>
                      <a:endParaRPr lang="en-US" sz="1000" b="0" i="0" u="none" strike="noStrike" cap="none" dirty="0">
                        <a:solidFill>
                          <a:schemeClr val="tx1"/>
                        </a:solidFill>
                        <a:effectLst/>
                        <a:latin typeface="+mj-lt"/>
                        <a:ea typeface="+mn-ea"/>
                        <a:cs typeface="+mn-cs"/>
                        <a:sym typeface="Arial"/>
                      </a:endParaRPr>
                    </a:p>
                  </a:txBody>
                  <a:tcPr anchor="ct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Trailing P/BV fairly valued</a:t>
                      </a:r>
                    </a:p>
                  </a:txBody>
                  <a:tcPr anchor="ctr">
                    <a:solidFill>
                      <a:schemeClr val="accent2"/>
                    </a:solidFill>
                  </a:tcPr>
                </a:tc>
                <a:tc>
                  <a:txBody>
                    <a:bodyPr/>
                    <a:lstStyle/>
                    <a:p>
                      <a:pPr algn="ctr"/>
                      <a:r>
                        <a:rPr lang="en-US" sz="1000" b="0" baseline="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658AECD7-5B33-92C3-16C1-1331BC9AFC75}"/>
              </a:ext>
            </a:extLst>
          </p:cNvPr>
          <p:cNvSpPr txBox="1"/>
          <p:nvPr/>
        </p:nvSpPr>
        <p:spPr>
          <a:xfrm>
            <a:off x="817758" y="4641031"/>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8B58B6AD-48AE-F694-D4B3-FD71722A2758}"/>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FB472E2-4F1F-82B1-A7AE-E42887406DF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7E92677-0F6B-53D7-F269-7E763379BE93}"/>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7BFA5D9D-4D1C-6AC2-D718-FDC936FF59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3DF62E22-3CBD-7B2D-6171-36453BFF56B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428A1629-1457-9103-A63C-1A7FADEF5CE0}"/>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67294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dirty="0">
                <a:latin typeface="Calibri" panose="020F0502020204030204" pitchFamily="34" charset="0"/>
                <a:ea typeface="Calibri" panose="020F0502020204030204" pitchFamily="34" charset="0"/>
                <a:cs typeface="Calibri" panose="020F0502020204030204" pitchFamily="34" charset="0"/>
              </a:rPr>
              <a:t>Global Update</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832;p36">
            <a:extLst>
              <a:ext uri="{FF2B5EF4-FFF2-40B4-BE49-F238E27FC236}">
                <a16:creationId xmlns:a16="http://schemas.microsoft.com/office/drawing/2014/main" id="{C6FC1D95-C845-4365-831D-DAEB2F513E48}"/>
              </a:ext>
            </a:extLst>
          </p:cNvPr>
          <p:cNvSpPr/>
          <p:nvPr/>
        </p:nvSpPr>
        <p:spPr>
          <a:xfrm>
            <a:off x="970666" y="1969281"/>
            <a:ext cx="871576" cy="995792"/>
          </a:xfrm>
          <a:custGeom>
            <a:avLst/>
            <a:gdLst/>
            <a:ahLst/>
            <a:cxnLst/>
            <a:rect l="l" t="t" r="r" b="b"/>
            <a:pathLst>
              <a:path w="10740" h="12240" extrusionOk="0">
                <a:moveTo>
                  <a:pt x="5441" y="714"/>
                </a:moveTo>
                <a:cubicBezTo>
                  <a:pt x="5310" y="714"/>
                  <a:pt x="5049" y="1084"/>
                  <a:pt x="4882" y="1786"/>
                </a:cubicBezTo>
                <a:lnTo>
                  <a:pt x="6013" y="1786"/>
                </a:lnTo>
                <a:cubicBezTo>
                  <a:pt x="5834" y="1084"/>
                  <a:pt x="5584" y="714"/>
                  <a:pt x="5441" y="714"/>
                </a:cubicBezTo>
                <a:close/>
                <a:moveTo>
                  <a:pt x="5441" y="0"/>
                </a:moveTo>
                <a:cubicBezTo>
                  <a:pt x="4179" y="0"/>
                  <a:pt x="3096" y="750"/>
                  <a:pt x="2560" y="1798"/>
                </a:cubicBezTo>
                <a:lnTo>
                  <a:pt x="4156" y="1798"/>
                </a:lnTo>
                <a:cubicBezTo>
                  <a:pt x="4358" y="774"/>
                  <a:pt x="4787" y="0"/>
                  <a:pt x="5441" y="0"/>
                </a:cubicBezTo>
                <a:close/>
                <a:moveTo>
                  <a:pt x="5441" y="0"/>
                </a:moveTo>
                <a:cubicBezTo>
                  <a:pt x="6096" y="0"/>
                  <a:pt x="6537" y="774"/>
                  <a:pt x="6739" y="1798"/>
                </a:cubicBezTo>
                <a:lnTo>
                  <a:pt x="8335" y="1798"/>
                </a:lnTo>
                <a:cubicBezTo>
                  <a:pt x="7799" y="750"/>
                  <a:pt x="6715" y="0"/>
                  <a:pt x="5441" y="0"/>
                </a:cubicBezTo>
                <a:close/>
                <a:moveTo>
                  <a:pt x="2286" y="2512"/>
                </a:moveTo>
                <a:cubicBezTo>
                  <a:pt x="2227" y="2750"/>
                  <a:pt x="2203" y="2989"/>
                  <a:pt x="2203" y="3227"/>
                </a:cubicBezTo>
                <a:cubicBezTo>
                  <a:pt x="2203" y="3489"/>
                  <a:pt x="2227" y="3727"/>
                  <a:pt x="2286" y="3941"/>
                </a:cubicBezTo>
                <a:lnTo>
                  <a:pt x="4036" y="3941"/>
                </a:lnTo>
                <a:cubicBezTo>
                  <a:pt x="4013" y="3703"/>
                  <a:pt x="4001" y="3465"/>
                  <a:pt x="4001" y="3227"/>
                </a:cubicBezTo>
                <a:cubicBezTo>
                  <a:pt x="4001" y="2989"/>
                  <a:pt x="4013" y="2750"/>
                  <a:pt x="4036" y="2512"/>
                </a:cubicBezTo>
                <a:close/>
                <a:moveTo>
                  <a:pt x="4763" y="2512"/>
                </a:moveTo>
                <a:cubicBezTo>
                  <a:pt x="4727" y="2738"/>
                  <a:pt x="4715" y="2977"/>
                  <a:pt x="4715" y="3227"/>
                </a:cubicBezTo>
                <a:cubicBezTo>
                  <a:pt x="4715" y="3500"/>
                  <a:pt x="4727" y="3727"/>
                  <a:pt x="4763" y="3941"/>
                </a:cubicBezTo>
                <a:lnTo>
                  <a:pt x="6108" y="3941"/>
                </a:lnTo>
                <a:cubicBezTo>
                  <a:pt x="6144" y="3727"/>
                  <a:pt x="6156" y="3489"/>
                  <a:pt x="6156" y="3227"/>
                </a:cubicBezTo>
                <a:cubicBezTo>
                  <a:pt x="6156" y="2965"/>
                  <a:pt x="6144" y="2738"/>
                  <a:pt x="6108" y="2512"/>
                </a:cubicBezTo>
                <a:close/>
                <a:moveTo>
                  <a:pt x="6846" y="2512"/>
                </a:moveTo>
                <a:cubicBezTo>
                  <a:pt x="6858" y="2750"/>
                  <a:pt x="6870" y="2989"/>
                  <a:pt x="6870" y="3227"/>
                </a:cubicBezTo>
                <a:cubicBezTo>
                  <a:pt x="6870" y="3465"/>
                  <a:pt x="6858" y="3703"/>
                  <a:pt x="6846" y="3941"/>
                </a:cubicBezTo>
                <a:lnTo>
                  <a:pt x="8585" y="3941"/>
                </a:lnTo>
                <a:cubicBezTo>
                  <a:pt x="8644" y="3703"/>
                  <a:pt x="8680" y="3465"/>
                  <a:pt x="8680" y="3227"/>
                </a:cubicBezTo>
                <a:cubicBezTo>
                  <a:pt x="8680" y="2977"/>
                  <a:pt x="8644" y="2738"/>
                  <a:pt x="8585" y="2512"/>
                </a:cubicBezTo>
                <a:close/>
                <a:moveTo>
                  <a:pt x="4882" y="4679"/>
                </a:moveTo>
                <a:cubicBezTo>
                  <a:pt x="5049" y="5370"/>
                  <a:pt x="5310" y="5751"/>
                  <a:pt x="5441" y="5751"/>
                </a:cubicBezTo>
                <a:cubicBezTo>
                  <a:pt x="5584" y="5751"/>
                  <a:pt x="5846" y="5370"/>
                  <a:pt x="6013" y="4679"/>
                </a:cubicBezTo>
                <a:close/>
                <a:moveTo>
                  <a:pt x="2560" y="4679"/>
                </a:moveTo>
                <a:cubicBezTo>
                  <a:pt x="3095" y="5725"/>
                  <a:pt x="4175" y="6474"/>
                  <a:pt x="5434" y="6477"/>
                </a:cubicBezTo>
                <a:lnTo>
                  <a:pt x="5434" y="6477"/>
                </a:lnTo>
                <a:cubicBezTo>
                  <a:pt x="5432" y="6477"/>
                  <a:pt x="5431" y="6477"/>
                  <a:pt x="5430" y="6477"/>
                </a:cubicBezTo>
                <a:cubicBezTo>
                  <a:pt x="5432" y="6477"/>
                  <a:pt x="5434" y="6477"/>
                  <a:pt x="5436" y="6477"/>
                </a:cubicBezTo>
                <a:lnTo>
                  <a:pt x="5436" y="6477"/>
                </a:lnTo>
                <a:cubicBezTo>
                  <a:pt x="5437" y="6477"/>
                  <a:pt x="5439" y="6477"/>
                  <a:pt x="5441" y="6477"/>
                </a:cubicBezTo>
                <a:cubicBezTo>
                  <a:pt x="5440" y="6477"/>
                  <a:pt x="5439" y="6477"/>
                  <a:pt x="5437" y="6477"/>
                </a:cubicBezTo>
                <a:lnTo>
                  <a:pt x="5437" y="6477"/>
                </a:lnTo>
                <a:cubicBezTo>
                  <a:pt x="6720" y="6474"/>
                  <a:pt x="7800" y="5725"/>
                  <a:pt x="8323" y="4679"/>
                </a:cubicBezTo>
                <a:lnTo>
                  <a:pt x="6727" y="4679"/>
                </a:lnTo>
                <a:cubicBezTo>
                  <a:pt x="6514" y="5688"/>
                  <a:pt x="6087" y="6472"/>
                  <a:pt x="5435" y="6477"/>
                </a:cubicBezTo>
                <a:lnTo>
                  <a:pt x="5435" y="6477"/>
                </a:lnTo>
                <a:cubicBezTo>
                  <a:pt x="4784" y="6472"/>
                  <a:pt x="4357" y="5688"/>
                  <a:pt x="4156" y="4679"/>
                </a:cubicBezTo>
                <a:close/>
                <a:moveTo>
                  <a:pt x="10371" y="5763"/>
                </a:moveTo>
                <a:cubicBezTo>
                  <a:pt x="9728" y="5763"/>
                  <a:pt x="9156" y="6120"/>
                  <a:pt x="8870" y="6668"/>
                </a:cubicBezTo>
                <a:lnTo>
                  <a:pt x="7763" y="8763"/>
                </a:lnTo>
                <a:cubicBezTo>
                  <a:pt x="7573" y="9120"/>
                  <a:pt x="7215" y="9346"/>
                  <a:pt x="6811" y="9346"/>
                </a:cubicBezTo>
                <a:lnTo>
                  <a:pt x="4370" y="9346"/>
                </a:lnTo>
                <a:cubicBezTo>
                  <a:pt x="4179" y="9346"/>
                  <a:pt x="4013" y="9180"/>
                  <a:pt x="4013" y="8989"/>
                </a:cubicBezTo>
                <a:cubicBezTo>
                  <a:pt x="4013" y="8799"/>
                  <a:pt x="4179" y="8632"/>
                  <a:pt x="4370" y="8632"/>
                </a:cubicBezTo>
                <a:lnTo>
                  <a:pt x="6811" y="8632"/>
                </a:lnTo>
                <a:cubicBezTo>
                  <a:pt x="6954" y="8632"/>
                  <a:pt x="7073" y="8561"/>
                  <a:pt x="7132" y="8442"/>
                </a:cubicBezTo>
                <a:cubicBezTo>
                  <a:pt x="7192" y="8322"/>
                  <a:pt x="7382" y="7965"/>
                  <a:pt x="7549" y="7656"/>
                </a:cubicBezTo>
                <a:cubicBezTo>
                  <a:pt x="7585" y="7549"/>
                  <a:pt x="7585" y="7441"/>
                  <a:pt x="7525" y="7334"/>
                </a:cubicBezTo>
                <a:cubicBezTo>
                  <a:pt x="7465" y="7251"/>
                  <a:pt x="7370" y="7191"/>
                  <a:pt x="7263" y="7191"/>
                </a:cubicBezTo>
                <a:lnTo>
                  <a:pt x="3525" y="7191"/>
                </a:lnTo>
                <a:cubicBezTo>
                  <a:pt x="3048" y="7191"/>
                  <a:pt x="2584" y="7382"/>
                  <a:pt x="2262" y="7715"/>
                </a:cubicBezTo>
                <a:lnTo>
                  <a:pt x="131" y="9835"/>
                </a:lnTo>
                <a:cubicBezTo>
                  <a:pt x="0" y="9977"/>
                  <a:pt x="0" y="10216"/>
                  <a:pt x="131" y="10347"/>
                </a:cubicBezTo>
                <a:lnTo>
                  <a:pt x="1929" y="12132"/>
                </a:lnTo>
                <a:cubicBezTo>
                  <a:pt x="2012" y="12204"/>
                  <a:pt x="2096" y="12240"/>
                  <a:pt x="2191" y="12240"/>
                </a:cubicBezTo>
                <a:cubicBezTo>
                  <a:pt x="2274" y="12240"/>
                  <a:pt x="2370" y="12204"/>
                  <a:pt x="2441" y="12132"/>
                </a:cubicBezTo>
                <a:lnTo>
                  <a:pt x="3810" y="10775"/>
                </a:lnTo>
                <a:lnTo>
                  <a:pt x="6811" y="10775"/>
                </a:lnTo>
                <a:cubicBezTo>
                  <a:pt x="7751" y="10775"/>
                  <a:pt x="8597" y="10251"/>
                  <a:pt x="9049" y="9418"/>
                </a:cubicBezTo>
                <a:lnTo>
                  <a:pt x="10704" y="6263"/>
                </a:lnTo>
                <a:cubicBezTo>
                  <a:pt x="10740" y="6191"/>
                  <a:pt x="10740" y="6060"/>
                  <a:pt x="10680" y="5941"/>
                </a:cubicBezTo>
                <a:cubicBezTo>
                  <a:pt x="10621" y="5834"/>
                  <a:pt x="10502" y="5763"/>
                  <a:pt x="10371" y="5763"/>
                </a:cubicBezTo>
                <a:close/>
              </a:path>
            </a:pathLst>
          </a:custGeom>
          <a:solidFill>
            <a:schemeClr val="bg1">
              <a:lumMod val="50000"/>
            </a:schemeClr>
          </a:solidFill>
          <a:ln>
            <a:solidFill>
              <a:schemeClr val="tx1"/>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2" name="Google Shape;262;p6">
            <a:extLst>
              <a:ext uri="{FF2B5EF4-FFF2-40B4-BE49-F238E27FC236}">
                <a16:creationId xmlns:a16="http://schemas.microsoft.com/office/drawing/2014/main" id="{A8210EAB-1BAD-FD0D-1549-FDBDCEB34D7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D922339-7516-0B5B-764B-516D99285E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59AB65E3-7A91-632A-FFFB-8A1B8383B9DD}"/>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68CE6D3B-D5E7-BE28-45B1-9638458FEEB4}"/>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4F09A209-FCF8-1A23-D957-DB01C0CDD26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BE055D3A-3F88-3183-4D4D-C38DD54ADAD5}"/>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19" name="Picture 18">
            <a:extLst>
              <a:ext uri="{FF2B5EF4-FFF2-40B4-BE49-F238E27FC236}">
                <a16:creationId xmlns:a16="http://schemas.microsoft.com/office/drawing/2014/main" id="{3E22B893-9489-E353-0BA3-44ED9120A193}"/>
              </a:ext>
            </a:extLst>
          </p:cNvPr>
          <p:cNvPicPr>
            <a:picLocks noChangeAspect="1"/>
          </p:cNvPicPr>
          <p:nvPr/>
        </p:nvPicPr>
        <p:blipFill>
          <a:blip r:embed="rId3"/>
          <a:stretch>
            <a:fillRect/>
          </a:stretch>
        </p:blipFill>
        <p:spPr>
          <a:xfrm>
            <a:off x="4895898" y="2971385"/>
            <a:ext cx="3566160" cy="1430050"/>
          </a:xfrm>
          <a:prstGeom prst="rect">
            <a:avLst/>
          </a:prstGeom>
          <a:ln>
            <a:solidFill>
              <a:schemeClr val="tx1"/>
            </a:solidFill>
          </a:ln>
        </p:spPr>
      </p:pic>
      <p:pic>
        <p:nvPicPr>
          <p:cNvPr id="17" name="Picture 16">
            <a:extLst>
              <a:ext uri="{FF2B5EF4-FFF2-40B4-BE49-F238E27FC236}">
                <a16:creationId xmlns:a16="http://schemas.microsoft.com/office/drawing/2014/main" id="{E295E495-AF44-FE2F-B405-6BBC67F89FE9}"/>
              </a:ext>
            </a:extLst>
          </p:cNvPr>
          <p:cNvPicPr>
            <a:picLocks noChangeAspect="1"/>
          </p:cNvPicPr>
          <p:nvPr/>
        </p:nvPicPr>
        <p:blipFill>
          <a:blip r:embed="rId4"/>
          <a:stretch>
            <a:fillRect/>
          </a:stretch>
        </p:blipFill>
        <p:spPr>
          <a:xfrm>
            <a:off x="709309" y="2984115"/>
            <a:ext cx="3496097" cy="1417320"/>
          </a:xfrm>
          <a:prstGeom prst="rect">
            <a:avLst/>
          </a:prstGeom>
          <a:ln>
            <a:solidFill>
              <a:schemeClr val="tx1"/>
            </a:solidFill>
          </a:ln>
        </p:spPr>
      </p:pic>
      <p:pic>
        <p:nvPicPr>
          <p:cNvPr id="14" name="Picture 13">
            <a:extLst>
              <a:ext uri="{FF2B5EF4-FFF2-40B4-BE49-F238E27FC236}">
                <a16:creationId xmlns:a16="http://schemas.microsoft.com/office/drawing/2014/main" id="{23E1E728-FE15-3D0D-34EF-8E0A4E198DF0}"/>
              </a:ext>
            </a:extLst>
          </p:cNvPr>
          <p:cNvPicPr>
            <a:picLocks noChangeAspect="1"/>
          </p:cNvPicPr>
          <p:nvPr/>
        </p:nvPicPr>
        <p:blipFill>
          <a:blip r:embed="rId5"/>
          <a:stretch>
            <a:fillRect/>
          </a:stretch>
        </p:blipFill>
        <p:spPr>
          <a:xfrm>
            <a:off x="4895899" y="1303207"/>
            <a:ext cx="3528104" cy="1371600"/>
          </a:xfrm>
          <a:prstGeom prst="rect">
            <a:avLst/>
          </a:prstGeom>
          <a:ln>
            <a:solidFill>
              <a:schemeClr val="tx1"/>
            </a:solidFill>
          </a:ln>
        </p:spPr>
      </p:pic>
      <p:pic>
        <p:nvPicPr>
          <p:cNvPr id="8" name="Picture 7">
            <a:extLst>
              <a:ext uri="{FF2B5EF4-FFF2-40B4-BE49-F238E27FC236}">
                <a16:creationId xmlns:a16="http://schemas.microsoft.com/office/drawing/2014/main" id="{2C6ADB4A-4DEE-BB08-0CB1-2EE975DFD040}"/>
              </a:ext>
            </a:extLst>
          </p:cNvPr>
          <p:cNvPicPr>
            <a:picLocks noChangeAspect="1"/>
          </p:cNvPicPr>
          <p:nvPr/>
        </p:nvPicPr>
        <p:blipFill>
          <a:blip r:embed="rId6"/>
          <a:stretch>
            <a:fillRect/>
          </a:stretch>
        </p:blipFill>
        <p:spPr>
          <a:xfrm>
            <a:off x="719999" y="1310174"/>
            <a:ext cx="3485407" cy="1371600"/>
          </a:xfrm>
          <a:prstGeom prst="rect">
            <a:avLst/>
          </a:prstGeom>
          <a:ln>
            <a:solidFill>
              <a:schemeClr val="tx1"/>
            </a:solidFill>
          </a:ln>
        </p:spPr>
      </p:pic>
      <p:sp>
        <p:nvSpPr>
          <p:cNvPr id="301" name="Google Shape;301;p7"/>
          <p:cNvSpPr txBox="1">
            <a:spLocks noGrp="1"/>
          </p:cNvSpPr>
          <p:nvPr>
            <p:ph type="title"/>
          </p:nvPr>
        </p:nvSpPr>
        <p:spPr>
          <a:xfrm>
            <a:off x="719998" y="445025"/>
            <a:ext cx="6176988"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rates steady amid cautious policy stance</a:t>
            </a:r>
            <a:endParaRPr lang="en-US" sz="2000" strike="sngStrike"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3676327" y="4667120"/>
            <a:ext cx="5376672" cy="21544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27" name="TextBox 26">
            <a:extLst>
              <a:ext uri="{FF2B5EF4-FFF2-40B4-BE49-F238E27FC236}">
                <a16:creationId xmlns:a16="http://schemas.microsoft.com/office/drawing/2014/main" id="{0D8054E3-F992-4297-88FD-1A681AC62156}"/>
              </a:ext>
            </a:extLst>
          </p:cNvPr>
          <p:cNvSpPr txBox="1"/>
          <p:nvPr/>
        </p:nvSpPr>
        <p:spPr>
          <a:xfrm>
            <a:off x="2550990" y="2960318"/>
            <a:ext cx="1724722" cy="253916"/>
          </a:xfrm>
          <a:prstGeom prst="rect">
            <a:avLst/>
          </a:prstGeom>
          <a:noFill/>
        </p:spPr>
        <p:txBody>
          <a:bodyPr wrap="square" rtlCol="0">
            <a:spAutoFit/>
          </a:bodyPr>
          <a:lstStyle/>
          <a:p>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rPr>
              <a:t>EU (unchanged in Apr-26</a:t>
            </a:r>
            <a:r>
              <a:rPr lang="en-US" sz="1000" b="1" dirty="0">
                <a:solidFill>
                  <a:srgbClr val="333333"/>
                </a:solidFill>
                <a:latin typeface="Calibri" panose="020F0502020204030204" pitchFamily="34" charset="0"/>
                <a:ea typeface="Calibri" panose="020F0502020204030204" pitchFamily="34" charset="0"/>
                <a:cs typeface="Calibri" panose="020F0502020204030204" pitchFamily="34" charset="0"/>
              </a:rPr>
              <a:t>)</a:t>
            </a:r>
          </a:p>
        </p:txBody>
      </p:sp>
      <p:sp>
        <p:nvSpPr>
          <p:cNvPr id="28" name="TextBox 27">
            <a:extLst>
              <a:ext uri="{FF2B5EF4-FFF2-40B4-BE49-F238E27FC236}">
                <a16:creationId xmlns:a16="http://schemas.microsoft.com/office/drawing/2014/main" id="{9EEB858C-5D1D-4461-9F03-30C41ED8F14B}"/>
              </a:ext>
            </a:extLst>
          </p:cNvPr>
          <p:cNvSpPr txBox="1"/>
          <p:nvPr/>
        </p:nvSpPr>
        <p:spPr>
          <a:xfrm>
            <a:off x="2457358" y="1334123"/>
            <a:ext cx="20462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U.S.  </a:t>
            </a:r>
            <a:r>
              <a:rPr lang="en-US" sz="1000" b="1" dirty="0">
                <a:latin typeface="+mn-lt"/>
              </a:rPr>
              <a:t>(unchanged in Apr-26)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050" b="1" dirty="0">
              <a:latin typeface="+mn-lt"/>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4F2B919B-7549-4791-BD51-7BD8FDC7F6AB}"/>
              </a:ext>
            </a:extLst>
          </p:cNvPr>
          <p:cNvSpPr txBox="1"/>
          <p:nvPr/>
        </p:nvSpPr>
        <p:spPr>
          <a:xfrm>
            <a:off x="6644482" y="1314183"/>
            <a:ext cx="18288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UK </a:t>
            </a:r>
            <a:r>
              <a:rPr lang="en-US" sz="1000" b="1" dirty="0">
                <a:latin typeface="+mn-lt"/>
              </a:rPr>
              <a:t>(unchanged in Apr-26)</a:t>
            </a:r>
            <a:r>
              <a:rPr lang="en-US" sz="1000" b="1" dirty="0">
                <a:solidFill>
                  <a:schemeClr val="tx1"/>
                </a:solidFill>
                <a:latin typeface="+mn-lt"/>
                <a:ea typeface="Calibri" panose="020F0502020204030204" pitchFamily="34" charset="0"/>
                <a:cs typeface="Calibri" panose="020F0502020204030204" pitchFamily="34" charset="0"/>
              </a:rPr>
              <a:t> </a:t>
            </a:r>
            <a:endParaRPr lang="en-US" sz="1200" b="1" dirty="0">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A4F1FC91-F756-4F7F-934C-E3E5EBF99D41}"/>
              </a:ext>
            </a:extLst>
          </p:cNvPr>
          <p:cNvSpPr txBox="1"/>
          <p:nvPr/>
        </p:nvSpPr>
        <p:spPr>
          <a:xfrm>
            <a:off x="4895898" y="2971385"/>
            <a:ext cx="1809701" cy="253916"/>
          </a:xfrm>
          <a:prstGeom prst="rect">
            <a:avLst/>
          </a:prstGeom>
          <a:noFill/>
        </p:spPr>
        <p:txBody>
          <a:bodyPr wrap="square" rtlCol="0">
            <a:spAutoFit/>
          </a:bodyPr>
          <a:lstStyle/>
          <a:p>
            <a:r>
              <a:rPr lang="en-US" sz="1000" b="1" dirty="0">
                <a:solidFill>
                  <a:schemeClr val="tx1"/>
                </a:solidFill>
                <a:latin typeface="+mn-lt"/>
                <a:ea typeface="Calibri" panose="020F0502020204030204" pitchFamily="34" charset="0"/>
                <a:cs typeface="Calibri" panose="020F0502020204030204" pitchFamily="34" charset="0"/>
              </a:rPr>
              <a:t>Japan </a:t>
            </a:r>
            <a:r>
              <a:rPr lang="en-US" sz="1000" b="1" dirty="0">
                <a:latin typeface="+mn-lt"/>
              </a:rPr>
              <a:t>(unchanged in Apr-26)</a:t>
            </a:r>
            <a:endParaRPr lang="en-US" sz="1000" b="1" dirty="0">
              <a:latin typeface="+mn-lt"/>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84EC2844-0F37-7D8C-89AA-4015986AE2E2}"/>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79B18A34-0322-021C-DF50-69759AE4F97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B6D5EAE-B649-4BF7-19B6-1D59DB00B322}"/>
                </a:ext>
              </a:extLst>
            </p:cNvPr>
            <p:cNvGrpSpPr/>
            <p:nvPr/>
          </p:nvGrpSpPr>
          <p:grpSpPr>
            <a:xfrm>
              <a:off x="3101100" y="4872600"/>
              <a:ext cx="2941800" cy="270900"/>
              <a:chOff x="3084200" y="4934525"/>
              <a:chExt cx="2941800" cy="270900"/>
            </a:xfrm>
          </p:grpSpPr>
          <p:sp>
            <p:nvSpPr>
              <p:cNvPr id="7" name="Google Shape;265;p6">
                <a:extLst>
                  <a:ext uri="{FF2B5EF4-FFF2-40B4-BE49-F238E27FC236}">
                    <a16:creationId xmlns:a16="http://schemas.microsoft.com/office/drawing/2014/main" id="{C8BF563F-2F6F-9B3D-E7FB-8E713B51921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37A98A3C-8824-FE6A-F0BD-9ADC73A6163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1" name="Picture 10">
            <a:extLst>
              <a:ext uri="{FF2B5EF4-FFF2-40B4-BE49-F238E27FC236}">
                <a16:creationId xmlns:a16="http://schemas.microsoft.com/office/drawing/2014/main" id="{D9DB6A53-A0D4-9B80-FEDF-68C44646BB2A}"/>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70295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23" name="Picture 22">
            <a:extLst>
              <a:ext uri="{FF2B5EF4-FFF2-40B4-BE49-F238E27FC236}">
                <a16:creationId xmlns:a16="http://schemas.microsoft.com/office/drawing/2014/main" id="{A1A7B101-EEDD-971F-CF3B-58E7E551D28D}"/>
              </a:ext>
            </a:extLst>
          </p:cNvPr>
          <p:cNvPicPr>
            <a:picLocks noChangeAspect="1"/>
          </p:cNvPicPr>
          <p:nvPr/>
        </p:nvPicPr>
        <p:blipFill>
          <a:blip r:embed="rId3"/>
          <a:stretch>
            <a:fillRect/>
          </a:stretch>
        </p:blipFill>
        <p:spPr>
          <a:xfrm>
            <a:off x="4961692" y="2993057"/>
            <a:ext cx="3474720" cy="1314780"/>
          </a:xfrm>
          <a:prstGeom prst="rect">
            <a:avLst/>
          </a:prstGeom>
          <a:ln>
            <a:solidFill>
              <a:schemeClr val="tx1"/>
            </a:solidFill>
          </a:ln>
        </p:spPr>
      </p:pic>
      <p:sp>
        <p:nvSpPr>
          <p:cNvPr id="24" name="TextBox 23">
            <a:extLst>
              <a:ext uri="{FF2B5EF4-FFF2-40B4-BE49-F238E27FC236}">
                <a16:creationId xmlns:a16="http://schemas.microsoft.com/office/drawing/2014/main" id="{3950C81C-B04F-4C7E-B9D8-D5A51C4974A4}"/>
              </a:ext>
            </a:extLst>
          </p:cNvPr>
          <p:cNvSpPr txBox="1"/>
          <p:nvPr/>
        </p:nvSpPr>
        <p:spPr>
          <a:xfrm>
            <a:off x="4939583" y="2993057"/>
            <a:ext cx="3689693"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Japan</a:t>
            </a:r>
            <a:endParaRPr lang="en-IN" sz="1100" b="1" dirty="0">
              <a:highlight>
                <a:srgbClr val="FFFF00"/>
              </a:highlight>
              <a:latin typeface="+mn-lt"/>
              <a:ea typeface="Calibri" panose="020F0502020204030204" pitchFamily="34" charset="0"/>
              <a:cs typeface="Calibri" panose="020F0502020204030204" pitchFamily="34" charset="0"/>
            </a:endParaRPr>
          </a:p>
        </p:txBody>
      </p:sp>
      <p:pic>
        <p:nvPicPr>
          <p:cNvPr id="19" name="Picture 18">
            <a:extLst>
              <a:ext uri="{FF2B5EF4-FFF2-40B4-BE49-F238E27FC236}">
                <a16:creationId xmlns:a16="http://schemas.microsoft.com/office/drawing/2014/main" id="{DA3B57F6-44C3-C9CB-6FE5-22180E06436F}"/>
              </a:ext>
            </a:extLst>
          </p:cNvPr>
          <p:cNvPicPr>
            <a:picLocks noChangeAspect="1"/>
          </p:cNvPicPr>
          <p:nvPr/>
        </p:nvPicPr>
        <p:blipFill>
          <a:blip r:embed="rId4"/>
          <a:stretch>
            <a:fillRect/>
          </a:stretch>
        </p:blipFill>
        <p:spPr>
          <a:xfrm>
            <a:off x="907356" y="2993473"/>
            <a:ext cx="3474720" cy="1314780"/>
          </a:xfrm>
          <a:prstGeom prst="rect">
            <a:avLst/>
          </a:prstGeom>
          <a:ln>
            <a:solidFill>
              <a:schemeClr val="tx1"/>
            </a:solidFill>
          </a:ln>
        </p:spPr>
      </p:pic>
      <p:pic>
        <p:nvPicPr>
          <p:cNvPr id="16" name="Picture 15">
            <a:extLst>
              <a:ext uri="{FF2B5EF4-FFF2-40B4-BE49-F238E27FC236}">
                <a16:creationId xmlns:a16="http://schemas.microsoft.com/office/drawing/2014/main" id="{14F4E70A-5493-F754-AECE-278AEAB76E99}"/>
              </a:ext>
            </a:extLst>
          </p:cNvPr>
          <p:cNvPicPr>
            <a:picLocks noChangeAspect="1"/>
          </p:cNvPicPr>
          <p:nvPr/>
        </p:nvPicPr>
        <p:blipFill>
          <a:blip r:embed="rId5"/>
          <a:stretch>
            <a:fillRect/>
          </a:stretch>
        </p:blipFill>
        <p:spPr>
          <a:xfrm>
            <a:off x="4939583" y="1386943"/>
            <a:ext cx="3474719" cy="1399643"/>
          </a:xfrm>
          <a:prstGeom prst="rect">
            <a:avLst/>
          </a:prstGeom>
          <a:ln>
            <a:solidFill>
              <a:schemeClr val="tx1"/>
            </a:solidFill>
          </a:ln>
        </p:spPr>
      </p:pic>
      <p:pic>
        <p:nvPicPr>
          <p:cNvPr id="13" name="Picture 12">
            <a:extLst>
              <a:ext uri="{FF2B5EF4-FFF2-40B4-BE49-F238E27FC236}">
                <a16:creationId xmlns:a16="http://schemas.microsoft.com/office/drawing/2014/main" id="{63C8A954-8258-9EE4-E18B-E2CCD3ED92E2}"/>
              </a:ext>
            </a:extLst>
          </p:cNvPr>
          <p:cNvPicPr>
            <a:picLocks noChangeAspect="1"/>
          </p:cNvPicPr>
          <p:nvPr/>
        </p:nvPicPr>
        <p:blipFill>
          <a:blip r:embed="rId6"/>
          <a:stretch>
            <a:fillRect/>
          </a:stretch>
        </p:blipFill>
        <p:spPr>
          <a:xfrm>
            <a:off x="862675" y="1350531"/>
            <a:ext cx="3474720" cy="1415362"/>
          </a:xfrm>
          <a:prstGeom prst="rect">
            <a:avLst/>
          </a:prstGeom>
          <a:ln>
            <a:solidFill>
              <a:schemeClr val="tx1"/>
            </a:solidFill>
          </a:ln>
        </p:spPr>
      </p:pic>
      <p:sp>
        <p:nvSpPr>
          <p:cNvPr id="301" name="Google Shape;301;p7"/>
          <p:cNvSpPr txBox="1">
            <a:spLocks noGrp="1"/>
          </p:cNvSpPr>
          <p:nvPr>
            <p:ph type="title"/>
          </p:nvPr>
        </p:nvSpPr>
        <p:spPr>
          <a:xfrm>
            <a:off x="719999" y="445025"/>
            <a:ext cx="5485819"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inflation rising</a:t>
            </a:r>
            <a:endParaRPr sz="20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8830DCD-9317-4CE2-A2C6-E836372D021F}"/>
              </a:ext>
            </a:extLst>
          </p:cNvPr>
          <p:cNvSpPr txBox="1"/>
          <p:nvPr/>
        </p:nvSpPr>
        <p:spPr>
          <a:xfrm>
            <a:off x="7832913" y="4673356"/>
            <a:ext cx="1636945"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4" name="TextBox 3">
            <a:extLst>
              <a:ext uri="{FF2B5EF4-FFF2-40B4-BE49-F238E27FC236}">
                <a16:creationId xmlns:a16="http://schemas.microsoft.com/office/drawing/2014/main" id="{89FBA75C-BF13-40EC-B7E1-FA0CF9447EE5}"/>
              </a:ext>
            </a:extLst>
          </p:cNvPr>
          <p:cNvSpPr txBox="1"/>
          <p:nvPr/>
        </p:nvSpPr>
        <p:spPr>
          <a:xfrm>
            <a:off x="842041" y="1329056"/>
            <a:ext cx="3485039"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U.S</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6909A2A-6FD0-4387-8BD8-CD503DD7CCA3}"/>
              </a:ext>
            </a:extLst>
          </p:cNvPr>
          <p:cNvSpPr txBox="1"/>
          <p:nvPr/>
        </p:nvSpPr>
        <p:spPr>
          <a:xfrm>
            <a:off x="4939583" y="1336609"/>
            <a:ext cx="2729065"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UK</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8CA2C49-8B6F-4E9E-8529-72FD22D79849}"/>
              </a:ext>
            </a:extLst>
          </p:cNvPr>
          <p:cNvSpPr txBox="1"/>
          <p:nvPr/>
        </p:nvSpPr>
        <p:spPr>
          <a:xfrm>
            <a:off x="907356" y="3043786"/>
            <a:ext cx="2041073"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EU</a:t>
            </a:r>
            <a:r>
              <a:rPr lang="en-US" sz="1050" b="1" dirty="0">
                <a:latin typeface="+mn-lt"/>
                <a:ea typeface="Calibri" panose="020F0502020204030204" pitchFamily="34" charset="0"/>
                <a:cs typeface="Calibri" panose="020F0502020204030204" pitchFamily="34" charset="0"/>
              </a:rPr>
              <a:t> </a:t>
            </a:r>
          </a:p>
        </p:txBody>
      </p:sp>
      <p:grpSp>
        <p:nvGrpSpPr>
          <p:cNvPr id="2" name="Google Shape;262;p6">
            <a:extLst>
              <a:ext uri="{FF2B5EF4-FFF2-40B4-BE49-F238E27FC236}">
                <a16:creationId xmlns:a16="http://schemas.microsoft.com/office/drawing/2014/main" id="{40328464-C498-3EBB-5B1D-26DA36302E44}"/>
              </a:ext>
            </a:extLst>
          </p:cNvPr>
          <p:cNvGrpSpPr/>
          <p:nvPr/>
        </p:nvGrpSpPr>
        <p:grpSpPr>
          <a:xfrm>
            <a:off x="-25" y="4872600"/>
            <a:ext cx="9144000" cy="270900"/>
            <a:chOff x="-25" y="4872600"/>
            <a:chExt cx="9144000" cy="270900"/>
          </a:xfrm>
        </p:grpSpPr>
        <p:sp>
          <p:nvSpPr>
            <p:cNvPr id="5" name="Google Shape;263;p6">
              <a:extLst>
                <a:ext uri="{FF2B5EF4-FFF2-40B4-BE49-F238E27FC236}">
                  <a16:creationId xmlns:a16="http://schemas.microsoft.com/office/drawing/2014/main" id="{9731E2BA-1669-E3B5-2103-62D0437FC9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6" name="Google Shape;264;p6">
              <a:extLst>
                <a:ext uri="{FF2B5EF4-FFF2-40B4-BE49-F238E27FC236}">
                  <a16:creationId xmlns:a16="http://schemas.microsoft.com/office/drawing/2014/main" id="{DACF81EC-7B0E-D866-2B5A-CE191D68F47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3B156E6A-6CB6-50AA-4578-BE4F14B05E6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56069E84-E520-6658-804F-1FA8FE91300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E10EC708-19ED-8911-B1C7-4E616379CF20}"/>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368941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4000" dirty="0">
                <a:latin typeface="Calibri" panose="020F0502020204030204" pitchFamily="34" charset="0"/>
                <a:ea typeface="Calibri" panose="020F0502020204030204" pitchFamily="34" charset="0"/>
                <a:cs typeface="Calibri" panose="020F0502020204030204" pitchFamily="34" charset="0"/>
              </a:rPr>
              <a:t>Domestic Update</a:t>
            </a:r>
            <a:endParaRPr sz="4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Graphic 6" descr="Coins">
            <a:extLst>
              <a:ext uri="{FF2B5EF4-FFF2-40B4-BE49-F238E27FC236}">
                <a16:creationId xmlns:a16="http://schemas.microsoft.com/office/drawing/2014/main" id="{FC37BCE7-93FA-459E-85E2-D8E04FAA5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4694" y="1969281"/>
            <a:ext cx="996696" cy="996696"/>
          </a:xfrm>
          <a:prstGeom prst="rect">
            <a:avLst/>
          </a:prstGeom>
        </p:spPr>
      </p:pic>
      <p:grpSp>
        <p:nvGrpSpPr>
          <p:cNvPr id="2" name="Google Shape;262;p6">
            <a:extLst>
              <a:ext uri="{FF2B5EF4-FFF2-40B4-BE49-F238E27FC236}">
                <a16:creationId xmlns:a16="http://schemas.microsoft.com/office/drawing/2014/main" id="{924C2B21-4177-C5DD-7E82-6EA9E22FBB2D}"/>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015803C1-9F32-1F4F-49DA-95443E50A68E}"/>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23D2C27F-79C1-5ADF-70AE-AB09448D2C7B}"/>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2DDCD6FB-89DB-1E10-4678-5DE14E8FA48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02A24646-9187-1F55-7AE5-1A7854983FD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90C867DA-0387-C2AD-2623-59C70DB88C92}"/>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189327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F70CAB5-92DA-951D-F1C4-79F0640E7E3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5A44710-BD9C-7270-25C4-5DF7CDB214A4}"/>
              </a:ext>
            </a:extLst>
          </p:cNvPr>
          <p:cNvPicPr>
            <a:picLocks noChangeAspect="1"/>
          </p:cNvPicPr>
          <p:nvPr/>
        </p:nvPicPr>
        <p:blipFill>
          <a:blip r:embed="rId3"/>
          <a:stretch>
            <a:fillRect/>
          </a:stretch>
        </p:blipFill>
        <p:spPr>
          <a:xfrm>
            <a:off x="565923" y="1246036"/>
            <a:ext cx="4161154" cy="2510493"/>
          </a:xfrm>
          <a:prstGeom prst="rect">
            <a:avLst/>
          </a:prstGeom>
          <a:ln>
            <a:solidFill>
              <a:schemeClr val="tx1"/>
            </a:solidFill>
          </a:ln>
        </p:spPr>
      </p:pic>
      <p:sp>
        <p:nvSpPr>
          <p:cNvPr id="301" name="Google Shape;301;p7">
            <a:extLst>
              <a:ext uri="{FF2B5EF4-FFF2-40B4-BE49-F238E27FC236}">
                <a16:creationId xmlns:a16="http://schemas.microsoft.com/office/drawing/2014/main" id="{B55EB11D-65BD-5436-EB1A-436A7CFE71C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Macro updates </a:t>
            </a:r>
            <a:endParaRPr lang="en-US" sz="19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C177F43-BAB2-5079-C38A-BD286D926549}"/>
              </a:ext>
            </a:extLst>
          </p:cNvPr>
          <p:cNvSpPr txBox="1"/>
          <p:nvPr/>
        </p:nvSpPr>
        <p:spPr>
          <a:xfrm>
            <a:off x="801827" y="3897464"/>
            <a:ext cx="5675173" cy="89473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sz="1200" dirty="0">
                <a:solidFill>
                  <a:schemeClr val="tx1"/>
                </a:solidFill>
                <a:ea typeface="Calibri" panose="020F0502020204030204" pitchFamily="34" charset="0"/>
                <a:cs typeface="Calibri" panose="020F0502020204030204" pitchFamily="34" charset="0"/>
              </a:rPr>
              <a:t>CPI rose to 3.4% YoY in Mar-26 (from 3.2%), with higher food and gas inflation</a:t>
            </a:r>
          </a:p>
          <a:p>
            <a:pPr marL="171450" indent="-171450">
              <a:lnSpc>
                <a:spcPct val="150000"/>
              </a:lnSpc>
              <a:buFont typeface="Wingdings" panose="05000000000000000000" pitchFamily="2" charset="2"/>
              <a:buChar char="q"/>
            </a:pPr>
            <a:r>
              <a:rPr lang="en-US" sz="1200" dirty="0">
                <a:solidFill>
                  <a:schemeClr val="tx1"/>
                </a:solidFill>
                <a:ea typeface="Calibri" panose="020F0502020204030204" pitchFamily="34" charset="0"/>
                <a:cs typeface="Calibri" panose="020F0502020204030204" pitchFamily="34" charset="0"/>
              </a:rPr>
              <a:t>Geopolitical impact muted, but oil and monsoon risks may push inflation higher, likely within RBI’s 2–6% band</a:t>
            </a:r>
          </a:p>
        </p:txBody>
      </p:sp>
      <p:grpSp>
        <p:nvGrpSpPr>
          <p:cNvPr id="2" name="Google Shape;262;p6">
            <a:extLst>
              <a:ext uri="{FF2B5EF4-FFF2-40B4-BE49-F238E27FC236}">
                <a16:creationId xmlns:a16="http://schemas.microsoft.com/office/drawing/2014/main" id="{28375DA6-2F13-1F33-07F3-7734E775AD62}"/>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F86598C6-2470-3049-ED11-7ECE89BC26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874151-13D6-6821-1E5E-3A7656504C02}"/>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DD18DB1D-6A7B-E441-B45D-42EF48DBA55B}"/>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A07270FB-EC09-E023-F530-B77606E260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EC225B3-74E4-95BE-17DF-609C1347B875}"/>
              </a:ext>
            </a:extLst>
          </p:cNvPr>
          <p:cNvPicPr>
            <a:picLocks noChangeAspect="1"/>
          </p:cNvPicPr>
          <p:nvPr/>
        </p:nvPicPr>
        <p:blipFill>
          <a:blip r:embed="rId4"/>
          <a:stretch>
            <a:fillRect/>
          </a:stretch>
        </p:blipFill>
        <p:spPr>
          <a:xfrm>
            <a:off x="7819053" y="116485"/>
            <a:ext cx="1190504" cy="566010"/>
          </a:xfrm>
          <a:prstGeom prst="rect">
            <a:avLst/>
          </a:prstGeom>
        </p:spPr>
      </p:pic>
      <p:sp>
        <p:nvSpPr>
          <p:cNvPr id="17" name="TextBox 16">
            <a:extLst>
              <a:ext uri="{FF2B5EF4-FFF2-40B4-BE49-F238E27FC236}">
                <a16:creationId xmlns:a16="http://schemas.microsoft.com/office/drawing/2014/main" id="{2843183B-53C0-1983-7615-3C000CF2C892}"/>
              </a:ext>
            </a:extLst>
          </p:cNvPr>
          <p:cNvSpPr txBox="1"/>
          <p:nvPr/>
        </p:nvSpPr>
        <p:spPr>
          <a:xfrm>
            <a:off x="6137789" y="1226991"/>
            <a:ext cx="1572905" cy="246221"/>
          </a:xfrm>
          <a:prstGeom prst="rect">
            <a:avLst/>
          </a:prstGeom>
          <a:noFill/>
        </p:spPr>
        <p:txBody>
          <a:bodyPr wrap="square" rtlCol="0">
            <a:spAutoFit/>
          </a:bodyPr>
          <a:lstStyle/>
          <a:p>
            <a:r>
              <a:rPr lang="en-US" sz="1000" b="1" dirty="0">
                <a:latin typeface="+mj-lt"/>
              </a:rPr>
              <a:t>CPI by Component </a:t>
            </a:r>
          </a:p>
        </p:txBody>
      </p:sp>
      <p:sp>
        <p:nvSpPr>
          <p:cNvPr id="18" name="TextBox 17">
            <a:extLst>
              <a:ext uri="{FF2B5EF4-FFF2-40B4-BE49-F238E27FC236}">
                <a16:creationId xmlns:a16="http://schemas.microsoft.com/office/drawing/2014/main" id="{92670C80-975D-1918-F6D1-DC0C5D3B9ECD}"/>
              </a:ext>
            </a:extLst>
          </p:cNvPr>
          <p:cNvSpPr txBox="1"/>
          <p:nvPr/>
        </p:nvSpPr>
        <p:spPr>
          <a:xfrm>
            <a:off x="6648365" y="4554551"/>
            <a:ext cx="2537460" cy="33855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a:t>
            </a:r>
            <a:r>
              <a:rPr lang="en-IN" sz="800" dirty="0" err="1">
                <a:latin typeface="Calibri" panose="020F0502020204030204" pitchFamily="34" charset="0"/>
                <a:ea typeface="Calibri" panose="020F0502020204030204" pitchFamily="34" charset="0"/>
                <a:cs typeface="Calibri" panose="020F0502020204030204" pitchFamily="34" charset="0"/>
              </a:rPr>
              <a:t>Nuvama</a:t>
            </a:r>
            <a:r>
              <a:rPr lang="en-IN" sz="800" dirty="0">
                <a:latin typeface="Calibri" panose="020F0502020204030204" pitchFamily="34" charset="0"/>
                <a:ea typeface="Calibri" panose="020F0502020204030204" pitchFamily="34" charset="0"/>
                <a:cs typeface="Calibri" panose="020F0502020204030204" pitchFamily="34" charset="0"/>
              </a:rPr>
              <a:t> research , Trading economics                                                                             CPI data as on Mar-26</a:t>
            </a:r>
          </a:p>
        </p:txBody>
      </p:sp>
      <p:pic>
        <p:nvPicPr>
          <p:cNvPr id="13" name="Picture 12">
            <a:extLst>
              <a:ext uri="{FF2B5EF4-FFF2-40B4-BE49-F238E27FC236}">
                <a16:creationId xmlns:a16="http://schemas.microsoft.com/office/drawing/2014/main" id="{BFCC4A01-0693-87D0-21AF-906D4AC36CA9}"/>
              </a:ext>
            </a:extLst>
          </p:cNvPr>
          <p:cNvPicPr>
            <a:picLocks noChangeAspect="1"/>
          </p:cNvPicPr>
          <p:nvPr/>
        </p:nvPicPr>
        <p:blipFill>
          <a:blip r:embed="rId5"/>
          <a:stretch>
            <a:fillRect/>
          </a:stretch>
        </p:blipFill>
        <p:spPr>
          <a:xfrm>
            <a:off x="5066140" y="1492257"/>
            <a:ext cx="3716205" cy="2264271"/>
          </a:xfrm>
          <a:prstGeom prst="rect">
            <a:avLst/>
          </a:prstGeom>
          <a:ln>
            <a:solidFill>
              <a:schemeClr val="tx1"/>
            </a:solidFill>
          </a:ln>
        </p:spPr>
      </p:pic>
      <p:sp>
        <p:nvSpPr>
          <p:cNvPr id="14" name="TextBox 13">
            <a:extLst>
              <a:ext uri="{FF2B5EF4-FFF2-40B4-BE49-F238E27FC236}">
                <a16:creationId xmlns:a16="http://schemas.microsoft.com/office/drawing/2014/main" id="{E7D554DD-5C8D-BA36-5282-A4D858AB4532}"/>
              </a:ext>
            </a:extLst>
          </p:cNvPr>
          <p:cNvSpPr txBox="1"/>
          <p:nvPr/>
        </p:nvSpPr>
        <p:spPr>
          <a:xfrm>
            <a:off x="1680089" y="1246036"/>
            <a:ext cx="1572905" cy="246221"/>
          </a:xfrm>
          <a:prstGeom prst="rect">
            <a:avLst/>
          </a:prstGeom>
          <a:noFill/>
        </p:spPr>
        <p:txBody>
          <a:bodyPr wrap="square" rtlCol="0">
            <a:spAutoFit/>
          </a:bodyPr>
          <a:lstStyle/>
          <a:p>
            <a:r>
              <a:rPr lang="en-US" sz="1000" b="1" dirty="0">
                <a:latin typeface="+mj-lt"/>
              </a:rPr>
              <a:t>Inflation rate M-o-M</a:t>
            </a:r>
          </a:p>
        </p:txBody>
      </p:sp>
    </p:spTree>
    <p:extLst>
      <p:ext uri="{BB962C8B-B14F-4D97-AF65-F5344CB8AC3E}">
        <p14:creationId xmlns:p14="http://schemas.microsoft.com/office/powerpoint/2010/main" val="1868895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5E63CBD-1853-F6B9-05EB-7D5FE9D0009A}"/>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E7DF67EC-820C-02F0-5590-0E172B5B2E23}"/>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rPr>
              <a:t>Robust GST collections in Apr-26</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782736C9-6E8A-41CE-8624-E1FDEF62D439}"/>
              </a:ext>
            </a:extLst>
          </p:cNvPr>
          <p:cNvSpPr txBox="1"/>
          <p:nvPr/>
        </p:nvSpPr>
        <p:spPr>
          <a:xfrm>
            <a:off x="1915885" y="4058349"/>
            <a:ext cx="5693230" cy="276999"/>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200" dirty="0">
                <a:solidFill>
                  <a:schemeClr val="tx1"/>
                </a:solidFill>
              </a:rPr>
              <a:t>GST collections up 8.7% YoY to ~Rs 2.43 lakh </a:t>
            </a:r>
            <a:r>
              <a:rPr lang="en-US" sz="1200" dirty="0" err="1">
                <a:solidFill>
                  <a:schemeClr val="tx1"/>
                </a:solidFill>
              </a:rPr>
              <a:t>crs</a:t>
            </a:r>
            <a:r>
              <a:rPr lang="en-US" sz="1200" dirty="0">
                <a:solidFill>
                  <a:schemeClr val="tx1"/>
                </a:solidFill>
              </a:rPr>
              <a:t> in Apr-26, driven by strong consumption</a:t>
            </a:r>
          </a:p>
        </p:txBody>
      </p:sp>
      <p:sp>
        <p:nvSpPr>
          <p:cNvPr id="29" name="TextBox 28">
            <a:extLst>
              <a:ext uri="{FF2B5EF4-FFF2-40B4-BE49-F238E27FC236}">
                <a16:creationId xmlns:a16="http://schemas.microsoft.com/office/drawing/2014/main" id="{56C44403-AEE0-A8B7-89D8-51111D7CD418}"/>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Gst.gov.in</a:t>
            </a:r>
          </a:p>
        </p:txBody>
      </p:sp>
      <p:grpSp>
        <p:nvGrpSpPr>
          <p:cNvPr id="2" name="Google Shape;262;p6">
            <a:extLst>
              <a:ext uri="{FF2B5EF4-FFF2-40B4-BE49-F238E27FC236}">
                <a16:creationId xmlns:a16="http://schemas.microsoft.com/office/drawing/2014/main" id="{C3B56AB0-8C71-4829-FBEA-F6B30F4C73C0}"/>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34E31FBC-D5A4-E8AE-7D59-59DE272571D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70509C44-FF7C-E93C-D975-B9BBCCB196B2}"/>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582F2B56-E108-A488-4765-3D6787D964BF}"/>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F34741B9-D3B0-E608-ACAB-688061C0CBE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67E37209-AB1C-C055-697F-FB35150D35ED}"/>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8" name="Content Placeholder 3">
            <a:extLst>
              <a:ext uri="{FF2B5EF4-FFF2-40B4-BE49-F238E27FC236}">
                <a16:creationId xmlns:a16="http://schemas.microsoft.com/office/drawing/2014/main" id="{88119ACB-07AA-5CE1-F257-CC800D60C47E}"/>
              </a:ext>
            </a:extLst>
          </p:cNvPr>
          <p:cNvGraphicFramePr>
            <a:graphicFrameLocks/>
          </p:cNvGraphicFramePr>
          <p:nvPr>
            <p:extLst>
              <p:ext uri="{D42A27DB-BD31-4B8C-83A1-F6EECF244321}">
                <p14:modId xmlns:p14="http://schemas.microsoft.com/office/powerpoint/2010/main" val="201864318"/>
              </p:ext>
            </p:extLst>
          </p:nvPr>
        </p:nvGraphicFramePr>
        <p:xfrm>
          <a:off x="768698" y="1185245"/>
          <a:ext cx="7890678" cy="26290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37908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E8966B4-688B-E075-14A9-497608EDF8F1}"/>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1F0664CC-3590-2727-FD58-11427EEBF6C9}"/>
              </a:ext>
            </a:extLst>
          </p:cNvPr>
          <p:cNvSpPr txBox="1">
            <a:spLocks noGrp="1"/>
          </p:cNvSpPr>
          <p:nvPr>
            <p:ph type="title"/>
          </p:nvPr>
        </p:nvSpPr>
        <p:spPr>
          <a:xfrm>
            <a:off x="719999" y="445025"/>
            <a:ext cx="4091487"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PMI : Manufacturing  Strengthens </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DA92A46-0B9F-78A0-FB8A-EE0E56CC61C4}"/>
              </a:ext>
            </a:extLst>
          </p:cNvPr>
          <p:cNvSpPr txBox="1"/>
          <p:nvPr/>
        </p:nvSpPr>
        <p:spPr>
          <a:xfrm>
            <a:off x="750323" y="4093553"/>
            <a:ext cx="5721234" cy="57394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44" indent="-285744" defTabSz="1219170">
              <a:lnSpc>
                <a:spcPct val="150000"/>
              </a:lnSpc>
              <a:buFont typeface="Wingdings" panose="05000000000000000000" pitchFamily="2" charset="2"/>
              <a:buChar char="q"/>
            </a:pPr>
            <a:r>
              <a:rPr lang="en-US" sz="1100" dirty="0">
                <a:solidFill>
                  <a:schemeClr val="tx1"/>
                </a:solidFill>
              </a:rPr>
              <a:t>India’s Manufacturing PMI rose to 55.9 in Apr-26, signaling sustained expansion</a:t>
            </a:r>
          </a:p>
          <a:p>
            <a:pPr marL="285744" indent="-285744" defTabSz="1219170">
              <a:lnSpc>
                <a:spcPct val="150000"/>
              </a:lnSpc>
              <a:buFont typeface="Wingdings" panose="05000000000000000000" pitchFamily="2" charset="2"/>
              <a:buChar char="q"/>
            </a:pPr>
            <a:r>
              <a:rPr lang="en-US" sz="1100" dirty="0">
                <a:solidFill>
                  <a:schemeClr val="tx1"/>
                </a:solidFill>
              </a:rPr>
              <a:t>India’s Services PMI remained steady at  57.9 in Apr-26, driven by rising demand</a:t>
            </a:r>
            <a:endParaRPr lang="en-US" sz="1100" dirty="0">
              <a:solidFill>
                <a:schemeClr val="tx1"/>
              </a:solidFill>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C433CDF-44CD-0BCF-82F8-6C981688DB00}"/>
              </a:ext>
            </a:extLst>
          </p:cNvPr>
          <p:cNvSpPr txBox="1"/>
          <p:nvPr/>
        </p:nvSpPr>
        <p:spPr>
          <a:xfrm>
            <a:off x="7819053" y="4470863"/>
            <a:ext cx="2242943" cy="338554"/>
          </a:xfrm>
          <a:prstGeom prst="rect">
            <a:avLst/>
          </a:prstGeom>
          <a:noFill/>
        </p:spPr>
        <p:txBody>
          <a:bodyPr wrap="square" rtlCol="0">
            <a:spAutoFit/>
          </a:bodyP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Source: Trading Economics</a:t>
            </a:r>
          </a:p>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Data as on </a:t>
            </a:r>
            <a:r>
              <a:rPr lang="en-IN" sz="800" dirty="0">
                <a:solidFill>
                  <a:schemeClr val="tx1"/>
                </a:solidFill>
                <a:latin typeface="Calibri" panose="020F0502020204030204" pitchFamily="34" charset="0"/>
                <a:ea typeface="Calibri" panose="020F0502020204030204" pitchFamily="34" charset="0"/>
                <a:cs typeface="Calibri" panose="020F0502020204030204" pitchFamily="34" charset="0"/>
              </a:rPr>
              <a:t>Apr-26</a:t>
            </a:r>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800" dirty="0">
              <a:solidFill>
                <a:schemeClr val="tx1"/>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DDD708C4-7AA7-A26D-3F94-ED05CD3BB803}"/>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B9DD285-9D3E-6A14-30F3-6A1431EFB09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1299F53A-7AC1-76EE-51A7-94CEC2CAB4CB}"/>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7A08B44-2581-B5DC-A734-027DE6C926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404A7A56-E127-B3FF-B1D7-CAA9B7960B9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7D1FC4FF-E417-8612-8C61-23B093C245B5}"/>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10" name="Chart 9">
            <a:extLst>
              <a:ext uri="{FF2B5EF4-FFF2-40B4-BE49-F238E27FC236}">
                <a16:creationId xmlns:a16="http://schemas.microsoft.com/office/drawing/2014/main" id="{D14A91E1-8A63-AC94-B826-68AC0C1F8B69}"/>
              </a:ext>
            </a:extLst>
          </p:cNvPr>
          <p:cNvGraphicFramePr/>
          <p:nvPr>
            <p:extLst>
              <p:ext uri="{D42A27DB-BD31-4B8C-83A1-F6EECF244321}">
                <p14:modId xmlns:p14="http://schemas.microsoft.com/office/powerpoint/2010/main" val="3199197654"/>
              </p:ext>
            </p:extLst>
          </p:nvPr>
        </p:nvGraphicFramePr>
        <p:xfrm>
          <a:off x="750323" y="1141955"/>
          <a:ext cx="7814013" cy="28149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15396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45025"/>
            <a:ext cx="3448589"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Outlook – Medium Term</a:t>
            </a:r>
            <a:endParaRPr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Diagram 10">
            <a:extLst>
              <a:ext uri="{FF2B5EF4-FFF2-40B4-BE49-F238E27FC236}">
                <a16:creationId xmlns:a16="http://schemas.microsoft.com/office/drawing/2014/main" id="{96EDC516-54F1-488D-9CFC-DB645FBB4FF6}"/>
              </a:ext>
            </a:extLst>
          </p:cNvPr>
          <p:cNvGraphicFramePr/>
          <p:nvPr>
            <p:extLst>
              <p:ext uri="{D42A27DB-BD31-4B8C-83A1-F6EECF244321}">
                <p14:modId xmlns:p14="http://schemas.microsoft.com/office/powerpoint/2010/main" val="612103889"/>
              </p:ext>
            </p:extLst>
          </p:nvPr>
        </p:nvGraphicFramePr>
        <p:xfrm>
          <a:off x="292378" y="1092829"/>
          <a:ext cx="8027895" cy="3548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own Arrow 2">
            <a:extLst>
              <a:ext uri="{FF2B5EF4-FFF2-40B4-BE49-F238E27FC236}">
                <a16:creationId xmlns:a16="http://schemas.microsoft.com/office/drawing/2014/main" id="{F0B0499F-96D5-427D-93F6-0DE8D47CAA81}"/>
              </a:ext>
            </a:extLst>
          </p:cNvPr>
          <p:cNvSpPr/>
          <p:nvPr/>
        </p:nvSpPr>
        <p:spPr>
          <a:xfrm rot="10800000">
            <a:off x="8438721" y="1348635"/>
            <a:ext cx="347361" cy="308367"/>
          </a:xfrm>
          <a:prstGeom prst="down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Left-Right Arrow 6">
            <a:extLst>
              <a:ext uri="{FF2B5EF4-FFF2-40B4-BE49-F238E27FC236}">
                <a16:creationId xmlns:a16="http://schemas.microsoft.com/office/drawing/2014/main" id="{9BB9C202-27EC-4527-B625-AAA2FCD1279D}"/>
              </a:ext>
            </a:extLst>
          </p:cNvPr>
          <p:cNvSpPr/>
          <p:nvPr/>
        </p:nvSpPr>
        <p:spPr>
          <a:xfrm>
            <a:off x="8403302" y="2761002"/>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Left-Right Arrow 7">
            <a:extLst>
              <a:ext uri="{FF2B5EF4-FFF2-40B4-BE49-F238E27FC236}">
                <a16:creationId xmlns:a16="http://schemas.microsoft.com/office/drawing/2014/main" id="{C2B4A3FD-5DE7-48D6-9163-7EC3D76EF456}"/>
              </a:ext>
            </a:extLst>
          </p:cNvPr>
          <p:cNvSpPr/>
          <p:nvPr/>
        </p:nvSpPr>
        <p:spPr>
          <a:xfrm>
            <a:off x="8403302" y="3491438"/>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Left-Right Arrow 8">
            <a:extLst>
              <a:ext uri="{FF2B5EF4-FFF2-40B4-BE49-F238E27FC236}">
                <a16:creationId xmlns:a16="http://schemas.microsoft.com/office/drawing/2014/main" id="{B6D75F66-93AD-4A90-8DCE-FE36FC9052FA}"/>
              </a:ext>
            </a:extLst>
          </p:cNvPr>
          <p:cNvSpPr/>
          <p:nvPr/>
        </p:nvSpPr>
        <p:spPr>
          <a:xfrm>
            <a:off x="8403302" y="4197733"/>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Left-Right Arrow 9">
            <a:extLst>
              <a:ext uri="{FF2B5EF4-FFF2-40B4-BE49-F238E27FC236}">
                <a16:creationId xmlns:a16="http://schemas.microsoft.com/office/drawing/2014/main" id="{06F6397A-0F4B-41F3-AE75-9723C0445003}"/>
              </a:ext>
            </a:extLst>
          </p:cNvPr>
          <p:cNvSpPr/>
          <p:nvPr/>
        </p:nvSpPr>
        <p:spPr>
          <a:xfrm>
            <a:off x="8396578" y="2011565"/>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A4A21F-1F8E-3CF0-6B12-975E6E9936E1}"/>
              </a:ext>
            </a:extLst>
          </p:cNvPr>
          <p:cNvSpPr txBox="1"/>
          <p:nvPr/>
        </p:nvSpPr>
        <p:spPr>
          <a:xfrm>
            <a:off x="5809269" y="4673281"/>
            <a:ext cx="3334731" cy="215444"/>
          </a:xfrm>
          <a:prstGeom prst="rect">
            <a:avLst/>
          </a:prstGeom>
          <a:noFill/>
        </p:spPr>
        <p:txBody>
          <a:bodyPr wrap="square" rtlCol="0">
            <a:spAutoFit/>
          </a:bodyPr>
          <a:lstStyle/>
          <a:p>
            <a:r>
              <a:rPr lang="en-US" sz="800" dirty="0">
                <a:solidFill>
                  <a:srgbClr val="333333"/>
                </a:solidFill>
                <a:latin typeface="Calibri" panose="020F0502020204030204" pitchFamily="34" charset="0"/>
                <a:ea typeface="Calibri" panose="020F0502020204030204" pitchFamily="34" charset="0"/>
                <a:cs typeface="Calibri" panose="020F0502020204030204" pitchFamily="34" charset="0"/>
              </a:rPr>
              <a:t>Source: Trading Economics, Investing.com, Money control, Federal reserve</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163FDCD3-794C-97AB-CADF-72429916C03B}"/>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AEA0327-7D80-9177-A69E-AE2F60471DD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93E2A88-C19E-AFA9-7668-83C8C04E697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1EC85C24-D284-0C04-22ED-E893714E48D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6BC501F8-4AE6-0D61-B3A4-77D3291245F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3E846EEA-8795-90A4-3796-018C990AD23F}"/>
              </a:ext>
            </a:extLst>
          </p:cNvPr>
          <p:cNvPicPr>
            <a:picLocks noChangeAspect="1"/>
          </p:cNvPicPr>
          <p:nvPr/>
        </p:nvPicPr>
        <p:blipFill>
          <a:blip r:embed="rId8"/>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763538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D3D3AB-BC0D-4147-A428-30951BFA4E05}"/>
              </a:ext>
            </a:extLst>
          </p:cNvPr>
          <p:cNvSpPr/>
          <p:nvPr/>
        </p:nvSpPr>
        <p:spPr>
          <a:xfrm>
            <a:off x="719999" y="1157867"/>
            <a:ext cx="7952053" cy="3259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Middle East tensions likely to keep oil prices elevated and inflation sticky</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Supply chain risks may emerge from Q1FY27 amid global disruptions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India’s valuations remain elevated, limiting near-term upside versus other emerging markets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ea typeface="Calibri" panose="020F0502020204030204" pitchFamily="34" charset="0"/>
                <a:cs typeface="Calibri" panose="020F0502020204030204" pitchFamily="34" charset="0"/>
              </a:rPr>
              <a:t>Strong US dollar may pressure the rupee and sustain capital outflows</a:t>
            </a:r>
          </a:p>
          <a:p>
            <a:endParaRPr lang="en-US" sz="1200" dirty="0">
              <a:solidFill>
                <a:schemeClr val="tx1"/>
              </a:solidFill>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solidFill>
                <a:ea typeface="Calibri" panose="020F0502020204030204" pitchFamily="34" charset="0"/>
                <a:cs typeface="Calibri" panose="020F0502020204030204" pitchFamily="34" charset="0"/>
              </a:rPr>
              <a:t>Potential El Niño impact could disrupt monsoons and weigh on rural demand and inflation</a:t>
            </a:r>
          </a:p>
          <a:p>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A9A6565E-1E40-C80E-4B77-ED61ABC2EB27}"/>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F747E186-2253-7CD2-4DFD-20BDDBE01EF1}"/>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8BDFEDC-04D6-2E94-776E-180F8AE0C6CD}"/>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D5ACD7F-E5A0-7597-8120-CE1646513EC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1F55750C-44DD-920A-F662-1CB5D7843A2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04874DCD-4EDD-0F82-3D55-7F0E0BD082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0" name="Title 9">
            <a:extLst>
              <a:ext uri="{FF2B5EF4-FFF2-40B4-BE49-F238E27FC236}">
                <a16:creationId xmlns:a16="http://schemas.microsoft.com/office/drawing/2014/main" id="{D3FD31D1-0421-E655-4BC8-8CAE6CE6D273}"/>
              </a:ext>
            </a:extLst>
          </p:cNvPr>
          <p:cNvSpPr>
            <a:spLocks noGrp="1"/>
          </p:cNvSpPr>
          <p:nvPr>
            <p:ph type="title"/>
          </p:nvPr>
        </p:nvSpPr>
        <p:spPr/>
        <p:txBody>
          <a:bodyPr/>
          <a:lstStyle/>
          <a:p>
            <a:r>
              <a:rPr lang="en-US" sz="2000" dirty="0">
                <a:latin typeface="+mn-lt"/>
              </a:rPr>
              <a:t>Key Risks</a:t>
            </a:r>
          </a:p>
        </p:txBody>
      </p:sp>
    </p:spTree>
    <p:extLst>
      <p:ext uri="{BB962C8B-B14F-4D97-AF65-F5344CB8AC3E}">
        <p14:creationId xmlns:p14="http://schemas.microsoft.com/office/powerpoint/2010/main" val="1459753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Disclaimer</a:t>
            </a:r>
          </a:p>
        </p:txBody>
      </p:sp>
      <p:sp>
        <p:nvSpPr>
          <p:cNvPr id="20" name="Content Placeholder 2">
            <a:extLst>
              <a:ext uri="{FF2B5EF4-FFF2-40B4-BE49-F238E27FC236}">
                <a16:creationId xmlns:a16="http://schemas.microsoft.com/office/drawing/2014/main" id="{446CA3D9-C2F5-9AC5-4D3B-216048E03B47}"/>
              </a:ext>
            </a:extLst>
          </p:cNvPr>
          <p:cNvSpPr txBox="1">
            <a:spLocks/>
          </p:cNvSpPr>
          <p:nvPr/>
        </p:nvSpPr>
        <p:spPr>
          <a:xfrm>
            <a:off x="541020" y="1109288"/>
            <a:ext cx="8290560" cy="3542830"/>
          </a:xfrm>
          <a:prstGeom prst="rect">
            <a:avLst/>
          </a:prstGeom>
          <a:solidFill>
            <a:srgbClr val="000000">
              <a:alpha val="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Medium"/>
                <a:ea typeface="DM Sans Medium"/>
                <a:cs typeface="DM Sans Medium"/>
                <a:sym typeface="DM Sans Medium"/>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gn="just">
              <a:lnSpc>
                <a:spcPct val="170000"/>
              </a:lnSpc>
            </a:pPr>
            <a:r>
              <a:rPr lang="en-IN" sz="900" dirty="0">
                <a:latin typeface="Calibri" panose="020F0502020204030204" pitchFamily="34" charset="0"/>
                <a:ea typeface="Calibri" panose="020F0502020204030204" pitchFamily="34" charset="0"/>
                <a:cs typeface="Calibri" panose="020F0502020204030204" pitchFamily="34" charset="0"/>
              </a:rPr>
              <a:t>DISCLAIMER The views expressed herein are based on internal data, publicly available information and other sources believed to be reliable. Any calculations made are approximations, meant as guidelines only, which you must confirm before relying on them. This document has been prepared based on information, which is already available in publicly accessible media or developed through analysis of Shriram Mutual Fund. The recipient should note and understand that the information provided above may not contain all the material aspects relevant for making an investment decision and the security may or may not continue to form part of the scheme's portfolio in the future. Investors are advised to consult their investment advisor before making any investment decision in light of their risk appetite, investment goals, and horizon. The decision of the Investment Manager may not always be profitable; as such decisions are based on the prevailing market conditions and the understanding of the Investment Manager. Actual market movements may vary from the anticipated trends. Past performance may or may not be sustained in future. Sectors referred above are illustrative and not recommended by Shriram Mutual Fund (the Fund) / Shriram AMC. The Fund may or may not have any present or future positions in these sectors. Shriram AMC / the Fund is not guaranteeing / offering / communicating any indicative yield on investments made in the scheme(s). Neither Shriram AMC and the Fund nor any person connected with them, accepts any liability arising from the use of this document. The recipient(s) before acting on any information herein should make his/her/their own investigation and seek appropriate professional advice and shall alone be fully responsible / liable for any decision taken on the basis of information contained herein. Please refer to the Offer Documents/ Statement of Additional Information/ Key Information Memorandum of the Scheme before investing.</a:t>
            </a:r>
          </a:p>
          <a:p>
            <a:pPr marL="0" indent="0" algn="just"/>
            <a:endParaRPr lang="en-IN" sz="900" dirty="0">
              <a:latin typeface="Calibri" panose="020F0502020204030204" pitchFamily="34" charset="0"/>
              <a:ea typeface="Calibri" panose="020F0502020204030204" pitchFamily="34" charset="0"/>
              <a:cs typeface="Calibri" panose="020F0502020204030204" pitchFamily="34" charset="0"/>
            </a:endParaRPr>
          </a:p>
          <a:p>
            <a:pPr marL="0" indent="0" algn="just"/>
            <a:r>
              <a:rPr lang="en-IN" sz="900" b="1" i="1" dirty="0">
                <a:latin typeface="Calibri" panose="020F0502020204030204" pitchFamily="34" charset="0"/>
                <a:ea typeface="Calibri" panose="020F0502020204030204" pitchFamily="34" charset="0"/>
                <a:cs typeface="Calibri" panose="020F0502020204030204" pitchFamily="34" charset="0"/>
              </a:rPr>
              <a:t>MUTUAL FUND INVESTMENTS ARE SUBJECT TO MARKET RISKS, READ ALL SCHEME RELATED DOCUMENTS CAREFULLY.</a:t>
            </a:r>
          </a:p>
        </p:txBody>
      </p:sp>
      <p:grpSp>
        <p:nvGrpSpPr>
          <p:cNvPr id="2" name="Google Shape;262;p6">
            <a:extLst>
              <a:ext uri="{FF2B5EF4-FFF2-40B4-BE49-F238E27FC236}">
                <a16:creationId xmlns:a16="http://schemas.microsoft.com/office/drawing/2014/main" id="{68351EFC-8A98-53F2-88D8-F46F98F023FF}"/>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C4800DD-C9E9-C66D-347F-02ACBB17F048}"/>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CAD5EC11-C395-4C9F-FE1E-249A7564B316}"/>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C4205B-6FEB-225B-3E71-70CED726C79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D99498F4-1346-BD33-3A10-76ECF37F184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EF38F678-A471-680A-6C9B-52DD0001BC14}"/>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2E8CD-E4E0-9F68-9A0A-09849BCCFC39}"/>
              </a:ext>
            </a:extLst>
          </p:cNvPr>
          <p:cNvSpPr txBox="1"/>
          <p:nvPr/>
        </p:nvSpPr>
        <p:spPr>
          <a:xfrm>
            <a:off x="2617749" y="2306293"/>
            <a:ext cx="2892714" cy="646331"/>
          </a:xfrm>
          <a:prstGeom prst="rect">
            <a:avLst/>
          </a:prstGeom>
          <a:noFill/>
        </p:spPr>
        <p:txBody>
          <a:bodyPr wrap="square" rtlCol="0">
            <a:spAutoFit/>
          </a:bodyPr>
          <a:lstStyle/>
          <a:p>
            <a:pPr algn="ctr"/>
            <a:r>
              <a:rPr lang="en-US" sz="3600" b="1" dirty="0">
                <a:latin typeface="+mj-lt"/>
              </a:rPr>
              <a:t>Thank You</a:t>
            </a:r>
          </a:p>
        </p:txBody>
      </p:sp>
      <p:sp>
        <p:nvSpPr>
          <p:cNvPr id="3" name="Slide Number Placeholder 2"/>
          <p:cNvSpPr>
            <a:spLocks noGrp="1"/>
          </p:cNvSpPr>
          <p:nvPr>
            <p:ph type="sldNum" sz="quarter" idx="12"/>
          </p:nvPr>
        </p:nvSpPr>
        <p:spPr>
          <a:xfrm>
            <a:off x="8716457" y="632812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430A5-9376-4D7E-A28C-CDCCC8918707}" type="slidenum">
              <a:rPr lang="en-US" smtClean="0"/>
              <a:pPr/>
              <a:t>25</a:t>
            </a:fld>
            <a:endParaRPr lang="en-US" dirty="0"/>
          </a:p>
        </p:txBody>
      </p:sp>
    </p:spTree>
    <p:extLst>
      <p:ext uri="{BB962C8B-B14F-4D97-AF65-F5344CB8AC3E}">
        <p14:creationId xmlns:p14="http://schemas.microsoft.com/office/powerpoint/2010/main" val="309313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Monochrome Strong Yellow Theme for Marketing by Slidesgo">
  <a:themeElements>
    <a:clrScheme name="Simple Light">
      <a:dk1>
        <a:srgbClr val="191919"/>
      </a:dk1>
      <a:lt1>
        <a:srgbClr val="FFFFFF"/>
      </a:lt1>
      <a:dk2>
        <a:srgbClr val="FDD900"/>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imple Light">
    <a:dk1>
      <a:srgbClr val="191919"/>
    </a:dk1>
    <a:lt1>
      <a:srgbClr val="FFFFFF"/>
    </a:lt1>
    <a:dk2>
      <a:srgbClr val="FDD900"/>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66164</TotalTime>
  <Words>2545</Words>
  <Application>Microsoft Office PowerPoint</Application>
  <PresentationFormat>On-screen Show (16:9)</PresentationFormat>
  <Paragraphs>292</Paragraphs>
  <Slides>25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Nunito Light</vt:lpstr>
      <vt:lpstr>Montserrat</vt:lpstr>
      <vt:lpstr>DM Sans Medium</vt:lpstr>
      <vt:lpstr>Calibri</vt:lpstr>
      <vt:lpstr>Bebas Neue</vt:lpstr>
      <vt:lpstr>Wingdings</vt:lpstr>
      <vt:lpstr>DM Sans</vt:lpstr>
      <vt:lpstr>Monochrome Strong Yellow Theme for Marketing by Slidesgo</vt:lpstr>
      <vt:lpstr>PowerPoint Presentation</vt:lpstr>
      <vt:lpstr>Market Overview  </vt:lpstr>
      <vt:lpstr>Indian markets rebounded in Apr-26</vt:lpstr>
      <vt:lpstr>Global Markets (MSCI) – Geopolitical Impact</vt:lpstr>
      <vt:lpstr>INR weakness driven by stronger DXY</vt:lpstr>
      <vt:lpstr> FIIs remained net sellers in Apr-26</vt:lpstr>
      <vt:lpstr>Global LNG supply disruption</vt:lpstr>
      <vt:lpstr>Global airlines cuts on cost surge</vt:lpstr>
      <vt:lpstr>Japan’s bond yields signal policy shift</vt:lpstr>
      <vt:lpstr>US 10Y Yields Signal Tight Liquidity</vt:lpstr>
      <vt:lpstr>Sector Indices performance – Apr-26</vt:lpstr>
      <vt:lpstr>Sectors update</vt:lpstr>
      <vt:lpstr>Sectors update </vt:lpstr>
      <vt:lpstr>Sectors update </vt:lpstr>
      <vt:lpstr>Global Update</vt:lpstr>
      <vt:lpstr>Global rates steady amid cautious policy stance</vt:lpstr>
      <vt:lpstr>Global inflation rising</vt:lpstr>
      <vt:lpstr>Domestic Update</vt:lpstr>
      <vt:lpstr>Macro updates </vt:lpstr>
      <vt:lpstr>Robust GST collections in Apr-26</vt:lpstr>
      <vt:lpstr>PMI : Manufacturing  Strengthens </vt:lpstr>
      <vt:lpstr>Outlook – Medium Term</vt:lpstr>
      <vt:lpstr>Key Risks</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Ramaraju</dc:creator>
  <cp:lastModifiedBy>Sheetal Keswani</cp:lastModifiedBy>
  <cp:revision>2381</cp:revision>
  <dcterms:modified xsi:type="dcterms:W3CDTF">2026-05-07T07:27:19Z</dcterms:modified>
</cp:coreProperties>
</file>