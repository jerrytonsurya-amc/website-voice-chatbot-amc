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tags/tag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551" r:id="rId3"/>
    <p:sldId id="508" r:id="rId4"/>
    <p:sldId id="566" r:id="rId5"/>
    <p:sldId id="550" r:id="rId6"/>
    <p:sldId id="581" r:id="rId7"/>
    <p:sldId id="582" r:id="rId8"/>
    <p:sldId id="583" r:id="rId9"/>
    <p:sldId id="497" r:id="rId10"/>
    <p:sldId id="450" r:id="rId11"/>
    <p:sldId id="573" r:id="rId12"/>
    <p:sldId id="452" r:id="rId13"/>
    <p:sldId id="455" r:id="rId14"/>
    <p:sldId id="260" r:id="rId15"/>
    <p:sldId id="579" r:id="rId16"/>
    <p:sldId id="503" r:id="rId17"/>
    <p:sldId id="502" r:id="rId18"/>
    <p:sldId id="461" r:id="rId19"/>
    <p:sldId id="558" r:id="rId20"/>
    <p:sldId id="580" r:id="rId21"/>
    <p:sldId id="496" r:id="rId22"/>
    <p:sldId id="559" r:id="rId23"/>
    <p:sldId id="552" r:id="rId24"/>
    <p:sldId id="261" r:id="rId25"/>
    <p:sldId id="298" r:id="rId26"/>
  </p:sldIdLst>
  <p:sldSz cx="9144000" cy="5143500" type="screen16x9"/>
  <p:notesSz cx="6858000" cy="9144000"/>
  <p:embeddedFontLst>
    <p:embeddedFont>
      <p:font typeface="Bebas Neue" panose="020B0606020202050201" pitchFamily="34" charset="0"/>
      <p:regular r:id="rId28"/>
    </p:embeddedFont>
    <p:embeddedFont>
      <p:font typeface="DM Sans" pitchFamily="2" charset="0"/>
      <p:regular r:id="rId29"/>
      <p:bold r:id="rId30"/>
      <p:italic r:id="rId31"/>
      <p:boldItalic r:id="rId32"/>
    </p:embeddedFont>
    <p:embeddedFont>
      <p:font typeface="DM Sans Medium" pitchFamily="2" charset="0"/>
      <p:regular r:id="rId33"/>
      <p:bold r:id="rId34"/>
      <p:italic r:id="rId35"/>
      <p:boldItalic r:id="rId36"/>
    </p:embeddedFont>
    <p:embeddedFont>
      <p:font typeface="Montserrat" panose="00000500000000000000" pitchFamily="2" charset="0"/>
      <p:regular r:id="rId37"/>
      <p:bold r:id="rId38"/>
      <p:italic r:id="rId39"/>
      <p:boldItalic r:id="rId40"/>
    </p:embeddedFont>
    <p:embeddedFont>
      <p:font typeface="Nunito Light" pitchFamily="2" charset="0"/>
      <p:regular r:id="rId41"/>
      <p: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gtpNPjNvlHWwJ9kNntkaGnj72nc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FA26D13-1640-5731-07C0-2633E89926DF}" name="ajay bhanushali" initials="ab" userId="7b362fd27c767146" providerId="Windows Live"/>
  <p188:author id="{0EA99517-056F-B13A-5DBF-44FDDDC7429F}" name="Ajay Bhanushali" initials="AR" userId="S::ajay@shriramamc.in::cb6c4228-ba46-4e04-8e35-8344592da834" providerId="AD"/>
  <p188:author id="{953B9D5E-DB98-3C3D-ED2E-F6F0EB4CF391}" name="Sheetal Keswani" initials="SK" userId="093a91d09d0f67a5" providerId="Windows Live"/>
  <p188:author id="{E84E6873-F220-4674-57D1-0CDCF9F38013}" name="Gargi Bhattacharyya Banerjee" initials="GB" userId="e1c9d0a53214f6ac" providerId="Windows Live"/>
  <p188:author id="{E9E5827F-8045-D629-AFD7-1463DEBBDFF4}" name="Gargi" initials="G" userId="S::gargi@shriramamc.in::34837e9c-ce14-468e-9e73-8e1968613f58" providerId="AD"/>
  <p188:author id="{7FE69591-7E67-9B37-9C72-CF5BE52CD564}" name="Sheetal Keswani" initials="SK" userId="S::sheetal@shriramamc.in::bf30985f-1661-43ee-8fa6-db08001090d7" providerId="AD"/>
  <p188:author id="{C81E1A97-3728-CC8F-5A0E-CB0099683B7A}" name="Shibangi Choudhury" initials="SC" userId="S::shibangi.choudhury@shriramamc.in::381f474d-aeb1-47f1-ad8d-9ca6d716be72" providerId="AD"/>
  <p188:author id="{316931B9-E745-2BAE-02A8-76DFFA56C75B}" name="Ajay Ramesh Bhanushali" initials="ARB" userId="Ajay Ramesh Bhanushali" providerId="None"/>
  <p188:author id="{AA075AEC-8ACF-3BC0-D21D-763E3103F0B4}" name="ajay bhanushali" initials="ab" userId="a2a0343971f8c688"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heetal Keswani" initials="SK" lastIdx="1" clrIdx="0">
    <p:extLst>
      <p:ext uri="{19B8F6BF-5375-455C-9EA6-DF929625EA0E}">
        <p15:presenceInfo xmlns:p15="http://schemas.microsoft.com/office/powerpoint/2012/main" userId="Sheetal Keswani" providerId="None"/>
      </p:ext>
    </p:extLst>
  </p:cmAuthor>
  <p:cmAuthor id="2" name="Gargi Bhattacharyya Banerjee" initials="GB" lastIdx="7" clrIdx="1">
    <p:extLst>
      <p:ext uri="{19B8F6BF-5375-455C-9EA6-DF929625EA0E}">
        <p15:presenceInfo xmlns:p15="http://schemas.microsoft.com/office/powerpoint/2012/main" userId="e1c9d0a53214f6a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999999"/>
    <a:srgbClr val="66CCFF"/>
    <a:srgbClr val="000000"/>
    <a:srgbClr val="66FFFF"/>
    <a:srgbClr val="CCCCFF"/>
    <a:srgbClr val="99CCFF"/>
    <a:srgbClr val="003300"/>
    <a:srgbClr val="FFCC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8A06C3-4186-4947-AB97-5CE784B852D7}">
  <a:tblStyle styleId="{C28A06C3-4186-4947-AB97-5CE784B852D7}" styleName="Table_0">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EFBFC67-1CD7-423C-8FB7-7E03140B58E8}"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3" d="100"/>
          <a:sy n="103" d="100"/>
        </p:scale>
        <p:origin x="902" y="7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93"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287028663503824E-2"/>
          <c:y val="0.1681280439578737"/>
          <c:w val="0.91990572876723664"/>
          <c:h val="0.70357532364817055"/>
        </c:manualLayout>
      </c:layout>
      <c:barChart>
        <c:barDir val="col"/>
        <c:grouping val="clustered"/>
        <c:varyColors val="0"/>
        <c:ser>
          <c:idx val="0"/>
          <c:order val="0"/>
          <c:tx>
            <c:strRef>
              <c:f>Sheet1!$B$1</c:f>
              <c:strCache>
                <c:ptCount val="1"/>
                <c:pt idx="0">
                  <c:v>NIFTY 50</c:v>
                </c:pt>
              </c:strCache>
            </c:strRef>
          </c:tx>
          <c:spPr>
            <a:solidFill>
              <a:schemeClr val="tx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Sheet1!$B$2:$B$5</c:f>
              <c:numCache>
                <c:formatCode>0.0%</c:formatCode>
                <c:ptCount val="4"/>
                <c:pt idx="0">
                  <c:v>-5.6080708828565307E-3</c:v>
                </c:pt>
                <c:pt idx="1">
                  <c:v>-3.9091018377701681E-2</c:v>
                </c:pt>
                <c:pt idx="2">
                  <c:v>3.077760742789204E-2</c:v>
                </c:pt>
                <c:pt idx="3">
                  <c:v>0.13803351005889342</c:v>
                </c:pt>
              </c:numCache>
            </c:numRef>
          </c:val>
          <c:extLst>
            <c:ext xmlns:c16="http://schemas.microsoft.com/office/drawing/2014/chart" uri="{C3380CC4-5D6E-409C-BE32-E72D297353CC}">
              <c16:uniqueId val="{00000000-856F-42EA-9694-51B0AD87DA68}"/>
            </c:ext>
          </c:extLst>
        </c:ser>
        <c:ser>
          <c:idx val="1"/>
          <c:order val="1"/>
          <c:tx>
            <c:strRef>
              <c:f>Sheet1!$C$1</c:f>
              <c:strCache>
                <c:ptCount val="1"/>
                <c:pt idx="0">
                  <c:v>NIFTY MIDCAP 50</c:v>
                </c:pt>
              </c:strCache>
            </c:strRef>
          </c:tx>
          <c:spPr>
            <a:solidFill>
              <a:srgbClr val="FFC000"/>
            </a:solidFill>
            <a:ln>
              <a:noFill/>
            </a:ln>
            <a:effectLst/>
          </c:spPr>
          <c:invertIfNegative val="0"/>
          <c:dLbls>
            <c:dLbl>
              <c:idx val="0"/>
              <c:layout>
                <c:manualLayout>
                  <c:x val="-3.5154770493896668E-3"/>
                  <c:y val="-7.97393376529031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6F-42EA-9694-51B0AD87DA68}"/>
                </c:ext>
              </c:extLst>
            </c:dLbl>
            <c:dLbl>
              <c:idx val="2"/>
              <c:layout>
                <c:manualLayout>
                  <c:x val="0"/>
                  <c:y val="-0.114392234956402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8C3-41B2-AA16-2D43B794ECCD}"/>
                </c:ext>
              </c:extLst>
            </c:dLbl>
            <c:dLbl>
              <c:idx val="3"/>
              <c:layout>
                <c:manualLayout>
                  <c:x val="1.7327702603139396E-2"/>
                  <c:y val="-4.973575432887082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C3-41B2-AA16-2D43B794ECC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Sheet1!$C$2:$C$5</c:f>
              <c:numCache>
                <c:formatCode>0.0%</c:formatCode>
                <c:ptCount val="4"/>
                <c:pt idx="0">
                  <c:v>4.3340871310260098E-3</c:v>
                </c:pt>
                <c:pt idx="1">
                  <c:v>-3.7734495395467582E-2</c:v>
                </c:pt>
                <c:pt idx="2">
                  <c:v>6.6870297013951863E-2</c:v>
                </c:pt>
                <c:pt idx="3">
                  <c:v>0.2382137568638456</c:v>
                </c:pt>
              </c:numCache>
            </c:numRef>
          </c:val>
          <c:extLst>
            <c:ext xmlns:c16="http://schemas.microsoft.com/office/drawing/2014/chart" uri="{C3380CC4-5D6E-409C-BE32-E72D297353CC}">
              <c16:uniqueId val="{00000002-856F-42EA-9694-51B0AD87DA68}"/>
            </c:ext>
          </c:extLst>
        </c:ser>
        <c:ser>
          <c:idx val="2"/>
          <c:order val="2"/>
          <c:tx>
            <c:strRef>
              <c:f>Sheet1!$D$1</c:f>
              <c:strCache>
                <c:ptCount val="1"/>
                <c:pt idx="0">
                  <c:v>NIFTY SMALLCAP 100</c:v>
                </c:pt>
              </c:strCache>
            </c:strRef>
          </c:tx>
          <c:spPr>
            <a:solidFill>
              <a:schemeClr val="tx1">
                <a:lumMod val="50000"/>
                <a:lumOff val="50000"/>
              </a:schemeClr>
            </a:solidFill>
            <a:ln>
              <a:noFill/>
            </a:ln>
            <a:effectLst/>
          </c:spPr>
          <c:invertIfNegative val="0"/>
          <c:dLbls>
            <c:dLbl>
              <c:idx val="1"/>
              <c:layout>
                <c:manualLayout>
                  <c:x val="0"/>
                  <c:y val="-7.46036314933062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8C3-41B2-AA16-2D43B794ECC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Sheet1!$D$2:$D$5</c:f>
              <c:numCache>
                <c:formatCode>0.0%</c:formatCode>
                <c:ptCount val="4"/>
                <c:pt idx="0">
                  <c:v>2.950394274576329E-3</c:v>
                </c:pt>
                <c:pt idx="1">
                  <c:v>-5.049847862361001E-2</c:v>
                </c:pt>
                <c:pt idx="2">
                  <c:v>-1.7304231729262098E-2</c:v>
                </c:pt>
                <c:pt idx="3">
                  <c:v>0.15161018217439226</c:v>
                </c:pt>
              </c:numCache>
            </c:numRef>
          </c:val>
          <c:extLst>
            <c:ext xmlns:c16="http://schemas.microsoft.com/office/drawing/2014/chart" uri="{C3380CC4-5D6E-409C-BE32-E72D297353CC}">
              <c16:uniqueId val="{00000003-856F-42EA-9694-51B0AD87DA68}"/>
            </c:ext>
          </c:extLst>
        </c:ser>
        <c:ser>
          <c:idx val="3"/>
          <c:order val="3"/>
          <c:tx>
            <c:strRef>
              <c:f>Sheet1!$E$1</c:f>
              <c:strCache>
                <c:ptCount val="1"/>
                <c:pt idx="0">
                  <c:v>NIFTY NEXT 50</c:v>
                </c:pt>
              </c:strCache>
            </c:strRef>
          </c:tx>
          <c:spPr>
            <a:solidFill>
              <a:srgbClr val="FF9966"/>
            </a:solidFill>
            <a:ln>
              <a:noFill/>
            </a:ln>
            <a:effectLst/>
          </c:spPr>
          <c:invertIfNegative val="0"/>
          <c:dLbls>
            <c:dLbl>
              <c:idx val="1"/>
              <c:layout>
                <c:manualLayout>
                  <c:x val="-5.1983107809418193E-3"/>
                  <c:y val="1.49207262986612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8C3-41B2-AA16-2D43B794ECCD}"/>
                </c:ext>
              </c:extLst>
            </c:dLbl>
            <c:dLbl>
              <c:idx val="2"/>
              <c:layout>
                <c:manualLayout>
                  <c:x val="2.1092999366379456E-2"/>
                  <c:y val="-1.05732006826790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6F-42EA-9694-51B0AD87DA68}"/>
                </c:ext>
              </c:extLst>
            </c:dLbl>
            <c:spPr>
              <a:noFill/>
              <a:ln>
                <a:noFill/>
              </a:ln>
              <a:effectLst/>
            </c:spPr>
            <c:txPr>
              <a:bodyPr rot="0" spcFirstLastPara="1" vertOverflow="ellipsis" vert="horz" wrap="square" anchor="ctr" anchorCtr="1"/>
              <a:lstStyle/>
              <a:p>
                <a:pPr algn="ct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Sheet1!$E$2:$E$5</c:f>
              <c:numCache>
                <c:formatCode>0.0%</c:formatCode>
                <c:ptCount val="4"/>
                <c:pt idx="0">
                  <c:v>2.7580397067505036E-2</c:v>
                </c:pt>
                <c:pt idx="1">
                  <c:v>8.2943469856062713E-3</c:v>
                </c:pt>
                <c:pt idx="2">
                  <c:v>6.0310362266762452E-2</c:v>
                </c:pt>
                <c:pt idx="3">
                  <c:v>0.22164693264730828</c:v>
                </c:pt>
              </c:numCache>
            </c:numRef>
          </c:val>
          <c:extLst>
            <c:ext xmlns:c16="http://schemas.microsoft.com/office/drawing/2014/chart" uri="{C3380CC4-5D6E-409C-BE32-E72D297353CC}">
              <c16:uniqueId val="{00000005-856F-42EA-9694-51B0AD87DA68}"/>
            </c:ext>
          </c:extLst>
        </c:ser>
        <c:dLbls>
          <c:showLegendKey val="0"/>
          <c:showVal val="0"/>
          <c:showCatName val="0"/>
          <c:showSerName val="0"/>
          <c:showPercent val="0"/>
          <c:showBubbleSize val="0"/>
        </c:dLbls>
        <c:gapWidth val="219"/>
        <c:axId val="602951328"/>
        <c:axId val="602952312"/>
      </c:barChart>
      <c:catAx>
        <c:axId val="60295132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02952312"/>
        <c:crosses val="autoZero"/>
        <c:auto val="1"/>
        <c:lblAlgn val="ctr"/>
        <c:lblOffset val="100"/>
        <c:noMultiLvlLbl val="0"/>
      </c:catAx>
      <c:valAx>
        <c:axId val="602952312"/>
        <c:scaling>
          <c:orientation val="minMax"/>
        </c:scaling>
        <c:delete val="1"/>
        <c:axPos val="l"/>
        <c:numFmt formatCode="0.0%" sourceLinked="1"/>
        <c:majorTickMark val="none"/>
        <c:minorTickMark val="none"/>
        <c:tickLblPos val="nextTo"/>
        <c:crossAx val="602951328"/>
        <c:crosses val="autoZero"/>
        <c:crossBetween val="between"/>
      </c:valAx>
      <c:spPr>
        <a:noFill/>
        <a:ln>
          <a:solidFill>
            <a:schemeClr val="bg1"/>
          </a:solid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solidFill>
      <a:round/>
    </a:ln>
    <a:effectLst/>
  </c:spPr>
  <c:txPr>
    <a:bodyPr/>
    <a:lstStyle/>
    <a:p>
      <a:pPr>
        <a:defRPr sz="1200">
          <a:latin typeface="Calibri" panose="020F0502020204030204" pitchFamily="34" charset="0"/>
          <a:ea typeface="Calibri" panose="020F0502020204030204" pitchFamily="34" charset="0"/>
          <a:cs typeface="Calibri" panose="020F0502020204030204" pitchFamily="34" charset="0"/>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sz="1200" dirty="0"/>
              <a:t>Global Equity Market  Returns (US$)</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8.1623348362889675E-2"/>
          <c:y val="0.1181596478421145"/>
          <c:w val="0.89495408021435696"/>
          <c:h val="0.67852892185611924"/>
        </c:manualLayout>
      </c:layout>
      <c:barChart>
        <c:barDir val="col"/>
        <c:grouping val="clustered"/>
        <c:varyColors val="0"/>
        <c:ser>
          <c:idx val="0"/>
          <c:order val="0"/>
          <c:tx>
            <c:strRef>
              <c:f>Sheet1!$B$1</c:f>
              <c:strCache>
                <c:ptCount val="1"/>
                <c:pt idx="0">
                  <c:v>1M</c:v>
                </c:pt>
              </c:strCache>
            </c:strRef>
          </c:tx>
          <c:spPr>
            <a:solidFill>
              <a:schemeClr val="bg2"/>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Sheet1!$B$2:$B$15</c:f>
              <c:numCache>
                <c:formatCode>0%</c:formatCode>
                <c:ptCount val="14"/>
                <c:pt idx="0" formatCode="0.0%">
                  <c:v>1.3100000000000001E-2</c:v>
                </c:pt>
                <c:pt idx="1">
                  <c:v>8.5709999999999995E-2</c:v>
                </c:pt>
                <c:pt idx="2">
                  <c:v>-9.8499999999999994E-3</c:v>
                </c:pt>
                <c:pt idx="3">
                  <c:v>3.848E-2</c:v>
                </c:pt>
                <c:pt idx="4">
                  <c:v>2.6409999999999999E-2</c:v>
                </c:pt>
                <c:pt idx="5">
                  <c:v>3.4250000000000003E-2</c:v>
                </c:pt>
                <c:pt idx="6">
                  <c:v>4.7190000000000003E-2</c:v>
                </c:pt>
                <c:pt idx="7">
                  <c:v>2.555E-2</c:v>
                </c:pt>
                <c:pt idx="8">
                  <c:v>6.3400000000000001E-3</c:v>
                </c:pt>
                <c:pt idx="9">
                  <c:v>-7.7619999999999995E-2</c:v>
                </c:pt>
                <c:pt idx="10">
                  <c:v>5.1139999999999998E-2</c:v>
                </c:pt>
                <c:pt idx="11">
                  <c:v>2.6409999999999999E-2</c:v>
                </c:pt>
                <c:pt idx="12">
                  <c:v>9.6339999999999995E-2</c:v>
                </c:pt>
              </c:numCache>
            </c:numRef>
          </c:val>
          <c:extLst>
            <c:ext xmlns:c16="http://schemas.microsoft.com/office/drawing/2014/chart" uri="{C3380CC4-5D6E-409C-BE32-E72D297353CC}">
              <c16:uniqueId val="{00000000-A671-4713-9528-E5E7D7BE7E47}"/>
            </c:ext>
          </c:extLst>
        </c:ser>
        <c:ser>
          <c:idx val="1"/>
          <c:order val="1"/>
          <c:tx>
            <c:strRef>
              <c:f>Sheet1!$C$1</c:f>
              <c:strCache>
                <c:ptCount val="1"/>
                <c:pt idx="0">
                  <c:v>3M</c:v>
                </c:pt>
              </c:strCache>
            </c:strRef>
          </c:tx>
          <c:spPr>
            <a:solidFill>
              <a:schemeClr val="tx2">
                <a:lumMod val="75000"/>
              </a:schemeClr>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Sheet1!$C$2:$C$15</c:f>
              <c:numCache>
                <c:formatCode>0%</c:formatCode>
                <c:ptCount val="14"/>
                <c:pt idx="0" formatCode="0.0%">
                  <c:v>-4.3799999999999999E-2</c:v>
                </c:pt>
                <c:pt idx="1">
                  <c:v>0.16225000000000001</c:v>
                </c:pt>
                <c:pt idx="2">
                  <c:v>1.25E-3</c:v>
                </c:pt>
                <c:pt idx="3">
                  <c:v>0.16900999999999999</c:v>
                </c:pt>
                <c:pt idx="4">
                  <c:v>0.12517</c:v>
                </c:pt>
                <c:pt idx="5">
                  <c:v>0.16763</c:v>
                </c:pt>
                <c:pt idx="6">
                  <c:v>0.14133000000000001</c:v>
                </c:pt>
                <c:pt idx="7">
                  <c:v>8.831E-2</c:v>
                </c:pt>
                <c:pt idx="8">
                  <c:v>5.8110000000000002E-2</c:v>
                </c:pt>
                <c:pt idx="9">
                  <c:v>-5.774E-2</c:v>
                </c:pt>
                <c:pt idx="10">
                  <c:v>8.0339999999999995E-2</c:v>
                </c:pt>
                <c:pt idx="11">
                  <c:v>0.12254</c:v>
                </c:pt>
                <c:pt idx="12">
                  <c:v>0.29374</c:v>
                </c:pt>
              </c:numCache>
            </c:numRef>
          </c:val>
          <c:extLst>
            <c:ext xmlns:c16="http://schemas.microsoft.com/office/drawing/2014/chart" uri="{C3380CC4-5D6E-409C-BE32-E72D297353CC}">
              <c16:uniqueId val="{00000001-A671-4713-9528-E5E7D7BE7E47}"/>
            </c:ext>
          </c:extLst>
        </c:ser>
        <c:ser>
          <c:idx val="2"/>
          <c:order val="2"/>
          <c:tx>
            <c:strRef>
              <c:f>Sheet1!$D$1</c:f>
              <c:strCache>
                <c:ptCount val="1"/>
                <c:pt idx="0">
                  <c:v>1 Yr</c:v>
                </c:pt>
              </c:strCache>
            </c:strRef>
          </c:tx>
          <c:spPr>
            <a:solidFill>
              <a:schemeClr val="tx1"/>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Sheet1!$D$2:$D$15</c:f>
              <c:numCache>
                <c:formatCode>0%</c:formatCode>
                <c:ptCount val="14"/>
                <c:pt idx="0" formatCode="0.0%">
                  <c:v>0.11758</c:v>
                </c:pt>
                <c:pt idx="1">
                  <c:v>0.41086</c:v>
                </c:pt>
                <c:pt idx="2">
                  <c:v>0.15148</c:v>
                </c:pt>
                <c:pt idx="3">
                  <c:v>0.59519</c:v>
                </c:pt>
                <c:pt idx="4">
                  <c:v>0.40214</c:v>
                </c:pt>
                <c:pt idx="5">
                  <c:v>0.24773999999999999</c:v>
                </c:pt>
                <c:pt idx="6">
                  <c:v>0.32429999999999998</c:v>
                </c:pt>
                <c:pt idx="7">
                  <c:v>0.22900000000000001</c:v>
                </c:pt>
                <c:pt idx="8">
                  <c:v>0.23755000000000001</c:v>
                </c:pt>
                <c:pt idx="9">
                  <c:v>5.3629999999999997E-2</c:v>
                </c:pt>
                <c:pt idx="10">
                  <c:v>0.20730999999999999</c:v>
                </c:pt>
                <c:pt idx="11">
                  <c:v>0.40214</c:v>
                </c:pt>
                <c:pt idx="12">
                  <c:v>0.93642000000000003</c:v>
                </c:pt>
              </c:numCache>
            </c:numRef>
          </c:val>
          <c:extLst>
            <c:ext xmlns:c16="http://schemas.microsoft.com/office/drawing/2014/chart" uri="{C3380CC4-5D6E-409C-BE32-E72D297353CC}">
              <c16:uniqueId val="{00000002-A671-4713-9528-E5E7D7BE7E47}"/>
            </c:ext>
          </c:extLst>
        </c:ser>
        <c:ser>
          <c:idx val="3"/>
          <c:order val="3"/>
          <c:tx>
            <c:strRef>
              <c:f>Sheet1!$E$1</c:f>
              <c:strCache>
                <c:ptCount val="1"/>
                <c:pt idx="0">
                  <c:v>Column1</c:v>
                </c:pt>
              </c:strCache>
            </c:strRef>
          </c:tx>
          <c:spPr>
            <a:solidFill>
              <a:schemeClr val="accent4"/>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Sheet1!$E$2:$E$15</c:f>
            </c:numRef>
          </c:val>
          <c:extLst>
            <c:ext xmlns:c16="http://schemas.microsoft.com/office/drawing/2014/chart" uri="{C3380CC4-5D6E-409C-BE32-E72D297353CC}">
              <c16:uniqueId val="{00000003-A671-4713-9528-E5E7D7BE7E47}"/>
            </c:ext>
          </c:extLst>
        </c:ser>
        <c:ser>
          <c:idx val="4"/>
          <c:order val="4"/>
          <c:tx>
            <c:strRef>
              <c:f>Sheet1!$F$1</c:f>
              <c:strCache>
                <c:ptCount val="1"/>
                <c:pt idx="0">
                  <c:v>Column2</c:v>
                </c:pt>
              </c:strCache>
            </c:strRef>
          </c:tx>
          <c:spPr>
            <a:solidFill>
              <a:schemeClr val="accent5"/>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Sheet1!$F$2:$F$15</c:f>
            </c:numRef>
          </c:val>
          <c:extLst>
            <c:ext xmlns:c16="http://schemas.microsoft.com/office/drawing/2014/chart" uri="{C3380CC4-5D6E-409C-BE32-E72D297353CC}">
              <c16:uniqueId val="{00000004-A671-4713-9528-E5E7D7BE7E47}"/>
            </c:ext>
          </c:extLst>
        </c:ser>
        <c:ser>
          <c:idx val="5"/>
          <c:order val="5"/>
          <c:tx>
            <c:strRef>
              <c:f>Sheet1!$G$1</c:f>
              <c:strCache>
                <c:ptCount val="1"/>
                <c:pt idx="0">
                  <c:v>Column3</c:v>
                </c:pt>
              </c:strCache>
            </c:strRef>
          </c:tx>
          <c:spPr>
            <a:solidFill>
              <a:schemeClr val="accent6"/>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Sheet1!$G$2:$G$15</c:f>
            </c:numRef>
          </c:val>
          <c:extLst>
            <c:ext xmlns:c16="http://schemas.microsoft.com/office/drawing/2014/chart" uri="{C3380CC4-5D6E-409C-BE32-E72D297353CC}">
              <c16:uniqueId val="{00000005-A671-4713-9528-E5E7D7BE7E47}"/>
            </c:ext>
          </c:extLst>
        </c:ser>
        <c:dLbls>
          <c:showLegendKey val="0"/>
          <c:showVal val="0"/>
          <c:showCatName val="0"/>
          <c:showSerName val="0"/>
          <c:showPercent val="0"/>
          <c:showBubbleSize val="0"/>
        </c:dLbls>
        <c:gapWidth val="150"/>
        <c:axId val="146150304"/>
        <c:axId val="146152264"/>
      </c:barChart>
      <c:catAx>
        <c:axId val="14615030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2264"/>
        <c:crosses val="autoZero"/>
        <c:auto val="1"/>
        <c:lblAlgn val="ctr"/>
        <c:lblOffset val="100"/>
        <c:noMultiLvlLbl val="0"/>
      </c:catAx>
      <c:valAx>
        <c:axId val="146152264"/>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0304"/>
        <c:crosses val="autoZero"/>
        <c:crossBetween val="between"/>
      </c:valAx>
      <c:spPr>
        <a:noFill/>
        <a:ln>
          <a:noFill/>
        </a:ln>
        <a:effectLst/>
      </c:spPr>
    </c:plotArea>
    <c:legend>
      <c:legendPos val="b"/>
      <c:layout>
        <c:manualLayout>
          <c:xMode val="edge"/>
          <c:yMode val="edge"/>
          <c:x val="6.2121020520126573E-2"/>
          <c:y val="2.0658309199496495E-2"/>
          <c:w val="0.2218538041754437"/>
          <c:h val="8.2883265579998214E-2"/>
        </c:manualLayout>
      </c:layout>
      <c:overlay val="0"/>
      <c:spPr>
        <a:noFill/>
        <a:ln>
          <a:noFill/>
        </a:ln>
        <a:effectLst/>
      </c:spPr>
      <c:txPr>
        <a:bodyPr rot="0" spcFirstLastPara="1" vertOverflow="ellipsis" vert="horz" wrap="square" anchor="ctr" anchorCtr="1"/>
        <a:lstStyle/>
        <a:p>
          <a:pPr algn="ct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1" dirty="0">
                <a:solidFill>
                  <a:schemeClr val="tx1"/>
                </a:solidFill>
              </a:rPr>
              <a:t>FII &amp; DII Flows (Rs. Cr</a:t>
            </a:r>
            <a:r>
              <a:rPr lang="en-US" sz="1200" dirty="0">
                <a:solidFill>
                  <a:schemeClr val="tx1"/>
                </a:solidFill>
              </a:rPr>
              <a:t>)</a:t>
            </a:r>
          </a:p>
        </c:rich>
      </c:tx>
      <c:layout>
        <c:manualLayout>
          <c:xMode val="edge"/>
          <c:yMode val="edge"/>
          <c:x val="0.36684473454873756"/>
          <c:y val="3.2429289375413346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2.41800910207325E-2"/>
          <c:y val="0.15615770854730116"/>
          <c:w val="0.96920302680054904"/>
          <c:h val="0.72542394157252088"/>
        </c:manualLayout>
      </c:layout>
      <c:barChart>
        <c:barDir val="col"/>
        <c:grouping val="clustered"/>
        <c:varyColors val="0"/>
        <c:ser>
          <c:idx val="0"/>
          <c:order val="0"/>
          <c:tx>
            <c:strRef>
              <c:f>Sheet1!$B$1</c:f>
              <c:strCache>
                <c:ptCount val="1"/>
                <c:pt idx="0">
                  <c:v>FII</c:v>
                </c:pt>
              </c:strCache>
            </c:strRef>
          </c:tx>
          <c:spPr>
            <a:solidFill>
              <a:srgbClr val="FFC000"/>
            </a:solidFill>
            <a:ln>
              <a:noFill/>
            </a:ln>
            <a:effectLst/>
          </c:spPr>
          <c:invertIfNegative val="0"/>
          <c:dLbls>
            <c:dLbl>
              <c:idx val="35"/>
              <c:layout>
                <c:manualLayout>
                  <c:x val="-4.5871559633027525E-3"/>
                  <c:y val="0.1521739130434782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0C-4FBA-922A-4E1B570CD1F7}"/>
                </c:ext>
              </c:extLst>
            </c:dLbl>
            <c:dLbl>
              <c:idx val="39"/>
              <c:layout>
                <c:manualLayout>
                  <c:x val="-2.2935779816513763E-3"/>
                  <c:y val="0.1521739130434782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0C-4FBA-922A-4E1B570CD1F7}"/>
                </c:ext>
              </c:extLst>
            </c:dLbl>
            <c:dLbl>
              <c:idx val="40"/>
              <c:layout>
                <c:manualLayout>
                  <c:x val="-1.1467889908256881E-2"/>
                  <c:y val="0.1666666666666666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0C-4FBA-922A-4E1B570CD1F7}"/>
                </c:ext>
              </c:extLst>
            </c:dLbl>
            <c:dLbl>
              <c:idx val="41"/>
              <c:layout>
                <c:manualLayout>
                  <c:x val="-2.2935779816514604E-3"/>
                  <c:y val="0.1811594202898550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0C-4FBA-922A-4E1B570CD1F7}"/>
                </c:ext>
              </c:extLst>
            </c:dLbl>
            <c:dLbl>
              <c:idx val="45"/>
              <c:layout>
                <c:manualLayout>
                  <c:x val="-2.2935779816514604E-3"/>
                  <c:y val="0.1666666666666666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0C-4FBA-922A-4E1B570CD1F7}"/>
                </c:ext>
              </c:extLst>
            </c:dLbl>
            <c:dLbl>
              <c:idx val="47"/>
              <c:tx>
                <c:rich>
                  <a:bodyPr/>
                  <a:lstStyle/>
                  <a:p>
                    <a:fld id="{40504B35-5486-4C85-87CC-9C0C09B4AD00}" type="VALUE">
                      <a:rPr lang="en-US">
                        <a:solidFill>
                          <a:schemeClr val="tx1"/>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1D9-4CD0-A52B-0347B6F41E17}"/>
                </c:ext>
              </c:extLst>
            </c:dLbl>
            <c:dLbl>
              <c:idx val="49"/>
              <c:layout>
                <c:manualLayout>
                  <c:x val="-1.2860372366148675E-16"/>
                  <c:y val="-7.992030919794287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03A-4730-8491-839B87CC183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Sheet1!$A$2:$A$51</c:f>
              <c:numCache>
                <c:formatCode>mmm\-yy</c:formatCode>
                <c:ptCount val="50"/>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45222</c:v>
                </c:pt>
                <c:pt idx="22">
                  <c:v>45231</c:v>
                </c:pt>
                <c:pt idx="23">
                  <c:v>45261</c:v>
                </c:pt>
                <c:pt idx="24">
                  <c:v>45292</c:v>
                </c:pt>
                <c:pt idx="25">
                  <c:v>45346</c:v>
                </c:pt>
                <c:pt idx="26">
                  <c:v>45375</c:v>
                </c:pt>
                <c:pt idx="27">
                  <c:v>45383</c:v>
                </c:pt>
                <c:pt idx="28">
                  <c:v>45436</c:v>
                </c:pt>
                <c:pt idx="29">
                  <c:v>45467</c:v>
                </c:pt>
                <c:pt idx="30">
                  <c:v>45474</c:v>
                </c:pt>
                <c:pt idx="31">
                  <c:v>45528</c:v>
                </c:pt>
                <c:pt idx="32">
                  <c:v>45559</c:v>
                </c:pt>
                <c:pt idx="33">
                  <c:v>45589</c:v>
                </c:pt>
                <c:pt idx="34">
                  <c:v>45620</c:v>
                </c:pt>
                <c:pt idx="35">
                  <c:v>45650</c:v>
                </c:pt>
                <c:pt idx="36">
                  <c:v>45682</c:v>
                </c:pt>
                <c:pt idx="37">
                  <c:v>45713</c:v>
                </c:pt>
                <c:pt idx="38">
                  <c:v>45741</c:v>
                </c:pt>
                <c:pt idx="39">
                  <c:v>45772</c:v>
                </c:pt>
                <c:pt idx="40">
                  <c:v>45802</c:v>
                </c:pt>
                <c:pt idx="41">
                  <c:v>45833</c:v>
                </c:pt>
                <c:pt idx="42">
                  <c:v>45863</c:v>
                </c:pt>
                <c:pt idx="43">
                  <c:v>45894</c:v>
                </c:pt>
                <c:pt idx="44">
                  <c:v>45925</c:v>
                </c:pt>
                <c:pt idx="45">
                  <c:v>45955</c:v>
                </c:pt>
                <c:pt idx="46">
                  <c:v>45962</c:v>
                </c:pt>
                <c:pt idx="47">
                  <c:v>45992</c:v>
                </c:pt>
                <c:pt idx="48">
                  <c:v>46048</c:v>
                </c:pt>
                <c:pt idx="49">
                  <c:v>46079</c:v>
                </c:pt>
              </c:numCache>
            </c:numRef>
          </c:cat>
          <c:val>
            <c:numRef>
              <c:f>Sheet1!$B$2:$B$51</c:f>
              <c:numCache>
                <c:formatCode>#,##0</c:formatCode>
                <c:ptCount val="50"/>
                <c:pt idx="0">
                  <c:v>-33937.839999999997</c:v>
                </c:pt>
                <c:pt idx="1">
                  <c:v>-37688.959999999992</c:v>
                </c:pt>
                <c:pt idx="2">
                  <c:v>-28311.540000000008</c:v>
                </c:pt>
                <c:pt idx="3">
                  <c:v>-29145.690000000002</c:v>
                </c:pt>
                <c:pt idx="4">
                  <c:v>-37663.39</c:v>
                </c:pt>
                <c:pt idx="5">
                  <c:v>-49468.93</c:v>
                </c:pt>
                <c:pt idx="6">
                  <c:v>6719.7500000000009</c:v>
                </c:pt>
                <c:pt idx="7">
                  <c:v>53993.919999999998</c:v>
                </c:pt>
                <c:pt idx="8">
                  <c:v>-13405.81</c:v>
                </c:pt>
                <c:pt idx="9">
                  <c:v>8430.6</c:v>
                </c:pt>
                <c:pt idx="10">
                  <c:v>38234.9</c:v>
                </c:pt>
                <c:pt idx="11">
                  <c:v>-1353.71</c:v>
                </c:pt>
                <c:pt idx="12">
                  <c:v>-30167.1</c:v>
                </c:pt>
                <c:pt idx="13">
                  <c:v>-5279.04</c:v>
                </c:pt>
                <c:pt idx="14">
                  <c:v>14944.47</c:v>
                </c:pt>
                <c:pt idx="15">
                  <c:v>15733.42</c:v>
                </c:pt>
                <c:pt idx="16">
                  <c:v>38765.42</c:v>
                </c:pt>
                <c:pt idx="17">
                  <c:v>53297.71</c:v>
                </c:pt>
                <c:pt idx="18">
                  <c:v>33994</c:v>
                </c:pt>
                <c:pt idx="19">
                  <c:v>17041</c:v>
                </c:pt>
                <c:pt idx="20">
                  <c:v>-18894</c:v>
                </c:pt>
                <c:pt idx="21">
                  <c:v>-19623</c:v>
                </c:pt>
                <c:pt idx="22">
                  <c:v>16651.03</c:v>
                </c:pt>
                <c:pt idx="23">
                  <c:v>58498</c:v>
                </c:pt>
                <c:pt idx="24">
                  <c:v>-26111</c:v>
                </c:pt>
                <c:pt idx="25">
                  <c:v>4000</c:v>
                </c:pt>
                <c:pt idx="26">
                  <c:v>35282</c:v>
                </c:pt>
                <c:pt idx="27">
                  <c:v>-9175.5</c:v>
                </c:pt>
                <c:pt idx="28">
                  <c:v>-27437.35</c:v>
                </c:pt>
                <c:pt idx="29">
                  <c:v>25940.25</c:v>
                </c:pt>
                <c:pt idx="30">
                  <c:v>27957.71</c:v>
                </c:pt>
                <c:pt idx="31">
                  <c:v>13434.26</c:v>
                </c:pt>
                <c:pt idx="32">
                  <c:v>49792.84</c:v>
                </c:pt>
                <c:pt idx="33">
                  <c:v>-91933.64</c:v>
                </c:pt>
                <c:pt idx="34">
                  <c:v>-18258.59</c:v>
                </c:pt>
                <c:pt idx="35">
                  <c:v>11086</c:v>
                </c:pt>
                <c:pt idx="36">
                  <c:v>-72677.210000000006</c:v>
                </c:pt>
                <c:pt idx="37">
                  <c:v>-46599.08</c:v>
                </c:pt>
                <c:pt idx="38">
                  <c:v>-3973</c:v>
                </c:pt>
                <c:pt idx="39">
                  <c:v>6363.48</c:v>
                </c:pt>
                <c:pt idx="40">
                  <c:v>16441.330000000002</c:v>
                </c:pt>
                <c:pt idx="41">
                  <c:v>20423.64</c:v>
                </c:pt>
                <c:pt idx="42">
                  <c:v>-24723</c:v>
                </c:pt>
                <c:pt idx="43">
                  <c:v>-37823.040000000001</c:v>
                </c:pt>
                <c:pt idx="44">
                  <c:v>-18927.89</c:v>
                </c:pt>
                <c:pt idx="45">
                  <c:v>11049.62</c:v>
                </c:pt>
                <c:pt idx="46">
                  <c:v>332.86</c:v>
                </c:pt>
                <c:pt idx="47" formatCode="_(* #,##0_);_(* \(#,##0\);_(* &quot;-&quot;??_);_(@_)">
                  <c:v>-23824.75</c:v>
                </c:pt>
                <c:pt idx="48">
                  <c:v>-29487.33</c:v>
                </c:pt>
                <c:pt idx="49">
                  <c:v>5662.24</c:v>
                </c:pt>
              </c:numCache>
            </c:numRef>
          </c:val>
          <c:extLst>
            <c:ext xmlns:c16="http://schemas.microsoft.com/office/drawing/2014/chart" uri="{C3380CC4-5D6E-409C-BE32-E72D297353CC}">
              <c16:uniqueId val="{00000005-5F0C-4FBA-922A-4E1B570CD1F7}"/>
            </c:ext>
          </c:extLst>
        </c:ser>
        <c:ser>
          <c:idx val="1"/>
          <c:order val="1"/>
          <c:tx>
            <c:strRef>
              <c:f>Sheet1!$C$1</c:f>
              <c:strCache>
                <c:ptCount val="1"/>
                <c:pt idx="0">
                  <c:v>DII</c:v>
                </c:pt>
              </c:strCache>
            </c:strRef>
          </c:tx>
          <c:spPr>
            <a:solidFill>
              <a:schemeClr val="tx1"/>
            </a:solidFill>
            <a:ln>
              <a:noFill/>
            </a:ln>
            <a:effectLst/>
          </c:spPr>
          <c:invertIfNegative val="0"/>
          <c:dLbls>
            <c:dLbl>
              <c:idx val="47"/>
              <c:tx>
                <c:rich>
                  <a:bodyPr/>
                  <a:lstStyle/>
                  <a:p>
                    <a:fld id="{D43CB1DD-2BD6-4A46-A507-48B8E50AA0FF}" type="VALUE">
                      <a:rPr lang="en-US">
                        <a:solidFill>
                          <a:schemeClr val="tx1"/>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B1D9-4CD0-A52B-0347B6F41E17}"/>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Sheet1!$A$2:$A$51</c:f>
              <c:numCache>
                <c:formatCode>mmm\-yy</c:formatCode>
                <c:ptCount val="50"/>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45222</c:v>
                </c:pt>
                <c:pt idx="22">
                  <c:v>45231</c:v>
                </c:pt>
                <c:pt idx="23">
                  <c:v>45261</c:v>
                </c:pt>
                <c:pt idx="24">
                  <c:v>45292</c:v>
                </c:pt>
                <c:pt idx="25">
                  <c:v>45346</c:v>
                </c:pt>
                <c:pt idx="26">
                  <c:v>45375</c:v>
                </c:pt>
                <c:pt idx="27">
                  <c:v>45383</c:v>
                </c:pt>
                <c:pt idx="28">
                  <c:v>45436</c:v>
                </c:pt>
                <c:pt idx="29">
                  <c:v>45467</c:v>
                </c:pt>
                <c:pt idx="30">
                  <c:v>45474</c:v>
                </c:pt>
                <c:pt idx="31">
                  <c:v>45528</c:v>
                </c:pt>
                <c:pt idx="32">
                  <c:v>45559</c:v>
                </c:pt>
                <c:pt idx="33">
                  <c:v>45589</c:v>
                </c:pt>
                <c:pt idx="34">
                  <c:v>45620</c:v>
                </c:pt>
                <c:pt idx="35">
                  <c:v>45650</c:v>
                </c:pt>
                <c:pt idx="36">
                  <c:v>45682</c:v>
                </c:pt>
                <c:pt idx="37">
                  <c:v>45713</c:v>
                </c:pt>
                <c:pt idx="38">
                  <c:v>45741</c:v>
                </c:pt>
                <c:pt idx="39">
                  <c:v>45772</c:v>
                </c:pt>
                <c:pt idx="40">
                  <c:v>45802</c:v>
                </c:pt>
                <c:pt idx="41">
                  <c:v>45833</c:v>
                </c:pt>
                <c:pt idx="42">
                  <c:v>45863</c:v>
                </c:pt>
                <c:pt idx="43">
                  <c:v>45894</c:v>
                </c:pt>
                <c:pt idx="44">
                  <c:v>45925</c:v>
                </c:pt>
                <c:pt idx="45">
                  <c:v>45955</c:v>
                </c:pt>
                <c:pt idx="46">
                  <c:v>45962</c:v>
                </c:pt>
                <c:pt idx="47">
                  <c:v>45992</c:v>
                </c:pt>
                <c:pt idx="48">
                  <c:v>46048</c:v>
                </c:pt>
                <c:pt idx="49">
                  <c:v>46079</c:v>
                </c:pt>
              </c:numCache>
            </c:numRef>
          </c:cat>
          <c:val>
            <c:numRef>
              <c:f>Sheet1!$C$2:$C$51</c:f>
              <c:numCache>
                <c:formatCode>#,##0</c:formatCode>
                <c:ptCount val="50"/>
                <c:pt idx="0">
                  <c:v>16487.72</c:v>
                </c:pt>
                <c:pt idx="1">
                  <c:v>28180.59</c:v>
                </c:pt>
                <c:pt idx="2">
                  <c:v>22219.86</c:v>
                </c:pt>
                <c:pt idx="3">
                  <c:v>22371.17</c:v>
                </c:pt>
                <c:pt idx="4">
                  <c:v>29413.870000000003</c:v>
                </c:pt>
                <c:pt idx="5">
                  <c:v>22050.810000000005</c:v>
                </c:pt>
                <c:pt idx="6">
                  <c:v>4712.38</c:v>
                </c:pt>
                <c:pt idx="7">
                  <c:v>-1120.7800000000002</c:v>
                </c:pt>
                <c:pt idx="8">
                  <c:v>18601.739999999998</c:v>
                </c:pt>
                <c:pt idx="9">
                  <c:v>6317.63</c:v>
                </c:pt>
                <c:pt idx="10">
                  <c:v>1688.11</c:v>
                </c:pt>
                <c:pt idx="11">
                  <c:v>14692.33</c:v>
                </c:pt>
                <c:pt idx="12">
                  <c:v>17957.759999999998</c:v>
                </c:pt>
                <c:pt idx="13">
                  <c:v>12824.67</c:v>
                </c:pt>
                <c:pt idx="14">
                  <c:v>20764.3</c:v>
                </c:pt>
                <c:pt idx="15">
                  <c:v>-5131.05</c:v>
                </c:pt>
                <c:pt idx="16">
                  <c:v>2186.5500000000002</c:v>
                </c:pt>
                <c:pt idx="17">
                  <c:v>5664</c:v>
                </c:pt>
                <c:pt idx="18">
                  <c:v>7707.46</c:v>
                </c:pt>
                <c:pt idx="19">
                  <c:v>25500.85</c:v>
                </c:pt>
                <c:pt idx="20">
                  <c:v>20506</c:v>
                </c:pt>
                <c:pt idx="21">
                  <c:v>16916</c:v>
                </c:pt>
                <c:pt idx="22">
                  <c:v>18024</c:v>
                </c:pt>
                <c:pt idx="23">
                  <c:v>21750</c:v>
                </c:pt>
                <c:pt idx="24">
                  <c:v>23010.63</c:v>
                </c:pt>
                <c:pt idx="25">
                  <c:v>21983.15</c:v>
                </c:pt>
                <c:pt idx="26">
                  <c:v>45004</c:v>
                </c:pt>
                <c:pt idx="27">
                  <c:v>30995.45</c:v>
                </c:pt>
                <c:pt idx="28">
                  <c:v>45166</c:v>
                </c:pt>
                <c:pt idx="29">
                  <c:v>29312.93</c:v>
                </c:pt>
                <c:pt idx="30">
                  <c:v>20601.34</c:v>
                </c:pt>
                <c:pt idx="31">
                  <c:v>35396.71</c:v>
                </c:pt>
                <c:pt idx="32">
                  <c:v>30383.06</c:v>
                </c:pt>
                <c:pt idx="33">
                  <c:v>89740.4</c:v>
                </c:pt>
                <c:pt idx="34">
                  <c:v>32154.89</c:v>
                </c:pt>
                <c:pt idx="35">
                  <c:v>29159.08</c:v>
                </c:pt>
                <c:pt idx="36">
                  <c:v>57990.42</c:v>
                </c:pt>
                <c:pt idx="37">
                  <c:v>47933.81</c:v>
                </c:pt>
                <c:pt idx="38">
                  <c:v>8053.44</c:v>
                </c:pt>
                <c:pt idx="39">
                  <c:v>19099.919999999998</c:v>
                </c:pt>
                <c:pt idx="40">
                  <c:v>56302.02</c:v>
                </c:pt>
                <c:pt idx="41">
                  <c:v>45518.96</c:v>
                </c:pt>
                <c:pt idx="42">
                  <c:v>47585.7</c:v>
                </c:pt>
                <c:pt idx="43">
                  <c:v>65693.66</c:v>
                </c:pt>
                <c:pt idx="44">
                  <c:v>44582.2</c:v>
                </c:pt>
                <c:pt idx="45">
                  <c:v>20195.560000000001</c:v>
                </c:pt>
                <c:pt idx="46">
                  <c:v>39950.76</c:v>
                </c:pt>
                <c:pt idx="47" formatCode="_(* #,##0_);_(* \(#,##0\);_(* &quot;-&quot;??_);_(@_)">
                  <c:v>32629.54</c:v>
                </c:pt>
                <c:pt idx="48">
                  <c:v>42354.85</c:v>
                </c:pt>
                <c:pt idx="49">
                  <c:v>11180</c:v>
                </c:pt>
              </c:numCache>
            </c:numRef>
          </c:val>
          <c:extLst>
            <c:ext xmlns:c16="http://schemas.microsoft.com/office/drawing/2014/chart" uri="{C3380CC4-5D6E-409C-BE32-E72D297353CC}">
              <c16:uniqueId val="{00000006-5F0C-4FBA-922A-4E1B570CD1F7}"/>
            </c:ext>
          </c:extLst>
        </c:ser>
        <c:dLbls>
          <c:dLblPos val="outEnd"/>
          <c:showLegendKey val="0"/>
          <c:showVal val="1"/>
          <c:showCatName val="0"/>
          <c:showSerName val="0"/>
          <c:showPercent val="0"/>
          <c:showBubbleSize val="0"/>
        </c:dLbls>
        <c:gapWidth val="219"/>
        <c:overlap val="-27"/>
        <c:axId val="146154616"/>
        <c:axId val="146155400"/>
      </c:barChart>
      <c:dateAx>
        <c:axId val="146154616"/>
        <c:scaling>
          <c:orientation val="minMax"/>
          <c:max val="46054"/>
          <c:min val="45689"/>
        </c:scaling>
        <c:delete val="0"/>
        <c:axPos val="b"/>
        <c:numFmt formatCode="mmm\-yy"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5400"/>
        <c:crosses val="autoZero"/>
        <c:auto val="1"/>
        <c:lblOffset val="100"/>
        <c:baseTimeUnit val="months"/>
      </c:dateAx>
      <c:valAx>
        <c:axId val="146155400"/>
        <c:scaling>
          <c:orientation val="minMax"/>
        </c:scaling>
        <c:delete val="1"/>
        <c:axPos val="l"/>
        <c:numFmt formatCode="#,##0" sourceLinked="1"/>
        <c:majorTickMark val="none"/>
        <c:minorTickMark val="none"/>
        <c:tickLblPos val="nextTo"/>
        <c:crossAx val="146154616"/>
        <c:crosses val="autoZero"/>
        <c:crossBetween val="between"/>
      </c:valAx>
      <c:spPr>
        <a:noFill/>
        <a:ln>
          <a:noFill/>
        </a:ln>
        <a:effectLst/>
      </c:spPr>
    </c:plotArea>
    <c:legend>
      <c:legendPos val="b"/>
      <c:layout>
        <c:manualLayout>
          <c:xMode val="edge"/>
          <c:yMode val="edge"/>
          <c:x val="0.76643125423682712"/>
          <c:y val="3.7478497254917163E-2"/>
          <c:w val="9.4216932745792098E-2"/>
          <c:h val="0.11353132488873674"/>
        </c:manualLayout>
      </c:layout>
      <c:overlay val="0"/>
      <c:spPr>
        <a:noFill/>
        <a:ln>
          <a:noFill/>
        </a:ln>
        <a:effectLst/>
      </c:spPr>
      <c:txPr>
        <a:bodyPr rot="0" spcFirstLastPara="1" vertOverflow="ellipsis" vert="horz" wrap="square" anchor="ctr" anchorCtr="1"/>
        <a:lstStyle/>
        <a:p>
          <a:pPr algn="ctr" rtl="0">
            <a:defRPr sz="8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solidFill>
        <a:schemeClr val="tx1"/>
      </a:solidFill>
      <a:round/>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sz="1400" dirty="0"/>
              <a:t>Monthly GST Collection (Rs in crores)</a:t>
            </a:r>
          </a:p>
        </c:rich>
      </c:tx>
      <c:layout>
        <c:manualLayout>
          <c:xMode val="edge"/>
          <c:yMode val="edge"/>
          <c:x val="0.2742814350400557"/>
          <c:y val="2.495093687669884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2.3735806339254609E-2"/>
          <c:y val="9.3927809428643191E-2"/>
          <c:w val="0.95304057819575061"/>
          <c:h val="0.77577729497991998"/>
        </c:manualLayout>
      </c:layout>
      <c:barChart>
        <c:barDir val="col"/>
        <c:grouping val="clustered"/>
        <c:varyColors val="0"/>
        <c:ser>
          <c:idx val="0"/>
          <c:order val="0"/>
          <c:tx>
            <c:strRef>
              <c:f>Sheet1!$D$1</c:f>
              <c:strCache>
                <c:ptCount val="1"/>
                <c:pt idx="0">
                  <c:v>2024-25</c:v>
                </c:pt>
              </c:strCache>
            </c:strRef>
          </c:tx>
          <c:spPr>
            <a:solidFill>
              <a:schemeClr val="bg2"/>
            </a:solidFill>
            <a:ln>
              <a:noFill/>
            </a:ln>
            <a:effectLst/>
          </c:spPr>
          <c:invertIfNegative val="0"/>
          <c:dLbls>
            <c:dLbl>
              <c:idx val="0"/>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0-1BFF-4A55-92EF-66A276AE285D}"/>
                </c:ext>
              </c:extLst>
            </c:dLbl>
            <c:dLbl>
              <c:idx val="1"/>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1BFF-4A55-92EF-66A276AE285D}"/>
                </c:ext>
              </c:extLst>
            </c:dLbl>
            <c:dLbl>
              <c:idx val="2"/>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2-1BFF-4A55-92EF-66A276AE285D}"/>
                </c:ext>
              </c:extLst>
            </c:dLbl>
            <c:dLbl>
              <c:idx val="3"/>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3-1BFF-4A55-92EF-66A276AE285D}"/>
                </c:ext>
              </c:extLst>
            </c:dLbl>
            <c:dLbl>
              <c:idx val="4"/>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4-1BFF-4A55-92EF-66A276AE285D}"/>
                </c:ext>
              </c:extLst>
            </c:dLbl>
            <c:dLbl>
              <c:idx val="5"/>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5-1BFF-4A55-92EF-66A276AE285D}"/>
                </c:ext>
              </c:extLst>
            </c:dLbl>
            <c:dLbl>
              <c:idx val="6"/>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6-1BFF-4A55-92EF-66A276AE285D}"/>
                </c:ext>
              </c:extLst>
            </c:dLbl>
            <c:dLbl>
              <c:idx val="7"/>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7-1BFF-4A55-92EF-66A276AE285D}"/>
                </c:ext>
              </c:extLst>
            </c:dLbl>
            <c:dLbl>
              <c:idx val="8"/>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8-1BFF-4A55-92EF-66A276AE285D}"/>
                </c:ext>
              </c:extLst>
            </c:dLbl>
            <c:dLbl>
              <c:idx val="9"/>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9-1BFF-4A55-92EF-66A276AE285D}"/>
                </c:ext>
              </c:extLst>
            </c:dLbl>
            <c:dLbl>
              <c:idx val="10"/>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A-1BFF-4A55-92EF-66A276AE285D}"/>
                </c:ext>
              </c:extLst>
            </c:dLbl>
            <c:dLbl>
              <c:idx val="11"/>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B-1BFF-4A55-92EF-66A276AE285D}"/>
                </c:ext>
              </c:extLst>
            </c:dLbl>
            <c:numFmt formatCode="#,##0" sourceLinked="0"/>
            <c:spPr>
              <a:solidFill>
                <a:schemeClr val="bg2"/>
              </a:solid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April</c:v>
                </c:pt>
                <c:pt idx="1">
                  <c:v>May</c:v>
                </c:pt>
                <c:pt idx="2">
                  <c:v>June</c:v>
                </c:pt>
                <c:pt idx="3">
                  <c:v>July</c:v>
                </c:pt>
                <c:pt idx="4">
                  <c:v>August</c:v>
                </c:pt>
                <c:pt idx="5">
                  <c:v>Sept</c:v>
                </c:pt>
                <c:pt idx="6">
                  <c:v>Oct</c:v>
                </c:pt>
                <c:pt idx="7">
                  <c:v>Nov</c:v>
                </c:pt>
                <c:pt idx="8">
                  <c:v>Dec</c:v>
                </c:pt>
                <c:pt idx="9">
                  <c:v>January</c:v>
                </c:pt>
                <c:pt idx="10">
                  <c:v>Feb</c:v>
                </c:pt>
                <c:pt idx="11">
                  <c:v>March</c:v>
                </c:pt>
              </c:strCache>
            </c:strRef>
          </c:cat>
          <c:val>
            <c:numRef>
              <c:f>Sheet1!$D$2:$D$13</c:f>
              <c:numCache>
                <c:formatCode>General</c:formatCode>
                <c:ptCount val="12"/>
                <c:pt idx="0">
                  <c:v>210267</c:v>
                </c:pt>
                <c:pt idx="1">
                  <c:v>172739</c:v>
                </c:pt>
                <c:pt idx="2">
                  <c:v>174000</c:v>
                </c:pt>
                <c:pt idx="3">
                  <c:v>182000</c:v>
                </c:pt>
                <c:pt idx="4">
                  <c:v>175000</c:v>
                </c:pt>
                <c:pt idx="5">
                  <c:v>173240</c:v>
                </c:pt>
                <c:pt idx="6">
                  <c:v>187346</c:v>
                </c:pt>
                <c:pt idx="7">
                  <c:v>169016</c:v>
                </c:pt>
                <c:pt idx="8">
                  <c:v>176857</c:v>
                </c:pt>
                <c:pt idx="9">
                  <c:v>182094</c:v>
                </c:pt>
                <c:pt idx="10">
                  <c:v>169779</c:v>
                </c:pt>
                <c:pt idx="11">
                  <c:v>195603.4</c:v>
                </c:pt>
              </c:numCache>
            </c:numRef>
          </c:val>
          <c:extLst>
            <c:ext xmlns:c16="http://schemas.microsoft.com/office/drawing/2014/chart" uri="{C3380CC4-5D6E-409C-BE32-E72D297353CC}">
              <c16:uniqueId val="{0000000C-1BFF-4A55-92EF-66A276AE285D}"/>
            </c:ext>
          </c:extLst>
        </c:ser>
        <c:ser>
          <c:idx val="1"/>
          <c:order val="1"/>
          <c:tx>
            <c:strRef>
              <c:f>Sheet1!$E$1</c:f>
              <c:strCache>
                <c:ptCount val="1"/>
                <c:pt idx="0">
                  <c:v>2025-26</c:v>
                </c:pt>
              </c:strCache>
            </c:strRef>
          </c:tx>
          <c:spPr>
            <a:solidFill>
              <a:schemeClr val="bg1">
                <a:lumMod val="75000"/>
              </a:schemeClr>
            </a:solidFill>
            <a:ln>
              <a:noFill/>
            </a:ln>
            <a:effectLst/>
          </c:spPr>
          <c:invertIfNegative val="0"/>
          <c:dLbls>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April</c:v>
                </c:pt>
                <c:pt idx="1">
                  <c:v>May</c:v>
                </c:pt>
                <c:pt idx="2">
                  <c:v>June</c:v>
                </c:pt>
                <c:pt idx="3">
                  <c:v>July</c:v>
                </c:pt>
                <c:pt idx="4">
                  <c:v>August</c:v>
                </c:pt>
                <c:pt idx="5">
                  <c:v>Sept</c:v>
                </c:pt>
                <c:pt idx="6">
                  <c:v>Oct</c:v>
                </c:pt>
                <c:pt idx="7">
                  <c:v>Nov</c:v>
                </c:pt>
                <c:pt idx="8">
                  <c:v>Dec</c:v>
                </c:pt>
                <c:pt idx="9">
                  <c:v>January</c:v>
                </c:pt>
                <c:pt idx="10">
                  <c:v>Feb</c:v>
                </c:pt>
                <c:pt idx="11">
                  <c:v>March</c:v>
                </c:pt>
              </c:strCache>
            </c:strRef>
          </c:cat>
          <c:val>
            <c:numRef>
              <c:f>Sheet1!$E$2:$E$13</c:f>
              <c:numCache>
                <c:formatCode>General</c:formatCode>
                <c:ptCount val="12"/>
                <c:pt idx="0">
                  <c:v>236716</c:v>
                </c:pt>
                <c:pt idx="1">
                  <c:v>201050</c:v>
                </c:pt>
                <c:pt idx="2">
                  <c:v>184597</c:v>
                </c:pt>
                <c:pt idx="3">
                  <c:v>195735</c:v>
                </c:pt>
                <c:pt idx="4">
                  <c:v>186315</c:v>
                </c:pt>
                <c:pt idx="5">
                  <c:v>189017</c:v>
                </c:pt>
                <c:pt idx="6">
                  <c:v>195936</c:v>
                </c:pt>
                <c:pt idx="7">
                  <c:v>170276</c:v>
                </c:pt>
                <c:pt idx="8">
                  <c:v>174550</c:v>
                </c:pt>
                <c:pt idx="9">
                  <c:v>193384</c:v>
                </c:pt>
                <c:pt idx="10">
                  <c:v>183609</c:v>
                </c:pt>
              </c:numCache>
            </c:numRef>
          </c:val>
          <c:extLst>
            <c:ext xmlns:c16="http://schemas.microsoft.com/office/drawing/2014/chart" uri="{C3380CC4-5D6E-409C-BE32-E72D297353CC}">
              <c16:uniqueId val="{0000000D-1BFF-4A55-92EF-66A276AE285D}"/>
            </c:ext>
          </c:extLst>
        </c:ser>
        <c:dLbls>
          <c:showLegendKey val="0"/>
          <c:showVal val="0"/>
          <c:showCatName val="0"/>
          <c:showSerName val="0"/>
          <c:showPercent val="0"/>
          <c:showBubbleSize val="0"/>
        </c:dLbls>
        <c:gapWidth val="219"/>
        <c:overlap val="-27"/>
        <c:axId val="203214392"/>
        <c:axId val="203211648"/>
      </c:barChart>
      <c:dateAx>
        <c:axId val="203214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3211648"/>
        <c:crosses val="autoZero"/>
        <c:auto val="0"/>
        <c:lblOffset val="100"/>
        <c:baseTimeUnit val="days"/>
      </c:dateAx>
      <c:valAx>
        <c:axId val="203211648"/>
        <c:scaling>
          <c:orientation val="minMax"/>
          <c:min val="80000"/>
        </c:scaling>
        <c:delete val="1"/>
        <c:axPos val="l"/>
        <c:numFmt formatCode="#,##0" sourceLinked="0"/>
        <c:majorTickMark val="none"/>
        <c:minorTickMark val="none"/>
        <c:tickLblPos val="nextTo"/>
        <c:crossAx val="203214392"/>
        <c:crosses val="autoZero"/>
        <c:crossBetween val="between"/>
        <c:majorUnit val="20000"/>
      </c:valAx>
      <c:spPr>
        <a:noFill/>
        <a:ln>
          <a:noFill/>
        </a:ln>
        <a:effectLst/>
      </c:spPr>
    </c:plotArea>
    <c:legend>
      <c:legendPos val="b"/>
      <c:layout>
        <c:manualLayout>
          <c:xMode val="edge"/>
          <c:yMode val="edge"/>
          <c:x val="0.22887791710205505"/>
          <c:y val="0.17273929550402556"/>
          <c:w val="0.17453450344136162"/>
          <c:h val="8.63254266314879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mpd="dbl">
      <a:solidFill>
        <a:schemeClr val="tx1"/>
      </a:solidFill>
    </a:ln>
    <a:effectLst/>
  </c:spPr>
  <c:txPr>
    <a:bodyPr/>
    <a:lstStyle/>
    <a:p>
      <a:pPr>
        <a:defRPr sz="12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296594976230517E-2"/>
          <c:y val="0.17944856706514523"/>
          <c:w val="0.96707811978301039"/>
          <c:h val="0.65522421834507594"/>
        </c:manualLayout>
      </c:layout>
      <c:barChart>
        <c:barDir val="col"/>
        <c:grouping val="clustered"/>
        <c:varyColors val="0"/>
        <c:ser>
          <c:idx val="0"/>
          <c:order val="0"/>
          <c:tx>
            <c:strRef>
              <c:f>Sheet1!$B$1</c:f>
              <c:strCache>
                <c:ptCount val="1"/>
                <c:pt idx="0">
                  <c:v> Manufacturing PMI </c:v>
                </c:pt>
              </c:strCache>
            </c:strRef>
          </c:tx>
          <c:spPr>
            <a:solidFill>
              <a:srgbClr val="FFC000"/>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Sheet1!$A$42:$A$54</c:f>
              <c:numCache>
                <c:formatCode>d\-mmm</c:formatCode>
                <c:ptCount val="13"/>
                <c:pt idx="0">
                  <c:v>45713</c:v>
                </c:pt>
                <c:pt idx="1">
                  <c:v>45741</c:v>
                </c:pt>
                <c:pt idx="2">
                  <c:v>45772</c:v>
                </c:pt>
                <c:pt idx="3">
                  <c:v>45808</c:v>
                </c:pt>
                <c:pt idx="4">
                  <c:v>45833</c:v>
                </c:pt>
                <c:pt idx="5">
                  <c:v>45863</c:v>
                </c:pt>
                <c:pt idx="6">
                  <c:v>45894</c:v>
                </c:pt>
                <c:pt idx="7">
                  <c:v>45925</c:v>
                </c:pt>
                <c:pt idx="8">
                  <c:v>45955</c:v>
                </c:pt>
                <c:pt idx="9">
                  <c:v>45986</c:v>
                </c:pt>
                <c:pt idx="10">
                  <c:v>46016</c:v>
                </c:pt>
                <c:pt idx="11">
                  <c:v>46048</c:v>
                </c:pt>
                <c:pt idx="12">
                  <c:v>46079</c:v>
                </c:pt>
              </c:numCache>
            </c:numRef>
          </c:cat>
          <c:val>
            <c:numRef>
              <c:f>Sheet1!$B$42:$B$54</c:f>
              <c:numCache>
                <c:formatCode>_(* #,##0.00_);_(* \(#,##0.00\);_(* "-"??_);_(@_)</c:formatCode>
                <c:ptCount val="13"/>
                <c:pt idx="0">
                  <c:v>56.3</c:v>
                </c:pt>
                <c:pt idx="1">
                  <c:v>58.1</c:v>
                </c:pt>
                <c:pt idx="2">
                  <c:v>58.2</c:v>
                </c:pt>
                <c:pt idx="3">
                  <c:v>57.6</c:v>
                </c:pt>
                <c:pt idx="4">
                  <c:v>58.4</c:v>
                </c:pt>
                <c:pt idx="5">
                  <c:v>59.1</c:v>
                </c:pt>
                <c:pt idx="6">
                  <c:v>59.3</c:v>
                </c:pt>
                <c:pt idx="7">
                  <c:v>57.7</c:v>
                </c:pt>
                <c:pt idx="8">
                  <c:v>59.2</c:v>
                </c:pt>
                <c:pt idx="9">
                  <c:v>56.6</c:v>
                </c:pt>
                <c:pt idx="10" formatCode="0.00">
                  <c:v>55</c:v>
                </c:pt>
                <c:pt idx="11">
                  <c:v>55.4</c:v>
                </c:pt>
                <c:pt idx="12">
                  <c:v>56.9</c:v>
                </c:pt>
              </c:numCache>
            </c:numRef>
          </c:val>
          <c:extLst>
            <c:ext xmlns:c16="http://schemas.microsoft.com/office/drawing/2014/chart" uri="{C3380CC4-5D6E-409C-BE32-E72D297353CC}">
              <c16:uniqueId val="{00000000-CF1E-48AF-92E3-027FA3092AED}"/>
            </c:ext>
          </c:extLst>
        </c:ser>
        <c:ser>
          <c:idx val="1"/>
          <c:order val="1"/>
          <c:tx>
            <c:strRef>
              <c:f>Sheet1!$C$1</c:f>
              <c:strCache>
                <c:ptCount val="1"/>
                <c:pt idx="0">
                  <c:v>Service PMI</c:v>
                </c:pt>
              </c:strCache>
            </c:strRef>
          </c:tx>
          <c:spPr>
            <a:solidFill>
              <a:schemeClr val="bg1">
                <a:lumMod val="75000"/>
              </a:schemeClr>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Sheet1!$A$42:$A$54</c:f>
              <c:numCache>
                <c:formatCode>d\-mmm</c:formatCode>
                <c:ptCount val="13"/>
                <c:pt idx="0">
                  <c:v>45713</c:v>
                </c:pt>
                <c:pt idx="1">
                  <c:v>45741</c:v>
                </c:pt>
                <c:pt idx="2">
                  <c:v>45772</c:v>
                </c:pt>
                <c:pt idx="3">
                  <c:v>45808</c:v>
                </c:pt>
                <c:pt idx="4">
                  <c:v>45833</c:v>
                </c:pt>
                <c:pt idx="5">
                  <c:v>45863</c:v>
                </c:pt>
                <c:pt idx="6">
                  <c:v>45894</c:v>
                </c:pt>
                <c:pt idx="7">
                  <c:v>45925</c:v>
                </c:pt>
                <c:pt idx="8">
                  <c:v>45955</c:v>
                </c:pt>
                <c:pt idx="9">
                  <c:v>45986</c:v>
                </c:pt>
                <c:pt idx="10">
                  <c:v>46016</c:v>
                </c:pt>
                <c:pt idx="11">
                  <c:v>46048</c:v>
                </c:pt>
                <c:pt idx="12">
                  <c:v>46079</c:v>
                </c:pt>
              </c:numCache>
            </c:numRef>
          </c:cat>
          <c:val>
            <c:numRef>
              <c:f>Sheet1!$C$42:$C$54</c:f>
              <c:numCache>
                <c:formatCode>General</c:formatCode>
                <c:ptCount val="13"/>
                <c:pt idx="0">
                  <c:v>58.8</c:v>
                </c:pt>
                <c:pt idx="1">
                  <c:v>58.5</c:v>
                </c:pt>
                <c:pt idx="2">
                  <c:v>58.7</c:v>
                </c:pt>
                <c:pt idx="3">
                  <c:v>58.8</c:v>
                </c:pt>
                <c:pt idx="4">
                  <c:v>60.4</c:v>
                </c:pt>
                <c:pt idx="5">
                  <c:v>60.5</c:v>
                </c:pt>
                <c:pt idx="6">
                  <c:v>62.5</c:v>
                </c:pt>
                <c:pt idx="7">
                  <c:v>61.6</c:v>
                </c:pt>
                <c:pt idx="8">
                  <c:v>58.9</c:v>
                </c:pt>
                <c:pt idx="9">
                  <c:v>59.8</c:v>
                </c:pt>
                <c:pt idx="10">
                  <c:v>58</c:v>
                </c:pt>
                <c:pt idx="11">
                  <c:v>58.5</c:v>
                </c:pt>
                <c:pt idx="12">
                  <c:v>58.1</c:v>
                </c:pt>
              </c:numCache>
            </c:numRef>
          </c:val>
          <c:extLst>
            <c:ext xmlns:c16="http://schemas.microsoft.com/office/drawing/2014/chart" uri="{C3380CC4-5D6E-409C-BE32-E72D297353CC}">
              <c16:uniqueId val="{00000001-CF1E-48AF-92E3-027FA3092AED}"/>
            </c:ext>
          </c:extLst>
        </c:ser>
        <c:dLbls>
          <c:showLegendKey val="0"/>
          <c:showVal val="0"/>
          <c:showCatName val="0"/>
          <c:showSerName val="0"/>
          <c:showPercent val="0"/>
          <c:showBubbleSize val="0"/>
        </c:dLbls>
        <c:gapWidth val="219"/>
        <c:overlap val="-27"/>
        <c:axId val="203217136"/>
        <c:axId val="203212432"/>
      </c:barChart>
      <c:dateAx>
        <c:axId val="203217136"/>
        <c:scaling>
          <c:orientation val="minMax"/>
          <c:max val="46054"/>
          <c:min val="45689"/>
        </c:scaling>
        <c:delete val="0"/>
        <c:axPos val="b"/>
        <c:numFmt formatCode="[$-409]mmm\-yy;@" sourceLinked="0"/>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3212432"/>
        <c:crosses val="autoZero"/>
        <c:auto val="0"/>
        <c:lblOffset val="100"/>
        <c:baseTimeUnit val="months"/>
      </c:dateAx>
      <c:valAx>
        <c:axId val="203212432"/>
        <c:scaling>
          <c:orientation val="minMax"/>
          <c:min val="52"/>
        </c:scaling>
        <c:delete val="1"/>
        <c:axPos val="l"/>
        <c:numFmt formatCode="_(* #,##0.00_);_(* \(#,##0.00\);_(* &quot;-&quot;??_);_(@_)" sourceLinked="1"/>
        <c:majorTickMark val="none"/>
        <c:minorTickMark val="none"/>
        <c:tickLblPos val="nextTo"/>
        <c:crossAx val="203217136"/>
        <c:crosses val="autoZero"/>
        <c:crossBetween val="between"/>
        <c:majorUnit val="2"/>
      </c:valAx>
      <c:spPr>
        <a:noFill/>
        <a:ln w="25400">
          <a:noFill/>
        </a:ln>
        <a:effectLst/>
      </c:spPr>
    </c:plotArea>
    <c:legend>
      <c:legendPos val="b"/>
      <c:layout>
        <c:manualLayout>
          <c:xMode val="edge"/>
          <c:yMode val="edge"/>
          <c:x val="4.5653878487276638E-2"/>
          <c:y val="6.1388149090732126E-2"/>
          <c:w val="0.55895911579490887"/>
          <c:h val="8.3449682621843241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tx1"/>
      </a:solidFill>
    </a:ln>
    <a:effectLst/>
  </c:spPr>
  <c:txPr>
    <a:bodyPr/>
    <a:lstStyle/>
    <a:p>
      <a:pPr>
        <a:defRPr sz="8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FCD27F-1CE5-415B-ACB8-0A5C3E5B93E9}"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E09C8E44-E9BA-4C00-BE50-7957EADE6D1A}">
      <dgm:prSet phldrT="[Text]" custT="1"/>
      <dgm:spPr>
        <a:solidFill>
          <a:schemeClr val="bg2"/>
        </a:solidFill>
      </dgm:spPr>
      <dgm:t>
        <a:bodyPr/>
        <a:lstStyle/>
        <a:p>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Inflation</a:t>
          </a:r>
        </a:p>
      </dgm:t>
    </dgm:pt>
    <dgm:pt modelId="{EF4EFFDF-1140-4B20-8AB2-F5D9DEF30092}" type="parTrans" cxnId="{8619D4EF-E090-4715-AD99-2C45E8DB2F0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41CCB44C-74E2-454F-BA07-D26BA7B68AC6}" type="sibTrans" cxnId="{8619D4EF-E090-4715-AD99-2C45E8DB2F0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6914C3C6-9ADF-456D-9144-C11F06ECD3C3}">
      <dgm:prSet phldrT="[Text]" custT="1"/>
      <dgm:spPr>
        <a:noFill/>
        <a:ln>
          <a:solidFill>
            <a:schemeClr val="bg2">
              <a:alpha val="90000"/>
            </a:schemeClr>
          </a:solidFill>
        </a:ln>
      </dgm:spPr>
      <dgm:t>
        <a:bodyPr/>
        <a:lstStyle/>
        <a:p>
          <a:pPr algn="just">
            <a:buFont typeface="Arial" panose="020B0604020202020204" pitchFamily="34" charset="0"/>
            <a:buChar char="•"/>
          </a:pPr>
          <a:r>
            <a:rPr lang="en-US" sz="1000" dirty="0"/>
            <a:t> India’s CPI rose to 2.75% (Jan-26), driven by firm core inflation</a:t>
          </a:r>
          <a:endParaRPr lang="en-US" sz="1000" dirty="0">
            <a:latin typeface="Calibri" panose="020F0502020204030204" pitchFamily="34" charset="0"/>
            <a:ea typeface="Calibri" panose="020F0502020204030204" pitchFamily="34" charset="0"/>
            <a:cs typeface="Calibri" panose="020F0502020204030204" pitchFamily="34" charset="0"/>
          </a:endParaRPr>
        </a:p>
      </dgm:t>
    </dgm:pt>
    <dgm:pt modelId="{F7500A90-FF1D-497E-8BD3-14E10465EDDE}" type="parTrans" cxnId="{CD7D0A85-E078-4080-8A69-00302D4C21DE}">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C9325E3-CCCD-4D85-85D0-78F9A872D55B}" type="sibTrans" cxnId="{CD7D0A85-E078-4080-8A69-00302D4C21DE}">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1FEC35B1-9147-47A1-AE7C-5D954D60E25C}">
      <dgm:prSet phldrT="[Text]" custT="1"/>
      <dgm:spPr>
        <a:solidFill>
          <a:schemeClr val="tx1"/>
        </a:solidFill>
      </dgm:spPr>
      <dgm:t>
        <a:bodyPr/>
        <a:lstStyle/>
        <a:p>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Liquidity</a:t>
          </a:r>
        </a:p>
      </dgm:t>
    </dgm:pt>
    <dgm:pt modelId="{C194B499-7B44-4BB8-9674-0A378851F704}" type="parTrans" cxnId="{67274D08-BCBB-4651-A1BF-713EF9BEF183}">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89DDF03F-6DC8-44F2-A41E-D5051ED2D1F0}" type="sibTrans" cxnId="{67274D08-BCBB-4651-A1BF-713EF9BEF183}">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34FB794-0F17-4C4B-81BB-90443F14226D}">
      <dgm:prSet phldrT="[Text]" custT="1"/>
      <dgm:spPr>
        <a:solidFill>
          <a:schemeClr val="bg1">
            <a:alpha val="90000"/>
          </a:schemeClr>
        </a:solidFill>
        <a:ln>
          <a:solidFill>
            <a:schemeClr val="tx1"/>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a:t>
          </a:r>
          <a:r>
            <a:rPr lang="en-IN" sz="1000" kern="1200" dirty="0"/>
            <a:t>RBI advancing its Rs 1 lakh crore  OMO purchases to stabilize the market liquidity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F840171C-A443-49D1-B18C-66D07CEEA250}" type="parTrans" cxnId="{650171D2-CCBD-453D-BB5B-31EC244064BB}">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36CD333-F840-4315-85E8-A037F6A3D70D}" type="sibTrans" cxnId="{650171D2-CCBD-453D-BB5B-31EC244064BB}">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0EDAEE4-A668-40C2-BF09-4F51903BAEB4}">
      <dgm:prSet phldrT="[Text]" custT="1"/>
      <dgm:spPr>
        <a:solidFill>
          <a:schemeClr val="bg1">
            <a:lumMod val="65000"/>
          </a:schemeClr>
        </a:solidFill>
      </dgm:spPr>
      <dgm:t>
        <a:bodyPr/>
        <a:lstStyle/>
        <a:p>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Interest</a:t>
          </a:r>
          <a:r>
            <a:rPr lang="en-US" sz="12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rate</a:t>
          </a:r>
        </a:p>
      </dgm:t>
    </dgm:pt>
    <dgm:pt modelId="{7E2FEA2E-459E-4BD9-AE5E-EC0FA97608AB}" type="parTrans" cxnId="{C39286AB-DE45-448C-890B-E1ED66D5159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A9B8F70-38D1-4902-98F6-A0812896ADBB}" type="sibTrans" cxnId="{C39286AB-DE45-448C-890B-E1ED66D5159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9F7A8909-3B6D-4AF0-A11E-BF3EF9252D33}">
      <dgm:prSet phldrT="[Text]" custT="1"/>
      <dgm:spPr>
        <a:noFill/>
        <a:ln>
          <a:solidFill>
            <a:schemeClr val="bg1">
              <a:lumMod val="75000"/>
              <a:alpha val="90000"/>
            </a:schemeClr>
          </a:solidFill>
        </a:ln>
      </dgm:spPr>
      <dgm: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kern="1200" dirty="0">
              <a:solidFill>
                <a:srgbClr val="191919">
                  <a:hueOff val="0"/>
                  <a:satOff val="0"/>
                  <a:lumOff val="0"/>
                  <a:alphaOff val="0"/>
                </a:srgbClr>
              </a:solidFill>
              <a:latin typeface="+mj-lt"/>
              <a:ea typeface="Calibri" panose="020F0502020204030204" pitchFamily="34" charset="0"/>
              <a:cs typeface="Calibri" panose="020F0502020204030204" pitchFamily="34" charset="0"/>
            </a:rPr>
            <a:t>  </a:t>
          </a:r>
          <a:r>
            <a:rPr lang="en-US" sz="1000" kern="1200" dirty="0">
              <a:solidFill>
                <a:schemeClr val="tx1"/>
              </a:solidFill>
            </a:rPr>
            <a:t>RBI keeps interest rate unchanged at 5.25%, continues neutral stance</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gm:t>
    </dgm:pt>
    <dgm:pt modelId="{413A9B4A-07E4-4BED-86E3-5CA7DE2FC5D3}" type="parTrans" cxnId="{21BDCE92-F92F-4D31-8326-A2BF69C4D057}">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38BC8B9C-F25B-4F6D-BE48-06AA3ED6E461}" type="sibTrans" cxnId="{21BDCE92-F92F-4D31-8326-A2BF69C4D057}">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95C782F8-4FB3-417E-BC74-3E9D60A4761B}">
      <dgm:prSet custT="1"/>
      <dgm:spPr>
        <a:solidFill>
          <a:schemeClr val="bg2"/>
        </a:solidFill>
      </dgm:spPr>
      <dgm:t>
        <a:bodyPr/>
        <a:lstStyle/>
        <a:p>
          <a:pPr marL="0" lvl="0" indent="0" algn="ctr" defTabSz="6223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Bond Markets</a:t>
          </a:r>
        </a:p>
      </dgm:t>
    </dgm:pt>
    <dgm:pt modelId="{221DA5EF-100B-4195-8DAE-0E661E511B4B}" type="parTrans" cxnId="{90340757-3B7D-45EB-85AD-96C6053FB371}">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38CAC1E-B0A7-4EBD-AEC8-B5B6756A06DD}" type="sibTrans" cxnId="{90340757-3B7D-45EB-85AD-96C6053FB371}">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A526C50-E77A-41BB-9582-FBDC4D52C0EA}">
      <dgm:prSet custT="1"/>
      <dgm:spPr>
        <a:solidFill>
          <a:schemeClr val="tx1"/>
        </a:solidFill>
      </dgm:spPr>
      <dgm:t>
        <a:bodyPr/>
        <a:lstStyle/>
        <a:p>
          <a:pPr marL="0" lvl="0" indent="0" algn="ctr" defTabSz="6223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Equity Markets</a:t>
          </a:r>
        </a:p>
      </dgm:t>
    </dgm:pt>
    <dgm:pt modelId="{4CA67D3B-F473-4C68-A8A9-649E9DC992EC}" type="parTrans" cxnId="{EA6C78E0-E107-4C9A-A1F7-6CD910F9EEE2}">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B36EA36-BB44-4925-82BE-B12F6B93545F}" type="sibTrans" cxnId="{EA6C78E0-E107-4C9A-A1F7-6CD910F9EEE2}">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101AD256-0ECE-481B-8C26-C90B1EA79969}">
      <dgm:prSet custT="1"/>
      <dgm:spPr>
        <a:noFill/>
        <a:ln>
          <a:solidFill>
            <a:schemeClr val="bg2">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India’s 10Y G-sec flat at  ~6.6% in Feb-26, as investors balanced strong demand with heavy supply</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50A19A1D-28E4-439C-B218-27E77AFBD8B6}" type="parTrans" cxnId="{EA74136E-9C3D-4355-AC3F-78AF7E575D06}">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7BE84C1-E328-4377-82C3-23E24A9BD9B9}" type="sibTrans" cxnId="{EA74136E-9C3D-4355-AC3F-78AF7E575D06}">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418DA415-3471-48A2-8BB7-5F5F0F2305B3}">
      <dgm:prSet custT="1"/>
      <dgm:spPr>
        <a:noFill/>
        <a:ln>
          <a:solidFill>
            <a:schemeClr val="tx1">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Domestic equities may remain range-bound amid elevated valuations and rising geopolitical tensions in the Middle East</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AE66C7AC-D8AF-45BF-8BFF-3A645BABF5F2}" type="parTrans" cxnId="{5E132F2D-8925-494E-8F89-03B33D8A7208}">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F8CC799-E71F-4DC5-A1BF-6B46F8BABD0F}" type="sibTrans" cxnId="{5E132F2D-8925-494E-8F89-03B33D8A7208}">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C8DD43CC-58EE-41C8-B9DC-43860610FFB0}">
      <dgm:prSet phldrT="[Text]" custT="1"/>
      <dgm:spPr>
        <a:noFill/>
        <a:ln>
          <a:solidFill>
            <a:schemeClr val="bg1">
              <a:lumMod val="75000"/>
              <a:alpha val="90000"/>
            </a:schemeClr>
          </a:solidFill>
        </a:ln>
      </dgm:spPr>
      <dgm: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dirty="0"/>
            <a:t> Fed left interest rate unchanged in Jan-26, in line with expectations</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gm:t>
    </dgm:pt>
    <dgm:pt modelId="{B367E7FB-2D03-4BDD-84D9-5D181866B3C2}" type="parTrans" cxnId="{CBBC056E-BD75-490B-9B78-63BFA9D74F98}">
      <dgm:prSet/>
      <dgm:spPr/>
      <dgm:t>
        <a:bodyPr/>
        <a:lstStyle/>
        <a:p>
          <a:endParaRPr lang="en-US"/>
        </a:p>
      </dgm:t>
    </dgm:pt>
    <dgm:pt modelId="{1932BAC4-500F-48F0-8A1A-521F13F83BA2}" type="sibTrans" cxnId="{CBBC056E-BD75-490B-9B78-63BFA9D74F98}">
      <dgm:prSet/>
      <dgm:spPr/>
      <dgm:t>
        <a:bodyPr/>
        <a:lstStyle/>
        <a:p>
          <a:endParaRPr lang="en-US"/>
        </a:p>
      </dgm:t>
    </dgm:pt>
    <dgm:pt modelId="{FDB5D91C-9737-42AC-93AF-78FD4F0979B2}">
      <dgm:prSet custT="1"/>
      <dgm:spPr>
        <a:noFill/>
        <a:ln>
          <a:solidFill>
            <a:schemeClr val="bg2">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US 10Y note yield softened at 3.96% in Feb-26, amid evolving inflation and interest rate expectations</a:t>
          </a:r>
          <a:endParaRPr lang="en-US" sz="1000" strike="sngStrike" kern="1200" dirty="0">
            <a:solidFill>
              <a:srgbClr val="191919">
                <a:hueOff val="0"/>
                <a:satOff val="0"/>
                <a:lumOff val="0"/>
                <a:alphaOff val="0"/>
              </a:srgbClr>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dgm:t>
    </dgm:pt>
    <dgm:pt modelId="{3CABFE0E-7BF9-4C08-999A-8D000203BFFB}" type="parTrans" cxnId="{9E5B6502-E895-45D7-9FDE-D41071FFF2F9}">
      <dgm:prSet/>
      <dgm:spPr/>
      <dgm:t>
        <a:bodyPr/>
        <a:lstStyle/>
        <a:p>
          <a:endParaRPr lang="en-US"/>
        </a:p>
      </dgm:t>
    </dgm:pt>
    <dgm:pt modelId="{2556701D-BD34-4DF2-A176-953412D0E784}" type="sibTrans" cxnId="{9E5B6502-E895-45D7-9FDE-D41071FFF2F9}">
      <dgm:prSet/>
      <dgm:spPr/>
      <dgm:t>
        <a:bodyPr/>
        <a:lstStyle/>
        <a:p>
          <a:endParaRPr lang="en-US"/>
        </a:p>
      </dgm:t>
    </dgm:pt>
    <dgm:pt modelId="{23ECF797-B6B9-45AB-B19E-121073D0C222}">
      <dgm:prSet custT="1"/>
      <dgm:spPr>
        <a:noFill/>
        <a:ln>
          <a:solidFill>
            <a:schemeClr val="tx1">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Global markets remain volatile amid rising Middle East and global trade uncertainty </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A7C951EE-8E5B-494B-8D61-B15CDAF09585}" type="parTrans" cxnId="{3BE6F7C3-40A6-4FA7-AB1A-7B8206C38A1D}">
      <dgm:prSet/>
      <dgm:spPr/>
      <dgm:t>
        <a:bodyPr/>
        <a:lstStyle/>
        <a:p>
          <a:endParaRPr lang="en-US"/>
        </a:p>
      </dgm:t>
    </dgm:pt>
    <dgm:pt modelId="{3F3BBC79-0D69-4284-B7CB-14955A8361EC}" type="sibTrans" cxnId="{3BE6F7C3-40A6-4FA7-AB1A-7B8206C38A1D}">
      <dgm:prSet/>
      <dgm:spPr/>
      <dgm:t>
        <a:bodyPr/>
        <a:lstStyle/>
        <a:p>
          <a:endParaRPr lang="en-US"/>
        </a:p>
      </dgm:t>
    </dgm:pt>
    <dgm:pt modelId="{D5663069-C489-4AF7-808B-F367D4E44E48}">
      <dgm:prSet phldrT="[Text]" custT="1"/>
      <dgm:spPr>
        <a:noFill/>
        <a:ln>
          <a:solidFill>
            <a:schemeClr val="bg2">
              <a:alpha val="90000"/>
            </a:schemeClr>
          </a:solidFill>
        </a:ln>
      </dgm:spPr>
      <dgm:t>
        <a:bodyPr/>
        <a:lstStyle/>
        <a:p>
          <a:pPr algn="just">
            <a:buFont typeface="Arial" panose="020B0604020202020204" pitchFamily="34" charset="0"/>
            <a:buChar char="•"/>
          </a:pPr>
          <a:r>
            <a:rPr lang="en-US" sz="1000" dirty="0"/>
            <a:t> US headline CPI eased to 2.4% (Jan-26), led by cooling energy and goods prices</a:t>
          </a:r>
          <a:endParaRPr lang="en-US" sz="1000" dirty="0">
            <a:latin typeface="Calibri" panose="020F0502020204030204" pitchFamily="34" charset="0"/>
            <a:ea typeface="Calibri" panose="020F0502020204030204" pitchFamily="34" charset="0"/>
            <a:cs typeface="Calibri" panose="020F0502020204030204" pitchFamily="34" charset="0"/>
          </a:endParaRPr>
        </a:p>
      </dgm:t>
    </dgm:pt>
    <dgm:pt modelId="{16A504FF-DB36-4A58-8A91-2B415AA8EF1E}" type="sibTrans" cxnId="{835C278C-00A7-407F-80E1-AF5803862992}">
      <dgm:prSet/>
      <dgm:spPr/>
      <dgm:t>
        <a:bodyPr/>
        <a:lstStyle/>
        <a:p>
          <a:endParaRPr lang="en-US"/>
        </a:p>
      </dgm:t>
    </dgm:pt>
    <dgm:pt modelId="{87C7F52B-C68F-48F1-87F7-441F6300905B}" type="parTrans" cxnId="{835C278C-00A7-407F-80E1-AF5803862992}">
      <dgm:prSet/>
      <dgm:spPr/>
      <dgm:t>
        <a:bodyPr/>
        <a:lstStyle/>
        <a:p>
          <a:endParaRPr lang="en-US"/>
        </a:p>
      </dgm:t>
    </dgm:pt>
    <dgm:pt modelId="{92CD2999-9042-4C8A-BF20-45F774828A05}">
      <dgm:prSet phldrT="[Text]" custT="1"/>
      <dgm:spPr>
        <a:solidFill>
          <a:schemeClr val="bg1">
            <a:alpha val="90000"/>
          </a:schemeClr>
        </a:solidFill>
        <a:ln>
          <a:solidFill>
            <a:schemeClr val="tx1"/>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Liquidity to remain sufficient amid rupee volatility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4162EF96-F262-4970-9194-B2D00D05B177}" type="sibTrans" cxnId="{6455739A-7081-4C10-9BC3-1F03E164FAFA}">
      <dgm:prSet/>
      <dgm:spPr/>
      <dgm:t>
        <a:bodyPr/>
        <a:lstStyle/>
        <a:p>
          <a:endParaRPr lang="en-US"/>
        </a:p>
      </dgm:t>
    </dgm:pt>
    <dgm:pt modelId="{2C04C16F-AAC4-4D07-A10A-3CCF05AD6139}" type="parTrans" cxnId="{6455739A-7081-4C10-9BC3-1F03E164FAFA}">
      <dgm:prSet/>
      <dgm:spPr/>
      <dgm:t>
        <a:bodyPr/>
        <a:lstStyle/>
        <a:p>
          <a:endParaRPr lang="en-US"/>
        </a:p>
      </dgm:t>
    </dgm:pt>
    <dgm:pt modelId="{CFBEF807-85A7-47E8-8450-E7C94BF1F6F8}" type="pres">
      <dgm:prSet presAssocID="{19FCD27F-1CE5-415B-ACB8-0A5C3E5B93E9}" presName="Name0" presStyleCnt="0">
        <dgm:presLayoutVars>
          <dgm:dir/>
          <dgm:animLvl val="lvl"/>
          <dgm:resizeHandles val="exact"/>
        </dgm:presLayoutVars>
      </dgm:prSet>
      <dgm:spPr/>
    </dgm:pt>
    <dgm:pt modelId="{F8A7EED5-AD1C-4606-8F84-72642D631DFF}" type="pres">
      <dgm:prSet presAssocID="{E09C8E44-E9BA-4C00-BE50-7957EADE6D1A}" presName="linNode" presStyleCnt="0"/>
      <dgm:spPr/>
    </dgm:pt>
    <dgm:pt modelId="{BA6CE1E8-E35B-494E-8F9E-6082FFA7C39D}" type="pres">
      <dgm:prSet presAssocID="{E09C8E44-E9BA-4C00-BE50-7957EADE6D1A}" presName="parentText" presStyleLbl="node1" presStyleIdx="0" presStyleCnt="5" custScaleX="55317" custLinFactNeighborX="25" custLinFactNeighborY="-164">
        <dgm:presLayoutVars>
          <dgm:chMax val="1"/>
          <dgm:bulletEnabled val="1"/>
        </dgm:presLayoutVars>
      </dgm:prSet>
      <dgm:spPr/>
    </dgm:pt>
    <dgm:pt modelId="{DA931B39-482F-49D3-A948-4D0006D84345}" type="pres">
      <dgm:prSet presAssocID="{E09C8E44-E9BA-4C00-BE50-7957EADE6D1A}" presName="descendantText" presStyleLbl="alignAccFollowNode1" presStyleIdx="0" presStyleCnt="5" custScaleX="115334" custScaleY="112639">
        <dgm:presLayoutVars>
          <dgm:bulletEnabled val="1"/>
        </dgm:presLayoutVars>
      </dgm:prSet>
      <dgm:spPr/>
    </dgm:pt>
    <dgm:pt modelId="{09776274-6F27-403F-A851-FC0A8ECC41B3}" type="pres">
      <dgm:prSet presAssocID="{41CCB44C-74E2-454F-BA07-D26BA7B68AC6}" presName="sp" presStyleCnt="0"/>
      <dgm:spPr/>
    </dgm:pt>
    <dgm:pt modelId="{113E90EC-AFB2-446E-BCA0-004AE742C32F}" type="pres">
      <dgm:prSet presAssocID="{1FEC35B1-9147-47A1-AE7C-5D954D60E25C}" presName="linNode" presStyleCnt="0"/>
      <dgm:spPr/>
    </dgm:pt>
    <dgm:pt modelId="{4F5C1862-7C91-408E-BE9B-595AADD59ADD}" type="pres">
      <dgm:prSet presAssocID="{1FEC35B1-9147-47A1-AE7C-5D954D60E25C}" presName="parentText" presStyleLbl="node1" presStyleIdx="1" presStyleCnt="5" custScaleX="55317">
        <dgm:presLayoutVars>
          <dgm:chMax val="1"/>
          <dgm:bulletEnabled val="1"/>
        </dgm:presLayoutVars>
      </dgm:prSet>
      <dgm:spPr/>
    </dgm:pt>
    <dgm:pt modelId="{64EC0D4D-8F17-4312-8EC3-540AE7D77BD6}" type="pres">
      <dgm:prSet presAssocID="{1FEC35B1-9147-47A1-AE7C-5D954D60E25C}" presName="descendantText" presStyleLbl="alignAccFollowNode1" presStyleIdx="1" presStyleCnt="5" custScaleX="116220" custLinFactNeighborX="-1685" custLinFactNeighborY="-4396">
        <dgm:presLayoutVars>
          <dgm:bulletEnabled val="1"/>
        </dgm:presLayoutVars>
      </dgm:prSet>
      <dgm:spPr/>
    </dgm:pt>
    <dgm:pt modelId="{5F9FC963-5747-4B47-9207-83F05AF7323F}" type="pres">
      <dgm:prSet presAssocID="{89DDF03F-6DC8-44F2-A41E-D5051ED2D1F0}" presName="sp" presStyleCnt="0"/>
      <dgm:spPr/>
    </dgm:pt>
    <dgm:pt modelId="{7809419F-1694-4AE7-917F-B6313D7C4593}" type="pres">
      <dgm:prSet presAssocID="{A0EDAEE4-A668-40C2-BF09-4F51903BAEB4}" presName="linNode" presStyleCnt="0"/>
      <dgm:spPr/>
    </dgm:pt>
    <dgm:pt modelId="{A615328F-6E27-4EC6-BADB-D1A6A25A2B11}" type="pres">
      <dgm:prSet presAssocID="{A0EDAEE4-A668-40C2-BF09-4F51903BAEB4}" presName="parentText" presStyleLbl="node1" presStyleIdx="2" presStyleCnt="5" custScaleX="55317">
        <dgm:presLayoutVars>
          <dgm:chMax val="1"/>
          <dgm:bulletEnabled val="1"/>
        </dgm:presLayoutVars>
      </dgm:prSet>
      <dgm:spPr/>
    </dgm:pt>
    <dgm:pt modelId="{B0712708-6A42-4CBC-82DB-22D2FAD3BAE7}" type="pres">
      <dgm:prSet presAssocID="{A0EDAEE4-A668-40C2-BF09-4F51903BAEB4}" presName="descendantText" presStyleLbl="alignAccFollowNode1" presStyleIdx="2" presStyleCnt="5" custScaleX="114095">
        <dgm:presLayoutVars>
          <dgm:bulletEnabled val="1"/>
        </dgm:presLayoutVars>
      </dgm:prSet>
      <dgm:spPr/>
    </dgm:pt>
    <dgm:pt modelId="{2967583E-B15F-4665-A712-427240234858}" type="pres">
      <dgm:prSet presAssocID="{5A9B8F70-38D1-4902-98F6-A0812896ADBB}" presName="sp" presStyleCnt="0"/>
      <dgm:spPr/>
    </dgm:pt>
    <dgm:pt modelId="{0B19905A-1920-48B2-8A47-3A5CF3FF61C7}" type="pres">
      <dgm:prSet presAssocID="{95C782F8-4FB3-417E-BC74-3E9D60A4761B}" presName="linNode" presStyleCnt="0"/>
      <dgm:spPr/>
    </dgm:pt>
    <dgm:pt modelId="{69934606-21FB-4815-BC2B-3CE0D88084C6}" type="pres">
      <dgm:prSet presAssocID="{95C782F8-4FB3-417E-BC74-3E9D60A4761B}" presName="parentText" presStyleLbl="node1" presStyleIdx="3" presStyleCnt="5" custScaleX="55317">
        <dgm:presLayoutVars>
          <dgm:chMax val="1"/>
          <dgm:bulletEnabled val="1"/>
        </dgm:presLayoutVars>
      </dgm:prSet>
      <dgm:spPr/>
    </dgm:pt>
    <dgm:pt modelId="{7DA2FAD3-01FF-4501-8613-AA9FC08459C5}" type="pres">
      <dgm:prSet presAssocID="{95C782F8-4FB3-417E-BC74-3E9D60A4761B}" presName="descendantText" presStyleLbl="alignAccFollowNode1" presStyleIdx="3" presStyleCnt="5" custScaleX="114634">
        <dgm:presLayoutVars>
          <dgm:bulletEnabled val="1"/>
        </dgm:presLayoutVars>
      </dgm:prSet>
      <dgm:spPr/>
    </dgm:pt>
    <dgm:pt modelId="{9145F7A9-126A-4417-B19C-C3F4459D5FAB}" type="pres">
      <dgm:prSet presAssocID="{F38CAC1E-B0A7-4EBD-AEC8-B5B6756A06DD}" presName="sp" presStyleCnt="0"/>
      <dgm:spPr/>
    </dgm:pt>
    <dgm:pt modelId="{A69D04E3-9316-4250-A433-02A69865D502}" type="pres">
      <dgm:prSet presAssocID="{5A526C50-E77A-41BB-9582-FBDC4D52C0EA}" presName="linNode" presStyleCnt="0"/>
      <dgm:spPr/>
    </dgm:pt>
    <dgm:pt modelId="{BAE5F833-757C-48F1-840C-6B26D323D812}" type="pres">
      <dgm:prSet presAssocID="{5A526C50-E77A-41BB-9582-FBDC4D52C0EA}" presName="parentText" presStyleLbl="node1" presStyleIdx="4" presStyleCnt="5" custScaleX="55317">
        <dgm:presLayoutVars>
          <dgm:chMax val="1"/>
          <dgm:bulletEnabled val="1"/>
        </dgm:presLayoutVars>
      </dgm:prSet>
      <dgm:spPr/>
    </dgm:pt>
    <dgm:pt modelId="{76D6997D-CD2E-455F-A2A9-723E10F80EB0}" type="pres">
      <dgm:prSet presAssocID="{5A526C50-E77A-41BB-9582-FBDC4D52C0EA}" presName="descendantText" presStyleLbl="alignAccFollowNode1" presStyleIdx="4" presStyleCnt="5" custScaleX="113935" custScaleY="139525">
        <dgm:presLayoutVars>
          <dgm:bulletEnabled val="1"/>
        </dgm:presLayoutVars>
      </dgm:prSet>
      <dgm:spPr/>
    </dgm:pt>
  </dgm:ptLst>
  <dgm:cxnLst>
    <dgm:cxn modelId="{9E5B6502-E895-45D7-9FDE-D41071FFF2F9}" srcId="{95C782F8-4FB3-417E-BC74-3E9D60A4761B}" destId="{FDB5D91C-9737-42AC-93AF-78FD4F0979B2}" srcOrd="1" destOrd="0" parTransId="{3CABFE0E-7BF9-4C08-999A-8D000203BFFB}" sibTransId="{2556701D-BD34-4DF2-A176-953412D0E784}"/>
    <dgm:cxn modelId="{DA5E7905-EA77-42C1-AC09-7E66CFF62780}" type="presOf" srcId="{95C782F8-4FB3-417E-BC74-3E9D60A4761B}" destId="{69934606-21FB-4815-BC2B-3CE0D88084C6}" srcOrd="0" destOrd="0" presId="urn:microsoft.com/office/officeart/2005/8/layout/vList5"/>
    <dgm:cxn modelId="{2A90BD05-4399-45F9-B96B-3B2B5C6DC6D4}" type="presOf" srcId="{23ECF797-B6B9-45AB-B19E-121073D0C222}" destId="{76D6997D-CD2E-455F-A2A9-723E10F80EB0}" srcOrd="0" destOrd="1" presId="urn:microsoft.com/office/officeart/2005/8/layout/vList5"/>
    <dgm:cxn modelId="{67274D08-BCBB-4651-A1BF-713EF9BEF183}" srcId="{19FCD27F-1CE5-415B-ACB8-0A5C3E5B93E9}" destId="{1FEC35B1-9147-47A1-AE7C-5D954D60E25C}" srcOrd="1" destOrd="0" parTransId="{C194B499-7B44-4BB8-9674-0A378851F704}" sibTransId="{89DDF03F-6DC8-44F2-A41E-D5051ED2D1F0}"/>
    <dgm:cxn modelId="{EF039814-1778-4C2D-ADAE-2E3F068216A7}" type="presOf" srcId="{418DA415-3471-48A2-8BB7-5F5F0F2305B3}" destId="{76D6997D-CD2E-455F-A2A9-723E10F80EB0}" srcOrd="0" destOrd="0" presId="urn:microsoft.com/office/officeart/2005/8/layout/vList5"/>
    <dgm:cxn modelId="{5E132F2D-8925-494E-8F89-03B33D8A7208}" srcId="{5A526C50-E77A-41BB-9582-FBDC4D52C0EA}" destId="{418DA415-3471-48A2-8BB7-5F5F0F2305B3}" srcOrd="0" destOrd="0" parTransId="{AE66C7AC-D8AF-45BF-8BFF-3A645BABF5F2}" sibTransId="{AF8CC799-E71F-4DC5-A1BF-6B46F8BABD0F}"/>
    <dgm:cxn modelId="{BEADEF3B-E5A9-4B02-AE4F-8D7A46E7DA2D}" type="presOf" srcId="{C8DD43CC-58EE-41C8-B9DC-43860610FFB0}" destId="{B0712708-6A42-4CBC-82DB-22D2FAD3BAE7}" srcOrd="0" destOrd="1" presId="urn:microsoft.com/office/officeart/2005/8/layout/vList5"/>
    <dgm:cxn modelId="{43D4904C-1CD1-4E77-A947-B36B1C508DEC}" type="presOf" srcId="{19FCD27F-1CE5-415B-ACB8-0A5C3E5B93E9}" destId="{CFBEF807-85A7-47E8-8450-E7C94BF1F6F8}" srcOrd="0" destOrd="0" presId="urn:microsoft.com/office/officeart/2005/8/layout/vList5"/>
    <dgm:cxn modelId="{CBBC056E-BD75-490B-9B78-63BFA9D74F98}" srcId="{A0EDAEE4-A668-40C2-BF09-4F51903BAEB4}" destId="{C8DD43CC-58EE-41C8-B9DC-43860610FFB0}" srcOrd="1" destOrd="0" parTransId="{B367E7FB-2D03-4BDD-84D9-5D181866B3C2}" sibTransId="{1932BAC4-500F-48F0-8A1A-521F13F83BA2}"/>
    <dgm:cxn modelId="{EA74136E-9C3D-4355-AC3F-78AF7E575D06}" srcId="{95C782F8-4FB3-417E-BC74-3E9D60A4761B}" destId="{101AD256-0ECE-481B-8C26-C90B1EA79969}" srcOrd="0" destOrd="0" parTransId="{50A19A1D-28E4-439C-B218-27E77AFBD8B6}" sibTransId="{57BE84C1-E328-4377-82C3-23E24A9BD9B9}"/>
    <dgm:cxn modelId="{F14BE675-AEE7-47DA-BB09-DBCC8F0249B0}" type="presOf" srcId="{5A526C50-E77A-41BB-9582-FBDC4D52C0EA}" destId="{BAE5F833-757C-48F1-840C-6B26D323D812}" srcOrd="0" destOrd="0" presId="urn:microsoft.com/office/officeart/2005/8/layout/vList5"/>
    <dgm:cxn modelId="{90340757-3B7D-45EB-85AD-96C6053FB371}" srcId="{19FCD27F-1CE5-415B-ACB8-0A5C3E5B93E9}" destId="{95C782F8-4FB3-417E-BC74-3E9D60A4761B}" srcOrd="3" destOrd="0" parTransId="{221DA5EF-100B-4195-8DAE-0E661E511B4B}" sibTransId="{F38CAC1E-B0A7-4EBD-AEC8-B5B6756A06DD}"/>
    <dgm:cxn modelId="{EDC8707A-1C00-4499-96FA-226E509653F2}" type="presOf" srcId="{FDB5D91C-9737-42AC-93AF-78FD4F0979B2}" destId="{7DA2FAD3-01FF-4501-8613-AA9FC08459C5}" srcOrd="0" destOrd="1" presId="urn:microsoft.com/office/officeart/2005/8/layout/vList5"/>
    <dgm:cxn modelId="{CE6B1D7F-92C7-4000-812F-57211A93AF34}" type="presOf" srcId="{D5663069-C489-4AF7-808B-F367D4E44E48}" destId="{DA931B39-482F-49D3-A948-4D0006D84345}" srcOrd="0" destOrd="1" presId="urn:microsoft.com/office/officeart/2005/8/layout/vList5"/>
    <dgm:cxn modelId="{CD7D0A85-E078-4080-8A69-00302D4C21DE}" srcId="{E09C8E44-E9BA-4C00-BE50-7957EADE6D1A}" destId="{6914C3C6-9ADF-456D-9144-C11F06ECD3C3}" srcOrd="0" destOrd="0" parTransId="{F7500A90-FF1D-497E-8BD3-14E10465EDDE}" sibTransId="{5C9325E3-CCCD-4D85-85D0-78F9A872D55B}"/>
    <dgm:cxn modelId="{835C278C-00A7-407F-80E1-AF5803862992}" srcId="{E09C8E44-E9BA-4C00-BE50-7957EADE6D1A}" destId="{D5663069-C489-4AF7-808B-F367D4E44E48}" srcOrd="1" destOrd="0" parTransId="{87C7F52B-C68F-48F1-87F7-441F6300905B}" sibTransId="{16A504FF-DB36-4A58-8A91-2B415AA8EF1E}"/>
    <dgm:cxn modelId="{21BDCE92-F92F-4D31-8326-A2BF69C4D057}" srcId="{A0EDAEE4-A668-40C2-BF09-4F51903BAEB4}" destId="{9F7A8909-3B6D-4AF0-A11E-BF3EF9252D33}" srcOrd="0" destOrd="0" parTransId="{413A9B4A-07E4-4BED-86E3-5CA7DE2FC5D3}" sibTransId="{38BC8B9C-F25B-4F6D-BE48-06AA3ED6E461}"/>
    <dgm:cxn modelId="{6455739A-7081-4C10-9BC3-1F03E164FAFA}" srcId="{1FEC35B1-9147-47A1-AE7C-5D954D60E25C}" destId="{92CD2999-9042-4C8A-BF20-45F774828A05}" srcOrd="1" destOrd="0" parTransId="{2C04C16F-AAC4-4D07-A10A-3CCF05AD6139}" sibTransId="{4162EF96-F262-4970-9194-B2D00D05B177}"/>
    <dgm:cxn modelId="{C39286AB-DE45-448C-890B-E1ED66D5159D}" srcId="{19FCD27F-1CE5-415B-ACB8-0A5C3E5B93E9}" destId="{A0EDAEE4-A668-40C2-BF09-4F51903BAEB4}" srcOrd="2" destOrd="0" parTransId="{7E2FEA2E-459E-4BD9-AE5E-EC0FA97608AB}" sibTransId="{5A9B8F70-38D1-4902-98F6-A0812896ADBB}"/>
    <dgm:cxn modelId="{8FFA08B1-E424-45E3-AA90-1237D79FAA91}" type="presOf" srcId="{101AD256-0ECE-481B-8C26-C90B1EA79969}" destId="{7DA2FAD3-01FF-4501-8613-AA9FC08459C5}" srcOrd="0" destOrd="0" presId="urn:microsoft.com/office/officeart/2005/8/layout/vList5"/>
    <dgm:cxn modelId="{F1BBAABA-DAC3-4AD0-BF89-55C261FF6A50}" type="presOf" srcId="{A0EDAEE4-A668-40C2-BF09-4F51903BAEB4}" destId="{A615328F-6E27-4EC6-BADB-D1A6A25A2B11}" srcOrd="0" destOrd="0" presId="urn:microsoft.com/office/officeart/2005/8/layout/vList5"/>
    <dgm:cxn modelId="{BE806CBD-8E6B-4240-8A6A-BA253475A6ED}" type="presOf" srcId="{1FEC35B1-9147-47A1-AE7C-5D954D60E25C}" destId="{4F5C1862-7C91-408E-BE9B-595AADD59ADD}" srcOrd="0" destOrd="0" presId="urn:microsoft.com/office/officeart/2005/8/layout/vList5"/>
    <dgm:cxn modelId="{3BE6F7C3-40A6-4FA7-AB1A-7B8206C38A1D}" srcId="{5A526C50-E77A-41BB-9582-FBDC4D52C0EA}" destId="{23ECF797-B6B9-45AB-B19E-121073D0C222}" srcOrd="1" destOrd="0" parTransId="{A7C951EE-8E5B-494B-8D61-B15CDAF09585}" sibTransId="{3F3BBC79-0D69-4284-B7CB-14955A8361EC}"/>
    <dgm:cxn modelId="{D2D76CCA-6826-47AA-ADD8-FC41683E0B61}" type="presOf" srcId="{92CD2999-9042-4C8A-BF20-45F774828A05}" destId="{64EC0D4D-8F17-4312-8EC3-540AE7D77BD6}" srcOrd="0" destOrd="1" presId="urn:microsoft.com/office/officeart/2005/8/layout/vList5"/>
    <dgm:cxn modelId="{97FA1CCF-EA89-43EB-B756-3A9F6715F1F8}" type="presOf" srcId="{6914C3C6-9ADF-456D-9144-C11F06ECD3C3}" destId="{DA931B39-482F-49D3-A948-4D0006D84345}" srcOrd="0" destOrd="0" presId="urn:microsoft.com/office/officeart/2005/8/layout/vList5"/>
    <dgm:cxn modelId="{650171D2-CCBD-453D-BB5B-31EC244064BB}" srcId="{1FEC35B1-9147-47A1-AE7C-5D954D60E25C}" destId="{A34FB794-0F17-4C4B-81BB-90443F14226D}" srcOrd="0" destOrd="0" parTransId="{F840171C-A443-49D1-B18C-66D07CEEA250}" sibTransId="{F36CD333-F840-4315-85E8-A037F6A3D70D}"/>
    <dgm:cxn modelId="{EA6C78E0-E107-4C9A-A1F7-6CD910F9EEE2}" srcId="{19FCD27F-1CE5-415B-ACB8-0A5C3E5B93E9}" destId="{5A526C50-E77A-41BB-9582-FBDC4D52C0EA}" srcOrd="4" destOrd="0" parTransId="{4CA67D3B-F473-4C68-A8A9-649E9DC992EC}" sibTransId="{FB36EA36-BB44-4925-82BE-B12F6B93545F}"/>
    <dgm:cxn modelId="{8619D4EF-E090-4715-AD99-2C45E8DB2F0D}" srcId="{19FCD27F-1CE5-415B-ACB8-0A5C3E5B93E9}" destId="{E09C8E44-E9BA-4C00-BE50-7957EADE6D1A}" srcOrd="0" destOrd="0" parTransId="{EF4EFFDF-1140-4B20-8AB2-F5D9DEF30092}" sibTransId="{41CCB44C-74E2-454F-BA07-D26BA7B68AC6}"/>
    <dgm:cxn modelId="{50C2D6F0-D6E4-4FCB-9FB6-14FC9424E78A}" type="presOf" srcId="{9F7A8909-3B6D-4AF0-A11E-BF3EF9252D33}" destId="{B0712708-6A42-4CBC-82DB-22D2FAD3BAE7}" srcOrd="0" destOrd="0" presId="urn:microsoft.com/office/officeart/2005/8/layout/vList5"/>
    <dgm:cxn modelId="{5D3F21F4-0D11-40DC-9806-47DB3E164FF8}" type="presOf" srcId="{A34FB794-0F17-4C4B-81BB-90443F14226D}" destId="{64EC0D4D-8F17-4312-8EC3-540AE7D77BD6}" srcOrd="0" destOrd="0" presId="urn:microsoft.com/office/officeart/2005/8/layout/vList5"/>
    <dgm:cxn modelId="{062329F4-6DCC-4A1E-AFE4-9DFAAC417935}" type="presOf" srcId="{E09C8E44-E9BA-4C00-BE50-7957EADE6D1A}" destId="{BA6CE1E8-E35B-494E-8F9E-6082FFA7C39D}" srcOrd="0" destOrd="0" presId="urn:microsoft.com/office/officeart/2005/8/layout/vList5"/>
    <dgm:cxn modelId="{0FDA2A53-993F-4425-A253-BD24ED960D04}" type="presParOf" srcId="{CFBEF807-85A7-47E8-8450-E7C94BF1F6F8}" destId="{F8A7EED5-AD1C-4606-8F84-72642D631DFF}" srcOrd="0" destOrd="0" presId="urn:microsoft.com/office/officeart/2005/8/layout/vList5"/>
    <dgm:cxn modelId="{0353443C-FF75-478E-8016-FAEA0B8D7A1E}" type="presParOf" srcId="{F8A7EED5-AD1C-4606-8F84-72642D631DFF}" destId="{BA6CE1E8-E35B-494E-8F9E-6082FFA7C39D}" srcOrd="0" destOrd="0" presId="urn:microsoft.com/office/officeart/2005/8/layout/vList5"/>
    <dgm:cxn modelId="{DE3B830E-B02F-4CD0-BD70-48547672D814}" type="presParOf" srcId="{F8A7EED5-AD1C-4606-8F84-72642D631DFF}" destId="{DA931B39-482F-49D3-A948-4D0006D84345}" srcOrd="1" destOrd="0" presId="urn:microsoft.com/office/officeart/2005/8/layout/vList5"/>
    <dgm:cxn modelId="{92033485-F18A-407B-96A0-1BCD5AC10F7E}" type="presParOf" srcId="{CFBEF807-85A7-47E8-8450-E7C94BF1F6F8}" destId="{09776274-6F27-403F-A851-FC0A8ECC41B3}" srcOrd="1" destOrd="0" presId="urn:microsoft.com/office/officeart/2005/8/layout/vList5"/>
    <dgm:cxn modelId="{0495EA29-7DD2-46F1-BD51-CC55431BEB8A}" type="presParOf" srcId="{CFBEF807-85A7-47E8-8450-E7C94BF1F6F8}" destId="{113E90EC-AFB2-446E-BCA0-004AE742C32F}" srcOrd="2" destOrd="0" presId="urn:microsoft.com/office/officeart/2005/8/layout/vList5"/>
    <dgm:cxn modelId="{A57F7D96-A92A-4570-8A48-5F166DEC9703}" type="presParOf" srcId="{113E90EC-AFB2-446E-BCA0-004AE742C32F}" destId="{4F5C1862-7C91-408E-BE9B-595AADD59ADD}" srcOrd="0" destOrd="0" presId="urn:microsoft.com/office/officeart/2005/8/layout/vList5"/>
    <dgm:cxn modelId="{29C4161F-2A3C-499A-B404-F32269AF3C97}" type="presParOf" srcId="{113E90EC-AFB2-446E-BCA0-004AE742C32F}" destId="{64EC0D4D-8F17-4312-8EC3-540AE7D77BD6}" srcOrd="1" destOrd="0" presId="urn:microsoft.com/office/officeart/2005/8/layout/vList5"/>
    <dgm:cxn modelId="{2109AC77-8AF1-4E2E-98D8-48DFB296A3F1}" type="presParOf" srcId="{CFBEF807-85A7-47E8-8450-E7C94BF1F6F8}" destId="{5F9FC963-5747-4B47-9207-83F05AF7323F}" srcOrd="3" destOrd="0" presId="urn:microsoft.com/office/officeart/2005/8/layout/vList5"/>
    <dgm:cxn modelId="{7533EF07-E5C5-495E-A239-AED740080C4D}" type="presParOf" srcId="{CFBEF807-85A7-47E8-8450-E7C94BF1F6F8}" destId="{7809419F-1694-4AE7-917F-B6313D7C4593}" srcOrd="4" destOrd="0" presId="urn:microsoft.com/office/officeart/2005/8/layout/vList5"/>
    <dgm:cxn modelId="{C825EBCB-7857-4B4F-AD22-36FA3B2EFB08}" type="presParOf" srcId="{7809419F-1694-4AE7-917F-B6313D7C4593}" destId="{A615328F-6E27-4EC6-BADB-D1A6A25A2B11}" srcOrd="0" destOrd="0" presId="urn:microsoft.com/office/officeart/2005/8/layout/vList5"/>
    <dgm:cxn modelId="{735883B3-5178-42AE-A156-CDB906F3324F}" type="presParOf" srcId="{7809419F-1694-4AE7-917F-B6313D7C4593}" destId="{B0712708-6A42-4CBC-82DB-22D2FAD3BAE7}" srcOrd="1" destOrd="0" presId="urn:microsoft.com/office/officeart/2005/8/layout/vList5"/>
    <dgm:cxn modelId="{D7A0658D-9B72-4D50-BEC4-5F9B6945D53B}" type="presParOf" srcId="{CFBEF807-85A7-47E8-8450-E7C94BF1F6F8}" destId="{2967583E-B15F-4665-A712-427240234858}" srcOrd="5" destOrd="0" presId="urn:microsoft.com/office/officeart/2005/8/layout/vList5"/>
    <dgm:cxn modelId="{6909188A-F93E-426E-80CD-AF15867C00E9}" type="presParOf" srcId="{CFBEF807-85A7-47E8-8450-E7C94BF1F6F8}" destId="{0B19905A-1920-48B2-8A47-3A5CF3FF61C7}" srcOrd="6" destOrd="0" presId="urn:microsoft.com/office/officeart/2005/8/layout/vList5"/>
    <dgm:cxn modelId="{F4FE2360-5BEE-4AB0-A86F-50512B152E88}" type="presParOf" srcId="{0B19905A-1920-48B2-8A47-3A5CF3FF61C7}" destId="{69934606-21FB-4815-BC2B-3CE0D88084C6}" srcOrd="0" destOrd="0" presId="urn:microsoft.com/office/officeart/2005/8/layout/vList5"/>
    <dgm:cxn modelId="{84C6BB7D-46C7-4597-BB4A-09B54D3B7505}" type="presParOf" srcId="{0B19905A-1920-48B2-8A47-3A5CF3FF61C7}" destId="{7DA2FAD3-01FF-4501-8613-AA9FC08459C5}" srcOrd="1" destOrd="0" presId="urn:microsoft.com/office/officeart/2005/8/layout/vList5"/>
    <dgm:cxn modelId="{F5EB5167-2C6E-4BB2-B72C-225195E54B24}" type="presParOf" srcId="{CFBEF807-85A7-47E8-8450-E7C94BF1F6F8}" destId="{9145F7A9-126A-4417-B19C-C3F4459D5FAB}" srcOrd="7" destOrd="0" presId="urn:microsoft.com/office/officeart/2005/8/layout/vList5"/>
    <dgm:cxn modelId="{EBF870F2-51C2-438E-BC27-829C96E02310}" type="presParOf" srcId="{CFBEF807-85A7-47E8-8450-E7C94BF1F6F8}" destId="{A69D04E3-9316-4250-A433-02A69865D502}" srcOrd="8" destOrd="0" presId="urn:microsoft.com/office/officeart/2005/8/layout/vList5"/>
    <dgm:cxn modelId="{BD5780C0-70E9-4C7A-BFD1-6668ACA1F36D}" type="presParOf" srcId="{A69D04E3-9316-4250-A433-02A69865D502}" destId="{BAE5F833-757C-48F1-840C-6B26D323D812}" srcOrd="0" destOrd="0" presId="urn:microsoft.com/office/officeart/2005/8/layout/vList5"/>
    <dgm:cxn modelId="{1D2F44DB-F234-4126-B8E1-44E5B6E69FEE}" type="presParOf" srcId="{A69D04E3-9316-4250-A433-02A69865D502}" destId="{76D6997D-CD2E-455F-A2A9-723E10F80EB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31B39-482F-49D3-A948-4D0006D84345}">
      <dsp:nvSpPr>
        <dsp:cNvPr id="0" name=""/>
        <dsp:cNvSpPr/>
      </dsp:nvSpPr>
      <dsp:spPr>
        <a:xfrm rot="5400000">
          <a:off x="4489952" y="-2628189"/>
          <a:ext cx="601153" cy="5925691"/>
        </a:xfrm>
        <a:prstGeom prst="round2SameRect">
          <a:avLst/>
        </a:prstGeom>
        <a:noFill/>
        <a:ln w="25400" cap="flat" cmpd="sng" algn="ctr">
          <a:solidFill>
            <a:schemeClr val="bg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Font typeface="Arial" panose="020B0604020202020204" pitchFamily="34" charset="0"/>
            <a:buChar char="•"/>
          </a:pPr>
          <a:r>
            <a:rPr lang="en-US" sz="1000" kern="1200" dirty="0"/>
            <a:t> India’s CPI rose to 2.75% (Jan-26), driven by firm core inflation</a:t>
          </a:r>
          <a:endParaRPr lang="en-US" sz="1000" kern="1200" dirty="0">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Font typeface="Arial" panose="020B0604020202020204" pitchFamily="34" charset="0"/>
            <a:buChar char="•"/>
          </a:pPr>
          <a:r>
            <a:rPr lang="en-US" sz="1000" kern="1200" dirty="0"/>
            <a:t> US headline CPI eased to 2.4% (Jan-26), led by cooling energy and goods prices</a:t>
          </a:r>
          <a:endParaRPr lang="en-US" sz="10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827683" y="63426"/>
        <a:ext cx="5896345" cy="542461"/>
      </dsp:txXfrm>
    </dsp:sp>
    <dsp:sp modelId="{BA6CE1E8-E35B-494E-8F9E-6082FFA7C39D}">
      <dsp:nvSpPr>
        <dsp:cNvPr id="0" name=""/>
        <dsp:cNvSpPr/>
      </dsp:nvSpPr>
      <dsp:spPr>
        <a:xfrm>
          <a:off x="230283" y="0"/>
          <a:ext cx="1598684" cy="66712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Inflation</a:t>
          </a:r>
        </a:p>
      </dsp:txBody>
      <dsp:txXfrm>
        <a:off x="262849" y="32566"/>
        <a:ext cx="1533552" cy="601991"/>
      </dsp:txXfrm>
    </dsp:sp>
    <dsp:sp modelId="{64EC0D4D-8F17-4312-8EC3-540AE7D77BD6}">
      <dsp:nvSpPr>
        <dsp:cNvPr id="0" name=""/>
        <dsp:cNvSpPr/>
      </dsp:nvSpPr>
      <dsp:spPr>
        <a:xfrm rot="5400000">
          <a:off x="4497743" y="-1973931"/>
          <a:ext cx="533698" cy="5971212"/>
        </a:xfrm>
        <a:prstGeom prst="round2SameRect">
          <a:avLst/>
        </a:prstGeom>
        <a:solidFill>
          <a:schemeClr val="bg1">
            <a:alpha val="9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a:t>
          </a:r>
          <a:r>
            <a:rPr lang="en-IN" sz="1000" kern="1200" dirty="0"/>
            <a:t>RBI advancing its Rs 1 lakh crore  OMO purchases to stabilize the market liquidity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Liquidity to remain sufficient amid rupee volatility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sp:txBody>
      <dsp:txXfrm rot="-5400000">
        <a:off x="1778987" y="770878"/>
        <a:ext cx="5945159" cy="481592"/>
      </dsp:txXfrm>
    </dsp:sp>
    <dsp:sp modelId="{4F5C1862-7C91-408E-BE9B-595AADD59ADD}">
      <dsp:nvSpPr>
        <dsp:cNvPr id="0" name=""/>
        <dsp:cNvSpPr/>
      </dsp:nvSpPr>
      <dsp:spPr>
        <a:xfrm>
          <a:off x="228998" y="701574"/>
          <a:ext cx="1598684" cy="667123"/>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Liquidity</a:t>
          </a:r>
        </a:p>
      </dsp:txBody>
      <dsp:txXfrm>
        <a:off x="261564" y="734140"/>
        <a:ext cx="1533552" cy="601991"/>
      </dsp:txXfrm>
    </dsp:sp>
    <dsp:sp modelId="{B0712708-6A42-4CBC-82DB-22D2FAD3BAE7}">
      <dsp:nvSpPr>
        <dsp:cNvPr id="0" name=""/>
        <dsp:cNvSpPr/>
      </dsp:nvSpPr>
      <dsp:spPr>
        <a:xfrm rot="5400000">
          <a:off x="4491850" y="-1195400"/>
          <a:ext cx="533698" cy="5862033"/>
        </a:xfrm>
        <a:prstGeom prst="round2SameRect">
          <a:avLst/>
        </a:prstGeom>
        <a:noFill/>
        <a:ln w="25400" cap="flat" cmpd="sng" algn="ctr">
          <a:solidFill>
            <a:schemeClr val="bg1">
              <a:lumMod val="75000"/>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kern="1200" dirty="0">
              <a:solidFill>
                <a:srgbClr val="191919">
                  <a:hueOff val="0"/>
                  <a:satOff val="0"/>
                  <a:lumOff val="0"/>
                  <a:alphaOff val="0"/>
                </a:srgbClr>
              </a:solidFill>
              <a:latin typeface="+mj-lt"/>
              <a:ea typeface="Calibri" panose="020F0502020204030204" pitchFamily="34" charset="0"/>
              <a:cs typeface="Calibri" panose="020F0502020204030204" pitchFamily="34" charset="0"/>
            </a:rPr>
            <a:t>  </a:t>
          </a:r>
          <a:r>
            <a:rPr lang="en-US" sz="1000" kern="1200" dirty="0">
              <a:solidFill>
                <a:schemeClr val="tx1"/>
              </a:solidFill>
            </a:rPr>
            <a:t>RBI keeps interest rate unchanged at 5.25%, continues neutral stance</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dirty="0"/>
            <a:t> Fed left interest rate unchanged in Jan-26, in line with expectations</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sp:txBody>
      <dsp:txXfrm rot="-5400000">
        <a:off x="1827683" y="1494820"/>
        <a:ext cx="5835980" cy="481592"/>
      </dsp:txXfrm>
    </dsp:sp>
    <dsp:sp modelId="{A615328F-6E27-4EC6-BADB-D1A6A25A2B11}">
      <dsp:nvSpPr>
        <dsp:cNvPr id="0" name=""/>
        <dsp:cNvSpPr/>
      </dsp:nvSpPr>
      <dsp:spPr>
        <a:xfrm>
          <a:off x="228998" y="1402053"/>
          <a:ext cx="1598684" cy="667123"/>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Interest</a:t>
          </a:r>
          <a:r>
            <a:rPr lang="en-US" sz="12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rate</a:t>
          </a:r>
        </a:p>
      </dsp:txBody>
      <dsp:txXfrm>
        <a:off x="261564" y="1434619"/>
        <a:ext cx="1533552" cy="601991"/>
      </dsp:txXfrm>
    </dsp:sp>
    <dsp:sp modelId="{7DA2FAD3-01FF-4501-8613-AA9FC08459C5}">
      <dsp:nvSpPr>
        <dsp:cNvPr id="0" name=""/>
        <dsp:cNvSpPr/>
      </dsp:nvSpPr>
      <dsp:spPr>
        <a:xfrm rot="5400000">
          <a:off x="4505697" y="-508767"/>
          <a:ext cx="533698" cy="5889726"/>
        </a:xfrm>
        <a:prstGeom prst="round2SameRect">
          <a:avLst/>
        </a:prstGeom>
        <a:noFill/>
        <a:ln w="25400" cap="flat" cmpd="sng" algn="ctr">
          <a:solidFill>
            <a:schemeClr val="bg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India’s 10Y G-sec flat at  ~6.6% in Feb-26, as investors balanced strong demand with heavy supply</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US 10Y note yield softened at 3.96% in Feb-26, amid evolving inflation and interest rate expectations</a:t>
          </a:r>
          <a:endParaRPr lang="en-US" sz="1000" strike="sngStrike" kern="1200" dirty="0">
            <a:solidFill>
              <a:srgbClr val="191919">
                <a:hueOff val="0"/>
                <a:satOff val="0"/>
                <a:lumOff val="0"/>
                <a:alphaOff val="0"/>
              </a:srgbClr>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dsp:txBody>
      <dsp:txXfrm rot="-5400000">
        <a:off x="1827684" y="2195299"/>
        <a:ext cx="5863673" cy="481592"/>
      </dsp:txXfrm>
    </dsp:sp>
    <dsp:sp modelId="{69934606-21FB-4815-BC2B-3CE0D88084C6}">
      <dsp:nvSpPr>
        <dsp:cNvPr id="0" name=""/>
        <dsp:cNvSpPr/>
      </dsp:nvSpPr>
      <dsp:spPr>
        <a:xfrm>
          <a:off x="228998" y="2102533"/>
          <a:ext cx="1598684" cy="66712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6223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Bond Markets</a:t>
          </a:r>
        </a:p>
      </dsp:txBody>
      <dsp:txXfrm>
        <a:off x="261564" y="2135099"/>
        <a:ext cx="1533552" cy="601991"/>
      </dsp:txXfrm>
    </dsp:sp>
    <dsp:sp modelId="{76D6997D-CD2E-455F-A2A9-723E10F80EB0}">
      <dsp:nvSpPr>
        <dsp:cNvPr id="0" name=""/>
        <dsp:cNvSpPr/>
      </dsp:nvSpPr>
      <dsp:spPr>
        <a:xfrm rot="5400000">
          <a:off x="4377848" y="251287"/>
          <a:ext cx="744643" cy="5848095"/>
        </a:xfrm>
        <a:prstGeom prst="round2SameRect">
          <a:avLst/>
        </a:prstGeom>
        <a:noFill/>
        <a:ln w="2540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Domestic equities may remain range-bound amid elevated valuations and rising geopolitical tensions in the Middle East</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Global markets remain volatile amid rising Middle East and global trade uncertainty </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sp:txBody>
      <dsp:txXfrm rot="-5400000">
        <a:off x="1826122" y="2839363"/>
        <a:ext cx="5811745" cy="671943"/>
      </dsp:txXfrm>
    </dsp:sp>
    <dsp:sp modelId="{BAE5F833-757C-48F1-840C-6B26D323D812}">
      <dsp:nvSpPr>
        <dsp:cNvPr id="0" name=""/>
        <dsp:cNvSpPr/>
      </dsp:nvSpPr>
      <dsp:spPr>
        <a:xfrm>
          <a:off x="228998" y="2841773"/>
          <a:ext cx="1597123" cy="667123"/>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6223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Equity Markets</a:t>
          </a:r>
        </a:p>
      </dsp:txBody>
      <dsp:txXfrm>
        <a:off x="261564" y="2874339"/>
        <a:ext cx="1531991" cy="60199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36" name="Google Shape;23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27576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944486FB-18BC-95BC-6959-C2FCD6030687}"/>
            </a:ext>
          </a:extLst>
        </p:cNvPr>
        <p:cNvGrpSpPr/>
        <p:nvPr/>
      </p:nvGrpSpPr>
      <p:grpSpPr>
        <a:xfrm>
          <a:off x="0" y="0"/>
          <a:ext cx="0" cy="0"/>
          <a:chOff x="0" y="0"/>
          <a:chExt cx="0" cy="0"/>
        </a:xfrm>
      </p:grpSpPr>
      <p:sp>
        <p:nvSpPr>
          <p:cNvPr id="257" name="Google Shape;257;p6:notes">
            <a:extLst>
              <a:ext uri="{FF2B5EF4-FFF2-40B4-BE49-F238E27FC236}">
                <a16:creationId xmlns:a16="http://schemas.microsoft.com/office/drawing/2014/main" id="{EE50A503-563D-B21C-287F-F0B9D10FB6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58" name="Google Shape;258;p6:notes">
            <a:extLst>
              <a:ext uri="{FF2B5EF4-FFF2-40B4-BE49-F238E27FC236}">
                <a16:creationId xmlns:a16="http://schemas.microsoft.com/office/drawing/2014/main" id="{5D5147BF-B239-A080-60C9-FEB0F9E604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172991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01402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7429EF4-4624-FBF7-089B-247A1C82E35B}"/>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8D7C3C3C-AA14-ACC8-D861-A03AFA47BF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8BF3D071-9002-BAE7-D00A-B2181AD985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0573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323262E-DFBD-4D51-E1E9-1BF0DF14FC4A}"/>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6F9CE6EA-51F4-8325-2354-5FB1362F6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16E6A256-E8E1-F55F-B1E8-13A7E0BC4B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17827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7ADC907-AD6D-1BAC-E623-BFB493BDD9F4}"/>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E0C2CBFC-F919-919E-10B7-1D17C0CAE7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6CD026BE-4C3C-C74E-4D56-51F30243D79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14577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2574191-DEEF-3C98-4DFD-9D41186AFF68}"/>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E5074905-D395-45D2-557E-5FDB635781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02B272C9-B568-9118-0FE9-43B91CC4EA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99685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EAD8F2F-77AE-A8F9-2F8F-0D6659FA0AFE}"/>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5990F977-A8E8-EC4D-12D0-F67C453B01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F61A841E-0DBE-CF3A-C1A8-3A61EEFCD5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97130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5852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06057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998089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61382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84" name="Google Shape;2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0BF964B-31D2-8C71-D5E3-0FBC0783B286}"/>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C6EDCE59-B4DF-3167-E30D-E2AD3831F9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E7836D55-D0EC-73E6-AD7F-02D386E17E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070399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82338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00287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84" name="Google Shape;2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63857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F319673-5060-2773-4A4E-C964D5B45C60}"/>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C8281D88-C4D9-082D-CCC9-7359717F41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707E7D45-FAC0-78F3-6CCF-00FB4981F3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26007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EBF171B-1EDD-7AF1-D755-D01941CCBB31}"/>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9F6CA85C-4362-28CD-AF43-3B4721483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8316C112-10F4-4C37-2893-114BDD1877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390642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B76E18A-1211-B46B-F9A1-C280C1021C48}"/>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93B453ED-C382-41B9-17F4-12EE136185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16EA8461-A04A-3416-CF5C-4EDEAD5602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40803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57236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39668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58"/>
          <p:cNvSpPr>
            <a:spLocks noGrp="1"/>
          </p:cNvSpPr>
          <p:nvPr>
            <p:ph type="pic" idx="2"/>
          </p:nvPr>
        </p:nvSpPr>
        <p:spPr>
          <a:xfrm>
            <a:off x="3330125" y="0"/>
            <a:ext cx="5814000" cy="4422300"/>
          </a:xfrm>
          <a:prstGeom prst="rect">
            <a:avLst/>
          </a:prstGeom>
          <a:noFill/>
          <a:ln>
            <a:noFill/>
          </a:ln>
        </p:spPr>
        <p:txBody>
          <a:bodyPr/>
          <a:lstStyle/>
          <a:p>
            <a:endParaRPr lang="en-US" dirty="0"/>
          </a:p>
        </p:txBody>
      </p:sp>
      <p:sp>
        <p:nvSpPr>
          <p:cNvPr id="10" name="Google Shape;10;p58"/>
          <p:cNvSpPr txBox="1">
            <a:spLocks noGrp="1"/>
          </p:cNvSpPr>
          <p:nvPr>
            <p:ph type="ctrTitle"/>
          </p:nvPr>
        </p:nvSpPr>
        <p:spPr>
          <a:xfrm>
            <a:off x="713225" y="1799800"/>
            <a:ext cx="5814000" cy="22014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191919"/>
              </a:buClr>
              <a:buSzPts val="5200"/>
              <a:buNone/>
              <a:defRPr sz="96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58"/>
          <p:cNvSpPr txBox="1">
            <a:spLocks noGrp="1"/>
          </p:cNvSpPr>
          <p:nvPr>
            <p:ph type="subTitle" idx="1"/>
          </p:nvPr>
        </p:nvSpPr>
        <p:spPr>
          <a:xfrm>
            <a:off x="713225" y="4198100"/>
            <a:ext cx="5814000" cy="405900"/>
          </a:xfrm>
          <a:prstGeom prst="rect">
            <a:avLst/>
          </a:prstGeom>
          <a:solidFill>
            <a:schemeClr val="dk1"/>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9"/>
        <p:cNvGrpSpPr/>
        <p:nvPr/>
      </p:nvGrpSpPr>
      <p:grpSpPr>
        <a:xfrm>
          <a:off x="0" y="0"/>
          <a:ext cx="0" cy="0"/>
          <a:chOff x="0" y="0"/>
          <a:chExt cx="0" cy="0"/>
        </a:xfrm>
      </p:grpSpPr>
      <p:grpSp>
        <p:nvGrpSpPr>
          <p:cNvPr id="20" name="Google Shape;20;p60"/>
          <p:cNvGrpSpPr/>
          <p:nvPr/>
        </p:nvGrpSpPr>
        <p:grpSpPr>
          <a:xfrm>
            <a:off x="-94975" y="704675"/>
            <a:ext cx="8809210" cy="4167775"/>
            <a:chOff x="-94975" y="704675"/>
            <a:chExt cx="8809210" cy="4167775"/>
          </a:xfrm>
        </p:grpSpPr>
        <p:cxnSp>
          <p:nvCxnSpPr>
            <p:cNvPr id="21" name="Google Shape;21;p60"/>
            <p:cNvCxnSpPr/>
            <p:nvPr/>
          </p:nvCxnSpPr>
          <p:spPr>
            <a:xfrm rot="10800000">
              <a:off x="6247635" y="704675"/>
              <a:ext cx="2466600" cy="0"/>
            </a:xfrm>
            <a:prstGeom prst="straightConnector1">
              <a:avLst/>
            </a:prstGeom>
            <a:noFill/>
            <a:ln w="9525" cap="flat" cmpd="sng">
              <a:solidFill>
                <a:schemeClr val="dk1"/>
              </a:solidFill>
              <a:prstDash val="solid"/>
              <a:round/>
              <a:headEnd type="none" w="sm" len="sm"/>
              <a:tailEnd type="none" w="sm" len="sm"/>
            </a:ln>
          </p:spPr>
        </p:cxnSp>
        <p:cxnSp>
          <p:nvCxnSpPr>
            <p:cNvPr id="22" name="Google Shape;22;p60"/>
            <p:cNvCxnSpPr/>
            <p:nvPr/>
          </p:nvCxnSpPr>
          <p:spPr>
            <a:xfrm>
              <a:off x="8710050" y="711750"/>
              <a:ext cx="0" cy="4160700"/>
            </a:xfrm>
            <a:prstGeom prst="straightConnector1">
              <a:avLst/>
            </a:prstGeom>
            <a:noFill/>
            <a:ln w="9525" cap="flat" cmpd="sng">
              <a:solidFill>
                <a:schemeClr val="dk1"/>
              </a:solidFill>
              <a:prstDash val="solid"/>
              <a:round/>
              <a:headEnd type="none" w="sm" len="sm"/>
              <a:tailEnd type="none" w="sm" len="sm"/>
            </a:ln>
          </p:spPr>
        </p:cxnSp>
        <p:cxnSp>
          <p:nvCxnSpPr>
            <p:cNvPr id="23" name="Google Shape;23;p60"/>
            <p:cNvCxnSpPr/>
            <p:nvPr/>
          </p:nvCxnSpPr>
          <p:spPr>
            <a:xfrm rot="10800000">
              <a:off x="-94975" y="4872200"/>
              <a:ext cx="8809200" cy="0"/>
            </a:xfrm>
            <a:prstGeom prst="straightConnector1">
              <a:avLst/>
            </a:prstGeom>
            <a:noFill/>
            <a:ln w="9525" cap="flat" cmpd="sng">
              <a:solidFill>
                <a:schemeClr val="dk1"/>
              </a:solidFill>
              <a:prstDash val="solid"/>
              <a:round/>
              <a:headEnd type="none" w="sm" len="sm"/>
              <a:tailEnd type="none" w="sm" len="sm"/>
            </a:ln>
          </p:spPr>
        </p:cxnSp>
      </p:grpSp>
      <p:sp>
        <p:nvSpPr>
          <p:cNvPr id="24" name="Google Shape;24;p60"/>
          <p:cNvSpPr txBox="1">
            <a:spLocks noGrp="1"/>
          </p:cNvSpPr>
          <p:nvPr>
            <p:ph type="title"/>
          </p:nvPr>
        </p:nvSpPr>
        <p:spPr>
          <a:xfrm>
            <a:off x="720000" y="445025"/>
            <a:ext cx="770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5" name="Google Shape;25;p60"/>
          <p:cNvSpPr txBox="1">
            <a:spLocks noGrp="1"/>
          </p:cNvSpPr>
          <p:nvPr>
            <p:ph type="subTitle" idx="1"/>
          </p:nvPr>
        </p:nvSpPr>
        <p:spPr>
          <a:xfrm>
            <a:off x="720000"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6" name="Google Shape;26;p60"/>
          <p:cNvSpPr txBox="1">
            <a:spLocks noGrp="1"/>
          </p:cNvSpPr>
          <p:nvPr>
            <p:ph type="subTitle" idx="2"/>
          </p:nvPr>
        </p:nvSpPr>
        <p:spPr>
          <a:xfrm>
            <a:off x="3419269"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7" name="Google Shape;27;p60"/>
          <p:cNvSpPr txBox="1">
            <a:spLocks noGrp="1"/>
          </p:cNvSpPr>
          <p:nvPr>
            <p:ph type="subTitle" idx="3"/>
          </p:nvPr>
        </p:nvSpPr>
        <p:spPr>
          <a:xfrm>
            <a:off x="720000"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8" name="Google Shape;28;p60"/>
          <p:cNvSpPr txBox="1">
            <a:spLocks noGrp="1"/>
          </p:cNvSpPr>
          <p:nvPr>
            <p:ph type="subTitle" idx="4"/>
          </p:nvPr>
        </p:nvSpPr>
        <p:spPr>
          <a:xfrm>
            <a:off x="3419269"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9" name="Google Shape;29;p60"/>
          <p:cNvSpPr txBox="1">
            <a:spLocks noGrp="1"/>
          </p:cNvSpPr>
          <p:nvPr>
            <p:ph type="subTitle" idx="5"/>
          </p:nvPr>
        </p:nvSpPr>
        <p:spPr>
          <a:xfrm>
            <a:off x="6118545"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30" name="Google Shape;30;p60"/>
          <p:cNvSpPr txBox="1">
            <a:spLocks noGrp="1"/>
          </p:cNvSpPr>
          <p:nvPr>
            <p:ph type="subTitle" idx="6"/>
          </p:nvPr>
        </p:nvSpPr>
        <p:spPr>
          <a:xfrm>
            <a:off x="6118545"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31" name="Google Shape;31;p60"/>
          <p:cNvSpPr txBox="1">
            <a:spLocks noGrp="1"/>
          </p:cNvSpPr>
          <p:nvPr>
            <p:ph type="title" idx="7"/>
          </p:nvPr>
        </p:nvSpPr>
        <p:spPr>
          <a:xfrm>
            <a:off x="720000"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2" name="Google Shape;32;p60"/>
          <p:cNvSpPr txBox="1">
            <a:spLocks noGrp="1"/>
          </p:cNvSpPr>
          <p:nvPr>
            <p:ph type="title" idx="8"/>
          </p:nvPr>
        </p:nvSpPr>
        <p:spPr>
          <a:xfrm>
            <a:off x="720000"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3" name="Google Shape;33;p60"/>
          <p:cNvSpPr txBox="1">
            <a:spLocks noGrp="1"/>
          </p:cNvSpPr>
          <p:nvPr>
            <p:ph type="title" idx="9"/>
          </p:nvPr>
        </p:nvSpPr>
        <p:spPr>
          <a:xfrm>
            <a:off x="3419269"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4" name="Google Shape;34;p60"/>
          <p:cNvSpPr txBox="1">
            <a:spLocks noGrp="1"/>
          </p:cNvSpPr>
          <p:nvPr>
            <p:ph type="title" idx="13"/>
          </p:nvPr>
        </p:nvSpPr>
        <p:spPr>
          <a:xfrm>
            <a:off x="3419269"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5" name="Google Shape;35;p60"/>
          <p:cNvSpPr txBox="1">
            <a:spLocks noGrp="1"/>
          </p:cNvSpPr>
          <p:nvPr>
            <p:ph type="title" idx="14"/>
          </p:nvPr>
        </p:nvSpPr>
        <p:spPr>
          <a:xfrm>
            <a:off x="6118545"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60"/>
          <p:cNvSpPr txBox="1">
            <a:spLocks noGrp="1"/>
          </p:cNvSpPr>
          <p:nvPr>
            <p:ph type="title" idx="15"/>
          </p:nvPr>
        </p:nvSpPr>
        <p:spPr>
          <a:xfrm>
            <a:off x="6118545"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7" name="Google Shape;37;p60"/>
          <p:cNvSpPr txBox="1">
            <a:spLocks noGrp="1"/>
          </p:cNvSpPr>
          <p:nvPr>
            <p:ph type="subTitle" idx="16"/>
          </p:nvPr>
        </p:nvSpPr>
        <p:spPr>
          <a:xfrm>
            <a:off x="720000"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 name="Google Shape;38;p60"/>
          <p:cNvSpPr txBox="1">
            <a:spLocks noGrp="1"/>
          </p:cNvSpPr>
          <p:nvPr>
            <p:ph type="subTitle" idx="17"/>
          </p:nvPr>
        </p:nvSpPr>
        <p:spPr>
          <a:xfrm>
            <a:off x="3419271"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9" name="Google Shape;39;p60"/>
          <p:cNvSpPr txBox="1">
            <a:spLocks noGrp="1"/>
          </p:cNvSpPr>
          <p:nvPr>
            <p:ph type="subTitle" idx="18"/>
          </p:nvPr>
        </p:nvSpPr>
        <p:spPr>
          <a:xfrm>
            <a:off x="6118549"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0" name="Google Shape;40;p60"/>
          <p:cNvSpPr txBox="1">
            <a:spLocks noGrp="1"/>
          </p:cNvSpPr>
          <p:nvPr>
            <p:ph type="subTitle" idx="19"/>
          </p:nvPr>
        </p:nvSpPr>
        <p:spPr>
          <a:xfrm>
            <a:off x="720000"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1" name="Google Shape;41;p60"/>
          <p:cNvSpPr txBox="1">
            <a:spLocks noGrp="1"/>
          </p:cNvSpPr>
          <p:nvPr>
            <p:ph type="subTitle" idx="20"/>
          </p:nvPr>
        </p:nvSpPr>
        <p:spPr>
          <a:xfrm>
            <a:off x="3419271"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2" name="Google Shape;42;p60"/>
          <p:cNvSpPr txBox="1">
            <a:spLocks noGrp="1"/>
          </p:cNvSpPr>
          <p:nvPr>
            <p:ph type="subTitle" idx="21"/>
          </p:nvPr>
        </p:nvSpPr>
        <p:spPr>
          <a:xfrm>
            <a:off x="6118549"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62"/>
          <p:cNvSpPr>
            <a:spLocks noGrp="1"/>
          </p:cNvSpPr>
          <p:nvPr>
            <p:ph type="pic" idx="2"/>
          </p:nvPr>
        </p:nvSpPr>
        <p:spPr>
          <a:xfrm>
            <a:off x="2295650" y="0"/>
            <a:ext cx="6982800" cy="4605300"/>
          </a:xfrm>
          <a:prstGeom prst="rect">
            <a:avLst/>
          </a:prstGeom>
          <a:noFill/>
          <a:ln>
            <a:noFill/>
          </a:ln>
        </p:spPr>
        <p:txBody>
          <a:bodyPr/>
          <a:lstStyle/>
          <a:p>
            <a:endParaRPr lang="en-US" dirty="0"/>
          </a:p>
        </p:txBody>
      </p:sp>
      <p:sp>
        <p:nvSpPr>
          <p:cNvPr id="49" name="Google Shape;49;p62"/>
          <p:cNvSpPr txBox="1">
            <a:spLocks noGrp="1"/>
          </p:cNvSpPr>
          <p:nvPr>
            <p:ph type="title"/>
          </p:nvPr>
        </p:nvSpPr>
        <p:spPr>
          <a:xfrm>
            <a:off x="1990325" y="2029125"/>
            <a:ext cx="4904400" cy="16002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41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0" name="Google Shape;50;p62"/>
          <p:cNvSpPr txBox="1">
            <a:spLocks noGrp="1"/>
          </p:cNvSpPr>
          <p:nvPr>
            <p:ph type="title" idx="3"/>
          </p:nvPr>
        </p:nvSpPr>
        <p:spPr>
          <a:xfrm>
            <a:off x="713225" y="2029113"/>
            <a:ext cx="1162800" cy="1600200"/>
          </a:xfrm>
          <a:prstGeom prst="rect">
            <a:avLst/>
          </a:prstGeom>
          <a:solidFill>
            <a:schemeClr val="dk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51" name="Google Shape;51;p62"/>
          <p:cNvSpPr txBox="1">
            <a:spLocks noGrp="1"/>
          </p:cNvSpPr>
          <p:nvPr>
            <p:ph type="subTitle" idx="1"/>
          </p:nvPr>
        </p:nvSpPr>
        <p:spPr>
          <a:xfrm>
            <a:off x="1990325" y="3838100"/>
            <a:ext cx="4904400" cy="3750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sz="160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52"/>
        <p:cNvGrpSpPr/>
        <p:nvPr/>
      </p:nvGrpSpPr>
      <p:grpSpPr>
        <a:xfrm>
          <a:off x="0" y="0"/>
          <a:ext cx="0" cy="0"/>
          <a:chOff x="0" y="0"/>
          <a:chExt cx="0" cy="0"/>
        </a:xfrm>
      </p:grpSpPr>
      <p:grpSp>
        <p:nvGrpSpPr>
          <p:cNvPr id="53" name="Google Shape;53;p63"/>
          <p:cNvGrpSpPr/>
          <p:nvPr/>
        </p:nvGrpSpPr>
        <p:grpSpPr>
          <a:xfrm>
            <a:off x="362225" y="730725"/>
            <a:ext cx="8809210" cy="4141500"/>
            <a:chOff x="362225" y="730725"/>
            <a:chExt cx="8809210" cy="4141500"/>
          </a:xfrm>
        </p:grpSpPr>
        <p:cxnSp>
          <p:nvCxnSpPr>
            <p:cNvPr id="54" name="Google Shape;54;p63"/>
            <p:cNvCxnSpPr/>
            <p:nvPr/>
          </p:nvCxnSpPr>
          <p:spPr>
            <a:xfrm>
              <a:off x="362225" y="731375"/>
              <a:ext cx="2466600" cy="0"/>
            </a:xfrm>
            <a:prstGeom prst="straightConnector1">
              <a:avLst/>
            </a:prstGeom>
            <a:noFill/>
            <a:ln w="9525" cap="flat" cmpd="sng">
              <a:solidFill>
                <a:schemeClr val="dk1"/>
              </a:solidFill>
              <a:prstDash val="solid"/>
              <a:round/>
              <a:headEnd type="none" w="sm" len="sm"/>
              <a:tailEnd type="none" w="sm" len="sm"/>
            </a:ln>
          </p:spPr>
        </p:cxnSp>
        <p:cxnSp>
          <p:nvCxnSpPr>
            <p:cNvPr id="55" name="Google Shape;55;p63"/>
            <p:cNvCxnSpPr/>
            <p:nvPr/>
          </p:nvCxnSpPr>
          <p:spPr>
            <a:xfrm>
              <a:off x="366400" y="730725"/>
              <a:ext cx="0" cy="4141500"/>
            </a:xfrm>
            <a:prstGeom prst="straightConnector1">
              <a:avLst/>
            </a:prstGeom>
            <a:noFill/>
            <a:ln w="9525" cap="flat" cmpd="sng">
              <a:solidFill>
                <a:schemeClr val="dk1"/>
              </a:solidFill>
              <a:prstDash val="solid"/>
              <a:round/>
              <a:headEnd type="none" w="sm" len="sm"/>
              <a:tailEnd type="none" w="sm" len="sm"/>
            </a:ln>
          </p:spPr>
        </p:cxnSp>
        <p:cxnSp>
          <p:nvCxnSpPr>
            <p:cNvPr id="56" name="Google Shape;56;p63"/>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grpSp>
      <p:sp>
        <p:nvSpPr>
          <p:cNvPr id="57" name="Google Shape;57;p63"/>
          <p:cNvSpPr txBox="1">
            <a:spLocks noGrp="1"/>
          </p:cNvSpPr>
          <p:nvPr>
            <p:ph type="title"/>
          </p:nvPr>
        </p:nvSpPr>
        <p:spPr>
          <a:xfrm>
            <a:off x="720000" y="445025"/>
            <a:ext cx="770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58" name="Google Shape;58;p63"/>
          <p:cNvSpPr txBox="1">
            <a:spLocks noGrp="1"/>
          </p:cNvSpPr>
          <p:nvPr>
            <p:ph type="subTitle" idx="1"/>
          </p:nvPr>
        </p:nvSpPr>
        <p:spPr>
          <a:xfrm>
            <a:off x="4811363" y="1626550"/>
            <a:ext cx="3520200" cy="2466000"/>
          </a:xfrm>
          <a:prstGeom prst="rect">
            <a:avLst/>
          </a:prstGeom>
          <a:solidFill>
            <a:srgbClr val="000000">
              <a:alpha val="0"/>
            </a:srgbClr>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b="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63"/>
          <p:cNvSpPr txBox="1">
            <a:spLocks noGrp="1"/>
          </p:cNvSpPr>
          <p:nvPr>
            <p:ph type="subTitle" idx="2"/>
          </p:nvPr>
        </p:nvSpPr>
        <p:spPr>
          <a:xfrm>
            <a:off x="896725" y="1626550"/>
            <a:ext cx="3520200" cy="2466000"/>
          </a:xfrm>
          <a:prstGeom prst="rect">
            <a:avLst/>
          </a:prstGeom>
          <a:solidFill>
            <a:srgbClr val="000000">
              <a:alpha val="0"/>
            </a:srgbClr>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b="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0"/>
        <p:cNvGrpSpPr/>
        <p:nvPr/>
      </p:nvGrpSpPr>
      <p:grpSpPr>
        <a:xfrm>
          <a:off x="0" y="0"/>
          <a:ext cx="0" cy="0"/>
          <a:chOff x="0" y="0"/>
          <a:chExt cx="0" cy="0"/>
        </a:xfrm>
      </p:grpSpPr>
      <p:sp>
        <p:nvSpPr>
          <p:cNvPr id="61" name="Google Shape;61;p64"/>
          <p:cNvSpPr txBox="1">
            <a:spLocks noGrp="1"/>
          </p:cNvSpPr>
          <p:nvPr>
            <p:ph type="title"/>
          </p:nvPr>
        </p:nvSpPr>
        <p:spPr>
          <a:xfrm>
            <a:off x="720000" y="445025"/>
            <a:ext cx="77109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62" name="Google Shape;62;p64"/>
          <p:cNvSpPr txBox="1">
            <a:spLocks noGrp="1"/>
          </p:cNvSpPr>
          <p:nvPr>
            <p:ph type="subTitle" idx="1"/>
          </p:nvPr>
        </p:nvSpPr>
        <p:spPr>
          <a:xfrm>
            <a:off x="720000" y="1788597"/>
            <a:ext cx="4028100" cy="2127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FDD900"/>
              </a:buClr>
              <a:buSzPts val="1400"/>
              <a:buFont typeface="Nunito Light"/>
              <a:buChar char="●"/>
              <a:defRPr sz="1600">
                <a:latin typeface="DM Sans Medium"/>
                <a:ea typeface="DM Sans Medium"/>
                <a:cs typeface="DM Sans Medium"/>
                <a:sym typeface="DM Sans Medium"/>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a:endParaRPr/>
          </a:p>
        </p:txBody>
      </p:sp>
      <p:sp>
        <p:nvSpPr>
          <p:cNvPr id="63" name="Google Shape;63;p64"/>
          <p:cNvSpPr>
            <a:spLocks noGrp="1"/>
          </p:cNvSpPr>
          <p:nvPr>
            <p:ph type="pic" idx="2"/>
          </p:nvPr>
        </p:nvSpPr>
        <p:spPr>
          <a:xfrm>
            <a:off x="5008500" y="1345975"/>
            <a:ext cx="4135500" cy="3013200"/>
          </a:xfrm>
          <a:prstGeom prst="rect">
            <a:avLst/>
          </a:prstGeom>
          <a:noFill/>
          <a:ln>
            <a:noFill/>
          </a:ln>
        </p:spPr>
        <p:txBody>
          <a:bodyPr/>
          <a:lstStyle/>
          <a:p>
            <a:endParaRPr lang="en-US" dirty="0"/>
          </a:p>
        </p:txBody>
      </p:sp>
      <p:grpSp>
        <p:nvGrpSpPr>
          <p:cNvPr id="64" name="Google Shape;64;p64"/>
          <p:cNvGrpSpPr/>
          <p:nvPr/>
        </p:nvGrpSpPr>
        <p:grpSpPr>
          <a:xfrm>
            <a:off x="362235" y="727975"/>
            <a:ext cx="8809200" cy="4144225"/>
            <a:chOff x="362235" y="727975"/>
            <a:chExt cx="8809200" cy="4144225"/>
          </a:xfrm>
        </p:grpSpPr>
        <p:cxnSp>
          <p:nvCxnSpPr>
            <p:cNvPr id="65" name="Google Shape;65;p64"/>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grpSp>
          <p:nvGrpSpPr>
            <p:cNvPr id="66" name="Google Shape;66;p64"/>
            <p:cNvGrpSpPr/>
            <p:nvPr/>
          </p:nvGrpSpPr>
          <p:grpSpPr>
            <a:xfrm>
              <a:off x="362235" y="731375"/>
              <a:ext cx="8809200" cy="4140825"/>
              <a:chOff x="362235" y="731375"/>
              <a:chExt cx="8809200" cy="4140825"/>
            </a:xfrm>
          </p:grpSpPr>
          <p:cxnSp>
            <p:nvCxnSpPr>
              <p:cNvPr id="67" name="Google Shape;67;p64"/>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68" name="Google Shape;68;p64"/>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6"/>
        <p:cNvGrpSpPr/>
        <p:nvPr/>
      </p:nvGrpSpPr>
      <p:grpSpPr>
        <a:xfrm>
          <a:off x="0" y="0"/>
          <a:ext cx="0" cy="0"/>
          <a:chOff x="0" y="0"/>
          <a:chExt cx="0" cy="0"/>
        </a:xfrm>
      </p:grpSpPr>
      <p:sp>
        <p:nvSpPr>
          <p:cNvPr id="127" name="Google Shape;127;p70"/>
          <p:cNvSpPr>
            <a:spLocks noGrp="1"/>
          </p:cNvSpPr>
          <p:nvPr>
            <p:ph type="pic" idx="2"/>
          </p:nvPr>
        </p:nvSpPr>
        <p:spPr>
          <a:xfrm>
            <a:off x="2723600" y="-29900"/>
            <a:ext cx="6420300" cy="4383000"/>
          </a:xfrm>
          <a:prstGeom prst="rect">
            <a:avLst/>
          </a:prstGeom>
          <a:noFill/>
          <a:ln>
            <a:noFill/>
          </a:ln>
        </p:spPr>
        <p:txBody>
          <a:bodyPr/>
          <a:lstStyle/>
          <a:p>
            <a:endParaRPr lang="en-US" dirty="0"/>
          </a:p>
        </p:txBody>
      </p:sp>
      <p:sp>
        <p:nvSpPr>
          <p:cNvPr id="128" name="Google Shape;128;p70"/>
          <p:cNvSpPr txBox="1">
            <a:spLocks noGrp="1"/>
          </p:cNvSpPr>
          <p:nvPr>
            <p:ph type="title"/>
          </p:nvPr>
        </p:nvSpPr>
        <p:spPr>
          <a:xfrm>
            <a:off x="713225" y="4056500"/>
            <a:ext cx="4712400" cy="547500"/>
          </a:xfrm>
          <a:prstGeom prst="rect">
            <a:avLst/>
          </a:prstGeom>
          <a:solidFill>
            <a:schemeClr val="dk1"/>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2400">
                <a:solidFill>
                  <a:schemeClr val="lt1"/>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129" name="Google Shape;129;p70"/>
          <p:cNvSpPr txBox="1">
            <a:spLocks noGrp="1"/>
          </p:cNvSpPr>
          <p:nvPr>
            <p:ph type="subTitle" idx="1"/>
          </p:nvPr>
        </p:nvSpPr>
        <p:spPr>
          <a:xfrm>
            <a:off x="713305" y="2339100"/>
            <a:ext cx="4712400" cy="16224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2400">
                <a:latin typeface="DM Sans Medium"/>
                <a:ea typeface="DM Sans Medium"/>
                <a:cs typeface="DM Sans Medium"/>
                <a:sym typeface="DM Sans Medium"/>
              </a:defRPr>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0"/>
        <p:cNvGrpSpPr/>
        <p:nvPr/>
      </p:nvGrpSpPr>
      <p:grpSpPr>
        <a:xfrm>
          <a:off x="0" y="0"/>
          <a:ext cx="0" cy="0"/>
          <a:chOff x="0" y="0"/>
          <a:chExt cx="0" cy="0"/>
        </a:xfrm>
      </p:grpSpPr>
      <p:sp>
        <p:nvSpPr>
          <p:cNvPr id="131" name="Google Shape;131;p71"/>
          <p:cNvSpPr>
            <a:spLocks noGrp="1"/>
          </p:cNvSpPr>
          <p:nvPr>
            <p:ph type="pic" idx="2"/>
          </p:nvPr>
        </p:nvSpPr>
        <p:spPr>
          <a:xfrm>
            <a:off x="-9450" y="-16175"/>
            <a:ext cx="9162900" cy="5211600"/>
          </a:xfrm>
          <a:prstGeom prst="rect">
            <a:avLst/>
          </a:prstGeom>
          <a:noFill/>
          <a:ln>
            <a:noFill/>
          </a:ln>
        </p:spPr>
        <p:txBody>
          <a:bodyPr/>
          <a:lstStyle/>
          <a:p>
            <a:endParaRPr lang="en-US" dirty="0"/>
          </a:p>
        </p:txBody>
      </p:sp>
      <p:sp>
        <p:nvSpPr>
          <p:cNvPr id="132" name="Google Shape;132;p71"/>
          <p:cNvSpPr txBox="1">
            <a:spLocks noGrp="1"/>
          </p:cNvSpPr>
          <p:nvPr>
            <p:ph type="title"/>
          </p:nvPr>
        </p:nvSpPr>
        <p:spPr>
          <a:xfrm>
            <a:off x="713225" y="3846850"/>
            <a:ext cx="7717500" cy="624300"/>
          </a:xfrm>
          <a:prstGeom prst="rect">
            <a:avLst/>
          </a:prstGeom>
          <a:solidFill>
            <a:schemeClr val="dk2"/>
          </a:solid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67"/>
        <p:cNvGrpSpPr/>
        <p:nvPr/>
      </p:nvGrpSpPr>
      <p:grpSpPr>
        <a:xfrm>
          <a:off x="0" y="0"/>
          <a:ext cx="0" cy="0"/>
          <a:chOff x="0" y="0"/>
          <a:chExt cx="0" cy="0"/>
        </a:xfrm>
      </p:grpSpPr>
      <p:grpSp>
        <p:nvGrpSpPr>
          <p:cNvPr id="168" name="Google Shape;168;p77"/>
          <p:cNvGrpSpPr/>
          <p:nvPr/>
        </p:nvGrpSpPr>
        <p:grpSpPr>
          <a:xfrm>
            <a:off x="-51975" y="2068075"/>
            <a:ext cx="8862300" cy="2617200"/>
            <a:chOff x="-51975" y="2068075"/>
            <a:chExt cx="8862300" cy="2617200"/>
          </a:xfrm>
        </p:grpSpPr>
        <p:cxnSp>
          <p:nvCxnSpPr>
            <p:cNvPr id="169" name="Google Shape;169;p77"/>
            <p:cNvCxnSpPr/>
            <p:nvPr/>
          </p:nvCxnSpPr>
          <p:spPr>
            <a:xfrm rot="10800000">
              <a:off x="-51975" y="4682975"/>
              <a:ext cx="8862300" cy="0"/>
            </a:xfrm>
            <a:prstGeom prst="straightConnector1">
              <a:avLst/>
            </a:prstGeom>
            <a:noFill/>
            <a:ln w="9525" cap="flat" cmpd="sng">
              <a:solidFill>
                <a:schemeClr val="dk1"/>
              </a:solidFill>
              <a:prstDash val="solid"/>
              <a:round/>
              <a:headEnd type="none" w="sm" len="sm"/>
              <a:tailEnd type="none" w="sm" len="sm"/>
            </a:ln>
          </p:spPr>
        </p:cxnSp>
        <p:cxnSp>
          <p:nvCxnSpPr>
            <p:cNvPr id="170" name="Google Shape;170;p77"/>
            <p:cNvCxnSpPr/>
            <p:nvPr/>
          </p:nvCxnSpPr>
          <p:spPr>
            <a:xfrm rot="10800000">
              <a:off x="7827000" y="2071300"/>
              <a:ext cx="979800" cy="0"/>
            </a:xfrm>
            <a:prstGeom prst="straightConnector1">
              <a:avLst/>
            </a:prstGeom>
            <a:noFill/>
            <a:ln w="9525" cap="flat" cmpd="sng">
              <a:solidFill>
                <a:schemeClr val="dk1"/>
              </a:solidFill>
              <a:prstDash val="solid"/>
              <a:round/>
              <a:headEnd type="none" w="sm" len="sm"/>
              <a:tailEnd type="none" w="sm" len="sm"/>
            </a:ln>
          </p:spPr>
        </p:cxnSp>
        <p:cxnSp>
          <p:nvCxnSpPr>
            <p:cNvPr id="171" name="Google Shape;171;p77"/>
            <p:cNvCxnSpPr/>
            <p:nvPr/>
          </p:nvCxnSpPr>
          <p:spPr>
            <a:xfrm rot="10800000">
              <a:off x="8806573" y="2068075"/>
              <a:ext cx="0" cy="2617200"/>
            </a:xfrm>
            <a:prstGeom prst="straightConnector1">
              <a:avLst/>
            </a:prstGeom>
            <a:noFill/>
            <a:ln w="9525" cap="flat" cmpd="sng">
              <a:solidFill>
                <a:schemeClr val="dk1"/>
              </a:solidFill>
              <a:prstDash val="solid"/>
              <a:round/>
              <a:headEnd type="none" w="sm" len="sm"/>
              <a:tailEnd type="none" w="sm" len="sm"/>
            </a:ln>
          </p:spPr>
        </p:cxnSp>
      </p:grpSp>
      <p:sp>
        <p:nvSpPr>
          <p:cNvPr id="172" name="Google Shape;172;p77"/>
          <p:cNvSpPr txBox="1">
            <a:spLocks noGrp="1"/>
          </p:cNvSpPr>
          <p:nvPr>
            <p:ph type="title"/>
          </p:nvPr>
        </p:nvSpPr>
        <p:spPr>
          <a:xfrm>
            <a:off x="5196575" y="1456600"/>
            <a:ext cx="2923800" cy="12294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73" name="Google Shape;173;p77"/>
          <p:cNvSpPr txBox="1">
            <a:spLocks noGrp="1"/>
          </p:cNvSpPr>
          <p:nvPr>
            <p:ph type="subTitle" idx="1"/>
          </p:nvPr>
        </p:nvSpPr>
        <p:spPr>
          <a:xfrm>
            <a:off x="5196575" y="2765525"/>
            <a:ext cx="2923800" cy="1080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174"/>
        <p:cNvGrpSpPr/>
        <p:nvPr/>
      </p:nvGrpSpPr>
      <p:grpSpPr>
        <a:xfrm>
          <a:off x="0" y="0"/>
          <a:ext cx="0" cy="0"/>
          <a:chOff x="0" y="0"/>
          <a:chExt cx="0" cy="0"/>
        </a:xfrm>
      </p:grpSpPr>
      <p:grpSp>
        <p:nvGrpSpPr>
          <p:cNvPr id="175" name="Google Shape;175;p78"/>
          <p:cNvGrpSpPr/>
          <p:nvPr/>
        </p:nvGrpSpPr>
        <p:grpSpPr>
          <a:xfrm>
            <a:off x="320525" y="2079400"/>
            <a:ext cx="8862425" cy="2605875"/>
            <a:chOff x="320525" y="2079400"/>
            <a:chExt cx="8862425" cy="2605875"/>
          </a:xfrm>
        </p:grpSpPr>
        <p:cxnSp>
          <p:nvCxnSpPr>
            <p:cNvPr id="176" name="Google Shape;176;p78"/>
            <p:cNvCxnSpPr/>
            <p:nvPr/>
          </p:nvCxnSpPr>
          <p:spPr>
            <a:xfrm>
              <a:off x="326950" y="4682975"/>
              <a:ext cx="8856000" cy="0"/>
            </a:xfrm>
            <a:prstGeom prst="straightConnector1">
              <a:avLst/>
            </a:prstGeom>
            <a:noFill/>
            <a:ln w="9525" cap="flat" cmpd="sng">
              <a:solidFill>
                <a:schemeClr val="dk1"/>
              </a:solidFill>
              <a:prstDash val="solid"/>
              <a:round/>
              <a:headEnd type="none" w="sm" len="sm"/>
              <a:tailEnd type="none" w="sm" len="sm"/>
            </a:ln>
          </p:spPr>
        </p:cxnSp>
        <p:cxnSp>
          <p:nvCxnSpPr>
            <p:cNvPr id="177" name="Google Shape;177;p78"/>
            <p:cNvCxnSpPr/>
            <p:nvPr/>
          </p:nvCxnSpPr>
          <p:spPr>
            <a:xfrm>
              <a:off x="320525" y="2079400"/>
              <a:ext cx="1161600" cy="0"/>
            </a:xfrm>
            <a:prstGeom prst="straightConnector1">
              <a:avLst/>
            </a:prstGeom>
            <a:noFill/>
            <a:ln w="9525" cap="flat" cmpd="sng">
              <a:solidFill>
                <a:schemeClr val="dk1"/>
              </a:solidFill>
              <a:prstDash val="solid"/>
              <a:round/>
              <a:headEnd type="none" w="sm" len="sm"/>
              <a:tailEnd type="none" w="sm" len="sm"/>
            </a:ln>
          </p:spPr>
        </p:cxnSp>
        <p:cxnSp>
          <p:nvCxnSpPr>
            <p:cNvPr id="178" name="Google Shape;178;p78"/>
            <p:cNvCxnSpPr/>
            <p:nvPr/>
          </p:nvCxnSpPr>
          <p:spPr>
            <a:xfrm rot="10800000">
              <a:off x="324525" y="2081875"/>
              <a:ext cx="0" cy="2603400"/>
            </a:xfrm>
            <a:prstGeom prst="straightConnector1">
              <a:avLst/>
            </a:prstGeom>
            <a:noFill/>
            <a:ln w="9525" cap="flat" cmpd="sng">
              <a:solidFill>
                <a:schemeClr val="dk1"/>
              </a:solidFill>
              <a:prstDash val="solid"/>
              <a:round/>
              <a:headEnd type="none" w="sm" len="sm"/>
              <a:tailEnd type="none" w="sm" len="sm"/>
            </a:ln>
          </p:spPr>
        </p:cxnSp>
      </p:grpSp>
      <p:sp>
        <p:nvSpPr>
          <p:cNvPr id="179" name="Google Shape;179;p78"/>
          <p:cNvSpPr txBox="1">
            <a:spLocks noGrp="1"/>
          </p:cNvSpPr>
          <p:nvPr>
            <p:ph type="title"/>
          </p:nvPr>
        </p:nvSpPr>
        <p:spPr>
          <a:xfrm>
            <a:off x="921950" y="1364088"/>
            <a:ext cx="2914500" cy="12837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80" name="Google Shape;180;p78"/>
          <p:cNvSpPr txBox="1">
            <a:spLocks noGrp="1"/>
          </p:cNvSpPr>
          <p:nvPr>
            <p:ph type="subTitle" idx="1"/>
          </p:nvPr>
        </p:nvSpPr>
        <p:spPr>
          <a:xfrm>
            <a:off x="921950" y="2747713"/>
            <a:ext cx="2914500" cy="1031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03"/>
        <p:cNvGrpSpPr/>
        <p:nvPr/>
      </p:nvGrpSpPr>
      <p:grpSpPr>
        <a:xfrm>
          <a:off x="0" y="0"/>
          <a:ext cx="0" cy="0"/>
          <a:chOff x="0" y="0"/>
          <a:chExt cx="0" cy="0"/>
        </a:xfrm>
      </p:grpSpPr>
      <p:sp>
        <p:nvSpPr>
          <p:cNvPr id="204" name="Google Shape;204;p82"/>
          <p:cNvSpPr>
            <a:spLocks noGrp="1"/>
          </p:cNvSpPr>
          <p:nvPr>
            <p:ph type="pic" idx="2"/>
          </p:nvPr>
        </p:nvSpPr>
        <p:spPr>
          <a:xfrm>
            <a:off x="3579400" y="0"/>
            <a:ext cx="5620800" cy="3671700"/>
          </a:xfrm>
          <a:prstGeom prst="rect">
            <a:avLst/>
          </a:prstGeom>
          <a:noFill/>
          <a:ln>
            <a:noFill/>
          </a:ln>
        </p:spPr>
        <p:txBody>
          <a:bodyPr/>
          <a:lstStyle/>
          <a:p>
            <a:endParaRPr lang="en-US" dirty="0"/>
          </a:p>
        </p:txBody>
      </p:sp>
      <p:sp>
        <p:nvSpPr>
          <p:cNvPr id="205" name="Google Shape;205;p82"/>
          <p:cNvSpPr txBox="1"/>
          <p:nvPr/>
        </p:nvSpPr>
        <p:spPr>
          <a:xfrm>
            <a:off x="3397075" y="3805800"/>
            <a:ext cx="5033700" cy="556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300"/>
              </a:spcBef>
              <a:spcAft>
                <a:spcPts val="0"/>
              </a:spcAft>
              <a:buClr>
                <a:srgbClr val="000000"/>
              </a:buClr>
              <a:buSzPts val="1100"/>
              <a:buFont typeface="Arial"/>
              <a:buNone/>
            </a:pPr>
            <a:r>
              <a:rPr lang="en" sz="1100" b="0" i="0" u="none" strike="noStrike" cap="none">
                <a:solidFill>
                  <a:schemeClr val="dk1"/>
                </a:solidFill>
                <a:latin typeface="DM Sans Medium"/>
                <a:ea typeface="DM Sans Medium"/>
                <a:cs typeface="DM Sans Medium"/>
                <a:sym typeface="DM Sans Medium"/>
              </a:rPr>
              <a:t>CREDITS: This presentation template was created by </a:t>
            </a:r>
            <a:r>
              <a:rPr lang="en" sz="1100" b="1" i="0" u="none" strike="noStrike" cap="none">
                <a:solidFill>
                  <a:schemeClr val="dk1"/>
                </a:solidFill>
                <a:uFill>
                  <a:noFill/>
                </a:u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100" b="1" i="0" u="none" strike="noStrike" cap="none">
                <a:solidFill>
                  <a:schemeClr val="dk1"/>
                </a:solidFill>
                <a:latin typeface="DM Sans"/>
                <a:ea typeface="DM Sans"/>
                <a:cs typeface="DM Sans"/>
                <a:sym typeface="DM Sans"/>
              </a:rPr>
              <a:t>,</a:t>
            </a:r>
            <a:r>
              <a:rPr lang="en" sz="1100" b="0" i="0" u="none" strike="noStrike" cap="none">
                <a:solidFill>
                  <a:schemeClr val="dk1"/>
                </a:solidFill>
                <a:latin typeface="DM Sans Medium"/>
                <a:ea typeface="DM Sans Medium"/>
                <a:cs typeface="DM Sans Medium"/>
                <a:sym typeface="DM Sans Medium"/>
              </a:rPr>
              <a:t> and includes icons by </a:t>
            </a:r>
            <a:r>
              <a:rPr lang="en" sz="1100" b="1" i="0" u="none" strike="noStrike" cap="none">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100" b="0" i="0" u="none" strike="noStrike" cap="none">
                <a:solidFill>
                  <a:schemeClr val="dk1"/>
                </a:solidFill>
                <a:latin typeface="DM Sans Medium"/>
                <a:ea typeface="DM Sans Medium"/>
                <a:cs typeface="DM Sans Medium"/>
                <a:sym typeface="DM Sans Medium"/>
              </a:rPr>
              <a:t>, and infographics &amp; images by </a:t>
            </a:r>
            <a:r>
              <a:rPr lang="en" sz="1100" b="1" i="0" u="none" strike="noStrike" cap="none">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r>
              <a:rPr lang="en" sz="1100" b="1" i="0" u="sng" strike="noStrike" cap="none">
                <a:solidFill>
                  <a:schemeClr val="dk1"/>
                </a:solidFill>
                <a:latin typeface="DM Sans"/>
                <a:ea typeface="DM Sans"/>
                <a:cs typeface="DM Sans"/>
                <a:sym typeface="DM Sans"/>
              </a:rPr>
              <a:t> </a:t>
            </a:r>
            <a:endParaRPr sz="1100" b="1" i="0" u="sng" strike="noStrike" cap="none" dirty="0">
              <a:solidFill>
                <a:schemeClr val="dk1"/>
              </a:solidFill>
              <a:latin typeface="DM Sans"/>
              <a:ea typeface="DM Sans"/>
              <a:cs typeface="DM Sans"/>
              <a:sym typeface="DM Sans"/>
            </a:endParaRPr>
          </a:p>
        </p:txBody>
      </p:sp>
      <p:sp>
        <p:nvSpPr>
          <p:cNvPr id="206" name="Google Shape;206;p82"/>
          <p:cNvSpPr txBox="1">
            <a:spLocks noGrp="1"/>
          </p:cNvSpPr>
          <p:nvPr>
            <p:ph type="title"/>
          </p:nvPr>
        </p:nvSpPr>
        <p:spPr>
          <a:xfrm>
            <a:off x="713284" y="1396063"/>
            <a:ext cx="4077000" cy="1058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71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07" name="Google Shape;207;p82"/>
          <p:cNvSpPr txBox="1">
            <a:spLocks noGrp="1"/>
          </p:cNvSpPr>
          <p:nvPr>
            <p:ph type="subTitle" idx="1"/>
          </p:nvPr>
        </p:nvSpPr>
        <p:spPr>
          <a:xfrm>
            <a:off x="713250" y="2608412"/>
            <a:ext cx="4077000" cy="11748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208"/>
        <p:cNvGrpSpPr/>
        <p:nvPr/>
      </p:nvGrpSpPr>
      <p:grpSpPr>
        <a:xfrm>
          <a:off x="0" y="0"/>
          <a:ext cx="0" cy="0"/>
          <a:chOff x="0" y="0"/>
          <a:chExt cx="0" cy="0"/>
        </a:xfrm>
      </p:grpSpPr>
      <p:sp>
        <p:nvSpPr>
          <p:cNvPr id="209" name="Google Shape;209;p83"/>
          <p:cNvSpPr txBox="1">
            <a:spLocks noGrp="1"/>
          </p:cNvSpPr>
          <p:nvPr>
            <p:ph type="title"/>
          </p:nvPr>
        </p:nvSpPr>
        <p:spPr>
          <a:xfrm>
            <a:off x="722376" y="448056"/>
            <a:ext cx="776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10" name="Google Shape;210;p83"/>
          <p:cNvSpPr txBox="1">
            <a:spLocks noGrp="1"/>
          </p:cNvSpPr>
          <p:nvPr>
            <p:ph type="subTitle" idx="1"/>
          </p:nvPr>
        </p:nvSpPr>
        <p:spPr>
          <a:xfrm>
            <a:off x="713225" y="1353325"/>
            <a:ext cx="7247700" cy="316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a:p>
        </p:txBody>
      </p:sp>
      <p:grpSp>
        <p:nvGrpSpPr>
          <p:cNvPr id="211" name="Google Shape;211;p83"/>
          <p:cNvGrpSpPr/>
          <p:nvPr/>
        </p:nvGrpSpPr>
        <p:grpSpPr>
          <a:xfrm>
            <a:off x="362235" y="727975"/>
            <a:ext cx="8809200" cy="4144225"/>
            <a:chOff x="362235" y="727975"/>
            <a:chExt cx="8809200" cy="4144225"/>
          </a:xfrm>
        </p:grpSpPr>
        <p:cxnSp>
          <p:nvCxnSpPr>
            <p:cNvPr id="212" name="Google Shape;212;p83"/>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13" name="Google Shape;213;p83"/>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14" name="Google Shape;214;p83"/>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4">
  <p:cSld name="CUSTOM_4_1_1_1">
    <p:spTree>
      <p:nvGrpSpPr>
        <p:cNvPr id="1" name="Shape 215"/>
        <p:cNvGrpSpPr/>
        <p:nvPr/>
      </p:nvGrpSpPr>
      <p:grpSpPr>
        <a:xfrm>
          <a:off x="0" y="0"/>
          <a:ext cx="0" cy="0"/>
          <a:chOff x="0" y="0"/>
          <a:chExt cx="0" cy="0"/>
        </a:xfrm>
      </p:grpSpPr>
      <p:grpSp>
        <p:nvGrpSpPr>
          <p:cNvPr id="216" name="Google Shape;216;p84"/>
          <p:cNvGrpSpPr/>
          <p:nvPr/>
        </p:nvGrpSpPr>
        <p:grpSpPr>
          <a:xfrm>
            <a:off x="362235" y="727975"/>
            <a:ext cx="8809200" cy="4144225"/>
            <a:chOff x="362235" y="727975"/>
            <a:chExt cx="8809200" cy="4144225"/>
          </a:xfrm>
        </p:grpSpPr>
        <p:cxnSp>
          <p:nvCxnSpPr>
            <p:cNvPr id="217" name="Google Shape;217;p84"/>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18" name="Google Shape;218;p84"/>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19" name="Google Shape;219;p84"/>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
        <p:nvSpPr>
          <p:cNvPr id="220" name="Google Shape;220;p84"/>
          <p:cNvSpPr txBox="1">
            <a:spLocks noGrp="1"/>
          </p:cNvSpPr>
          <p:nvPr>
            <p:ph type="title"/>
          </p:nvPr>
        </p:nvSpPr>
        <p:spPr>
          <a:xfrm>
            <a:off x="731520" y="448056"/>
            <a:ext cx="776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21" name="Google Shape;221;p84"/>
          <p:cNvSpPr txBox="1">
            <a:spLocks noGrp="1"/>
          </p:cNvSpPr>
          <p:nvPr>
            <p:ph type="subTitle" idx="1"/>
          </p:nvPr>
        </p:nvSpPr>
        <p:spPr>
          <a:xfrm>
            <a:off x="4544625" y="1722525"/>
            <a:ext cx="3886200" cy="23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a:p>
        </p:txBody>
      </p:sp>
      <p:sp>
        <p:nvSpPr>
          <p:cNvPr id="222" name="Google Shape;222;p84"/>
          <p:cNvSpPr txBox="1">
            <a:spLocks noGrp="1"/>
          </p:cNvSpPr>
          <p:nvPr>
            <p:ph type="subTitle" idx="2"/>
          </p:nvPr>
        </p:nvSpPr>
        <p:spPr>
          <a:xfrm>
            <a:off x="713150" y="1722525"/>
            <a:ext cx="3924600" cy="23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A004E-C463-B146-52C9-89735495264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5250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4"/>
        <p:cNvGrpSpPr/>
        <p:nvPr/>
      </p:nvGrpSpPr>
      <p:grpSpPr>
        <a:xfrm>
          <a:off x="0" y="0"/>
          <a:ext cx="0" cy="0"/>
          <a:chOff x="0" y="0"/>
          <a:chExt cx="0" cy="0"/>
        </a:xfrm>
      </p:grpSpPr>
      <p:grpSp>
        <p:nvGrpSpPr>
          <p:cNvPr id="225" name="Google Shape;225;p89"/>
          <p:cNvGrpSpPr/>
          <p:nvPr/>
        </p:nvGrpSpPr>
        <p:grpSpPr>
          <a:xfrm>
            <a:off x="362235" y="727975"/>
            <a:ext cx="8809200" cy="4144225"/>
            <a:chOff x="362235" y="727975"/>
            <a:chExt cx="8809200" cy="4144225"/>
          </a:xfrm>
        </p:grpSpPr>
        <p:cxnSp>
          <p:nvCxnSpPr>
            <p:cNvPr id="226" name="Google Shape;226;p89"/>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27" name="Google Shape;227;p89"/>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28" name="Google Shape;228;p89"/>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9"/>
        <p:cNvGrpSpPr/>
        <p:nvPr/>
      </p:nvGrpSpPr>
      <p:grpSpPr>
        <a:xfrm>
          <a:off x="0" y="0"/>
          <a:ext cx="0" cy="0"/>
          <a:chOff x="0" y="0"/>
          <a:chExt cx="0" cy="0"/>
        </a:xfrm>
      </p:grpSpPr>
      <p:grpSp>
        <p:nvGrpSpPr>
          <p:cNvPr id="230" name="Google Shape;230;p90"/>
          <p:cNvGrpSpPr/>
          <p:nvPr/>
        </p:nvGrpSpPr>
        <p:grpSpPr>
          <a:xfrm>
            <a:off x="-94975" y="704675"/>
            <a:ext cx="8809210" cy="4167775"/>
            <a:chOff x="-94975" y="704675"/>
            <a:chExt cx="8809210" cy="4167775"/>
          </a:xfrm>
        </p:grpSpPr>
        <p:cxnSp>
          <p:nvCxnSpPr>
            <p:cNvPr id="231" name="Google Shape;231;p90"/>
            <p:cNvCxnSpPr/>
            <p:nvPr/>
          </p:nvCxnSpPr>
          <p:spPr>
            <a:xfrm rot="10800000">
              <a:off x="8439135" y="704675"/>
              <a:ext cx="275100" cy="0"/>
            </a:xfrm>
            <a:prstGeom prst="straightConnector1">
              <a:avLst/>
            </a:prstGeom>
            <a:noFill/>
            <a:ln w="9525" cap="flat" cmpd="sng">
              <a:solidFill>
                <a:schemeClr val="dk1"/>
              </a:solidFill>
              <a:prstDash val="solid"/>
              <a:round/>
              <a:headEnd type="none" w="sm" len="sm"/>
              <a:tailEnd type="none" w="sm" len="sm"/>
            </a:ln>
          </p:spPr>
        </p:cxnSp>
        <p:cxnSp>
          <p:nvCxnSpPr>
            <p:cNvPr id="232" name="Google Shape;232;p90"/>
            <p:cNvCxnSpPr/>
            <p:nvPr/>
          </p:nvCxnSpPr>
          <p:spPr>
            <a:xfrm>
              <a:off x="8710050" y="711750"/>
              <a:ext cx="0" cy="4160700"/>
            </a:xfrm>
            <a:prstGeom prst="straightConnector1">
              <a:avLst/>
            </a:prstGeom>
            <a:noFill/>
            <a:ln w="9525" cap="flat" cmpd="sng">
              <a:solidFill>
                <a:schemeClr val="dk1"/>
              </a:solidFill>
              <a:prstDash val="solid"/>
              <a:round/>
              <a:headEnd type="none" w="sm" len="sm"/>
              <a:tailEnd type="none" w="sm" len="sm"/>
            </a:ln>
          </p:spPr>
        </p:cxnSp>
        <p:cxnSp>
          <p:nvCxnSpPr>
            <p:cNvPr id="233" name="Google Shape;233;p90"/>
            <p:cNvCxnSpPr/>
            <p:nvPr/>
          </p:nvCxnSpPr>
          <p:spPr>
            <a:xfrm rot="10800000">
              <a:off x="-94975" y="4872200"/>
              <a:ext cx="88092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57"/>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9pPr>
          </a:lstStyle>
          <a:p>
            <a:endParaRPr/>
          </a:p>
        </p:txBody>
      </p:sp>
      <p:sp>
        <p:nvSpPr>
          <p:cNvPr id="7" name="Google Shape;7;p57"/>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55" r:id="rId5"/>
    <p:sldLayoutId id="2147483661" r:id="rId6"/>
    <p:sldLayoutId id="2147483662" r:id="rId7"/>
    <p:sldLayoutId id="2147483668" r:id="rId8"/>
    <p:sldLayoutId id="2147483669" r:id="rId9"/>
    <p:sldLayoutId id="2147483673" r:id="rId10"/>
    <p:sldLayoutId id="2147483674" r:id="rId11"/>
    <p:sldLayoutId id="2147483675" r:id="rId12"/>
    <p:sldLayoutId id="2147483679" r:id="rId13"/>
    <p:sldLayoutId id="2147483676" r:id="rId14"/>
    <p:sldLayoutId id="2147483677" r:id="rId15"/>
    <p:sldLayoutId id="2147483678"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chart" Target="../charts/char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21.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chart" Target="../charts/chart5.xml"/></Relationships>
</file>

<file path=ppt/slides/_rels/slide2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grpSp>
        <p:nvGrpSpPr>
          <p:cNvPr id="238" name="Google Shape;238;p1"/>
          <p:cNvGrpSpPr/>
          <p:nvPr/>
        </p:nvGrpSpPr>
        <p:grpSpPr>
          <a:xfrm>
            <a:off x="384044" y="411300"/>
            <a:ext cx="8385633" cy="4320925"/>
            <a:chOff x="1565825" y="551275"/>
            <a:chExt cx="7758010" cy="4320925"/>
          </a:xfrm>
        </p:grpSpPr>
        <p:cxnSp>
          <p:nvCxnSpPr>
            <p:cNvPr id="239" name="Google Shape;239;p1"/>
            <p:cNvCxnSpPr>
              <a:cxnSpLocks/>
            </p:cNvCxnSpPr>
            <p:nvPr/>
          </p:nvCxnSpPr>
          <p:spPr>
            <a:xfrm>
              <a:off x="1565825" y="551275"/>
              <a:ext cx="838999" cy="13"/>
            </a:xfrm>
            <a:prstGeom prst="straightConnector1">
              <a:avLst/>
            </a:prstGeom>
            <a:noFill/>
            <a:ln w="9525" cap="flat" cmpd="sng">
              <a:solidFill>
                <a:schemeClr val="dk1"/>
              </a:solidFill>
              <a:prstDash val="solid"/>
              <a:round/>
              <a:headEnd type="none" w="sm" len="sm"/>
              <a:tailEnd type="none" w="sm" len="sm"/>
            </a:ln>
          </p:spPr>
        </p:cxnSp>
        <p:cxnSp>
          <p:nvCxnSpPr>
            <p:cNvPr id="240" name="Google Shape;240;p1"/>
            <p:cNvCxnSpPr/>
            <p:nvPr/>
          </p:nvCxnSpPr>
          <p:spPr>
            <a:xfrm>
              <a:off x="1570000" y="551288"/>
              <a:ext cx="0" cy="4320900"/>
            </a:xfrm>
            <a:prstGeom prst="straightConnector1">
              <a:avLst/>
            </a:prstGeom>
            <a:noFill/>
            <a:ln w="9525" cap="flat" cmpd="sng">
              <a:solidFill>
                <a:schemeClr val="dk1"/>
              </a:solidFill>
              <a:prstDash val="solid"/>
              <a:round/>
              <a:headEnd type="none" w="sm" len="sm"/>
              <a:tailEnd type="none" w="sm" len="sm"/>
            </a:ln>
          </p:spPr>
        </p:cxnSp>
        <p:cxnSp>
          <p:nvCxnSpPr>
            <p:cNvPr id="241" name="Google Shape;241;p1"/>
            <p:cNvCxnSpPr/>
            <p:nvPr/>
          </p:nvCxnSpPr>
          <p:spPr>
            <a:xfrm>
              <a:off x="1565835" y="4872200"/>
              <a:ext cx="7758000" cy="0"/>
            </a:xfrm>
            <a:prstGeom prst="straightConnector1">
              <a:avLst/>
            </a:prstGeom>
            <a:noFill/>
            <a:ln w="9525" cap="flat" cmpd="sng">
              <a:solidFill>
                <a:schemeClr val="dk1"/>
              </a:solidFill>
              <a:prstDash val="solid"/>
              <a:round/>
              <a:headEnd type="none" w="sm" len="sm"/>
              <a:tailEnd type="none" w="sm" len="sm"/>
            </a:ln>
          </p:spPr>
        </p:cxnSp>
      </p:grpSp>
      <p:cxnSp>
        <p:nvCxnSpPr>
          <p:cNvPr id="243" name="Google Shape;243;p1"/>
          <p:cNvCxnSpPr/>
          <p:nvPr/>
        </p:nvCxnSpPr>
        <p:spPr>
          <a:xfrm>
            <a:off x="4101654" y="1548000"/>
            <a:ext cx="0" cy="2047500"/>
          </a:xfrm>
          <a:prstGeom prst="straightConnector1">
            <a:avLst/>
          </a:prstGeom>
          <a:noFill/>
          <a:ln w="19050" cap="flat" cmpd="sng">
            <a:solidFill>
              <a:srgbClr val="595959"/>
            </a:solidFill>
            <a:prstDash val="solid"/>
            <a:miter lim="800000"/>
            <a:headEnd type="none" w="sm" len="sm"/>
            <a:tailEnd type="none" w="sm" len="sm"/>
          </a:ln>
        </p:spPr>
      </p:cxnSp>
      <p:sp>
        <p:nvSpPr>
          <p:cNvPr id="244" name="Google Shape;244;p1"/>
          <p:cNvSpPr txBox="1"/>
          <p:nvPr/>
        </p:nvSpPr>
        <p:spPr>
          <a:xfrm>
            <a:off x="4357330" y="2082461"/>
            <a:ext cx="3457421" cy="839988"/>
          </a:xfrm>
          <a:prstGeom prst="rect">
            <a:avLst/>
          </a:prstGeom>
          <a:noFill/>
          <a:ln>
            <a:noFill/>
          </a:ln>
        </p:spPr>
        <p:txBody>
          <a:bodyPr spcFirstLastPara="1" wrap="square" lIns="91200" tIns="45600" rIns="91200" bIns="45600" anchor="t" anchorCtr="0">
            <a:spAutoFit/>
          </a:bodyPr>
          <a:lstStyle/>
          <a:p>
            <a:pPr marL="0" marR="0" lvl="0" indent="0" algn="l" rtl="0">
              <a:lnSpc>
                <a:spcPct val="90000"/>
              </a:lnSpc>
              <a:spcBef>
                <a:spcPts val="0"/>
              </a:spcBef>
              <a:spcAft>
                <a:spcPts val="0"/>
              </a:spcAft>
              <a:buClr>
                <a:srgbClr val="7F4900"/>
              </a:buClr>
              <a:buSzPts val="4000"/>
              <a:buFont typeface="Arial"/>
              <a:buNone/>
            </a:pPr>
            <a:r>
              <a:rPr lang="en" sz="2400" b="1" i="0" u="none" strike="noStrike" cap="none" dirty="0">
                <a:solidFill>
                  <a:srgbClr val="7F4900"/>
                </a:solidFill>
                <a:latin typeface="Calibri" panose="020F0502020204030204" pitchFamily="34" charset="0"/>
                <a:ea typeface="Calibri" panose="020F0502020204030204" pitchFamily="34" charset="0"/>
                <a:cs typeface="Calibri" panose="020F0502020204030204" pitchFamily="34" charset="0"/>
                <a:sym typeface="Montserrat"/>
              </a:rPr>
              <a:t>Monthly Market Mantra</a:t>
            </a:r>
          </a:p>
          <a:p>
            <a:pPr marL="0" marR="0" lvl="0" indent="0" algn="l" rtl="0">
              <a:lnSpc>
                <a:spcPct val="150000"/>
              </a:lnSpc>
              <a:spcBef>
                <a:spcPts val="0"/>
              </a:spcBef>
              <a:spcAft>
                <a:spcPts val="0"/>
              </a:spcAft>
              <a:buClr>
                <a:srgbClr val="7F4900"/>
              </a:buClr>
              <a:buSzPts val="4000"/>
              <a:buFont typeface="Arial"/>
              <a:buNone/>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March,</a:t>
            </a:r>
            <a:r>
              <a:rPr lang="en"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 2026</a:t>
            </a:r>
            <a:endParaRPr sz="200"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endParaRPr>
          </a:p>
        </p:txBody>
      </p:sp>
      <p:pic>
        <p:nvPicPr>
          <p:cNvPr id="7" name="Picture 6">
            <a:extLst>
              <a:ext uri="{FF2B5EF4-FFF2-40B4-BE49-F238E27FC236}">
                <a16:creationId xmlns:a16="http://schemas.microsoft.com/office/drawing/2014/main" id="{58A88408-A669-4097-EF41-D1DE335DFE34}"/>
              </a:ext>
            </a:extLst>
          </p:cNvPr>
          <p:cNvPicPr>
            <a:picLocks noChangeAspect="1"/>
          </p:cNvPicPr>
          <p:nvPr/>
        </p:nvPicPr>
        <p:blipFill>
          <a:blip r:embed="rId3"/>
          <a:stretch>
            <a:fillRect/>
          </a:stretch>
        </p:blipFill>
        <p:spPr>
          <a:xfrm>
            <a:off x="801906" y="1774754"/>
            <a:ext cx="2886400" cy="1372302"/>
          </a:xfrm>
          <a:prstGeom prst="rect">
            <a:avLst/>
          </a:prstGeom>
        </p:spPr>
      </p:pic>
      <p:pic>
        <p:nvPicPr>
          <p:cNvPr id="9" name="Picture 8">
            <a:extLst>
              <a:ext uri="{FF2B5EF4-FFF2-40B4-BE49-F238E27FC236}">
                <a16:creationId xmlns:a16="http://schemas.microsoft.com/office/drawing/2014/main" id="{4896CCE2-B457-545A-DC10-5E2A3E2B9067}"/>
              </a:ext>
            </a:extLst>
          </p:cNvPr>
          <p:cNvPicPr>
            <a:picLocks noChangeAspect="1"/>
          </p:cNvPicPr>
          <p:nvPr/>
        </p:nvPicPr>
        <p:blipFill>
          <a:blip r:embed="rId3"/>
          <a:stretch>
            <a:fillRect/>
          </a:stretch>
        </p:blipFill>
        <p:spPr>
          <a:xfrm>
            <a:off x="7819053" y="116485"/>
            <a:ext cx="1190504" cy="566010"/>
          </a:xfrm>
          <a:prstGeom prst="rect">
            <a:avLst/>
          </a:prstGeom>
        </p:spPr>
      </p:pic>
      <p:sp>
        <p:nvSpPr>
          <p:cNvPr id="2" name="Google Shape;244;p1">
            <a:extLst>
              <a:ext uri="{FF2B5EF4-FFF2-40B4-BE49-F238E27FC236}">
                <a16:creationId xmlns:a16="http://schemas.microsoft.com/office/drawing/2014/main" id="{C67C7DA0-2F52-AC8A-32DC-A951E550BEC3}"/>
              </a:ext>
            </a:extLst>
          </p:cNvPr>
          <p:cNvSpPr txBox="1"/>
          <p:nvPr/>
        </p:nvSpPr>
        <p:spPr>
          <a:xfrm>
            <a:off x="6479383" y="4492292"/>
            <a:ext cx="2434096" cy="230590"/>
          </a:xfrm>
          <a:prstGeom prst="rect">
            <a:avLst/>
          </a:prstGeom>
          <a:noFill/>
          <a:ln>
            <a:noFill/>
          </a:ln>
        </p:spPr>
        <p:txBody>
          <a:bodyPr spcFirstLastPara="1" wrap="square" lIns="91200" tIns="45600" rIns="91200" bIns="45600" anchor="t" anchorCtr="0">
            <a:spAutoFit/>
          </a:bodyPr>
          <a:lstStyle/>
          <a:p>
            <a:pPr marL="0" marR="0" lvl="0" indent="0" rtl="0">
              <a:lnSpc>
                <a:spcPct val="90000"/>
              </a:lnSpc>
              <a:spcBef>
                <a:spcPts val="0"/>
              </a:spcBef>
              <a:spcAft>
                <a:spcPts val="0"/>
              </a:spcAft>
              <a:buClr>
                <a:srgbClr val="7F4900"/>
              </a:buClr>
              <a:buSzPts val="4000"/>
              <a:buFont typeface="Arial"/>
              <a:buNone/>
            </a:pPr>
            <a:r>
              <a:rPr lang="en"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Monthly Market Update </a:t>
            </a:r>
            <a:r>
              <a:rPr lang="en-US"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February</a:t>
            </a:r>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a:t>
            </a:r>
            <a:r>
              <a:rPr lang="en" sz="1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 </a:t>
            </a:r>
            <a:r>
              <a:rPr lang="en"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2026</a:t>
            </a:r>
            <a:endParaRPr sz="100"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Market Overview  </a:t>
            </a:r>
          </a:p>
        </p:txBody>
      </p:sp>
      <p:grpSp>
        <p:nvGrpSpPr>
          <p:cNvPr id="303" name="Google Shape;303;p7"/>
          <p:cNvGrpSpPr/>
          <p:nvPr/>
        </p:nvGrpSpPr>
        <p:grpSpPr>
          <a:xfrm>
            <a:off x="-25" y="4872600"/>
            <a:ext cx="9144000" cy="281585"/>
            <a:chOff x="-25" y="4872600"/>
            <a:chExt cx="9144000" cy="281585"/>
          </a:xfrm>
        </p:grpSpPr>
        <p:sp>
          <p:nvSpPr>
            <p:cNvPr id="304" name="Google Shape;304;p7"/>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305" name="Google Shape;305;p7"/>
            <p:cNvGrpSpPr/>
            <p:nvPr/>
          </p:nvGrpSpPr>
          <p:grpSpPr>
            <a:xfrm>
              <a:off x="3101100" y="4872600"/>
              <a:ext cx="2941800" cy="281585"/>
              <a:chOff x="3084200" y="4934525"/>
              <a:chExt cx="2941800" cy="281585"/>
            </a:xfrm>
          </p:grpSpPr>
          <p:sp>
            <p:nvSpPr>
              <p:cNvPr id="306" name="Google Shape;306;p7"/>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307" name="Google Shape;307;p7"/>
              <p:cNvSpPr txBox="1"/>
              <p:nvPr/>
            </p:nvSpPr>
            <p:spPr>
              <a:xfrm>
                <a:off x="3126000" y="4934525"/>
                <a:ext cx="2892000" cy="281585"/>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 name="Group 2">
            <a:extLst>
              <a:ext uri="{FF2B5EF4-FFF2-40B4-BE49-F238E27FC236}">
                <a16:creationId xmlns:a16="http://schemas.microsoft.com/office/drawing/2014/main" id="{F26486A1-9941-91F5-95E6-6A05CED0F9F3}"/>
              </a:ext>
            </a:extLst>
          </p:cNvPr>
          <p:cNvGrpSpPr/>
          <p:nvPr/>
        </p:nvGrpSpPr>
        <p:grpSpPr>
          <a:xfrm>
            <a:off x="732267" y="1065914"/>
            <a:ext cx="8127196" cy="3414126"/>
            <a:chOff x="1378555" y="651509"/>
            <a:chExt cx="6203903" cy="3597870"/>
          </a:xfrm>
        </p:grpSpPr>
        <p:sp>
          <p:nvSpPr>
            <p:cNvPr id="4" name="Freeform: Shape 3">
              <a:extLst>
                <a:ext uri="{FF2B5EF4-FFF2-40B4-BE49-F238E27FC236}">
                  <a16:creationId xmlns:a16="http://schemas.microsoft.com/office/drawing/2014/main" id="{F8707A78-3CBD-A393-D0C0-50BB01646FAA}"/>
                </a:ext>
              </a:extLst>
            </p:cNvPr>
            <p:cNvSpPr/>
            <p:nvPr/>
          </p:nvSpPr>
          <p:spPr>
            <a:xfrm>
              <a:off x="1378555" y="670510"/>
              <a:ext cx="2966675" cy="1567257"/>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6" name="Freeform: Shape 5">
              <a:extLst>
                <a:ext uri="{FF2B5EF4-FFF2-40B4-BE49-F238E27FC236}">
                  <a16:creationId xmlns:a16="http://schemas.microsoft.com/office/drawing/2014/main" id="{3D92FB1A-D8B0-E020-2A40-F4642D0266C6}"/>
                </a:ext>
              </a:extLst>
            </p:cNvPr>
            <p:cNvSpPr/>
            <p:nvPr/>
          </p:nvSpPr>
          <p:spPr>
            <a:xfrm>
              <a:off x="4601963" y="651509"/>
              <a:ext cx="2980495" cy="1567866"/>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7" name="Freeform: Shape 6">
              <a:extLst>
                <a:ext uri="{FF2B5EF4-FFF2-40B4-BE49-F238E27FC236}">
                  <a16:creationId xmlns:a16="http://schemas.microsoft.com/office/drawing/2014/main" id="{5DEBFF31-8295-B9DE-B194-970F9A1C81FE}"/>
                </a:ext>
              </a:extLst>
            </p:cNvPr>
            <p:cNvSpPr/>
            <p:nvPr/>
          </p:nvSpPr>
          <p:spPr>
            <a:xfrm>
              <a:off x="1378555" y="2502945"/>
              <a:ext cx="2980495" cy="1741049"/>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8" name="Freeform: Shape 7">
              <a:extLst>
                <a:ext uri="{FF2B5EF4-FFF2-40B4-BE49-F238E27FC236}">
                  <a16:creationId xmlns:a16="http://schemas.microsoft.com/office/drawing/2014/main" id="{DABD1A88-54D9-6462-D3F4-865B1A159A49}"/>
                </a:ext>
              </a:extLst>
            </p:cNvPr>
            <p:cNvSpPr/>
            <p:nvPr/>
          </p:nvSpPr>
          <p:spPr>
            <a:xfrm>
              <a:off x="4588849" y="2508330"/>
              <a:ext cx="2980495" cy="1741049"/>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grpSp>
      <p:sp>
        <p:nvSpPr>
          <p:cNvPr id="9" name="TextBox 8">
            <a:extLst>
              <a:ext uri="{FF2B5EF4-FFF2-40B4-BE49-F238E27FC236}">
                <a16:creationId xmlns:a16="http://schemas.microsoft.com/office/drawing/2014/main" id="{E14FFC10-0386-0CD1-9B88-EF967B5C1276}"/>
              </a:ext>
            </a:extLst>
          </p:cNvPr>
          <p:cNvSpPr txBox="1"/>
          <p:nvPr/>
        </p:nvSpPr>
        <p:spPr>
          <a:xfrm>
            <a:off x="719999" y="1117313"/>
            <a:ext cx="3904488" cy="1492716"/>
          </a:xfrm>
          <a:prstGeom prst="rect">
            <a:avLst/>
          </a:prstGeom>
          <a:noFill/>
        </p:spPr>
        <p:txBody>
          <a:bodyPr wrap="square">
            <a:spAutoFit/>
          </a:bodyPr>
          <a:lstStyle/>
          <a:p>
            <a:pPr marL="0" indent="0" algn="just"/>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India</a:t>
            </a:r>
          </a:p>
          <a:p>
            <a:pPr marL="0" indent="0" algn="just"/>
            <a:endParaRPr lang="en-US" sz="900" b="1" dirty="0">
              <a:solidFill>
                <a:schemeClr val="tx1"/>
              </a:solidFill>
              <a:latin typeface="+mj-lt"/>
              <a:ea typeface="Calibri" panose="020F0502020204030204" pitchFamily="34" charset="0"/>
              <a:cs typeface="Calibri" panose="020F0502020204030204" pitchFamily="34" charset="0"/>
            </a:endParaRPr>
          </a:p>
          <a:p>
            <a:pPr marL="0" indent="0" algn="just"/>
            <a:r>
              <a:rPr lang="en-US" sz="1000" dirty="0">
                <a:solidFill>
                  <a:schemeClr val="tx1"/>
                </a:solidFill>
                <a:latin typeface="+mj-lt"/>
                <a:ea typeface="Calibri" panose="020F0502020204030204" pitchFamily="34" charset="0"/>
                <a:cs typeface="Calibri" panose="020F0502020204030204" pitchFamily="34" charset="0"/>
              </a:rPr>
              <a:t>Q3FY26 GDP growth in at 7.8% (vs 7.2% est.); base year revised to FY23</a:t>
            </a:r>
          </a:p>
          <a:p>
            <a:pPr marL="0" indent="0" algn="just"/>
            <a:endParaRPr lang="en-US" sz="1000" dirty="0">
              <a:solidFill>
                <a:schemeClr val="tx1"/>
              </a:solidFill>
              <a:latin typeface="+mj-lt"/>
            </a:endParaRPr>
          </a:p>
          <a:p>
            <a:pPr algn="just"/>
            <a:r>
              <a:rPr lang="en-US" sz="1000" dirty="0">
                <a:solidFill>
                  <a:schemeClr val="tx1"/>
                </a:solidFill>
                <a:latin typeface="+mj-lt"/>
              </a:rPr>
              <a:t>CPI inflation rose to 2.75% in Jan-26 from 1.2% in Dec -25, price pressures</a:t>
            </a:r>
          </a:p>
          <a:p>
            <a:pPr algn="just"/>
            <a:endParaRPr lang="en-US" sz="1000" dirty="0">
              <a:solidFill>
                <a:schemeClr val="tx1"/>
              </a:solidFill>
              <a:latin typeface="+mj-lt"/>
            </a:endParaRPr>
          </a:p>
          <a:p>
            <a:pPr algn="just"/>
            <a:r>
              <a:rPr lang="en-US" sz="1000" dirty="0">
                <a:solidFill>
                  <a:schemeClr val="tx1"/>
                </a:solidFill>
                <a:latin typeface="+mj-lt"/>
                <a:cs typeface="Arial" panose="020B0604020202020204" pitchFamily="34" charset="0"/>
              </a:rPr>
              <a:t>CAD at 1.3% of GDP (~US$1.3 bn), supported by a stronger services surplus</a:t>
            </a:r>
          </a:p>
        </p:txBody>
      </p:sp>
      <p:sp>
        <p:nvSpPr>
          <p:cNvPr id="10" name="TextBox 9">
            <a:extLst>
              <a:ext uri="{FF2B5EF4-FFF2-40B4-BE49-F238E27FC236}">
                <a16:creationId xmlns:a16="http://schemas.microsoft.com/office/drawing/2014/main" id="{20B278AE-3837-4396-8693-A4E67E5DDA1B}"/>
              </a:ext>
            </a:extLst>
          </p:cNvPr>
          <p:cNvSpPr txBox="1"/>
          <p:nvPr/>
        </p:nvSpPr>
        <p:spPr>
          <a:xfrm>
            <a:off x="4960811" y="1035000"/>
            <a:ext cx="3904488" cy="1692771"/>
          </a:xfrm>
          <a:prstGeom prst="rect">
            <a:avLst/>
          </a:prstGeom>
          <a:noFill/>
        </p:spPr>
        <p:txBody>
          <a:bodyPr wrap="square" anchor="ctr">
            <a:spAutoFit/>
          </a:bodyPr>
          <a:lstStyle/>
          <a:p>
            <a:r>
              <a:rPr lang="en-US" sz="1200" b="1" dirty="0">
                <a:latin typeface="+mn-lt"/>
                <a:ea typeface="Calibri" panose="020F0502020204030204" pitchFamily="34" charset="0"/>
                <a:cs typeface="Calibri" panose="020F0502020204030204" pitchFamily="34" charset="0"/>
              </a:rPr>
              <a:t>Other International Market</a:t>
            </a:r>
          </a:p>
          <a:p>
            <a:endParaRPr lang="en-US" sz="1200" b="1" dirty="0">
              <a:latin typeface="+mn-lt"/>
              <a:ea typeface="Calibri" panose="020F0502020204030204" pitchFamily="34" charset="0"/>
              <a:cs typeface="Calibri" panose="020F0502020204030204" pitchFamily="34" charset="0"/>
            </a:endParaRPr>
          </a:p>
          <a:p>
            <a:r>
              <a:rPr lang="en-US" sz="1000" dirty="0">
                <a:latin typeface="+mn-lt"/>
                <a:ea typeface="Calibri" panose="020F0502020204030204" pitchFamily="34" charset="0"/>
                <a:cs typeface="Calibri" panose="020F0502020204030204" pitchFamily="34" charset="0"/>
              </a:rPr>
              <a:t>Eurozone inflation rises to ~1.9% (Feb‑26), keeping ECB cautious on rate cuts</a:t>
            </a:r>
          </a:p>
          <a:p>
            <a:endParaRPr lang="en-US" sz="1000" dirty="0">
              <a:solidFill>
                <a:srgbClr val="FF0000"/>
              </a:solidFill>
              <a:latin typeface="+mn-lt"/>
            </a:endParaRPr>
          </a:p>
          <a:p>
            <a:pPr algn="just"/>
            <a:r>
              <a:rPr lang="en-US" sz="1000" dirty="0">
                <a:solidFill>
                  <a:schemeClr val="tx1"/>
                </a:solidFill>
                <a:latin typeface="+mn-lt"/>
              </a:rPr>
              <a:t>BoJ holds rate at 0.75%, maintaining cautious stance amid inflation and geopolitical risks</a:t>
            </a:r>
          </a:p>
          <a:p>
            <a:pPr algn="just"/>
            <a:endParaRPr lang="en-US" sz="1000" dirty="0">
              <a:solidFill>
                <a:schemeClr val="tx1"/>
              </a:solidFill>
              <a:latin typeface="+mn-lt"/>
            </a:endParaRPr>
          </a:p>
          <a:p>
            <a:pPr algn="just"/>
            <a:r>
              <a:rPr lang="en-US" sz="1000" dirty="0">
                <a:latin typeface="+mn-lt"/>
              </a:rPr>
              <a:t>China set a lower GDP growth target of 4.5-5% for 2026</a:t>
            </a:r>
          </a:p>
          <a:p>
            <a:pPr algn="just"/>
            <a:endParaRPr lang="en-US" sz="1000" dirty="0">
              <a:latin typeface="+mn-lt"/>
              <a:cs typeface="Arial" panose="020B0604020202020204" pitchFamily="34" charset="0"/>
            </a:endParaRPr>
          </a:p>
        </p:txBody>
      </p:sp>
      <p:sp>
        <p:nvSpPr>
          <p:cNvPr id="11" name="TextBox 10">
            <a:extLst>
              <a:ext uri="{FF2B5EF4-FFF2-40B4-BE49-F238E27FC236}">
                <a16:creationId xmlns:a16="http://schemas.microsoft.com/office/drawing/2014/main" id="{456DDE92-5350-52CB-5EEB-D7D1387EA61D}"/>
              </a:ext>
            </a:extLst>
          </p:cNvPr>
          <p:cNvSpPr txBox="1"/>
          <p:nvPr/>
        </p:nvSpPr>
        <p:spPr>
          <a:xfrm>
            <a:off x="752820" y="2824946"/>
            <a:ext cx="3883935" cy="1471941"/>
          </a:xfrm>
          <a:prstGeom prst="rect">
            <a:avLst/>
          </a:prstGeom>
          <a:noFill/>
        </p:spPr>
        <p:txBody>
          <a:bodyPr wrap="square">
            <a:spAutoFit/>
          </a:bodyPr>
          <a:lstStyle/>
          <a:p>
            <a:pPr algn="just">
              <a:lnSpc>
                <a:spcPct val="110000"/>
              </a:lnSpc>
              <a:buFont typeface="Arial"/>
              <a:buNone/>
            </a:pPr>
            <a:r>
              <a:rPr lang="en-US" sz="1200" b="1" dirty="0">
                <a:latin typeface="+mn-lt"/>
                <a:ea typeface="Calibri" panose="020F0502020204030204" pitchFamily="34" charset="0"/>
                <a:cs typeface="Calibri" panose="020F0502020204030204" pitchFamily="34" charset="0"/>
              </a:rPr>
              <a:t>U.S.</a:t>
            </a:r>
          </a:p>
          <a:p>
            <a:pPr algn="just">
              <a:lnSpc>
                <a:spcPct val="110000"/>
              </a:lnSpc>
            </a:pPr>
            <a:endParaRPr lang="en-US" sz="1000" dirty="0">
              <a:solidFill>
                <a:schemeClr val="tx1"/>
              </a:solidFill>
              <a:latin typeface="+mn-lt"/>
              <a:ea typeface="Calibri" panose="020F0502020204030204" pitchFamily="34" charset="0"/>
              <a:cs typeface="Calibri" panose="020F0502020204030204" pitchFamily="34" charset="0"/>
            </a:endParaRPr>
          </a:p>
          <a:p>
            <a:pPr algn="just">
              <a:lnSpc>
                <a:spcPct val="110000"/>
              </a:lnSpc>
            </a:pPr>
            <a:r>
              <a:rPr lang="en-US" sz="1000" dirty="0">
                <a:solidFill>
                  <a:schemeClr val="tx1"/>
                </a:solidFill>
                <a:latin typeface="+mn-lt"/>
              </a:rPr>
              <a:t>US PMI rose to 56.1 in Feb-26 from 53.8 in Jan-26</a:t>
            </a:r>
          </a:p>
          <a:p>
            <a:pPr algn="just">
              <a:lnSpc>
                <a:spcPct val="110000"/>
              </a:lnSpc>
            </a:pPr>
            <a:endParaRPr lang="en-US" sz="1000" dirty="0">
              <a:solidFill>
                <a:srgbClr val="FF0000"/>
              </a:solidFill>
              <a:latin typeface="+mn-lt"/>
              <a:ea typeface="Calibri" panose="020F0502020204030204" pitchFamily="34" charset="0"/>
              <a:cs typeface="Calibri" panose="020F0502020204030204" pitchFamily="34" charset="0"/>
            </a:endParaRPr>
          </a:p>
          <a:p>
            <a:pPr algn="just">
              <a:lnSpc>
                <a:spcPct val="110000"/>
              </a:lnSpc>
            </a:pPr>
            <a:r>
              <a:rPr lang="en-US" sz="1000" dirty="0">
                <a:solidFill>
                  <a:schemeClr val="tx1"/>
                </a:solidFill>
                <a:latin typeface="+mn-lt"/>
                <a:cs typeface="Arial" panose="020B0604020202020204" pitchFamily="34" charset="0"/>
              </a:rPr>
              <a:t>US headline CPI slowed  to 2.4% in Jan-26</a:t>
            </a:r>
          </a:p>
          <a:p>
            <a:pPr algn="just">
              <a:lnSpc>
                <a:spcPct val="110000"/>
              </a:lnSpc>
            </a:pPr>
            <a:endParaRPr lang="en-US" sz="1000" dirty="0">
              <a:solidFill>
                <a:schemeClr val="tx1"/>
              </a:solidFill>
              <a:latin typeface="+mn-lt"/>
              <a:cs typeface="Arial" panose="020B0604020202020204" pitchFamily="34" charset="0"/>
            </a:endParaRPr>
          </a:p>
          <a:p>
            <a:pPr algn="just">
              <a:lnSpc>
                <a:spcPct val="110000"/>
              </a:lnSpc>
            </a:pPr>
            <a:r>
              <a:rPr lang="en-US" sz="1000" dirty="0">
                <a:solidFill>
                  <a:schemeClr val="tx1"/>
                </a:solidFill>
                <a:latin typeface="+mn-lt"/>
                <a:cs typeface="Arial" panose="020B0604020202020204" pitchFamily="34" charset="0"/>
              </a:rPr>
              <a:t>US </a:t>
            </a:r>
            <a:r>
              <a:rPr lang="en-US" sz="1000" dirty="0" err="1">
                <a:solidFill>
                  <a:schemeClr val="tx1"/>
                </a:solidFill>
                <a:latin typeface="+mn-lt"/>
                <a:cs typeface="Arial" panose="020B0604020202020204" pitchFamily="34" charset="0"/>
              </a:rPr>
              <a:t>labour</a:t>
            </a:r>
            <a:r>
              <a:rPr lang="en-US" sz="1000" dirty="0">
                <a:solidFill>
                  <a:schemeClr val="tx1"/>
                </a:solidFill>
                <a:latin typeface="+mn-lt"/>
                <a:cs typeface="Arial" panose="020B0604020202020204" pitchFamily="34" charset="0"/>
              </a:rPr>
              <a:t> market stable with unemployment at ~4.3% (Feb-26), indicating gradually cooling job market</a:t>
            </a:r>
          </a:p>
        </p:txBody>
      </p:sp>
      <p:sp>
        <p:nvSpPr>
          <p:cNvPr id="12" name="TextBox 11">
            <a:extLst>
              <a:ext uri="{FF2B5EF4-FFF2-40B4-BE49-F238E27FC236}">
                <a16:creationId xmlns:a16="http://schemas.microsoft.com/office/drawing/2014/main" id="{9B7319D2-C40D-5463-218E-8EE87F5E2E56}"/>
              </a:ext>
            </a:extLst>
          </p:cNvPr>
          <p:cNvSpPr txBox="1"/>
          <p:nvPr/>
        </p:nvSpPr>
        <p:spPr>
          <a:xfrm>
            <a:off x="4937795" y="2867880"/>
            <a:ext cx="3921668" cy="1492716"/>
          </a:xfrm>
          <a:prstGeom prst="rect">
            <a:avLst/>
          </a:prstGeom>
          <a:noFill/>
        </p:spPr>
        <p:txBody>
          <a:bodyPr wrap="square">
            <a:spAutoFit/>
          </a:bodyPr>
          <a:lstStyle/>
          <a:p>
            <a:pPr marL="0" indent="0"/>
            <a:r>
              <a:rPr lang="en-US" sz="1200" b="1" dirty="0">
                <a:latin typeface="Calibri" panose="020F0502020204030204" pitchFamily="34" charset="0"/>
                <a:ea typeface="Calibri" panose="020F0502020204030204" pitchFamily="34" charset="0"/>
                <a:cs typeface="Calibri" panose="020F0502020204030204" pitchFamily="34" charset="0"/>
              </a:rPr>
              <a:t>International </a:t>
            </a:r>
          </a:p>
          <a:p>
            <a:endParaRPr lang="en-US" sz="900" dirty="0">
              <a:latin typeface="+mn-lt"/>
            </a:endParaRPr>
          </a:p>
          <a:p>
            <a:r>
              <a:rPr lang="en-US" sz="1000" dirty="0">
                <a:latin typeface="+mn-lt"/>
              </a:rPr>
              <a:t>Gold at ~ $5,170 per ounce amid safe heaven demand</a:t>
            </a:r>
          </a:p>
          <a:p>
            <a:endParaRPr lang="en-US" sz="1000" dirty="0">
              <a:latin typeface="+mn-lt"/>
            </a:endParaRPr>
          </a:p>
          <a:p>
            <a:r>
              <a:rPr lang="en-US" sz="1000" dirty="0">
                <a:latin typeface="+mn-lt"/>
              </a:rPr>
              <a:t>Brent crude touched ~USD 83/bbl but eased later, on escalating Middle East tensions</a:t>
            </a:r>
          </a:p>
          <a:p>
            <a:endParaRPr lang="en-US" sz="1000" dirty="0">
              <a:latin typeface="+mn-lt"/>
            </a:endParaRPr>
          </a:p>
          <a:p>
            <a:r>
              <a:rPr lang="en-US" sz="1000" dirty="0">
                <a:solidFill>
                  <a:schemeClr val="tx1"/>
                </a:solidFill>
                <a:latin typeface="+mn-lt"/>
              </a:rPr>
              <a:t>Global sentiment cautious on commodity rise, mixed data, Middle East tensions</a:t>
            </a:r>
          </a:p>
        </p:txBody>
      </p:sp>
      <p:sp>
        <p:nvSpPr>
          <p:cNvPr id="2" name="TextBox 1">
            <a:extLst>
              <a:ext uri="{FF2B5EF4-FFF2-40B4-BE49-F238E27FC236}">
                <a16:creationId xmlns:a16="http://schemas.microsoft.com/office/drawing/2014/main" id="{BFBD31A5-6529-E59F-27A7-3145111AE894}"/>
              </a:ext>
            </a:extLst>
          </p:cNvPr>
          <p:cNvSpPr txBox="1"/>
          <p:nvPr/>
        </p:nvSpPr>
        <p:spPr>
          <a:xfrm>
            <a:off x="6117557" y="4550246"/>
            <a:ext cx="2892000" cy="338554"/>
          </a:xfrm>
          <a:prstGeom prst="rect">
            <a:avLst/>
          </a:prstGeom>
          <a:noFill/>
        </p:spPr>
        <p:txBody>
          <a:bodyPr wrap="square" rtlCol="0">
            <a:spAutoFit/>
          </a:bodyPr>
          <a:lstStyle/>
          <a:p>
            <a:pPr algn="r"/>
            <a:r>
              <a:rPr lang="en-US" sz="800" i="1" dirty="0">
                <a:latin typeface="Calibri" panose="020F0502020204030204" pitchFamily="34" charset="0"/>
                <a:ea typeface="Calibri" panose="020F0502020204030204" pitchFamily="34" charset="0"/>
                <a:cs typeface="Calibri" panose="020F0502020204030204" pitchFamily="34" charset="0"/>
              </a:rPr>
              <a:t>Source: Moneycontrol, Bloomberg, CNBC, Trading economics</a:t>
            </a:r>
          </a:p>
          <a:p>
            <a:pPr algn="r"/>
            <a:r>
              <a:rPr lang="en-US" sz="800" i="1" dirty="0">
                <a:latin typeface="Calibri" panose="020F0502020204030204" pitchFamily="34" charset="0"/>
                <a:ea typeface="Calibri" panose="020F0502020204030204" pitchFamily="34" charset="0"/>
                <a:cs typeface="Calibri" panose="020F0502020204030204" pitchFamily="34" charset="0"/>
              </a:rPr>
              <a:t>As </a:t>
            </a:r>
            <a:r>
              <a:rPr lang="en-US" sz="800" i="1" dirty="0">
                <a:solidFill>
                  <a:schemeClr val="tx1"/>
                </a:solidFill>
                <a:latin typeface="Calibri" panose="020F0502020204030204" pitchFamily="34" charset="0"/>
                <a:ea typeface="Calibri" panose="020F0502020204030204" pitchFamily="34" charset="0"/>
                <a:cs typeface="Calibri" panose="020F0502020204030204" pitchFamily="34" charset="0"/>
              </a:rPr>
              <a:t>on 5</a:t>
            </a:r>
            <a:r>
              <a:rPr lang="en-US" sz="800" i="1" baseline="30000" dirty="0">
                <a:solidFill>
                  <a:schemeClr val="tx1"/>
                </a:solidFill>
                <a:latin typeface="Calibri" panose="020F0502020204030204" pitchFamily="34" charset="0"/>
                <a:ea typeface="Calibri" panose="020F0502020204030204" pitchFamily="34" charset="0"/>
                <a:cs typeface="Calibri" panose="020F0502020204030204" pitchFamily="34" charset="0"/>
              </a:rPr>
              <a:t>th</a:t>
            </a:r>
            <a:r>
              <a:rPr lang="en-US" sz="800" i="1" dirty="0">
                <a:solidFill>
                  <a:schemeClr val="tx1"/>
                </a:solidFill>
                <a:latin typeface="Calibri" panose="020F0502020204030204" pitchFamily="34" charset="0"/>
                <a:ea typeface="Calibri" panose="020F0502020204030204" pitchFamily="34" charset="0"/>
                <a:cs typeface="Calibri" panose="020F0502020204030204" pitchFamily="34" charset="0"/>
              </a:rPr>
              <a:t> March 2026</a:t>
            </a:r>
          </a:p>
        </p:txBody>
      </p:sp>
      <p:pic>
        <p:nvPicPr>
          <p:cNvPr id="13" name="Picture 12">
            <a:extLst>
              <a:ext uri="{FF2B5EF4-FFF2-40B4-BE49-F238E27FC236}">
                <a16:creationId xmlns:a16="http://schemas.microsoft.com/office/drawing/2014/main" id="{E3185110-CF42-3EBE-3A37-B1860F270B12}"/>
              </a:ext>
            </a:extLst>
          </p:cNvPr>
          <p:cNvPicPr>
            <a:picLocks noChangeAspect="1"/>
          </p:cNvPicPr>
          <p:nvPr/>
        </p:nvPicPr>
        <p:blipFill>
          <a:blip r:embed="rId3"/>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469419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9">
          <a:extLst>
            <a:ext uri="{FF2B5EF4-FFF2-40B4-BE49-F238E27FC236}">
              <a16:creationId xmlns:a16="http://schemas.microsoft.com/office/drawing/2014/main" id="{F4B54B36-D814-67AC-9769-FF0DC0EDDDA3}"/>
            </a:ext>
          </a:extLst>
        </p:cNvPr>
        <p:cNvGrpSpPr/>
        <p:nvPr/>
      </p:nvGrpSpPr>
      <p:grpSpPr>
        <a:xfrm>
          <a:off x="0" y="0"/>
          <a:ext cx="0" cy="0"/>
          <a:chOff x="0" y="0"/>
          <a:chExt cx="0" cy="0"/>
        </a:xfrm>
      </p:grpSpPr>
      <p:sp>
        <p:nvSpPr>
          <p:cNvPr id="260" name="Google Shape;260;p6">
            <a:extLst>
              <a:ext uri="{FF2B5EF4-FFF2-40B4-BE49-F238E27FC236}">
                <a16:creationId xmlns:a16="http://schemas.microsoft.com/office/drawing/2014/main" id="{E0B32E16-E79B-429D-CF04-4866835A9BDC}"/>
              </a:ext>
            </a:extLst>
          </p:cNvPr>
          <p:cNvSpPr txBox="1">
            <a:spLocks noGrp="1"/>
          </p:cNvSpPr>
          <p:nvPr>
            <p:ph type="title"/>
          </p:nvPr>
        </p:nvSpPr>
        <p:spPr>
          <a:xfrm>
            <a:off x="682569" y="394620"/>
            <a:ext cx="6983695" cy="521208"/>
          </a:xfrm>
          <a:prstGeom prst="rect">
            <a:avLst/>
          </a:prstGeom>
          <a:solidFill>
            <a:srgbClr val="FECA08"/>
          </a:solidFill>
          <a:ln>
            <a:noFill/>
          </a:ln>
        </p:spPr>
        <p:txBody>
          <a:bodyPr spcFirstLastPara="1" wrap="square" lIns="91425" tIns="91425" rIns="91425" bIns="91425" anchor="t" anchorCtr="0">
            <a:noAutofit/>
          </a:bodyPr>
          <a:lstStyle/>
          <a:p>
            <a:pPr lvl="0"/>
            <a:r>
              <a:rPr lang="en-US" sz="2000" dirty="0">
                <a:latin typeface="+mn-lt"/>
              </a:rPr>
              <a:t>Indian</a:t>
            </a:r>
            <a:r>
              <a:rPr lang="en-US" sz="2000" i="1" dirty="0">
                <a:latin typeface="+mn-lt"/>
              </a:rPr>
              <a:t> </a:t>
            </a:r>
            <a:r>
              <a:rPr lang="en-US" sz="2000" dirty="0">
                <a:latin typeface="+mn-lt"/>
              </a:rPr>
              <a:t>markets rangebound in Feb-26</a:t>
            </a:r>
            <a:endParaRPr sz="2000" dirty="0">
              <a:latin typeface="+mn-lt"/>
              <a:ea typeface="Calibri" panose="020F0502020204030204" pitchFamily="34" charset="0"/>
              <a:cs typeface="Calibri" panose="020F0502020204030204" pitchFamily="34" charset="0"/>
            </a:endParaRPr>
          </a:p>
        </p:txBody>
      </p:sp>
      <p:grpSp>
        <p:nvGrpSpPr>
          <p:cNvPr id="262" name="Google Shape;262;p6">
            <a:extLst>
              <a:ext uri="{FF2B5EF4-FFF2-40B4-BE49-F238E27FC236}">
                <a16:creationId xmlns:a16="http://schemas.microsoft.com/office/drawing/2014/main" id="{413DE8B0-606F-84AB-B13D-C5A22E45A252}"/>
              </a:ext>
            </a:extLst>
          </p:cNvPr>
          <p:cNvGrpSpPr/>
          <p:nvPr/>
        </p:nvGrpSpPr>
        <p:grpSpPr>
          <a:xfrm>
            <a:off x="-25" y="4872600"/>
            <a:ext cx="9144000" cy="270900"/>
            <a:chOff x="-25" y="4872600"/>
            <a:chExt cx="9144000" cy="270900"/>
          </a:xfrm>
        </p:grpSpPr>
        <p:sp>
          <p:nvSpPr>
            <p:cNvPr id="263" name="Google Shape;263;p6">
              <a:extLst>
                <a:ext uri="{FF2B5EF4-FFF2-40B4-BE49-F238E27FC236}">
                  <a16:creationId xmlns:a16="http://schemas.microsoft.com/office/drawing/2014/main" id="{8C817BF0-00F4-4F91-88CE-4793837F3D24}"/>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264" name="Google Shape;264;p6">
              <a:extLst>
                <a:ext uri="{FF2B5EF4-FFF2-40B4-BE49-F238E27FC236}">
                  <a16:creationId xmlns:a16="http://schemas.microsoft.com/office/drawing/2014/main" id="{718FBEA7-FF20-1AE9-DE9F-A04561DC7DC2}"/>
                </a:ext>
              </a:extLst>
            </p:cNvPr>
            <p:cNvGrpSpPr/>
            <p:nvPr/>
          </p:nvGrpSpPr>
          <p:grpSpPr>
            <a:xfrm>
              <a:off x="3101100" y="4872600"/>
              <a:ext cx="2941800" cy="270900"/>
              <a:chOff x="3084200" y="4934525"/>
              <a:chExt cx="2941800" cy="270900"/>
            </a:xfrm>
          </p:grpSpPr>
          <p:sp>
            <p:nvSpPr>
              <p:cNvPr id="265" name="Google Shape;265;p6">
                <a:extLst>
                  <a:ext uri="{FF2B5EF4-FFF2-40B4-BE49-F238E27FC236}">
                    <a16:creationId xmlns:a16="http://schemas.microsoft.com/office/drawing/2014/main" id="{1DC3F893-F79F-3CE0-CEB9-EB4AD8D12FDA}"/>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266" name="Google Shape;266;p6">
                <a:extLst>
                  <a:ext uri="{FF2B5EF4-FFF2-40B4-BE49-F238E27FC236}">
                    <a16:creationId xmlns:a16="http://schemas.microsoft.com/office/drawing/2014/main" id="{AA1D54D3-4A57-FE4C-FA16-70330DBFCED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36" name="TextBox 35">
            <a:extLst>
              <a:ext uri="{FF2B5EF4-FFF2-40B4-BE49-F238E27FC236}">
                <a16:creationId xmlns:a16="http://schemas.microsoft.com/office/drawing/2014/main" id="{CA1D1660-BE2C-EF5E-EC48-38FE65EE7DD3}"/>
              </a:ext>
            </a:extLst>
          </p:cNvPr>
          <p:cNvSpPr txBox="1"/>
          <p:nvPr/>
        </p:nvSpPr>
        <p:spPr>
          <a:xfrm>
            <a:off x="6470189" y="4557313"/>
            <a:ext cx="2673786" cy="338554"/>
          </a:xfrm>
          <a:prstGeom prst="rect">
            <a:avLst/>
          </a:prstGeom>
          <a:noFill/>
        </p:spPr>
        <p:txBody>
          <a:bodyPr wrap="square" rtlCol="0">
            <a:spAutoFit/>
          </a:bodyPr>
          <a:lstStyle/>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Source: NiftyIndices.com </a:t>
            </a:r>
          </a:p>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as on 27</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February 2026</a:t>
            </a:r>
          </a:p>
        </p:txBody>
      </p:sp>
      <p:cxnSp>
        <p:nvCxnSpPr>
          <p:cNvPr id="39" name="Straight Arrow Connector 38">
            <a:extLst>
              <a:ext uri="{FF2B5EF4-FFF2-40B4-BE49-F238E27FC236}">
                <a16:creationId xmlns:a16="http://schemas.microsoft.com/office/drawing/2014/main" id="{F45315C4-82F9-6939-3FAC-6B5E71C41E97}"/>
              </a:ext>
            </a:extLst>
          </p:cNvPr>
          <p:cNvCxnSpPr>
            <a:cxnSpLocks/>
          </p:cNvCxnSpPr>
          <p:nvPr/>
        </p:nvCxnSpPr>
        <p:spPr>
          <a:xfrm flipV="1">
            <a:off x="3988137" y="3593743"/>
            <a:ext cx="0" cy="11899"/>
          </a:xfrm>
          <a:prstGeom prst="straightConnector1">
            <a:avLst/>
          </a:prstGeom>
          <a:noFill/>
          <a:ln w="6350" cap="flat" cmpd="sng" algn="ctr">
            <a:solidFill>
              <a:srgbClr val="FF9900"/>
            </a:solidFill>
            <a:prstDash val="solid"/>
            <a:miter lim="800000"/>
            <a:tailEnd type="triangle"/>
          </a:ln>
          <a:effectLst/>
        </p:spPr>
      </p:cxnSp>
      <p:cxnSp>
        <p:nvCxnSpPr>
          <p:cNvPr id="42" name="Straight Arrow Connector 41">
            <a:extLst>
              <a:ext uri="{FF2B5EF4-FFF2-40B4-BE49-F238E27FC236}">
                <a16:creationId xmlns:a16="http://schemas.microsoft.com/office/drawing/2014/main" id="{810BB7C4-824C-FBBF-24CD-CEC5E0E22932}"/>
              </a:ext>
            </a:extLst>
          </p:cNvPr>
          <p:cNvCxnSpPr>
            <a:cxnSpLocks/>
          </p:cNvCxnSpPr>
          <p:nvPr/>
        </p:nvCxnSpPr>
        <p:spPr>
          <a:xfrm flipV="1">
            <a:off x="10916494" y="3523406"/>
            <a:ext cx="0" cy="11899"/>
          </a:xfrm>
          <a:prstGeom prst="straightConnector1">
            <a:avLst/>
          </a:prstGeom>
          <a:noFill/>
          <a:ln w="6350" cap="flat" cmpd="sng" algn="ctr">
            <a:solidFill>
              <a:srgbClr val="FF9900"/>
            </a:solidFill>
            <a:prstDash val="solid"/>
            <a:miter lim="800000"/>
            <a:tailEnd type="triangle"/>
          </a:ln>
          <a:effectLst/>
        </p:spPr>
      </p:cxnSp>
      <p:sp>
        <p:nvSpPr>
          <p:cNvPr id="23" name="TextBox 22">
            <a:extLst>
              <a:ext uri="{FF2B5EF4-FFF2-40B4-BE49-F238E27FC236}">
                <a16:creationId xmlns:a16="http://schemas.microsoft.com/office/drawing/2014/main" id="{7F130CB4-49D3-659F-04F3-74728FC77290}"/>
              </a:ext>
            </a:extLst>
          </p:cNvPr>
          <p:cNvSpPr txBox="1"/>
          <p:nvPr/>
        </p:nvSpPr>
        <p:spPr>
          <a:xfrm>
            <a:off x="682569" y="3899475"/>
            <a:ext cx="7329305" cy="461665"/>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buFont typeface="Wingdings" panose="05000000000000000000" pitchFamily="2" charset="2"/>
              <a:buChar char="q"/>
            </a:pPr>
            <a:r>
              <a:rPr lang="en-US" sz="1200" dirty="0">
                <a:solidFill>
                  <a:schemeClr val="tx1"/>
                </a:solidFill>
              </a:rPr>
              <a:t>Indices were broadly rangebound, Nifty next 50 marginally higher in 1M period</a:t>
            </a:r>
          </a:p>
          <a:p>
            <a:pPr marL="171450" indent="-171450">
              <a:buFont typeface="Wingdings" panose="05000000000000000000" pitchFamily="2" charset="2"/>
              <a:buChar char="q"/>
            </a:pPr>
            <a:r>
              <a:rPr lang="en-US" sz="1200" dirty="0">
                <a:solidFill>
                  <a:schemeClr val="tx1"/>
                </a:solidFill>
              </a:rPr>
              <a:t>Nifty midcap 50 outperformed in 6M and 1Y period</a:t>
            </a:r>
          </a:p>
        </p:txBody>
      </p:sp>
      <p:sp>
        <p:nvSpPr>
          <p:cNvPr id="2" name="TextBox 1">
            <a:extLst>
              <a:ext uri="{FF2B5EF4-FFF2-40B4-BE49-F238E27FC236}">
                <a16:creationId xmlns:a16="http://schemas.microsoft.com/office/drawing/2014/main" id="{49022C33-E01B-D4DE-077C-B56D31DF0B78}"/>
              </a:ext>
            </a:extLst>
          </p:cNvPr>
          <p:cNvSpPr txBox="1"/>
          <p:nvPr/>
        </p:nvSpPr>
        <p:spPr>
          <a:xfrm>
            <a:off x="682569" y="4551474"/>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pic>
        <p:nvPicPr>
          <p:cNvPr id="3" name="Picture 2">
            <a:extLst>
              <a:ext uri="{FF2B5EF4-FFF2-40B4-BE49-F238E27FC236}">
                <a16:creationId xmlns:a16="http://schemas.microsoft.com/office/drawing/2014/main" id="{71309D57-4824-485D-58C3-6352111D3900}"/>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4" name="Chart 3">
            <a:extLst>
              <a:ext uri="{FF2B5EF4-FFF2-40B4-BE49-F238E27FC236}">
                <a16:creationId xmlns:a16="http://schemas.microsoft.com/office/drawing/2014/main" id="{3E05E245-B646-F070-3C18-3F5B14051407}"/>
              </a:ext>
            </a:extLst>
          </p:cNvPr>
          <p:cNvGraphicFramePr/>
          <p:nvPr>
            <p:extLst>
              <p:ext uri="{D42A27DB-BD31-4B8C-83A1-F6EECF244321}">
                <p14:modId xmlns:p14="http://schemas.microsoft.com/office/powerpoint/2010/main" val="3654546498"/>
              </p:ext>
            </p:extLst>
          </p:nvPr>
        </p:nvGraphicFramePr>
        <p:xfrm>
          <a:off x="682569" y="1155646"/>
          <a:ext cx="7628805" cy="255349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29162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Global Markets (MSCI) – Geopolitical Impact</a:t>
            </a:r>
          </a:p>
        </p:txBody>
      </p:sp>
      <p:grpSp>
        <p:nvGrpSpPr>
          <p:cNvPr id="303" name="Google Shape;303;p7"/>
          <p:cNvGrpSpPr/>
          <p:nvPr/>
        </p:nvGrpSpPr>
        <p:grpSpPr>
          <a:xfrm>
            <a:off x="-25" y="4872600"/>
            <a:ext cx="9144000" cy="270825"/>
            <a:chOff x="-25" y="4872600"/>
            <a:chExt cx="9144000" cy="270825"/>
          </a:xfrm>
        </p:grpSpPr>
        <p:sp>
          <p:nvSpPr>
            <p:cNvPr id="304" name="Google Shape;304;p7"/>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305" name="Google Shape;305;p7"/>
            <p:cNvGrpSpPr/>
            <p:nvPr/>
          </p:nvGrpSpPr>
          <p:grpSpPr>
            <a:xfrm>
              <a:off x="3101100" y="4872600"/>
              <a:ext cx="2941800" cy="270813"/>
              <a:chOff x="3084200" y="4934525"/>
              <a:chExt cx="2941800" cy="270813"/>
            </a:xfrm>
          </p:grpSpPr>
          <p:sp>
            <p:nvSpPr>
              <p:cNvPr id="306" name="Google Shape;306;p7"/>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307" name="Google Shape;307;p7"/>
              <p:cNvSpPr txBox="1"/>
              <p:nvPr/>
            </p:nvSpPr>
            <p:spPr>
              <a:xfrm>
                <a:off x="3126000" y="4934525"/>
                <a:ext cx="2892000" cy="270813"/>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5" name="Rectangle: Rounded Corners 4">
            <a:extLst>
              <a:ext uri="{FF2B5EF4-FFF2-40B4-BE49-F238E27FC236}">
                <a16:creationId xmlns:a16="http://schemas.microsoft.com/office/drawing/2014/main" id="{0AA96379-4720-470F-88B3-AD2818B808BC}"/>
              </a:ext>
            </a:extLst>
          </p:cNvPr>
          <p:cNvSpPr/>
          <p:nvPr/>
        </p:nvSpPr>
        <p:spPr>
          <a:xfrm>
            <a:off x="6831219" y="1273373"/>
            <a:ext cx="2155631" cy="2976645"/>
          </a:xfrm>
          <a:prstGeom prst="round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000" dirty="0">
              <a:solidFill>
                <a:schemeClr val="tx1"/>
              </a:solidFill>
              <a:ea typeface="Calibri" panose="020F0502020204030204" pitchFamily="34" charset="0"/>
              <a:cs typeface="Calibri" panose="020F0502020204030204" pitchFamily="34" charset="0"/>
            </a:endParaRPr>
          </a:p>
          <a:p>
            <a:pPr marL="228594" indent="-228594">
              <a:buFont typeface="Arial" panose="020B0604020202020204" pitchFamily="34" charset="0"/>
              <a:buChar char="•"/>
            </a:pP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Indian market were rangebound  in 1M period, amid cautious FII flows and profit booking</a:t>
            </a:r>
          </a:p>
          <a:p>
            <a:pPr marL="228594" indent="-228594">
              <a:buFont typeface="Arial" panose="020B0604020202020204" pitchFamily="34" charset="0"/>
              <a:buChar char="•"/>
            </a:pPr>
            <a:endPar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28594" indent="-228594">
              <a:buFont typeface="Arial" panose="020B0604020202020204" pitchFamily="34" charset="0"/>
              <a:buChar char="•"/>
            </a:pP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US market was flat  1M period due to geopolitical tensions and weak macros </a:t>
            </a:r>
          </a:p>
          <a:p>
            <a:pPr marL="228594" indent="-228594">
              <a:buFont typeface="Arial" panose="020B0604020202020204" pitchFamily="34" charset="0"/>
              <a:buChar char="•"/>
            </a:pPr>
            <a:endPar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28594" indent="-228594">
              <a:buFont typeface="Arial" panose="020B0604020202020204" pitchFamily="34" charset="0"/>
              <a:buChar char="•"/>
            </a:pP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Japan market rallied in 1M period on pro-growth policy expectations &amp; expansionary fiscal measures</a:t>
            </a:r>
          </a:p>
        </p:txBody>
      </p:sp>
      <p:sp>
        <p:nvSpPr>
          <p:cNvPr id="15" name="TextBox 14">
            <a:extLst>
              <a:ext uri="{FF2B5EF4-FFF2-40B4-BE49-F238E27FC236}">
                <a16:creationId xmlns:a16="http://schemas.microsoft.com/office/drawing/2014/main" id="{447CB0E5-BA9F-45F0-81D3-DB9AE1142DBF}"/>
              </a:ext>
            </a:extLst>
          </p:cNvPr>
          <p:cNvSpPr txBox="1"/>
          <p:nvPr/>
        </p:nvSpPr>
        <p:spPr>
          <a:xfrm>
            <a:off x="6403508" y="4457477"/>
            <a:ext cx="2155631" cy="33855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Data Source: MSCI.com </a:t>
            </a:r>
          </a:p>
          <a:p>
            <a:pPr algn="r"/>
            <a:r>
              <a:rPr lang="en-US" sz="800" i="1" dirty="0">
                <a:latin typeface="Calibri" panose="020F0502020204030204" pitchFamily="34" charset="0"/>
                <a:ea typeface="Calibri" panose="020F0502020204030204" pitchFamily="34" charset="0"/>
                <a:cs typeface="Calibri" panose="020F0502020204030204" pitchFamily="34" charset="0"/>
              </a:rPr>
              <a:t>As on 27</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February 2026</a:t>
            </a:r>
            <a:endParaRPr lang="en-US" sz="800" i="1"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F41831E-D521-8F5E-75B5-D6D398F7667E}"/>
              </a:ext>
            </a:extLst>
          </p:cNvPr>
          <p:cNvSpPr txBox="1"/>
          <p:nvPr/>
        </p:nvSpPr>
        <p:spPr>
          <a:xfrm>
            <a:off x="568269" y="4453587"/>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pic>
        <p:nvPicPr>
          <p:cNvPr id="4" name="Picture 3">
            <a:extLst>
              <a:ext uri="{FF2B5EF4-FFF2-40B4-BE49-F238E27FC236}">
                <a16:creationId xmlns:a16="http://schemas.microsoft.com/office/drawing/2014/main" id="{12AE9FA2-0C1B-4FE7-AD48-1ABE2A13A020}"/>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6" name="Chart 5">
            <a:extLst>
              <a:ext uri="{FF2B5EF4-FFF2-40B4-BE49-F238E27FC236}">
                <a16:creationId xmlns:a16="http://schemas.microsoft.com/office/drawing/2014/main" id="{A8C7CE5C-034F-EF99-9D59-34D688AEFDEF}"/>
              </a:ext>
            </a:extLst>
          </p:cNvPr>
          <p:cNvGraphicFramePr/>
          <p:nvPr>
            <p:extLst>
              <p:ext uri="{D42A27DB-BD31-4B8C-83A1-F6EECF244321}">
                <p14:modId xmlns:p14="http://schemas.microsoft.com/office/powerpoint/2010/main" val="559146048"/>
              </p:ext>
            </p:extLst>
          </p:nvPr>
        </p:nvGraphicFramePr>
        <p:xfrm>
          <a:off x="720000" y="1273373"/>
          <a:ext cx="6037146" cy="297664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7000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943FA56-3EC3-5F26-510E-277BA938C136}"/>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87388122-676B-4BBA-1DE6-D9125CA53E4E}"/>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Crude &amp; Freight prices surge ahead of Middle East conflict</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647231B-DD99-A965-E8D2-F2FADFE91E4D}"/>
              </a:ext>
            </a:extLst>
          </p:cNvPr>
          <p:cNvSpPr txBox="1"/>
          <p:nvPr/>
        </p:nvSpPr>
        <p:spPr>
          <a:xfrm>
            <a:off x="7202201" y="4421964"/>
            <a:ext cx="1807356" cy="461665"/>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JM Financials research</a:t>
            </a:r>
          </a:p>
          <a:p>
            <a:pPr algn="just"/>
            <a:r>
              <a:rPr lang="en-US" sz="800" dirty="0">
                <a:latin typeface="+mn-lt"/>
                <a:ea typeface="Calibri" panose="020F0502020204030204" pitchFamily="34" charset="0"/>
                <a:cs typeface="Calibri" panose="020F0502020204030204" pitchFamily="34" charset="0"/>
              </a:rPr>
              <a:t>Brent Crude, freight data as on 5th March,2026</a:t>
            </a:r>
            <a:endParaRPr lang="en-IN" sz="8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BDBCE0D-4000-B259-19CF-9BFCD47C3178}"/>
              </a:ext>
            </a:extLst>
          </p:cNvPr>
          <p:cNvSpPr txBox="1"/>
          <p:nvPr/>
        </p:nvSpPr>
        <p:spPr>
          <a:xfrm>
            <a:off x="646412" y="3603451"/>
            <a:ext cx="5516496"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50" indent="-285750">
              <a:lnSpc>
                <a:spcPct val="150000"/>
              </a:lnSpc>
              <a:buFont typeface="Wingdings" panose="05000000000000000000" pitchFamily="2" charset="2"/>
              <a:buChar char="q"/>
            </a:pPr>
            <a:r>
              <a:rPr lang="en-US" dirty="0">
                <a:solidFill>
                  <a:schemeClr val="tx1"/>
                </a:solidFill>
              </a:rPr>
              <a:t>Brent Crude oil up +30% since Jan-26</a:t>
            </a:r>
          </a:p>
          <a:p>
            <a:pPr marL="285750" indent="-285750">
              <a:lnSpc>
                <a:spcPct val="150000"/>
              </a:lnSpc>
              <a:buFont typeface="Wingdings" panose="05000000000000000000" pitchFamily="2" charset="2"/>
              <a:buChar char="q"/>
            </a:pPr>
            <a:r>
              <a:rPr lang="en-US" dirty="0">
                <a:solidFill>
                  <a:schemeClr val="tx1"/>
                </a:solidFill>
              </a:rPr>
              <a:t>Freight cost surged by 46% since mid Jan-26 </a:t>
            </a:r>
          </a:p>
        </p:txBody>
      </p:sp>
      <p:grpSp>
        <p:nvGrpSpPr>
          <p:cNvPr id="2" name="Google Shape;262;p6">
            <a:extLst>
              <a:ext uri="{FF2B5EF4-FFF2-40B4-BE49-F238E27FC236}">
                <a16:creationId xmlns:a16="http://schemas.microsoft.com/office/drawing/2014/main" id="{5B56BC42-9932-4D03-3E15-17FBD61FD981}"/>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02171DE-246C-80F0-DD5E-80B7D9F1D02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DB304AE2-0A38-E7B6-5BA2-0EC7AE4F02E4}"/>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4C62877C-1E93-0AC3-C4BD-ABEA1249AD3E}"/>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D90AA9AA-7A8B-90E5-B518-4FF7C6D73110}"/>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10B6BC46-6056-6C0E-26C0-64CFD42793BE}"/>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12" name="Picture 11">
            <a:extLst>
              <a:ext uri="{FF2B5EF4-FFF2-40B4-BE49-F238E27FC236}">
                <a16:creationId xmlns:a16="http://schemas.microsoft.com/office/drawing/2014/main" id="{199D85D1-5ADC-828D-B058-429370D51100}"/>
              </a:ext>
            </a:extLst>
          </p:cNvPr>
          <p:cNvPicPr>
            <a:picLocks noChangeAspect="1"/>
          </p:cNvPicPr>
          <p:nvPr/>
        </p:nvPicPr>
        <p:blipFill>
          <a:blip r:embed="rId4"/>
          <a:srcRect t="8331"/>
          <a:stretch>
            <a:fillRect/>
          </a:stretch>
        </p:blipFill>
        <p:spPr>
          <a:xfrm>
            <a:off x="646412" y="1222530"/>
            <a:ext cx="3793805" cy="2022088"/>
          </a:xfrm>
          <a:prstGeom prst="rect">
            <a:avLst/>
          </a:prstGeom>
          <a:ln>
            <a:solidFill>
              <a:schemeClr val="tx1"/>
            </a:solidFill>
          </a:ln>
        </p:spPr>
      </p:pic>
      <p:pic>
        <p:nvPicPr>
          <p:cNvPr id="15" name="Picture 14">
            <a:extLst>
              <a:ext uri="{FF2B5EF4-FFF2-40B4-BE49-F238E27FC236}">
                <a16:creationId xmlns:a16="http://schemas.microsoft.com/office/drawing/2014/main" id="{2FE2D010-9504-6CC6-1D2F-400BF6340A2A}"/>
              </a:ext>
            </a:extLst>
          </p:cNvPr>
          <p:cNvPicPr>
            <a:picLocks noChangeAspect="1"/>
          </p:cNvPicPr>
          <p:nvPr/>
        </p:nvPicPr>
        <p:blipFill>
          <a:blip r:embed="rId5"/>
          <a:srcRect t="5498"/>
          <a:stretch>
            <a:fillRect/>
          </a:stretch>
        </p:blipFill>
        <p:spPr>
          <a:xfrm>
            <a:off x="5119588" y="1216180"/>
            <a:ext cx="3439505" cy="2084569"/>
          </a:xfrm>
          <a:prstGeom prst="rect">
            <a:avLst/>
          </a:prstGeom>
          <a:ln>
            <a:solidFill>
              <a:schemeClr val="tx1"/>
            </a:solidFill>
          </a:ln>
        </p:spPr>
      </p:pic>
    </p:spTree>
    <p:extLst>
      <p:ext uri="{BB962C8B-B14F-4D97-AF65-F5344CB8AC3E}">
        <p14:creationId xmlns:p14="http://schemas.microsoft.com/office/powerpoint/2010/main" val="1310118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94BC463-F05C-8767-83B9-C18BAE31FADE}"/>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4D48D9ED-921D-6EA5-EB6B-CC71F167873B}"/>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Strait of Hormuz – Strategic oil route</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1279F9D-8A3E-B062-0799-FB1B6EB5CEE8}"/>
              </a:ext>
            </a:extLst>
          </p:cNvPr>
          <p:cNvSpPr txBox="1"/>
          <p:nvPr/>
        </p:nvSpPr>
        <p:spPr>
          <a:xfrm>
            <a:off x="2039465" y="3773351"/>
            <a:ext cx="5098869"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lnSpc>
                <a:spcPct val="150000"/>
              </a:lnSpc>
              <a:buFont typeface="Wingdings" panose="05000000000000000000" pitchFamily="2" charset="2"/>
              <a:buChar char="q"/>
            </a:pPr>
            <a:r>
              <a:rPr lang="en-US" dirty="0">
                <a:solidFill>
                  <a:schemeClr val="tx1"/>
                </a:solidFill>
              </a:rPr>
              <a:t>SOH is the key oil route for global oil &amp; LNG exports</a:t>
            </a:r>
          </a:p>
          <a:p>
            <a:pPr marL="171450" indent="-171450">
              <a:lnSpc>
                <a:spcPct val="150000"/>
              </a:lnSpc>
              <a:buFont typeface="Wingdings" panose="05000000000000000000" pitchFamily="2" charset="2"/>
              <a:buChar char="q"/>
            </a:pPr>
            <a:r>
              <a:rPr lang="en-US" dirty="0">
                <a:solidFill>
                  <a:schemeClr val="tx1"/>
                </a:solidFill>
              </a:rPr>
              <a:t>27% of total global  oil demand flows through Strait of Hormuz</a:t>
            </a:r>
          </a:p>
        </p:txBody>
      </p:sp>
      <p:grpSp>
        <p:nvGrpSpPr>
          <p:cNvPr id="2" name="Google Shape;262;p6">
            <a:extLst>
              <a:ext uri="{FF2B5EF4-FFF2-40B4-BE49-F238E27FC236}">
                <a16:creationId xmlns:a16="http://schemas.microsoft.com/office/drawing/2014/main" id="{EB61E887-B653-6F1E-467C-17DD0296B3E1}"/>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6EEFCED2-7955-212E-EC4B-BA11BAA92882}"/>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248C409B-6780-1B41-3496-3115CB7D924D}"/>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D55171D4-5934-246F-5C8E-84A78D45E5A5}"/>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EF8B8034-032D-755E-1E3C-470696D4C42C}"/>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A6FCA60E-A707-C3B1-4E9E-676315FC4B42}"/>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5" name="TextBox 14">
            <a:extLst>
              <a:ext uri="{FF2B5EF4-FFF2-40B4-BE49-F238E27FC236}">
                <a16:creationId xmlns:a16="http://schemas.microsoft.com/office/drawing/2014/main" id="{9C0D108D-2D1C-ECB5-7FC1-1F8B4957AF30}"/>
              </a:ext>
            </a:extLst>
          </p:cNvPr>
          <p:cNvSpPr txBox="1"/>
          <p:nvPr/>
        </p:nvSpPr>
        <p:spPr>
          <a:xfrm>
            <a:off x="7631079" y="4681241"/>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JM Financials research</a:t>
            </a:r>
          </a:p>
        </p:txBody>
      </p:sp>
      <p:pic>
        <p:nvPicPr>
          <p:cNvPr id="7" name="Picture 6">
            <a:extLst>
              <a:ext uri="{FF2B5EF4-FFF2-40B4-BE49-F238E27FC236}">
                <a16:creationId xmlns:a16="http://schemas.microsoft.com/office/drawing/2014/main" id="{5A975931-85F5-E56C-AAEF-0360AA164F27}"/>
              </a:ext>
            </a:extLst>
          </p:cNvPr>
          <p:cNvPicPr>
            <a:picLocks noChangeAspect="1"/>
          </p:cNvPicPr>
          <p:nvPr/>
        </p:nvPicPr>
        <p:blipFill>
          <a:blip r:embed="rId4"/>
          <a:stretch>
            <a:fillRect/>
          </a:stretch>
        </p:blipFill>
        <p:spPr>
          <a:xfrm>
            <a:off x="3456638" y="1201389"/>
            <a:ext cx="2586262" cy="2161771"/>
          </a:xfrm>
          <a:prstGeom prst="rect">
            <a:avLst/>
          </a:prstGeom>
          <a:ln>
            <a:solidFill>
              <a:schemeClr val="tx1"/>
            </a:solidFill>
          </a:ln>
        </p:spPr>
      </p:pic>
      <p:pic>
        <p:nvPicPr>
          <p:cNvPr id="13" name="Picture 12">
            <a:extLst>
              <a:ext uri="{FF2B5EF4-FFF2-40B4-BE49-F238E27FC236}">
                <a16:creationId xmlns:a16="http://schemas.microsoft.com/office/drawing/2014/main" id="{8C5C0A31-78B4-AAC0-6DA4-0327967A5AF3}"/>
              </a:ext>
            </a:extLst>
          </p:cNvPr>
          <p:cNvPicPr>
            <a:picLocks noChangeAspect="1"/>
          </p:cNvPicPr>
          <p:nvPr/>
        </p:nvPicPr>
        <p:blipFill>
          <a:blip r:embed="rId5"/>
          <a:stretch>
            <a:fillRect/>
          </a:stretch>
        </p:blipFill>
        <p:spPr>
          <a:xfrm>
            <a:off x="605789" y="1211722"/>
            <a:ext cx="2736669" cy="2188273"/>
          </a:xfrm>
          <a:prstGeom prst="rect">
            <a:avLst/>
          </a:prstGeom>
          <a:ln>
            <a:solidFill>
              <a:schemeClr val="tx1"/>
            </a:solidFill>
          </a:ln>
        </p:spPr>
      </p:pic>
      <p:pic>
        <p:nvPicPr>
          <p:cNvPr id="17" name="Picture 16">
            <a:extLst>
              <a:ext uri="{FF2B5EF4-FFF2-40B4-BE49-F238E27FC236}">
                <a16:creationId xmlns:a16="http://schemas.microsoft.com/office/drawing/2014/main" id="{3E96771B-89FC-CE1D-8653-47A4D0684659}"/>
              </a:ext>
            </a:extLst>
          </p:cNvPr>
          <p:cNvPicPr>
            <a:picLocks noChangeAspect="1"/>
          </p:cNvPicPr>
          <p:nvPr/>
        </p:nvPicPr>
        <p:blipFill>
          <a:blip r:embed="rId6"/>
          <a:stretch>
            <a:fillRect/>
          </a:stretch>
        </p:blipFill>
        <p:spPr>
          <a:xfrm>
            <a:off x="6271260" y="1201389"/>
            <a:ext cx="2606280" cy="2141103"/>
          </a:xfrm>
          <a:prstGeom prst="rect">
            <a:avLst/>
          </a:prstGeom>
          <a:ln>
            <a:solidFill>
              <a:schemeClr val="tx1"/>
            </a:solidFill>
          </a:ln>
        </p:spPr>
      </p:pic>
    </p:spTree>
    <p:extLst>
      <p:ext uri="{BB962C8B-B14F-4D97-AF65-F5344CB8AC3E}">
        <p14:creationId xmlns:p14="http://schemas.microsoft.com/office/powerpoint/2010/main" val="612810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9570945-1413-F9B1-BA44-017632043F5C}"/>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6744CACB-D13D-FFB3-9A46-6000EA132522}"/>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India’s crude oil supply</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7A6828B-0012-F876-BC7B-EE4D2655516A}"/>
              </a:ext>
            </a:extLst>
          </p:cNvPr>
          <p:cNvSpPr txBox="1"/>
          <p:nvPr/>
        </p:nvSpPr>
        <p:spPr>
          <a:xfrm>
            <a:off x="5562600" y="1526682"/>
            <a:ext cx="3189781" cy="2044086"/>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lnSpc>
                <a:spcPct val="150000"/>
              </a:lnSpc>
              <a:buFont typeface="Wingdings" panose="05000000000000000000" pitchFamily="2" charset="2"/>
              <a:buChar char="q"/>
            </a:pPr>
            <a:r>
              <a:rPr lang="en-US" sz="1200" dirty="0">
                <a:solidFill>
                  <a:schemeClr val="tx1"/>
                </a:solidFill>
              </a:rPr>
              <a:t>India’s crude oil imports from Russia fell to ~$1.98 bn in Jan‑26, down to ~15% of total imports from 33% in May‑25</a:t>
            </a:r>
          </a:p>
          <a:p>
            <a:pPr marL="171450" indent="-171450">
              <a:lnSpc>
                <a:spcPct val="150000"/>
              </a:lnSpc>
              <a:buFont typeface="Wingdings" panose="05000000000000000000" pitchFamily="2" charset="2"/>
              <a:buChar char="q"/>
            </a:pPr>
            <a:endParaRPr lang="en-US" sz="1200" dirty="0">
              <a:solidFill>
                <a:schemeClr val="tx1"/>
              </a:solidFill>
            </a:endParaRPr>
          </a:p>
          <a:p>
            <a:pPr marL="171450" indent="-171450">
              <a:lnSpc>
                <a:spcPct val="150000"/>
              </a:lnSpc>
              <a:buFont typeface="Wingdings" panose="05000000000000000000" pitchFamily="2" charset="2"/>
              <a:buChar char="q"/>
            </a:pPr>
            <a:r>
              <a:rPr lang="en-US" sz="1200" dirty="0">
                <a:solidFill>
                  <a:schemeClr val="tx1"/>
                </a:solidFill>
              </a:rPr>
              <a:t>Middle East accounts for over 55% of India’s oil imports, post US sanctions on Russia </a:t>
            </a:r>
          </a:p>
          <a:p>
            <a:pPr>
              <a:lnSpc>
                <a:spcPct val="150000"/>
              </a:lnSpc>
            </a:pPr>
            <a:endParaRPr lang="en-US" dirty="0">
              <a:solidFill>
                <a:schemeClr val="tx1"/>
              </a:solidFill>
            </a:endParaRPr>
          </a:p>
        </p:txBody>
      </p:sp>
      <p:grpSp>
        <p:nvGrpSpPr>
          <p:cNvPr id="2" name="Google Shape;262;p6">
            <a:extLst>
              <a:ext uri="{FF2B5EF4-FFF2-40B4-BE49-F238E27FC236}">
                <a16:creationId xmlns:a16="http://schemas.microsoft.com/office/drawing/2014/main" id="{E3CD1CB6-5A9D-0B72-AAA1-D6693E3D5324}"/>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B792EE3F-94AE-305D-4327-284ABDCECF1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86FFFBCD-076F-1721-14D9-C832E2A235A5}"/>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8E3A940A-D0E7-F612-E1CC-0ABE391AFD87}"/>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7FDF42C8-4069-6117-7472-EEC7DEBAC1E2}"/>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704F1BB7-D1D6-E339-C2D1-642740D3687E}"/>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5" name="TextBox 14">
            <a:extLst>
              <a:ext uri="{FF2B5EF4-FFF2-40B4-BE49-F238E27FC236}">
                <a16:creationId xmlns:a16="http://schemas.microsoft.com/office/drawing/2014/main" id="{046EC0B2-DBAF-4778-2CCF-74930DE475BF}"/>
              </a:ext>
            </a:extLst>
          </p:cNvPr>
          <p:cNvSpPr txBox="1"/>
          <p:nvPr/>
        </p:nvSpPr>
        <p:spPr>
          <a:xfrm>
            <a:off x="7631079" y="4681241"/>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JM Financials research</a:t>
            </a:r>
          </a:p>
        </p:txBody>
      </p:sp>
      <p:pic>
        <p:nvPicPr>
          <p:cNvPr id="11" name="Picture 10">
            <a:extLst>
              <a:ext uri="{FF2B5EF4-FFF2-40B4-BE49-F238E27FC236}">
                <a16:creationId xmlns:a16="http://schemas.microsoft.com/office/drawing/2014/main" id="{29564D23-AD12-10E3-9AE4-1CFEC3A09EB9}"/>
              </a:ext>
            </a:extLst>
          </p:cNvPr>
          <p:cNvPicPr>
            <a:picLocks noChangeAspect="1"/>
          </p:cNvPicPr>
          <p:nvPr/>
        </p:nvPicPr>
        <p:blipFill>
          <a:blip r:embed="rId4"/>
          <a:stretch>
            <a:fillRect/>
          </a:stretch>
        </p:blipFill>
        <p:spPr>
          <a:xfrm>
            <a:off x="821871" y="1311284"/>
            <a:ext cx="4016829" cy="2855060"/>
          </a:xfrm>
          <a:prstGeom prst="rect">
            <a:avLst/>
          </a:prstGeom>
          <a:ln>
            <a:solidFill>
              <a:schemeClr val="tx1"/>
            </a:solidFill>
          </a:ln>
        </p:spPr>
      </p:pic>
    </p:spTree>
    <p:extLst>
      <p:ext uri="{BB962C8B-B14F-4D97-AF65-F5344CB8AC3E}">
        <p14:creationId xmlns:p14="http://schemas.microsoft.com/office/powerpoint/2010/main" val="1859860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4E497EF-50A4-2DFB-5A27-7F5F1019B260}"/>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D58CF9A7-037F-6C4D-EBB3-0CF326A2F698}"/>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India has reduced oil import dependence</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38001A2-DB08-F11F-DD89-86C7333F80F4}"/>
              </a:ext>
            </a:extLst>
          </p:cNvPr>
          <p:cNvSpPr txBox="1"/>
          <p:nvPr/>
        </p:nvSpPr>
        <p:spPr>
          <a:xfrm>
            <a:off x="623750" y="3979181"/>
            <a:ext cx="3780610" cy="617733"/>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sz="1200" dirty="0">
                <a:solidFill>
                  <a:schemeClr val="tx1"/>
                </a:solidFill>
              </a:rPr>
              <a:t>India’s oil share in total imports has dropped from 36.7% in FY14 to 23.1% in FY26</a:t>
            </a:r>
          </a:p>
        </p:txBody>
      </p:sp>
      <p:grpSp>
        <p:nvGrpSpPr>
          <p:cNvPr id="2" name="Google Shape;262;p6">
            <a:extLst>
              <a:ext uri="{FF2B5EF4-FFF2-40B4-BE49-F238E27FC236}">
                <a16:creationId xmlns:a16="http://schemas.microsoft.com/office/drawing/2014/main" id="{AB58A97F-9D4C-6549-7DF9-4633F10F5C43}"/>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16711EB5-B453-3120-3FF0-95787D46C14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86B6A1EC-7BEE-7FB4-7451-AEE2E218CDE3}"/>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29C1DFE0-A8CB-6406-0922-FD1F2662770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4042C9F7-D7BD-3F69-54F5-FEC565C41B6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3C41375B-B1B1-E7C8-225B-5FEE09B6B538}"/>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5" name="TextBox 14">
            <a:extLst>
              <a:ext uri="{FF2B5EF4-FFF2-40B4-BE49-F238E27FC236}">
                <a16:creationId xmlns:a16="http://schemas.microsoft.com/office/drawing/2014/main" id="{29AA2154-F5E3-D089-441B-BA3451AE8B79}"/>
              </a:ext>
            </a:extLst>
          </p:cNvPr>
          <p:cNvSpPr txBox="1"/>
          <p:nvPr/>
        </p:nvSpPr>
        <p:spPr>
          <a:xfrm>
            <a:off x="7631079" y="4681241"/>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JM Financials research</a:t>
            </a:r>
          </a:p>
        </p:txBody>
      </p:sp>
      <p:pic>
        <p:nvPicPr>
          <p:cNvPr id="7" name="Picture 6">
            <a:extLst>
              <a:ext uri="{FF2B5EF4-FFF2-40B4-BE49-F238E27FC236}">
                <a16:creationId xmlns:a16="http://schemas.microsoft.com/office/drawing/2014/main" id="{A90C4CAE-725D-2759-BD0C-7515D80A7B85}"/>
              </a:ext>
            </a:extLst>
          </p:cNvPr>
          <p:cNvPicPr>
            <a:picLocks noChangeAspect="1"/>
          </p:cNvPicPr>
          <p:nvPr/>
        </p:nvPicPr>
        <p:blipFill>
          <a:blip r:embed="rId4"/>
          <a:stretch>
            <a:fillRect/>
          </a:stretch>
        </p:blipFill>
        <p:spPr>
          <a:xfrm>
            <a:off x="555171" y="1222632"/>
            <a:ext cx="3676910" cy="2480863"/>
          </a:xfrm>
          <a:prstGeom prst="rect">
            <a:avLst/>
          </a:prstGeom>
          <a:ln>
            <a:solidFill>
              <a:schemeClr val="tx1"/>
            </a:solidFill>
          </a:ln>
        </p:spPr>
      </p:pic>
      <p:pic>
        <p:nvPicPr>
          <p:cNvPr id="13" name="Picture 12">
            <a:extLst>
              <a:ext uri="{FF2B5EF4-FFF2-40B4-BE49-F238E27FC236}">
                <a16:creationId xmlns:a16="http://schemas.microsoft.com/office/drawing/2014/main" id="{E2A19948-9B12-8B9B-8B71-CF6140F7A989}"/>
              </a:ext>
            </a:extLst>
          </p:cNvPr>
          <p:cNvPicPr>
            <a:picLocks noChangeAspect="1"/>
          </p:cNvPicPr>
          <p:nvPr/>
        </p:nvPicPr>
        <p:blipFill>
          <a:blip r:embed="rId5"/>
          <a:stretch>
            <a:fillRect/>
          </a:stretch>
        </p:blipFill>
        <p:spPr>
          <a:xfrm>
            <a:off x="4756339" y="1234615"/>
            <a:ext cx="3778418" cy="2468880"/>
          </a:xfrm>
          <a:prstGeom prst="rect">
            <a:avLst/>
          </a:prstGeom>
          <a:ln>
            <a:solidFill>
              <a:schemeClr val="tx1"/>
            </a:solidFill>
          </a:ln>
        </p:spPr>
      </p:pic>
      <p:sp>
        <p:nvSpPr>
          <p:cNvPr id="14" name="TextBox 13">
            <a:extLst>
              <a:ext uri="{FF2B5EF4-FFF2-40B4-BE49-F238E27FC236}">
                <a16:creationId xmlns:a16="http://schemas.microsoft.com/office/drawing/2014/main" id="{F1244C1F-6AA1-1FD0-0FCE-B25BCDE12958}"/>
              </a:ext>
            </a:extLst>
          </p:cNvPr>
          <p:cNvSpPr txBox="1"/>
          <p:nvPr/>
        </p:nvSpPr>
        <p:spPr>
          <a:xfrm>
            <a:off x="4756339" y="3971081"/>
            <a:ext cx="3778418" cy="617733"/>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sz="1200" dirty="0">
                <a:solidFill>
                  <a:schemeClr val="tx1"/>
                </a:solidFill>
              </a:rPr>
              <a:t>India’s oil imports % of GDP has dropped from 8.9% to 4.3% as on FY25</a:t>
            </a:r>
          </a:p>
        </p:txBody>
      </p:sp>
    </p:spTree>
    <p:extLst>
      <p:ext uri="{BB962C8B-B14F-4D97-AF65-F5344CB8AC3E}">
        <p14:creationId xmlns:p14="http://schemas.microsoft.com/office/powerpoint/2010/main" val="931375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3FF8B99-5BB7-55C6-D55C-878849BF00E4}"/>
            </a:ext>
          </a:extLst>
        </p:cNvPr>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1A1213E2-D655-5E7F-DB41-284EDB1ABA6C}"/>
              </a:ext>
            </a:extLst>
          </p:cNvPr>
          <p:cNvGraphicFramePr>
            <a:graphicFrameLocks noGrp="1"/>
          </p:cNvGraphicFramePr>
          <p:nvPr>
            <p:extLst>
              <p:ext uri="{D42A27DB-BD31-4B8C-83A1-F6EECF244321}">
                <p14:modId xmlns:p14="http://schemas.microsoft.com/office/powerpoint/2010/main" val="2585777276"/>
              </p:ext>
            </p:extLst>
          </p:nvPr>
        </p:nvGraphicFramePr>
        <p:xfrm>
          <a:off x="719998" y="1355691"/>
          <a:ext cx="8067658" cy="2409580"/>
        </p:xfrm>
        <a:graphic>
          <a:graphicData uri="http://schemas.openxmlformats.org/drawingml/2006/table">
            <a:tbl>
              <a:tblPr/>
              <a:tblGrid>
                <a:gridCol w="604132">
                  <a:extLst>
                    <a:ext uri="{9D8B030D-6E8A-4147-A177-3AD203B41FA5}">
                      <a16:colId xmlns:a16="http://schemas.microsoft.com/office/drawing/2014/main" val="624211874"/>
                    </a:ext>
                  </a:extLst>
                </a:gridCol>
                <a:gridCol w="653653">
                  <a:extLst>
                    <a:ext uri="{9D8B030D-6E8A-4147-A177-3AD203B41FA5}">
                      <a16:colId xmlns:a16="http://schemas.microsoft.com/office/drawing/2014/main" val="2337598546"/>
                    </a:ext>
                  </a:extLst>
                </a:gridCol>
                <a:gridCol w="534808">
                  <a:extLst>
                    <a:ext uri="{9D8B030D-6E8A-4147-A177-3AD203B41FA5}">
                      <a16:colId xmlns:a16="http://schemas.microsoft.com/office/drawing/2014/main" val="2801850226"/>
                    </a:ext>
                  </a:extLst>
                </a:gridCol>
                <a:gridCol w="690902">
                  <a:extLst>
                    <a:ext uri="{9D8B030D-6E8A-4147-A177-3AD203B41FA5}">
                      <a16:colId xmlns:a16="http://schemas.microsoft.com/office/drawing/2014/main" val="463315111"/>
                    </a:ext>
                  </a:extLst>
                </a:gridCol>
                <a:gridCol w="583924">
                  <a:extLst>
                    <a:ext uri="{9D8B030D-6E8A-4147-A177-3AD203B41FA5}">
                      <a16:colId xmlns:a16="http://schemas.microsoft.com/office/drawing/2014/main" val="1184091386"/>
                    </a:ext>
                  </a:extLst>
                </a:gridCol>
                <a:gridCol w="579153">
                  <a:extLst>
                    <a:ext uri="{9D8B030D-6E8A-4147-A177-3AD203B41FA5}">
                      <a16:colId xmlns:a16="http://schemas.microsoft.com/office/drawing/2014/main" val="2139231602"/>
                    </a:ext>
                  </a:extLst>
                </a:gridCol>
                <a:gridCol w="597316">
                  <a:extLst>
                    <a:ext uri="{9D8B030D-6E8A-4147-A177-3AD203B41FA5}">
                      <a16:colId xmlns:a16="http://schemas.microsoft.com/office/drawing/2014/main" val="3413373166"/>
                    </a:ext>
                  </a:extLst>
                </a:gridCol>
                <a:gridCol w="604157">
                  <a:extLst>
                    <a:ext uri="{9D8B030D-6E8A-4147-A177-3AD203B41FA5}">
                      <a16:colId xmlns:a16="http://schemas.microsoft.com/office/drawing/2014/main" val="1913518683"/>
                    </a:ext>
                  </a:extLst>
                </a:gridCol>
                <a:gridCol w="608047">
                  <a:extLst>
                    <a:ext uri="{9D8B030D-6E8A-4147-A177-3AD203B41FA5}">
                      <a16:colId xmlns:a16="http://schemas.microsoft.com/office/drawing/2014/main" val="3186044143"/>
                    </a:ext>
                  </a:extLst>
                </a:gridCol>
                <a:gridCol w="562098">
                  <a:extLst>
                    <a:ext uri="{9D8B030D-6E8A-4147-A177-3AD203B41FA5}">
                      <a16:colId xmlns:a16="http://schemas.microsoft.com/office/drawing/2014/main" val="139409997"/>
                    </a:ext>
                  </a:extLst>
                </a:gridCol>
                <a:gridCol w="609669">
                  <a:extLst>
                    <a:ext uri="{9D8B030D-6E8A-4147-A177-3AD203B41FA5}">
                      <a16:colId xmlns:a16="http://schemas.microsoft.com/office/drawing/2014/main" val="2108164566"/>
                    </a:ext>
                  </a:extLst>
                </a:gridCol>
                <a:gridCol w="604461">
                  <a:extLst>
                    <a:ext uri="{9D8B030D-6E8A-4147-A177-3AD203B41FA5}">
                      <a16:colId xmlns:a16="http://schemas.microsoft.com/office/drawing/2014/main" val="3496611585"/>
                    </a:ext>
                  </a:extLst>
                </a:gridCol>
                <a:gridCol w="835338">
                  <a:extLst>
                    <a:ext uri="{9D8B030D-6E8A-4147-A177-3AD203B41FA5}">
                      <a16:colId xmlns:a16="http://schemas.microsoft.com/office/drawing/2014/main" val="1482322004"/>
                    </a:ext>
                  </a:extLst>
                </a:gridCol>
              </a:tblGrid>
              <a:tr h="66069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Period</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Auto</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Bank</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Consumer Durables</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CPSE</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FMCG</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Pharma</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IT</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Metal</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Oil &amp; Gas</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Realty</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algn="ctr" defTabSz="914400" rtl="0" eaLnBrk="1" fontAlgn="b" latinLnBrk="0" hangingPunct="1"/>
                      <a:r>
                        <a:rPr lang="en-US" sz="1100" b="1"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Nifty Energy</a:t>
                      </a: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algn="ctr" defTabSz="914400" rtl="0" eaLnBrk="1" fontAlgn="b" latinLnBrk="0" hangingPunct="1"/>
                      <a:r>
                        <a:rPr lang="en-US" sz="1100" b="1"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Nifty Commodities</a:t>
                      </a: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4013886"/>
                  </a:ext>
                </a:extLst>
              </a:tr>
              <a:tr h="386988">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1M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5%</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9%</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0%</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6%</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-20%</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0%</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5%</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3826171"/>
                  </a:ext>
                </a:extLst>
              </a:tr>
              <a:tr h="439084">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3M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11%</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8%</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0%</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-18%</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19%</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-14%</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8%</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extLst>
                  <a:ext uri="{0D108BD9-81ED-4DB2-BD59-A6C34878D82A}">
                    <a16:rowId xmlns:a16="http://schemas.microsoft.com/office/drawing/2014/main" val="3715848493"/>
                  </a:ext>
                </a:extLst>
              </a:tr>
              <a:tr h="46140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6M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13%</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14%</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15%</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-9%</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5%</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-13%</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34%</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14%</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-10%</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10%</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16%</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983413"/>
                  </a:ext>
                </a:extLst>
              </a:tr>
              <a:tr h="46140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1Y</a:t>
                      </a: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37%</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27%</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9%</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32%</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16%</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-18%</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49%</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28%</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23%</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31%</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3294774"/>
                  </a:ext>
                </a:extLst>
              </a:tr>
            </a:tbl>
          </a:graphicData>
        </a:graphic>
      </p:graphicFrame>
      <p:sp>
        <p:nvSpPr>
          <p:cNvPr id="301" name="Google Shape;301;p7">
            <a:extLst>
              <a:ext uri="{FF2B5EF4-FFF2-40B4-BE49-F238E27FC236}">
                <a16:creationId xmlns:a16="http://schemas.microsoft.com/office/drawing/2014/main" id="{A91D3CF5-2B1E-DA21-B37A-ACBF655A90BF}"/>
              </a:ext>
            </a:extLst>
          </p:cNvPr>
          <p:cNvSpPr txBox="1">
            <a:spLocks noGrp="1"/>
          </p:cNvSpPr>
          <p:nvPr>
            <p:ph type="title"/>
          </p:nvPr>
        </p:nvSpPr>
        <p:spPr>
          <a:xfrm>
            <a:off x="719998" y="445025"/>
            <a:ext cx="5257220"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 Indices performance – Feb-26</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37761202-B856-E71E-B2E4-1E4C539FD6DB}"/>
              </a:ext>
            </a:extLst>
          </p:cNvPr>
          <p:cNvSpPr txBox="1"/>
          <p:nvPr/>
        </p:nvSpPr>
        <p:spPr>
          <a:xfrm>
            <a:off x="6857030" y="4550246"/>
            <a:ext cx="2155631" cy="338554"/>
          </a:xfrm>
          <a:prstGeom prst="rect">
            <a:avLst/>
          </a:prstGeom>
          <a:noFill/>
        </p:spPr>
        <p:txBody>
          <a:bodyPr wrap="square" rtlCol="0">
            <a:spAutoFit/>
          </a:bodyPr>
          <a:lstStyle/>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Source: NiftyIndices.com </a:t>
            </a:r>
          </a:p>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as on 27</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February,2026</a:t>
            </a:r>
          </a:p>
        </p:txBody>
      </p:sp>
      <p:sp>
        <p:nvSpPr>
          <p:cNvPr id="22" name="TextBox 21">
            <a:extLst>
              <a:ext uri="{FF2B5EF4-FFF2-40B4-BE49-F238E27FC236}">
                <a16:creationId xmlns:a16="http://schemas.microsoft.com/office/drawing/2014/main" id="{6E478BBA-5CEA-16E5-93CF-93EE2C135DD4}"/>
              </a:ext>
            </a:extLst>
          </p:cNvPr>
          <p:cNvSpPr txBox="1"/>
          <p:nvPr/>
        </p:nvSpPr>
        <p:spPr>
          <a:xfrm>
            <a:off x="719998" y="4026563"/>
            <a:ext cx="8067658" cy="461665"/>
          </a:xfrm>
          <a:prstGeom prst="rect">
            <a:avLst/>
          </a:prstGeom>
          <a:noFill/>
          <a:ln w="6350">
            <a:solidFill>
              <a:schemeClr val="tx1"/>
            </a:solidFill>
          </a:ln>
        </p:spPr>
        <p:txBody>
          <a:bodyPr wrap="square">
            <a:spAutoFit/>
          </a:bodyPr>
          <a:lstStyle/>
          <a:p>
            <a:pPr marL="214313" indent="-214313">
              <a:buFont typeface="Wingdings" panose="05000000000000000000" pitchFamily="2" charset="2"/>
              <a:buChar char="q"/>
            </a:pPr>
            <a:r>
              <a:rPr lang="en-US" sz="1200" dirty="0">
                <a:solidFill>
                  <a:schemeClr val="tx1"/>
                </a:solidFill>
                <a:latin typeface="+mn-lt"/>
                <a:ea typeface="Calibri" panose="020F0502020204030204" pitchFamily="34" charset="0"/>
                <a:cs typeface="Calibri" panose="020F0502020204030204" pitchFamily="34" charset="0"/>
              </a:rPr>
              <a:t>Top Performer : Nifty Consumer Durables, Pharma, Energy &amp; Auto</a:t>
            </a:r>
          </a:p>
          <a:p>
            <a:pPr marL="214313" indent="-214313">
              <a:buFont typeface="Wingdings" panose="05000000000000000000" pitchFamily="2" charset="2"/>
              <a:buChar char="q"/>
            </a:pPr>
            <a:r>
              <a:rPr lang="en-US" sz="1200" dirty="0">
                <a:solidFill>
                  <a:schemeClr val="tx1"/>
                </a:solidFill>
                <a:latin typeface="+mn-lt"/>
                <a:ea typeface="Calibri" panose="020F0502020204030204" pitchFamily="34" charset="0"/>
                <a:cs typeface="Calibri" panose="020F0502020204030204" pitchFamily="34" charset="0"/>
              </a:rPr>
              <a:t>Top Laggard: Nifty IT</a:t>
            </a:r>
          </a:p>
        </p:txBody>
      </p:sp>
      <p:sp>
        <p:nvSpPr>
          <p:cNvPr id="3" name="Oval 2">
            <a:extLst>
              <a:ext uri="{FF2B5EF4-FFF2-40B4-BE49-F238E27FC236}">
                <a16:creationId xmlns:a16="http://schemas.microsoft.com/office/drawing/2014/main" id="{581C7B94-1FD7-0F60-6A9B-1B53EDD45EA0}"/>
              </a:ext>
            </a:extLst>
          </p:cNvPr>
          <p:cNvSpPr/>
          <p:nvPr/>
        </p:nvSpPr>
        <p:spPr>
          <a:xfrm>
            <a:off x="7297918" y="1971110"/>
            <a:ext cx="636927" cy="1754427"/>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0FFCB12-AA47-F5F8-7C2A-79A9D0206E23}"/>
              </a:ext>
            </a:extLst>
          </p:cNvPr>
          <p:cNvSpPr txBox="1"/>
          <p:nvPr/>
        </p:nvSpPr>
        <p:spPr>
          <a:xfrm>
            <a:off x="618660" y="4689094"/>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grpSp>
        <p:nvGrpSpPr>
          <p:cNvPr id="2" name="Google Shape;262;p6">
            <a:extLst>
              <a:ext uri="{FF2B5EF4-FFF2-40B4-BE49-F238E27FC236}">
                <a16:creationId xmlns:a16="http://schemas.microsoft.com/office/drawing/2014/main" id="{8B50962C-F7A3-54F7-94A1-6A090A312603}"/>
              </a:ext>
            </a:extLst>
          </p:cNvPr>
          <p:cNvGrpSpPr/>
          <p:nvPr/>
        </p:nvGrpSpPr>
        <p:grpSpPr>
          <a:xfrm>
            <a:off x="-25" y="4872600"/>
            <a:ext cx="9144000" cy="270900"/>
            <a:chOff x="-25" y="4872600"/>
            <a:chExt cx="9144000" cy="270900"/>
          </a:xfrm>
        </p:grpSpPr>
        <p:sp>
          <p:nvSpPr>
            <p:cNvPr id="8" name="Google Shape;263;p6">
              <a:extLst>
                <a:ext uri="{FF2B5EF4-FFF2-40B4-BE49-F238E27FC236}">
                  <a16:creationId xmlns:a16="http://schemas.microsoft.com/office/drawing/2014/main" id="{9AC521B3-FD61-ADCF-69AF-6A81FBA9AC55}"/>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9" name="Google Shape;264;p6">
              <a:extLst>
                <a:ext uri="{FF2B5EF4-FFF2-40B4-BE49-F238E27FC236}">
                  <a16:creationId xmlns:a16="http://schemas.microsoft.com/office/drawing/2014/main" id="{CD2D24D4-66C6-CA1C-77E6-1F3FC0C45A97}"/>
                </a:ext>
              </a:extLst>
            </p:cNvPr>
            <p:cNvGrpSpPr/>
            <p:nvPr/>
          </p:nvGrpSpPr>
          <p:grpSpPr>
            <a:xfrm>
              <a:off x="3101100" y="4872600"/>
              <a:ext cx="2941800" cy="270900"/>
              <a:chOff x="3084200" y="4934525"/>
              <a:chExt cx="2941800" cy="270900"/>
            </a:xfrm>
          </p:grpSpPr>
          <p:sp>
            <p:nvSpPr>
              <p:cNvPr id="10" name="Google Shape;265;p6">
                <a:extLst>
                  <a:ext uri="{FF2B5EF4-FFF2-40B4-BE49-F238E27FC236}">
                    <a16:creationId xmlns:a16="http://schemas.microsoft.com/office/drawing/2014/main" id="{E5ACA95E-81E8-4379-68BF-8B530C4B478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1" name="Google Shape;266;p6">
                <a:extLst>
                  <a:ext uri="{FF2B5EF4-FFF2-40B4-BE49-F238E27FC236}">
                    <a16:creationId xmlns:a16="http://schemas.microsoft.com/office/drawing/2014/main" id="{37AC26C0-D90A-01E6-4FD8-EBBB5D09B9AA}"/>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2" name="Picture 11">
            <a:extLst>
              <a:ext uri="{FF2B5EF4-FFF2-40B4-BE49-F238E27FC236}">
                <a16:creationId xmlns:a16="http://schemas.microsoft.com/office/drawing/2014/main" id="{9F125C38-3309-2356-25E8-FFC61D0CC065}"/>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9" name="Oval 18">
            <a:extLst>
              <a:ext uri="{FF2B5EF4-FFF2-40B4-BE49-F238E27FC236}">
                <a16:creationId xmlns:a16="http://schemas.microsoft.com/office/drawing/2014/main" id="{D70706E0-935E-4380-8D5F-A40AC9B12E01}"/>
              </a:ext>
            </a:extLst>
          </p:cNvPr>
          <p:cNvSpPr/>
          <p:nvPr/>
        </p:nvSpPr>
        <p:spPr>
          <a:xfrm>
            <a:off x="4385876" y="2021406"/>
            <a:ext cx="556171" cy="1774912"/>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6" name="Oval 15">
            <a:extLst>
              <a:ext uri="{FF2B5EF4-FFF2-40B4-BE49-F238E27FC236}">
                <a16:creationId xmlns:a16="http://schemas.microsoft.com/office/drawing/2014/main" id="{AFEA0321-8ACB-5F78-43CD-BB65EF4EE0DD}"/>
              </a:ext>
            </a:extLst>
          </p:cNvPr>
          <p:cNvSpPr/>
          <p:nvPr/>
        </p:nvSpPr>
        <p:spPr>
          <a:xfrm>
            <a:off x="4964846" y="2017551"/>
            <a:ext cx="579508" cy="173903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A6B7724E-37F0-5F2B-3E69-9F6C59E5419F}"/>
              </a:ext>
            </a:extLst>
          </p:cNvPr>
          <p:cNvSpPr/>
          <p:nvPr/>
        </p:nvSpPr>
        <p:spPr>
          <a:xfrm>
            <a:off x="2586729" y="2050785"/>
            <a:ext cx="556171" cy="1774912"/>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 name="Oval 13">
            <a:extLst>
              <a:ext uri="{FF2B5EF4-FFF2-40B4-BE49-F238E27FC236}">
                <a16:creationId xmlns:a16="http://schemas.microsoft.com/office/drawing/2014/main" id="{29328C92-634D-6062-7CDC-723BF98AB9A2}"/>
              </a:ext>
            </a:extLst>
          </p:cNvPr>
          <p:cNvSpPr/>
          <p:nvPr/>
        </p:nvSpPr>
        <p:spPr>
          <a:xfrm>
            <a:off x="1343753" y="1988030"/>
            <a:ext cx="636927" cy="1754427"/>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1325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3981893720"/>
              </p:ext>
            </p:extLst>
          </p:nvPr>
        </p:nvGraphicFramePr>
        <p:xfrm>
          <a:off x="550494" y="992227"/>
          <a:ext cx="8076811" cy="3645202"/>
        </p:xfrm>
        <a:graphic>
          <a:graphicData uri="http://schemas.openxmlformats.org/drawingml/2006/table">
            <a:tbl>
              <a:tblPr firstRow="1" bandRow="1">
                <a:tableStyleId>{7E9639D4-E3E2-4D34-9284-5A2195B3D0D7}</a:tableStyleId>
              </a:tblPr>
              <a:tblGrid>
                <a:gridCol w="737093">
                  <a:extLst>
                    <a:ext uri="{9D8B030D-6E8A-4147-A177-3AD203B41FA5}">
                      <a16:colId xmlns:a16="http://schemas.microsoft.com/office/drawing/2014/main" val="20000"/>
                    </a:ext>
                  </a:extLst>
                </a:gridCol>
                <a:gridCol w="4426636">
                  <a:extLst>
                    <a:ext uri="{9D8B030D-6E8A-4147-A177-3AD203B41FA5}">
                      <a16:colId xmlns:a16="http://schemas.microsoft.com/office/drawing/2014/main" val="20001"/>
                    </a:ext>
                  </a:extLst>
                </a:gridCol>
                <a:gridCol w="1349828">
                  <a:extLst>
                    <a:ext uri="{9D8B030D-6E8A-4147-A177-3AD203B41FA5}">
                      <a16:colId xmlns:a16="http://schemas.microsoft.com/office/drawing/2014/main" val="20002"/>
                    </a:ext>
                  </a:extLst>
                </a:gridCol>
                <a:gridCol w="1563254">
                  <a:extLst>
                    <a:ext uri="{9D8B030D-6E8A-4147-A177-3AD203B41FA5}">
                      <a16:colId xmlns:a16="http://schemas.microsoft.com/office/drawing/2014/main" val="20003"/>
                    </a:ext>
                  </a:extLst>
                </a:gridCol>
              </a:tblGrid>
              <a:tr h="248103">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819493">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Consumer</a:t>
                      </a:r>
                      <a:r>
                        <a:rPr lang="en-IN" sz="1050" b="1" baseline="0" dirty="0">
                          <a:latin typeface="Calibri" panose="020F0502020204030204" pitchFamily="34" charset="0"/>
                          <a:ea typeface="Calibri" panose="020F0502020204030204" pitchFamily="34" charset="0"/>
                          <a:cs typeface="Calibri" panose="020F0502020204030204" pitchFamily="34" charset="0"/>
                        </a:rPr>
                        <a:t> </a:t>
                      </a:r>
                      <a:r>
                        <a:rPr lang="en-IN" sz="1050" b="1" dirty="0">
                          <a:latin typeface="Calibri" panose="020F0502020204030204" pitchFamily="34" charset="0"/>
                          <a:ea typeface="Calibri" panose="020F0502020204030204" pitchFamily="34" charset="0"/>
                          <a:cs typeface="Calibri" panose="020F0502020204030204" pitchFamily="34" charset="0"/>
                        </a:rPr>
                        <a:t>Durables</a:t>
                      </a:r>
                    </a:p>
                  </a:txBody>
                  <a:tcPr marL="68580" marR="68580" marT="34290" marB="34290" anchor="ctr">
                    <a:noFill/>
                  </a:tcPr>
                </a:tc>
                <a:tc>
                  <a:txBody>
                    <a:bodyPr/>
                    <a:lstStyle/>
                    <a:p>
                      <a:pPr algn="just"/>
                      <a:r>
                        <a:rPr lang="en-US" sz="1000" dirty="0"/>
                        <a:t>C&amp;W prices up ~25% since Dec’25 amid rising copper &amp; aluminum costs; RACs to see 4–9% hikes with 2026-compliant products. Hikes support margins and 4QFY26 value growth, partly offset GST cuts, though high channel inventory may limit incremental demand. Further price increases possible if commodity costs continue rising</a:t>
                      </a:r>
                      <a:endParaRPr lang="en-US" sz="1000" dirty="0">
                        <a:highlight>
                          <a:srgbClr val="FFFF00"/>
                        </a:highlight>
                        <a:latin typeface="+mj-lt"/>
                      </a:endParaRPr>
                    </a:p>
                  </a:txBody>
                  <a:tcPr marL="68580" marR="68580" marT="34290" marB="34290" anchor="ctr">
                    <a:noFill/>
                  </a:tcPr>
                </a:tc>
                <a:tc>
                  <a:txBody>
                    <a:bodyPr/>
                    <a:lstStyle/>
                    <a:p>
                      <a:pPr algn="ctr"/>
                      <a:r>
                        <a:rPr lang="en-US" sz="1100" dirty="0">
                          <a:latin typeface="+mj-lt"/>
                        </a:rPr>
                        <a:t>Trailing P/BV near   +1SD</a:t>
                      </a:r>
                      <a:endParaRPr lang="en-IN" sz="11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tc>
                  <a:txBody>
                    <a:bodyPr/>
                    <a:lstStyle/>
                    <a:p>
                      <a:pPr algn="ctr"/>
                      <a:r>
                        <a:rPr lang="en-IN" sz="1100" b="0" baseline="0" dirty="0">
                          <a:solidFill>
                            <a:schemeClr val="tx1"/>
                          </a:solidFill>
                          <a:latin typeface="+mj-lt"/>
                          <a:ea typeface="Calibri" panose="020F0502020204030204" pitchFamily="34" charset="0"/>
                          <a:cs typeface="Calibri" panose="020F0502020204030204" pitchFamily="34" charset="0"/>
                        </a:rPr>
                        <a:t>Underweight</a:t>
                      </a:r>
                      <a:endParaRPr lang="en-IN" sz="11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1"/>
                  </a:ext>
                </a:extLst>
              </a:tr>
              <a:tr h="891957">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Oil &amp;</a:t>
                      </a:r>
                      <a:r>
                        <a:rPr lang="en-IN" sz="1050" b="1" baseline="0" dirty="0">
                          <a:latin typeface="Calibri" panose="020F0502020204030204" pitchFamily="34" charset="0"/>
                          <a:ea typeface="Calibri" panose="020F0502020204030204" pitchFamily="34" charset="0"/>
                          <a:cs typeface="Calibri" panose="020F0502020204030204" pitchFamily="34" charset="0"/>
                        </a:rPr>
                        <a:t> Gas </a:t>
                      </a:r>
                      <a:endParaRPr lang="en-IN" sz="1050" b="1"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nchor="ctr">
                    <a:solidFill>
                      <a:schemeClr val="accent2"/>
                    </a:solidFill>
                  </a:tcPr>
                </a:tc>
                <a:tc>
                  <a:txBody>
                    <a:bodyPr/>
                    <a:lstStyle/>
                    <a:p>
                      <a:r>
                        <a:rPr lang="en-US" sz="1050" dirty="0">
                          <a:latin typeface="+mj-lt"/>
                        </a:rPr>
                        <a:t>Brent crude has risen to $100+/</a:t>
                      </a:r>
                      <a:r>
                        <a:rPr lang="en-US" sz="1050" dirty="0" err="1">
                          <a:latin typeface="+mj-lt"/>
                        </a:rPr>
                        <a:t>bbl</a:t>
                      </a:r>
                      <a:r>
                        <a:rPr lang="en-US" sz="1050" dirty="0">
                          <a:latin typeface="+mj-lt"/>
                        </a:rPr>
                        <a:t> (highest since mid-2024) amid Middle East tensions and Strait of Hormuz risks, while European gas prices (Dutch TTF) have surged ~45% to ~€46/MWh due to disruptions in Qatari LNG supply (~20% of global exports). Positive for oil exploration companies, while OMCs face margin pressure</a:t>
                      </a:r>
                    </a:p>
                  </a:txBody>
                  <a:tcPr marL="68580" marR="68580" marT="34290" marB="34290" anchor="ctr">
                    <a:solidFill>
                      <a:schemeClr val="accent2"/>
                    </a:solidFill>
                  </a:tcPr>
                </a:tc>
                <a:tc>
                  <a:txBody>
                    <a:bodyPr/>
                    <a:lstStyle/>
                    <a:p>
                      <a:pPr marR="0" algn="ctr" rtl="0">
                        <a:lnSpc>
                          <a:spcPct val="100000"/>
                        </a:lnSpc>
                        <a:spcBef>
                          <a:spcPts val="0"/>
                        </a:spcBef>
                        <a:spcAft>
                          <a:spcPts val="0"/>
                        </a:spcAft>
                        <a:buClr>
                          <a:srgbClr val="000000"/>
                        </a:buClr>
                        <a:buFont typeface="Arial"/>
                      </a:pPr>
                      <a:r>
                        <a:rPr lang="en-US" sz="1100" dirty="0">
                          <a:latin typeface="+mj-lt"/>
                        </a:rPr>
                        <a:t>Trailing P/BV just above 5-yr average </a:t>
                      </a:r>
                      <a:endParaRPr lang="en-IN" sz="1100" b="0" i="0" u="none" strike="noStrike" cap="none" dirty="0">
                        <a:solidFill>
                          <a:schemeClr val="tx1"/>
                        </a:solidFill>
                        <a:latin typeface="+mj-lt"/>
                        <a:ea typeface="Calibri" panose="020F0502020204030204" pitchFamily="34" charset="0"/>
                        <a:cs typeface="Calibri" panose="020F0502020204030204" pitchFamily="34" charset="0"/>
                        <a:sym typeface="Arial"/>
                      </a:endParaRPr>
                    </a:p>
                  </a:txBody>
                  <a:tcPr marL="68580" marR="68580" marT="34290" marB="34290" anchor="ctr">
                    <a:solidFill>
                      <a:schemeClr val="bg1"/>
                    </a:solidFill>
                  </a:tcPr>
                </a:tc>
                <a:tc>
                  <a:txBody>
                    <a:bodyPr/>
                    <a:lstStyle/>
                    <a:p>
                      <a:pPr algn="ctr"/>
                      <a:r>
                        <a:rPr lang="en-IN" sz="1100" b="0" dirty="0">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10002"/>
                  </a:ext>
                </a:extLst>
              </a:tr>
              <a:tr h="894676">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Auto</a:t>
                      </a:r>
                    </a:p>
                  </a:txBody>
                  <a:tcPr marL="68580" marR="68580" marT="34290" marB="34290" anchor="ctr"/>
                </a:tc>
                <a:tc>
                  <a:txBody>
                    <a:bodyPr/>
                    <a:lstStyle/>
                    <a:p>
                      <a:pPr algn="just"/>
                      <a:r>
                        <a:rPr lang="en-US" sz="1100" dirty="0">
                          <a:latin typeface="+mj-lt"/>
                        </a:rPr>
                        <a:t>February 2026 retail data showed broad-based double-digit growth across 2Ws, PVs, CVs and tractors. The India–US trade deal, which reduced tariffs from 25% to 18%, meaningfully eases the overhang on auto ancillary exporters, particularly those supplying US CV segments. EV penetration continues to rise with 2W EVs gaining share steadily</a:t>
                      </a:r>
                      <a:endParaRPr lang="en-IN" sz="1100" b="0" i="0" u="none" strike="noStrike" cap="none" dirty="0">
                        <a:solidFill>
                          <a:schemeClr val="tx1"/>
                        </a:solidFill>
                        <a:highlight>
                          <a:srgbClr val="FFFF00"/>
                        </a:highlight>
                        <a:latin typeface="+mj-lt"/>
                        <a:ea typeface="+mn-ea"/>
                        <a:cs typeface="+mn-cs"/>
                        <a:sym typeface="Arial"/>
                      </a:endParaRPr>
                    </a:p>
                  </a:txBody>
                  <a:tcPr marL="68580" marR="68580" marT="34290" marB="34290" anchor="ctr"/>
                </a:tc>
                <a:tc>
                  <a:txBody>
                    <a:bodyPr/>
                    <a:lstStyle/>
                    <a:p>
                      <a:pPr algn="ctr"/>
                      <a:r>
                        <a:rPr lang="en-US" sz="1100" dirty="0">
                          <a:latin typeface="+mj-lt"/>
                        </a:rPr>
                        <a:t>Trailing P/BV trading near 1 SD</a:t>
                      </a:r>
                      <a:endParaRPr lang="en-IN" sz="11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algn="ctr"/>
                      <a:r>
                        <a:rPr lang="en-IN" sz="1100" b="0" dirty="0">
                          <a:solidFill>
                            <a:schemeClr val="tx1"/>
                          </a:solidFill>
                          <a:latin typeface="+mj-lt"/>
                          <a:ea typeface="Calibri" panose="020F0502020204030204" pitchFamily="34" charset="0"/>
                          <a:cs typeface="Calibri" panose="020F0502020204030204" pitchFamily="34" charset="0"/>
                        </a:rPr>
                        <a:t>Stock specific bottom up</a:t>
                      </a:r>
                    </a:p>
                  </a:txBody>
                  <a:tcPr marL="68580" marR="68580" marT="34290" marB="34290" anchor="ctr">
                    <a:solidFill>
                      <a:schemeClr val="accent2"/>
                    </a:solidFill>
                  </a:tcPr>
                </a:tc>
                <a:extLst>
                  <a:ext uri="{0D108BD9-81ED-4DB2-BD59-A6C34878D82A}">
                    <a16:rowId xmlns:a16="http://schemas.microsoft.com/office/drawing/2014/main" val="4191346065"/>
                  </a:ext>
                </a:extLst>
              </a:tr>
              <a:tr h="764425">
                <a:tc>
                  <a:txBody>
                    <a:bodyPr/>
                    <a:lstStyle/>
                    <a:p>
                      <a:pPr algn="just"/>
                      <a:r>
                        <a:rPr lang="en-US" sz="1050" b="1" dirty="0">
                          <a:latin typeface="Calibri" panose="020F0502020204030204" pitchFamily="34" charset="0"/>
                          <a:ea typeface="Calibri" panose="020F0502020204030204" pitchFamily="34" charset="0"/>
                          <a:cs typeface="Calibri" panose="020F0502020204030204" pitchFamily="34" charset="0"/>
                        </a:rPr>
                        <a:t>FMCG</a:t>
                      </a:r>
                    </a:p>
                  </a:txBody>
                  <a:tcPr marL="68580" marR="68580" marT="34290" marB="34290" anchor="ctr">
                    <a:no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FMCG demand gradually recovers with improving rural trends and steady urban consumption. Margins stable but rising crude may increase costs; high competition limits pricing power. Rainfall in 2026 will be key for rural income and overall consumption momentum</a:t>
                      </a:r>
                      <a:endParaRPr lang="en-US" sz="1050" strike="sngStrike" dirty="0">
                        <a:latin typeface="+mj-lt"/>
                      </a:endParaRPr>
                    </a:p>
                  </a:txBody>
                  <a:tcPr marL="68580" marR="68580" marT="34290" marB="34290" anchor="ctr">
                    <a:noFill/>
                  </a:tcPr>
                </a:tc>
                <a:tc>
                  <a:txBody>
                    <a:bodyPr/>
                    <a:lstStyle/>
                    <a:p>
                      <a:pPr algn="ctr"/>
                      <a:r>
                        <a:rPr lang="en-US" sz="1100" dirty="0">
                          <a:latin typeface="+mj-lt"/>
                        </a:rPr>
                        <a:t>Trailing P/BV just below 5-yr average SD</a:t>
                      </a:r>
                      <a:endParaRPr lang="en-US" sz="11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dirty="0">
                          <a:solidFill>
                            <a:schemeClr val="tx1"/>
                          </a:solidFill>
                          <a:latin typeface="+mj-lt"/>
                          <a:ea typeface="Calibri" panose="020F0502020204030204" pitchFamily="34" charset="0"/>
                          <a:cs typeface="Calibri" panose="020F0502020204030204" pitchFamily="34" charset="0"/>
                        </a:rPr>
                        <a:t>Stock specific</a:t>
                      </a:r>
                      <a:endParaRPr lang="en-US" sz="11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3347416445"/>
                  </a:ext>
                </a:extLst>
              </a:tr>
            </a:tbl>
          </a:graphicData>
        </a:graphic>
      </p:graphicFrame>
      <p:sp>
        <p:nvSpPr>
          <p:cNvPr id="2" name="TextBox 1">
            <a:extLst>
              <a:ext uri="{FF2B5EF4-FFF2-40B4-BE49-F238E27FC236}">
                <a16:creationId xmlns:a16="http://schemas.microsoft.com/office/drawing/2014/main" id="{39C53B6D-06C5-2B43-F2ED-586117131F8A}"/>
              </a:ext>
            </a:extLst>
          </p:cNvPr>
          <p:cNvSpPr txBox="1"/>
          <p:nvPr/>
        </p:nvSpPr>
        <p:spPr>
          <a:xfrm>
            <a:off x="720000" y="4688859"/>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367160A0-FDEE-F288-39EE-F9E9F437A299}"/>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379FAD92-B74F-A5C6-2B4E-FD73CAA50546}"/>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9A606104-F350-29B2-92BC-871B31BE8E8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9B61EB2E-1B78-8885-0C05-00A01FA68201}"/>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FA5A640D-8F09-8CA6-3815-CB1F0433EA8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B98F33B3-35B4-9BD7-BAAB-4956B59C5BFA}"/>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4248219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 </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1345624684"/>
              </p:ext>
            </p:extLst>
          </p:nvPr>
        </p:nvGraphicFramePr>
        <p:xfrm>
          <a:off x="770006" y="1050467"/>
          <a:ext cx="7940479" cy="3337005"/>
        </p:xfrm>
        <a:graphic>
          <a:graphicData uri="http://schemas.openxmlformats.org/drawingml/2006/table">
            <a:tbl>
              <a:tblPr firstRow="1" bandRow="1">
                <a:tableStyleId>{7E9639D4-E3E2-4D34-9284-5A2195B3D0D7}</a:tableStyleId>
              </a:tblPr>
              <a:tblGrid>
                <a:gridCol w="992260">
                  <a:extLst>
                    <a:ext uri="{9D8B030D-6E8A-4147-A177-3AD203B41FA5}">
                      <a16:colId xmlns:a16="http://schemas.microsoft.com/office/drawing/2014/main" val="20000"/>
                    </a:ext>
                  </a:extLst>
                </a:gridCol>
                <a:gridCol w="3838434">
                  <a:extLst>
                    <a:ext uri="{9D8B030D-6E8A-4147-A177-3AD203B41FA5}">
                      <a16:colId xmlns:a16="http://schemas.microsoft.com/office/drawing/2014/main" val="20001"/>
                    </a:ext>
                  </a:extLst>
                </a:gridCol>
                <a:gridCol w="1301085">
                  <a:extLst>
                    <a:ext uri="{9D8B030D-6E8A-4147-A177-3AD203B41FA5}">
                      <a16:colId xmlns:a16="http://schemas.microsoft.com/office/drawing/2014/main" val="20002"/>
                    </a:ext>
                  </a:extLst>
                </a:gridCol>
                <a:gridCol w="1808700">
                  <a:extLst>
                    <a:ext uri="{9D8B030D-6E8A-4147-A177-3AD203B41FA5}">
                      <a16:colId xmlns:a16="http://schemas.microsoft.com/office/drawing/2014/main" val="20003"/>
                    </a:ext>
                  </a:extLst>
                </a:gridCol>
              </a:tblGrid>
              <a:tr h="243680">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1092930">
                <a:tc>
                  <a:txBody>
                    <a:bodyPr/>
                    <a:lstStyle/>
                    <a:p>
                      <a:pPr algn="just"/>
                      <a:r>
                        <a:rPr lang="en-US" sz="1000" b="1" dirty="0">
                          <a:latin typeface="+mj-lt"/>
                          <a:ea typeface="Calibri" panose="020F0502020204030204" pitchFamily="34" charset="0"/>
                          <a:cs typeface="Calibri" panose="020F0502020204030204" pitchFamily="34" charset="0"/>
                        </a:rPr>
                        <a:t>Banks</a:t>
                      </a:r>
                    </a:p>
                  </a:txBody>
                  <a:tcPr marL="68580" marR="68580" marT="34290" marB="34290" anchor="ctr"/>
                </a:tc>
                <a:tc>
                  <a:txBody>
                    <a:bodyPr/>
                    <a:lstStyle/>
                    <a:p>
                      <a:pPr algn="just"/>
                      <a:r>
                        <a:rPr lang="en-US" sz="1000" dirty="0">
                          <a:latin typeface="+mj-lt"/>
                        </a:rPr>
                        <a:t>Bank credit growth at 14.6% YoY (Jan‑26) with deposits at 12.5%; system liquidity comfortable, repo steady at 5.25%. SEBI overhauled broker norms after 30 years; Bihar Microfinance Bill poses near-term headwinds. Financial services remain constructive on strong credit momentum, low NPAs, improving NIMs, and supportive macro heading into FY27</a:t>
                      </a:r>
                    </a:p>
                  </a:txBody>
                  <a:tcPr marL="68580" marR="68580" marT="34290" marB="34290" anchor="ctr">
                    <a:solidFill>
                      <a:schemeClr val="bg1"/>
                    </a:solidFill>
                  </a:tcPr>
                </a:tc>
                <a:tc>
                  <a:txBody>
                    <a:bodyPr/>
                    <a:lstStyle/>
                    <a:p>
                      <a:pPr algn="ctr"/>
                      <a:r>
                        <a:rPr lang="en-US" sz="1000" dirty="0">
                          <a:latin typeface="+mj-lt"/>
                        </a:rPr>
                        <a:t>Trailing P/BV near –1 SD</a:t>
                      </a:r>
                      <a:endParaRPr lang="en-US" sz="1000" b="1" dirty="0">
                        <a:solidFill>
                          <a:srgbClr val="C00000"/>
                        </a:solidFill>
                        <a:latin typeface="+mj-lt"/>
                        <a:ea typeface="Calibri" panose="020F0502020204030204" pitchFamily="34" charset="0"/>
                        <a:cs typeface="Calibri" panose="020F0502020204030204" pitchFamily="34" charset="0"/>
                      </a:endParaRP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baseline="0" dirty="0">
                          <a:latin typeface="+mj-lt"/>
                          <a:ea typeface="Calibri" panose="020F0502020204030204" pitchFamily="34" charset="0"/>
                          <a:cs typeface="Calibri" panose="020F0502020204030204" pitchFamily="34" charset="0"/>
                        </a:rPr>
                        <a:t>Overweight</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1"/>
                  </a:ext>
                </a:extLst>
              </a:tr>
              <a:tr h="1110343">
                <a:tc>
                  <a:txBody>
                    <a:bodyPr/>
                    <a:lstStyle/>
                    <a:p>
                      <a:pPr algn="just"/>
                      <a:r>
                        <a:rPr lang="en-US" sz="1000" b="1" dirty="0">
                          <a:latin typeface="+mj-lt"/>
                          <a:ea typeface="Calibri" panose="020F0502020204030204" pitchFamily="34" charset="0"/>
                          <a:cs typeface="Calibri" panose="020F0502020204030204" pitchFamily="34" charset="0"/>
                        </a:rPr>
                        <a:t>Metals</a:t>
                      </a:r>
                    </a:p>
                  </a:txBody>
                  <a:tcPr marL="68580" marR="68580" marT="34290" marB="34290"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Steel sector saw volume growth supported by infrastructure and auto demand; spreads resilient from operational efficiencies and recent price hikes. Non-ferrous companies posted strong earnings on higher commodity prices and stable volumes, while mining faced volume and cost pressures. Near-term earnings will depend on realizations, raw material costs, and domestic demand momentum</a:t>
                      </a:r>
                      <a:endParaRPr lang="en-US" sz="1000" dirty="0">
                        <a:latin typeface="+mj-lt"/>
                      </a:endParaRPr>
                    </a:p>
                  </a:txBody>
                  <a:tcPr marL="68580" marR="68580" marT="34290" marB="34290" anchor="ctr">
                    <a:solidFill>
                      <a:schemeClr val="bg1"/>
                    </a:solidFill>
                  </a:tcPr>
                </a:tc>
                <a:tc>
                  <a:txBody>
                    <a:bodyPr/>
                    <a:lstStyle/>
                    <a:p>
                      <a:pPr algn="ctr"/>
                      <a:r>
                        <a:rPr lang="en-US" sz="1000" dirty="0">
                          <a:latin typeface="+mj-lt"/>
                        </a:rPr>
                        <a:t>Trailing P/BV ~ 5-yr &gt;+2× SD</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baseline="0" dirty="0">
                          <a:latin typeface="+mj-lt"/>
                          <a:ea typeface="Calibri" panose="020F0502020204030204" pitchFamily="34" charset="0"/>
                          <a:cs typeface="Calibri" panose="020F0502020204030204" pitchFamily="34" charset="0"/>
                        </a:rPr>
                        <a:t>Stock specific</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2"/>
                  </a:ext>
                </a:extLst>
              </a:tr>
              <a:tr h="882272">
                <a:tc>
                  <a:txBody>
                    <a:bodyPr/>
                    <a:lstStyle/>
                    <a:p>
                      <a:pPr algn="just"/>
                      <a:endParaRPr lang="en-US" sz="1000" b="1" dirty="0">
                        <a:latin typeface="+mj-lt"/>
                        <a:ea typeface="Calibri" panose="020F0502020204030204" pitchFamily="34" charset="0"/>
                        <a:cs typeface="Calibri" panose="020F0502020204030204" pitchFamily="34" charset="0"/>
                      </a:endParaRPr>
                    </a:p>
                    <a:p>
                      <a:pPr algn="just"/>
                      <a:r>
                        <a:rPr lang="en-US" sz="1000" b="1" dirty="0">
                          <a:latin typeface="+mj-lt"/>
                          <a:ea typeface="Calibri" panose="020F0502020204030204" pitchFamily="34" charset="0"/>
                          <a:cs typeface="Calibri" panose="020F0502020204030204" pitchFamily="34" charset="0"/>
                        </a:rPr>
                        <a:t>CPSE</a:t>
                      </a:r>
                    </a:p>
                  </a:txBody>
                  <a:tcPr marL="68580" marR="68580" marT="34290" marB="34290" anchor="ctr">
                    <a:solidFill>
                      <a:schemeClr val="bg1"/>
                    </a:solidFill>
                  </a:tcPr>
                </a:tc>
                <a:tc>
                  <a:txBody>
                    <a:bodyPr/>
                    <a:lstStyle/>
                    <a:p>
                      <a:r>
                        <a:rPr lang="en-US" sz="1000" b="0" dirty="0">
                          <a:latin typeface="+mj-lt"/>
                        </a:rPr>
                        <a:t>Capital goods &amp; </a:t>
                      </a:r>
                      <a:r>
                        <a:rPr lang="en-US" sz="1000" b="0" dirty="0" err="1">
                          <a:latin typeface="+mj-lt"/>
                        </a:rPr>
                        <a:t>defence</a:t>
                      </a:r>
                      <a:r>
                        <a:rPr lang="en-US" sz="1000" b="0" dirty="0">
                          <a:latin typeface="+mj-lt"/>
                        </a:rPr>
                        <a:t> posted strong YoY profit growth in Q3FY26 on robust orders; major contracts (~INR 5,083 </a:t>
                      </a:r>
                      <a:r>
                        <a:rPr lang="en-US" sz="1000" b="0" dirty="0" err="1">
                          <a:latin typeface="+mj-lt"/>
                        </a:rPr>
                        <a:t>cr</a:t>
                      </a:r>
                      <a:r>
                        <a:rPr lang="en-US" sz="1000" b="0" dirty="0">
                          <a:latin typeface="+mj-lt"/>
                        </a:rPr>
                        <a:t>) for helicopters &amp; missiles and EU‑India </a:t>
                      </a:r>
                      <a:r>
                        <a:rPr lang="en-US" sz="1000" b="0" dirty="0" err="1">
                          <a:latin typeface="+mj-lt"/>
                        </a:rPr>
                        <a:t>defence</a:t>
                      </a:r>
                      <a:r>
                        <a:rPr lang="en-US" sz="1000" b="0" dirty="0">
                          <a:latin typeface="+mj-lt"/>
                        </a:rPr>
                        <a:t> cooperation supports long term  sector visibility </a:t>
                      </a:r>
                      <a:endParaRPr lang="en-US" sz="1000" dirty="0">
                        <a:latin typeface="+mj-lt"/>
                      </a:endParaRPr>
                    </a:p>
                  </a:txBody>
                  <a:tcPr marL="68580" marR="68580" marT="34290" marB="34290" anchor="ctr">
                    <a:solidFill>
                      <a:schemeClr val="bg1"/>
                    </a:solidFill>
                  </a:tcPr>
                </a:tc>
                <a:tc>
                  <a:txBody>
                    <a:bodyPr/>
                    <a:lstStyle/>
                    <a:p>
                      <a:pPr algn="ctr"/>
                      <a:r>
                        <a:rPr lang="en-US" sz="1000" dirty="0">
                          <a:latin typeface="+mj-lt"/>
                        </a:rPr>
                        <a:t>Trailing P/BV ~ 5-yr near +1× SD</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dirty="0">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4191346065"/>
                  </a:ext>
                </a:extLst>
              </a:tr>
            </a:tbl>
          </a:graphicData>
        </a:graphic>
      </p:graphicFrame>
      <p:sp>
        <p:nvSpPr>
          <p:cNvPr id="2" name="TextBox 1">
            <a:extLst>
              <a:ext uri="{FF2B5EF4-FFF2-40B4-BE49-F238E27FC236}">
                <a16:creationId xmlns:a16="http://schemas.microsoft.com/office/drawing/2014/main" id="{96E35FC3-F6F3-A5CA-A0CF-4909705FCC3C}"/>
              </a:ext>
            </a:extLst>
          </p:cNvPr>
          <p:cNvSpPr txBox="1"/>
          <p:nvPr/>
        </p:nvSpPr>
        <p:spPr>
          <a:xfrm>
            <a:off x="720000" y="4628517"/>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0A5B8D48-E131-B36D-C6A1-1D6706BAAE44}"/>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A921A29B-B5C6-2777-F6B9-A8DF5D016020}"/>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CB1AAFAC-F8A0-C057-2F06-36C5E1AE3CA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EDA0DA70-F511-0EB9-C3E6-89483BAB4CDC}"/>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D68E7CDB-4B03-6B81-9182-2EC1117648C9}"/>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C1062F57-F680-BDCF-E43C-721622495479}"/>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700929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 </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3439591031"/>
              </p:ext>
            </p:extLst>
          </p:nvPr>
        </p:nvGraphicFramePr>
        <p:xfrm>
          <a:off x="720000" y="1097558"/>
          <a:ext cx="8135998" cy="3359966"/>
        </p:xfrm>
        <a:graphic>
          <a:graphicData uri="http://schemas.openxmlformats.org/drawingml/2006/table">
            <a:tbl>
              <a:tblPr firstRow="1" bandRow="1">
                <a:tableStyleId>{7E9639D4-E3E2-4D34-9284-5A2195B3D0D7}</a:tableStyleId>
              </a:tblPr>
              <a:tblGrid>
                <a:gridCol w="81488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949012">
                  <a:extLst>
                    <a:ext uri="{9D8B030D-6E8A-4147-A177-3AD203B41FA5}">
                      <a16:colId xmlns:a16="http://schemas.microsoft.com/office/drawing/2014/main" val="20003"/>
                    </a:ext>
                  </a:extLst>
                </a:gridCol>
              </a:tblGrid>
              <a:tr h="263569">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ValuationFY25</a:t>
                      </a:r>
                    </a:p>
                  </a:txBody>
                  <a:tcPr marL="68580" marR="68580" marT="34290" marB="34290" anchor="ctr">
                    <a:solidFill>
                      <a:schemeClr val="bg2"/>
                    </a:solidFill>
                  </a:tcPr>
                </a:tc>
                <a:tc>
                  <a:txBody>
                    <a:bodyPr/>
                    <a:lstStyle/>
                    <a:p>
                      <a:pPr algn="ctr"/>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1072067">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IT</a:t>
                      </a:r>
                    </a:p>
                  </a:txBody>
                  <a:tcPr anchor="ctr"/>
                </a:tc>
                <a:tc>
                  <a:txBody>
                    <a:bodyPr/>
                    <a:lstStyle/>
                    <a:p>
                      <a:r>
                        <a:rPr lang="en-US" sz="1000" dirty="0"/>
                        <a:t>Indian IT majors are actively partnering with leading AI platforms, repositioning themselves as AI led transformation partners. The sector has seen a sharp valuation correction driven by AI disruption fears, which we believe is an overreaction to medium term structural concerns. We continue to stay invested given strong deal pipelines and an improving demand outlook</a:t>
                      </a:r>
                    </a:p>
                  </a:txBody>
                  <a:tcPr anchor="ctr"/>
                </a:tc>
                <a:tc>
                  <a:txBody>
                    <a:bodyPr/>
                    <a:lstStyle/>
                    <a:p>
                      <a:pPr algn="ctr"/>
                      <a:r>
                        <a:rPr lang="en-US" sz="1000" dirty="0">
                          <a:latin typeface="+mj-lt"/>
                        </a:rPr>
                        <a:t>Trailing P/BV below -2 SD</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bg1"/>
                    </a:solidFill>
                  </a:tcPr>
                </a:tc>
                <a:tc>
                  <a:txBody>
                    <a:bodyPr/>
                    <a:lstStyle/>
                    <a:p>
                      <a:pPr algn="ctr"/>
                      <a:r>
                        <a:rPr lang="en-US" sz="1000" b="0" dirty="0">
                          <a:solidFill>
                            <a:schemeClr val="tx1"/>
                          </a:solidFill>
                          <a:latin typeface="+mj-lt"/>
                          <a:ea typeface="Calibri" panose="020F0502020204030204" pitchFamily="34" charset="0"/>
                          <a:cs typeface="Calibri" panose="020F0502020204030204" pitchFamily="34" charset="0"/>
                        </a:rPr>
                        <a:t>Stock Specific</a:t>
                      </a:r>
                    </a:p>
                  </a:txBody>
                  <a:tcPr anchor="ctr">
                    <a:solidFill>
                      <a:schemeClr val="accent2"/>
                    </a:solidFill>
                  </a:tcPr>
                </a:tc>
                <a:extLst>
                  <a:ext uri="{0D108BD9-81ED-4DB2-BD59-A6C34878D82A}">
                    <a16:rowId xmlns:a16="http://schemas.microsoft.com/office/drawing/2014/main" val="10001"/>
                  </a:ext>
                </a:extLst>
              </a:tr>
              <a:tr h="952263">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Pharma</a:t>
                      </a:r>
                    </a:p>
                  </a:txBody>
                  <a:tcPr anchor="ctr"/>
                </a:tc>
                <a:tc>
                  <a:txBody>
                    <a:bodyPr/>
                    <a:lstStyle/>
                    <a:p>
                      <a:pPr algn="just"/>
                      <a:r>
                        <a:rPr lang="en-US" sz="1000" dirty="0"/>
                        <a:t>Healthcare remains defensive with non-discretionary demand, offering earnings visibility. Domestically, branded formulations gain on chronic therapy momentum, with GLP-1 launches as a near-term catalyst. US generics face pricing pressure and intense competition, limiting margin expansion. Sector remains constructively positioned</a:t>
                      </a:r>
                      <a:endParaRPr lang="en-US" sz="1000" strike="sngStrike" dirty="0">
                        <a:highlight>
                          <a:srgbClr val="00FFFF"/>
                        </a:highlight>
                        <a:latin typeface="+mj-lt"/>
                      </a:endParaRPr>
                    </a:p>
                  </a:txBody>
                  <a:tcPr anchor="ctr"/>
                </a:tc>
                <a:tc>
                  <a:txBody>
                    <a:bodyPr/>
                    <a:lstStyle/>
                    <a:p>
                      <a:pPr algn="ctr"/>
                      <a:r>
                        <a:rPr lang="en-US" sz="1000" dirty="0">
                          <a:latin typeface="+mj-lt"/>
                        </a:rPr>
                        <a:t>Trailing P/BV near +1 SD</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accent2"/>
                    </a:solidFill>
                  </a:tcPr>
                </a:tc>
                <a:extLst>
                  <a:ext uri="{0D108BD9-81ED-4DB2-BD59-A6C34878D82A}">
                    <a16:rowId xmlns:a16="http://schemas.microsoft.com/office/drawing/2014/main" val="10002"/>
                  </a:ext>
                </a:extLst>
              </a:tr>
              <a:tr h="1072067">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Chemicals</a:t>
                      </a:r>
                    </a:p>
                  </a:txBody>
                  <a:tcPr anchor="ctr"/>
                </a:tc>
                <a:tc>
                  <a:txBody>
                    <a:bodyPr/>
                    <a:lstStyle/>
                    <a:p>
                      <a:pPr lvl="0" algn="just"/>
                      <a:r>
                        <a:rPr lang="en-US" sz="1000" dirty="0">
                          <a:latin typeface="+mj-lt"/>
                        </a:rPr>
                        <a:t>Chemical sector under pressure with FY26 EPS cuts up to 67% amid weak demand, inventory destocking, and global oversupply from China. Margins broadly contracted, few resilient. Near-term outlook bearish with overcapacity and sluggish global demand</a:t>
                      </a:r>
                      <a:endParaRPr lang="en-US" sz="1000" b="0" i="0" u="none" strike="noStrike" cap="none" dirty="0">
                        <a:solidFill>
                          <a:schemeClr val="tx1"/>
                        </a:solidFill>
                        <a:effectLst/>
                        <a:latin typeface="+mj-lt"/>
                        <a:ea typeface="+mn-ea"/>
                        <a:cs typeface="+mn-cs"/>
                        <a:sym typeface="Arial"/>
                      </a:endParaRPr>
                    </a:p>
                  </a:txBody>
                  <a:tcPr anchor="ctr"/>
                </a:tc>
                <a:tc>
                  <a:txBody>
                    <a:bodyPr/>
                    <a:lstStyle/>
                    <a:p>
                      <a:pPr algn="ctr"/>
                      <a:r>
                        <a:rPr lang="en-US" sz="1000" b="0" dirty="0">
                          <a:solidFill>
                            <a:schemeClr val="tx1"/>
                          </a:solidFill>
                          <a:latin typeface="+mj-lt"/>
                          <a:ea typeface="Calibri" panose="020F0502020204030204" pitchFamily="34" charset="0"/>
                          <a:cs typeface="Calibri" panose="020F0502020204030204" pitchFamily="34" charset="0"/>
                        </a:rPr>
                        <a:t>Trailing P/BV fairly valued</a:t>
                      </a:r>
                    </a:p>
                  </a:txBody>
                  <a:tcPr anchor="ctr">
                    <a:solidFill>
                      <a:schemeClr val="accent2"/>
                    </a:solidFill>
                  </a:tcPr>
                </a:tc>
                <a:tc>
                  <a:txBody>
                    <a:bodyPr/>
                    <a:lstStyle/>
                    <a:p>
                      <a:pPr algn="ctr"/>
                      <a:r>
                        <a:rPr lang="en-US" sz="1000" b="0" baseline="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accent2"/>
                    </a:solidFill>
                  </a:tcPr>
                </a:tc>
                <a:extLst>
                  <a:ext uri="{0D108BD9-81ED-4DB2-BD59-A6C34878D82A}">
                    <a16:rowId xmlns:a16="http://schemas.microsoft.com/office/drawing/2014/main" val="4191346065"/>
                  </a:ext>
                </a:extLst>
              </a:tr>
            </a:tbl>
          </a:graphicData>
        </a:graphic>
      </p:graphicFrame>
      <p:sp>
        <p:nvSpPr>
          <p:cNvPr id="2" name="TextBox 1">
            <a:extLst>
              <a:ext uri="{FF2B5EF4-FFF2-40B4-BE49-F238E27FC236}">
                <a16:creationId xmlns:a16="http://schemas.microsoft.com/office/drawing/2014/main" id="{658AECD7-5B33-92C3-16C1-1331BC9AFC75}"/>
              </a:ext>
            </a:extLst>
          </p:cNvPr>
          <p:cNvSpPr txBox="1"/>
          <p:nvPr/>
        </p:nvSpPr>
        <p:spPr>
          <a:xfrm>
            <a:off x="817758" y="4641031"/>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8B58B6AD-48AE-F694-D4B3-FD71722A2758}"/>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BFB472E2-4F1F-82B1-A7AE-E42887406DF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A7E92677-0F6B-53D7-F269-7E763379BE93}"/>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7BFA5D9D-4D1C-6AC2-D718-FDC936FF598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3DF62E22-3CBD-7B2D-6171-36453BFF56B6}"/>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428A1629-1457-9103-A63C-1A7FADEF5CE0}"/>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467294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46101" y="368375"/>
            <a:ext cx="5695520"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 FIIs flows turn positive in Feb-26</a:t>
            </a:r>
            <a:endParaRPr lang="en-US" sz="2800" dirty="0">
              <a:latin typeface="+mn-lt"/>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0D216D4-5037-4C2B-B9D1-877C81A688C4}"/>
              </a:ext>
            </a:extLst>
          </p:cNvPr>
          <p:cNvSpPr txBox="1"/>
          <p:nvPr/>
        </p:nvSpPr>
        <p:spPr>
          <a:xfrm>
            <a:off x="4278086" y="4450965"/>
            <a:ext cx="4774913" cy="33855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Source: Moneycontrol.com</a:t>
            </a:r>
          </a:p>
          <a:p>
            <a:pPr algn="r"/>
            <a:r>
              <a:rPr lang="en-IN" sz="800" dirty="0">
                <a:latin typeface="Calibri" panose="020F0502020204030204" pitchFamily="34" charset="0"/>
                <a:ea typeface="Calibri" panose="020F0502020204030204" pitchFamily="34" charset="0"/>
                <a:cs typeface="Calibri" panose="020F0502020204030204" pitchFamily="34" charset="0"/>
              </a:rPr>
              <a:t>FII &amp;DII data as on 27</a:t>
            </a:r>
            <a:r>
              <a:rPr lang="en-IN" sz="800" baseline="30000" dirty="0">
                <a:latin typeface="Calibri" panose="020F0502020204030204" pitchFamily="34" charset="0"/>
                <a:ea typeface="Calibri" panose="020F0502020204030204" pitchFamily="34" charset="0"/>
                <a:cs typeface="Calibri" panose="020F0502020204030204" pitchFamily="34" charset="0"/>
              </a:rPr>
              <a:t>th</a:t>
            </a:r>
            <a:r>
              <a:rPr lang="en-IN" sz="800" dirty="0">
                <a:latin typeface="Calibri" panose="020F0502020204030204" pitchFamily="34" charset="0"/>
                <a:ea typeface="Calibri" panose="020F0502020204030204" pitchFamily="34" charset="0"/>
                <a:cs typeface="Calibri" panose="020F0502020204030204" pitchFamily="34" charset="0"/>
              </a:rPr>
              <a:t> Feb-26  </a:t>
            </a:r>
          </a:p>
        </p:txBody>
      </p:sp>
      <p:sp>
        <p:nvSpPr>
          <p:cNvPr id="4" name="TextBox 3">
            <a:extLst>
              <a:ext uri="{FF2B5EF4-FFF2-40B4-BE49-F238E27FC236}">
                <a16:creationId xmlns:a16="http://schemas.microsoft.com/office/drawing/2014/main" id="{3293F608-2FB5-A8D2-B31B-85998ABE1CD6}"/>
              </a:ext>
            </a:extLst>
          </p:cNvPr>
          <p:cNvSpPr txBox="1"/>
          <p:nvPr/>
        </p:nvSpPr>
        <p:spPr>
          <a:xfrm>
            <a:off x="577252" y="4066827"/>
            <a:ext cx="7241801" cy="261610"/>
          </a:xfrm>
          <a:prstGeom prst="rect">
            <a:avLst/>
          </a:prstGeom>
          <a:noFill/>
          <a:ln w="6350">
            <a:solidFill>
              <a:schemeClr val="tx1"/>
            </a:solidFill>
          </a:ln>
        </p:spPr>
        <p:txBody>
          <a:bodyPr wrap="square">
            <a:spAutoFit/>
          </a:bodyPr>
          <a:lstStyle/>
          <a:p>
            <a:pPr marL="171450" indent="-171450">
              <a:buFont typeface="Wingdings" panose="05000000000000000000" pitchFamily="2" charset="2"/>
              <a:buChar char="q"/>
            </a:pPr>
            <a:r>
              <a:rPr lang="en-US" sz="1100" dirty="0"/>
              <a:t>DIIs buying moderated  while FIIs turned buyers </a:t>
            </a:r>
            <a:endParaRPr lang="en-US" sz="1100" dirty="0">
              <a:latin typeface="+mj-lt"/>
            </a:endParaRPr>
          </a:p>
        </p:txBody>
      </p:sp>
      <p:grpSp>
        <p:nvGrpSpPr>
          <p:cNvPr id="5" name="Google Shape;262;p6">
            <a:extLst>
              <a:ext uri="{FF2B5EF4-FFF2-40B4-BE49-F238E27FC236}">
                <a16:creationId xmlns:a16="http://schemas.microsoft.com/office/drawing/2014/main" id="{00316FCA-DF16-BEAF-DC0D-7A08823A80FF}"/>
              </a:ext>
            </a:extLst>
          </p:cNvPr>
          <p:cNvGrpSpPr/>
          <p:nvPr/>
        </p:nvGrpSpPr>
        <p:grpSpPr>
          <a:xfrm>
            <a:off x="-25" y="4872600"/>
            <a:ext cx="9144000" cy="270900"/>
            <a:chOff x="-25" y="4872600"/>
            <a:chExt cx="9144000" cy="270900"/>
          </a:xfrm>
        </p:grpSpPr>
        <p:sp>
          <p:nvSpPr>
            <p:cNvPr id="6" name="Google Shape;263;p6">
              <a:extLst>
                <a:ext uri="{FF2B5EF4-FFF2-40B4-BE49-F238E27FC236}">
                  <a16:creationId xmlns:a16="http://schemas.microsoft.com/office/drawing/2014/main" id="{9C4F68EB-969C-2C44-DB82-470BED496D2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7" name="Google Shape;264;p6">
              <a:extLst>
                <a:ext uri="{FF2B5EF4-FFF2-40B4-BE49-F238E27FC236}">
                  <a16:creationId xmlns:a16="http://schemas.microsoft.com/office/drawing/2014/main" id="{BAC8779C-694B-C91F-BF50-7E2C68CA5E21}"/>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97695A90-D7E7-F1CB-78EC-DA38093850E0}"/>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13CAEA80-D5A2-55B1-50A1-BD97D196785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C5C31158-9C92-9418-16F6-C81518685E6F}"/>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2" name="Chart 1">
            <a:extLst>
              <a:ext uri="{FF2B5EF4-FFF2-40B4-BE49-F238E27FC236}">
                <a16:creationId xmlns:a16="http://schemas.microsoft.com/office/drawing/2014/main" id="{9B6E021B-7B91-4F6F-9281-EAA1EF796A4C}"/>
              </a:ext>
            </a:extLst>
          </p:cNvPr>
          <p:cNvGraphicFramePr/>
          <p:nvPr>
            <p:extLst>
              <p:ext uri="{D42A27DB-BD31-4B8C-83A1-F6EECF244321}">
                <p14:modId xmlns:p14="http://schemas.microsoft.com/office/powerpoint/2010/main" val="3398063755"/>
              </p:ext>
            </p:extLst>
          </p:nvPr>
        </p:nvGraphicFramePr>
        <p:xfrm>
          <a:off x="577251" y="1073581"/>
          <a:ext cx="7241801" cy="270144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95810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grpSp>
        <p:nvGrpSpPr>
          <p:cNvPr id="286" name="Google Shape;286;p5"/>
          <p:cNvGrpSpPr/>
          <p:nvPr/>
        </p:nvGrpSpPr>
        <p:grpSpPr>
          <a:xfrm>
            <a:off x="550455" y="175900"/>
            <a:ext cx="1955750" cy="4609200"/>
            <a:chOff x="463525" y="540450"/>
            <a:chExt cx="1697700" cy="4609200"/>
          </a:xfrm>
        </p:grpSpPr>
        <p:cxnSp>
          <p:nvCxnSpPr>
            <p:cNvPr id="287" name="Google Shape;287;p5"/>
            <p:cNvCxnSpPr/>
            <p:nvPr/>
          </p:nvCxnSpPr>
          <p:spPr>
            <a:xfrm>
              <a:off x="463525" y="542075"/>
              <a:ext cx="1697700" cy="0"/>
            </a:xfrm>
            <a:prstGeom prst="straightConnector1">
              <a:avLst/>
            </a:prstGeom>
            <a:noFill/>
            <a:ln w="9525" cap="flat" cmpd="sng">
              <a:solidFill>
                <a:schemeClr val="dk1"/>
              </a:solidFill>
              <a:prstDash val="solid"/>
              <a:round/>
              <a:headEnd type="none" w="sm" len="sm"/>
              <a:tailEnd type="none" w="sm" len="sm"/>
            </a:ln>
          </p:spPr>
        </p:cxnSp>
        <p:cxnSp>
          <p:nvCxnSpPr>
            <p:cNvPr id="288" name="Google Shape;288;p5"/>
            <p:cNvCxnSpPr/>
            <p:nvPr/>
          </p:nvCxnSpPr>
          <p:spPr>
            <a:xfrm>
              <a:off x="465800" y="540450"/>
              <a:ext cx="0" cy="4609200"/>
            </a:xfrm>
            <a:prstGeom prst="straightConnector1">
              <a:avLst/>
            </a:prstGeom>
            <a:noFill/>
            <a:ln w="9525" cap="flat" cmpd="sng">
              <a:solidFill>
                <a:schemeClr val="dk1"/>
              </a:solidFill>
              <a:prstDash val="solid"/>
              <a:round/>
              <a:headEnd type="none" w="sm" len="sm"/>
              <a:tailEnd type="none" w="sm" len="sm"/>
            </a:ln>
          </p:spPr>
        </p:cxnSp>
      </p:grpSp>
      <p:sp>
        <p:nvSpPr>
          <p:cNvPr id="289" name="Google Shape;289;p5"/>
          <p:cNvSpPr txBox="1">
            <a:spLocks noGrp="1"/>
          </p:cNvSpPr>
          <p:nvPr>
            <p:ph type="title"/>
          </p:nvPr>
        </p:nvSpPr>
        <p:spPr>
          <a:xfrm>
            <a:off x="2119775" y="1628170"/>
            <a:ext cx="4904400" cy="1600200"/>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dirty="0">
                <a:latin typeface="Calibri" panose="020F0502020204030204" pitchFamily="34" charset="0"/>
                <a:ea typeface="Calibri" panose="020F0502020204030204" pitchFamily="34" charset="0"/>
                <a:cs typeface="Calibri" panose="020F0502020204030204" pitchFamily="34" charset="0"/>
              </a:rPr>
              <a:t>Global Update</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 name="Google Shape;832;p36">
            <a:extLst>
              <a:ext uri="{FF2B5EF4-FFF2-40B4-BE49-F238E27FC236}">
                <a16:creationId xmlns:a16="http://schemas.microsoft.com/office/drawing/2014/main" id="{C6FC1D95-C845-4365-831D-DAEB2F513E48}"/>
              </a:ext>
            </a:extLst>
          </p:cNvPr>
          <p:cNvSpPr/>
          <p:nvPr/>
        </p:nvSpPr>
        <p:spPr>
          <a:xfrm>
            <a:off x="970666" y="1969281"/>
            <a:ext cx="871576" cy="995792"/>
          </a:xfrm>
          <a:custGeom>
            <a:avLst/>
            <a:gdLst/>
            <a:ahLst/>
            <a:cxnLst/>
            <a:rect l="l" t="t" r="r" b="b"/>
            <a:pathLst>
              <a:path w="10740" h="12240" extrusionOk="0">
                <a:moveTo>
                  <a:pt x="5441" y="714"/>
                </a:moveTo>
                <a:cubicBezTo>
                  <a:pt x="5310" y="714"/>
                  <a:pt x="5049" y="1084"/>
                  <a:pt x="4882" y="1786"/>
                </a:cubicBezTo>
                <a:lnTo>
                  <a:pt x="6013" y="1786"/>
                </a:lnTo>
                <a:cubicBezTo>
                  <a:pt x="5834" y="1084"/>
                  <a:pt x="5584" y="714"/>
                  <a:pt x="5441" y="714"/>
                </a:cubicBezTo>
                <a:close/>
                <a:moveTo>
                  <a:pt x="5441" y="0"/>
                </a:moveTo>
                <a:cubicBezTo>
                  <a:pt x="4179" y="0"/>
                  <a:pt x="3096" y="750"/>
                  <a:pt x="2560" y="1798"/>
                </a:cubicBezTo>
                <a:lnTo>
                  <a:pt x="4156" y="1798"/>
                </a:lnTo>
                <a:cubicBezTo>
                  <a:pt x="4358" y="774"/>
                  <a:pt x="4787" y="0"/>
                  <a:pt x="5441" y="0"/>
                </a:cubicBezTo>
                <a:close/>
                <a:moveTo>
                  <a:pt x="5441" y="0"/>
                </a:moveTo>
                <a:cubicBezTo>
                  <a:pt x="6096" y="0"/>
                  <a:pt x="6537" y="774"/>
                  <a:pt x="6739" y="1798"/>
                </a:cubicBezTo>
                <a:lnTo>
                  <a:pt x="8335" y="1798"/>
                </a:lnTo>
                <a:cubicBezTo>
                  <a:pt x="7799" y="750"/>
                  <a:pt x="6715" y="0"/>
                  <a:pt x="5441" y="0"/>
                </a:cubicBezTo>
                <a:close/>
                <a:moveTo>
                  <a:pt x="2286" y="2512"/>
                </a:moveTo>
                <a:cubicBezTo>
                  <a:pt x="2227" y="2750"/>
                  <a:pt x="2203" y="2989"/>
                  <a:pt x="2203" y="3227"/>
                </a:cubicBezTo>
                <a:cubicBezTo>
                  <a:pt x="2203" y="3489"/>
                  <a:pt x="2227" y="3727"/>
                  <a:pt x="2286" y="3941"/>
                </a:cubicBezTo>
                <a:lnTo>
                  <a:pt x="4036" y="3941"/>
                </a:lnTo>
                <a:cubicBezTo>
                  <a:pt x="4013" y="3703"/>
                  <a:pt x="4001" y="3465"/>
                  <a:pt x="4001" y="3227"/>
                </a:cubicBezTo>
                <a:cubicBezTo>
                  <a:pt x="4001" y="2989"/>
                  <a:pt x="4013" y="2750"/>
                  <a:pt x="4036" y="2512"/>
                </a:cubicBezTo>
                <a:close/>
                <a:moveTo>
                  <a:pt x="4763" y="2512"/>
                </a:moveTo>
                <a:cubicBezTo>
                  <a:pt x="4727" y="2738"/>
                  <a:pt x="4715" y="2977"/>
                  <a:pt x="4715" y="3227"/>
                </a:cubicBezTo>
                <a:cubicBezTo>
                  <a:pt x="4715" y="3500"/>
                  <a:pt x="4727" y="3727"/>
                  <a:pt x="4763" y="3941"/>
                </a:cubicBezTo>
                <a:lnTo>
                  <a:pt x="6108" y="3941"/>
                </a:lnTo>
                <a:cubicBezTo>
                  <a:pt x="6144" y="3727"/>
                  <a:pt x="6156" y="3489"/>
                  <a:pt x="6156" y="3227"/>
                </a:cubicBezTo>
                <a:cubicBezTo>
                  <a:pt x="6156" y="2965"/>
                  <a:pt x="6144" y="2738"/>
                  <a:pt x="6108" y="2512"/>
                </a:cubicBezTo>
                <a:close/>
                <a:moveTo>
                  <a:pt x="6846" y="2512"/>
                </a:moveTo>
                <a:cubicBezTo>
                  <a:pt x="6858" y="2750"/>
                  <a:pt x="6870" y="2989"/>
                  <a:pt x="6870" y="3227"/>
                </a:cubicBezTo>
                <a:cubicBezTo>
                  <a:pt x="6870" y="3465"/>
                  <a:pt x="6858" y="3703"/>
                  <a:pt x="6846" y="3941"/>
                </a:cubicBezTo>
                <a:lnTo>
                  <a:pt x="8585" y="3941"/>
                </a:lnTo>
                <a:cubicBezTo>
                  <a:pt x="8644" y="3703"/>
                  <a:pt x="8680" y="3465"/>
                  <a:pt x="8680" y="3227"/>
                </a:cubicBezTo>
                <a:cubicBezTo>
                  <a:pt x="8680" y="2977"/>
                  <a:pt x="8644" y="2738"/>
                  <a:pt x="8585" y="2512"/>
                </a:cubicBezTo>
                <a:close/>
                <a:moveTo>
                  <a:pt x="4882" y="4679"/>
                </a:moveTo>
                <a:cubicBezTo>
                  <a:pt x="5049" y="5370"/>
                  <a:pt x="5310" y="5751"/>
                  <a:pt x="5441" y="5751"/>
                </a:cubicBezTo>
                <a:cubicBezTo>
                  <a:pt x="5584" y="5751"/>
                  <a:pt x="5846" y="5370"/>
                  <a:pt x="6013" y="4679"/>
                </a:cubicBezTo>
                <a:close/>
                <a:moveTo>
                  <a:pt x="2560" y="4679"/>
                </a:moveTo>
                <a:cubicBezTo>
                  <a:pt x="3095" y="5725"/>
                  <a:pt x="4175" y="6474"/>
                  <a:pt x="5434" y="6477"/>
                </a:cubicBezTo>
                <a:lnTo>
                  <a:pt x="5434" y="6477"/>
                </a:lnTo>
                <a:cubicBezTo>
                  <a:pt x="5432" y="6477"/>
                  <a:pt x="5431" y="6477"/>
                  <a:pt x="5430" y="6477"/>
                </a:cubicBezTo>
                <a:cubicBezTo>
                  <a:pt x="5432" y="6477"/>
                  <a:pt x="5434" y="6477"/>
                  <a:pt x="5436" y="6477"/>
                </a:cubicBezTo>
                <a:lnTo>
                  <a:pt x="5436" y="6477"/>
                </a:lnTo>
                <a:cubicBezTo>
                  <a:pt x="5437" y="6477"/>
                  <a:pt x="5439" y="6477"/>
                  <a:pt x="5441" y="6477"/>
                </a:cubicBezTo>
                <a:cubicBezTo>
                  <a:pt x="5440" y="6477"/>
                  <a:pt x="5439" y="6477"/>
                  <a:pt x="5437" y="6477"/>
                </a:cubicBezTo>
                <a:lnTo>
                  <a:pt x="5437" y="6477"/>
                </a:lnTo>
                <a:cubicBezTo>
                  <a:pt x="6720" y="6474"/>
                  <a:pt x="7800" y="5725"/>
                  <a:pt x="8323" y="4679"/>
                </a:cubicBezTo>
                <a:lnTo>
                  <a:pt x="6727" y="4679"/>
                </a:lnTo>
                <a:cubicBezTo>
                  <a:pt x="6514" y="5688"/>
                  <a:pt x="6087" y="6472"/>
                  <a:pt x="5435" y="6477"/>
                </a:cubicBezTo>
                <a:lnTo>
                  <a:pt x="5435" y="6477"/>
                </a:lnTo>
                <a:cubicBezTo>
                  <a:pt x="4784" y="6472"/>
                  <a:pt x="4357" y="5688"/>
                  <a:pt x="4156" y="4679"/>
                </a:cubicBezTo>
                <a:close/>
                <a:moveTo>
                  <a:pt x="10371" y="5763"/>
                </a:moveTo>
                <a:cubicBezTo>
                  <a:pt x="9728" y="5763"/>
                  <a:pt x="9156" y="6120"/>
                  <a:pt x="8870" y="6668"/>
                </a:cubicBezTo>
                <a:lnTo>
                  <a:pt x="7763" y="8763"/>
                </a:lnTo>
                <a:cubicBezTo>
                  <a:pt x="7573" y="9120"/>
                  <a:pt x="7215" y="9346"/>
                  <a:pt x="6811" y="9346"/>
                </a:cubicBezTo>
                <a:lnTo>
                  <a:pt x="4370" y="9346"/>
                </a:lnTo>
                <a:cubicBezTo>
                  <a:pt x="4179" y="9346"/>
                  <a:pt x="4013" y="9180"/>
                  <a:pt x="4013" y="8989"/>
                </a:cubicBezTo>
                <a:cubicBezTo>
                  <a:pt x="4013" y="8799"/>
                  <a:pt x="4179" y="8632"/>
                  <a:pt x="4370" y="8632"/>
                </a:cubicBezTo>
                <a:lnTo>
                  <a:pt x="6811" y="8632"/>
                </a:lnTo>
                <a:cubicBezTo>
                  <a:pt x="6954" y="8632"/>
                  <a:pt x="7073" y="8561"/>
                  <a:pt x="7132" y="8442"/>
                </a:cubicBezTo>
                <a:cubicBezTo>
                  <a:pt x="7192" y="8322"/>
                  <a:pt x="7382" y="7965"/>
                  <a:pt x="7549" y="7656"/>
                </a:cubicBezTo>
                <a:cubicBezTo>
                  <a:pt x="7585" y="7549"/>
                  <a:pt x="7585" y="7441"/>
                  <a:pt x="7525" y="7334"/>
                </a:cubicBezTo>
                <a:cubicBezTo>
                  <a:pt x="7465" y="7251"/>
                  <a:pt x="7370" y="7191"/>
                  <a:pt x="7263" y="7191"/>
                </a:cubicBezTo>
                <a:lnTo>
                  <a:pt x="3525" y="7191"/>
                </a:lnTo>
                <a:cubicBezTo>
                  <a:pt x="3048" y="7191"/>
                  <a:pt x="2584" y="7382"/>
                  <a:pt x="2262" y="7715"/>
                </a:cubicBezTo>
                <a:lnTo>
                  <a:pt x="131" y="9835"/>
                </a:lnTo>
                <a:cubicBezTo>
                  <a:pt x="0" y="9977"/>
                  <a:pt x="0" y="10216"/>
                  <a:pt x="131" y="10347"/>
                </a:cubicBezTo>
                <a:lnTo>
                  <a:pt x="1929" y="12132"/>
                </a:lnTo>
                <a:cubicBezTo>
                  <a:pt x="2012" y="12204"/>
                  <a:pt x="2096" y="12240"/>
                  <a:pt x="2191" y="12240"/>
                </a:cubicBezTo>
                <a:cubicBezTo>
                  <a:pt x="2274" y="12240"/>
                  <a:pt x="2370" y="12204"/>
                  <a:pt x="2441" y="12132"/>
                </a:cubicBezTo>
                <a:lnTo>
                  <a:pt x="3810" y="10775"/>
                </a:lnTo>
                <a:lnTo>
                  <a:pt x="6811" y="10775"/>
                </a:lnTo>
                <a:cubicBezTo>
                  <a:pt x="7751" y="10775"/>
                  <a:pt x="8597" y="10251"/>
                  <a:pt x="9049" y="9418"/>
                </a:cubicBezTo>
                <a:lnTo>
                  <a:pt x="10704" y="6263"/>
                </a:lnTo>
                <a:cubicBezTo>
                  <a:pt x="10740" y="6191"/>
                  <a:pt x="10740" y="6060"/>
                  <a:pt x="10680" y="5941"/>
                </a:cubicBezTo>
                <a:cubicBezTo>
                  <a:pt x="10621" y="5834"/>
                  <a:pt x="10502" y="5763"/>
                  <a:pt x="10371" y="5763"/>
                </a:cubicBezTo>
                <a:close/>
              </a:path>
            </a:pathLst>
          </a:custGeom>
          <a:solidFill>
            <a:schemeClr val="bg1">
              <a:lumMod val="50000"/>
            </a:schemeClr>
          </a:solidFill>
          <a:ln>
            <a:solidFill>
              <a:schemeClr val="tx1"/>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grpSp>
        <p:nvGrpSpPr>
          <p:cNvPr id="2" name="Google Shape;262;p6">
            <a:extLst>
              <a:ext uri="{FF2B5EF4-FFF2-40B4-BE49-F238E27FC236}">
                <a16:creationId xmlns:a16="http://schemas.microsoft.com/office/drawing/2014/main" id="{A8210EAB-1BAD-FD0D-1549-FDBDCEB34D73}"/>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DD922339-7516-0B5B-764B-516D99285EC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59AB65E3-7A91-632A-FFFB-8A1B8383B9DD}"/>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68CE6D3B-D5E7-BE28-45B1-9638458FEEB4}"/>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4F09A209-FCF8-1A23-D957-DB01C0CDD26E}"/>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BE055D3A-3F88-3183-4D4D-C38DD54ADAD5}"/>
              </a:ext>
            </a:extLst>
          </p:cNvPr>
          <p:cNvPicPr>
            <a:picLocks noChangeAspect="1"/>
          </p:cNvPicPr>
          <p:nvPr/>
        </p:nvPicPr>
        <p:blipFill>
          <a:blip r:embed="rId3"/>
          <a:stretch>
            <a:fillRect/>
          </a:stretch>
        </p:blipFill>
        <p:spPr>
          <a:xfrm>
            <a:off x="7819053" y="116485"/>
            <a:ext cx="1190504" cy="5660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E82DEFF-458F-7A1A-EDBB-63021EBE64F4}"/>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AB08C25B-AB69-5C3B-1BB7-1C7B74E4BD62}"/>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INR depreciates CYTD &amp; DXY surges</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3044923-59C6-832D-5D2E-D168CD845244}"/>
              </a:ext>
            </a:extLst>
          </p:cNvPr>
          <p:cNvSpPr txBox="1"/>
          <p:nvPr/>
        </p:nvSpPr>
        <p:spPr>
          <a:xfrm>
            <a:off x="609243" y="3999616"/>
            <a:ext cx="4795382"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lnSpc>
                <a:spcPct val="150000"/>
              </a:lnSpc>
              <a:buFont typeface="Wingdings" panose="05000000000000000000" pitchFamily="2" charset="2"/>
              <a:buChar char="q"/>
            </a:pPr>
            <a:r>
              <a:rPr lang="en-US" dirty="0">
                <a:solidFill>
                  <a:schemeClr val="tx1"/>
                </a:solidFill>
              </a:rPr>
              <a:t>INR has depreciated by ~1.5% CYTD against global currencies</a:t>
            </a:r>
          </a:p>
          <a:p>
            <a:pPr marL="171450" indent="-171450">
              <a:lnSpc>
                <a:spcPct val="150000"/>
              </a:lnSpc>
              <a:buFont typeface="Wingdings" panose="05000000000000000000" pitchFamily="2" charset="2"/>
              <a:buChar char="q"/>
            </a:pPr>
            <a:r>
              <a:rPr lang="en-US" dirty="0">
                <a:solidFill>
                  <a:schemeClr val="tx1"/>
                </a:solidFill>
                <a:ea typeface="Calibri" panose="020F0502020204030204" pitchFamily="34" charset="0"/>
                <a:cs typeface="Calibri" panose="020F0502020204030204" pitchFamily="34" charset="0"/>
              </a:rPr>
              <a:t>Dollar Index has gained since Feb-26 </a:t>
            </a:r>
          </a:p>
        </p:txBody>
      </p:sp>
      <p:grpSp>
        <p:nvGrpSpPr>
          <p:cNvPr id="2" name="Google Shape;262;p6">
            <a:extLst>
              <a:ext uri="{FF2B5EF4-FFF2-40B4-BE49-F238E27FC236}">
                <a16:creationId xmlns:a16="http://schemas.microsoft.com/office/drawing/2014/main" id="{46A6E37A-45EF-FF82-60D2-CE53AC36E415}"/>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F26D2A0D-CBD9-FF00-9993-6544F1A83F47}"/>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0996B8A2-B8A9-A232-17BD-25E79C463327}"/>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C11CD829-C6CA-3284-3F4C-AEEAD473AA56}"/>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F00EED57-1DFB-CE10-816B-3B06B94F97D9}"/>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F5FD1F5B-7671-8F61-6D7D-558956D7E9D4}"/>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12" name="Picture 11">
            <a:extLst>
              <a:ext uri="{FF2B5EF4-FFF2-40B4-BE49-F238E27FC236}">
                <a16:creationId xmlns:a16="http://schemas.microsoft.com/office/drawing/2014/main" id="{0BCB64F0-5169-5898-5D89-47E587FEF9F0}"/>
              </a:ext>
            </a:extLst>
          </p:cNvPr>
          <p:cNvPicPr>
            <a:picLocks noChangeAspect="1"/>
          </p:cNvPicPr>
          <p:nvPr/>
        </p:nvPicPr>
        <p:blipFill>
          <a:blip r:embed="rId4"/>
          <a:stretch>
            <a:fillRect/>
          </a:stretch>
        </p:blipFill>
        <p:spPr>
          <a:xfrm>
            <a:off x="609242" y="1186916"/>
            <a:ext cx="3684536" cy="2497449"/>
          </a:xfrm>
          <a:prstGeom prst="rect">
            <a:avLst/>
          </a:prstGeom>
          <a:ln>
            <a:solidFill>
              <a:schemeClr val="tx1"/>
            </a:solidFill>
          </a:ln>
        </p:spPr>
      </p:pic>
      <p:pic>
        <p:nvPicPr>
          <p:cNvPr id="14" name="Picture 13">
            <a:extLst>
              <a:ext uri="{FF2B5EF4-FFF2-40B4-BE49-F238E27FC236}">
                <a16:creationId xmlns:a16="http://schemas.microsoft.com/office/drawing/2014/main" id="{2AF5F73E-FBB4-ADEC-CEFA-4F17FF18B594}"/>
              </a:ext>
            </a:extLst>
          </p:cNvPr>
          <p:cNvPicPr>
            <a:picLocks noChangeAspect="1"/>
          </p:cNvPicPr>
          <p:nvPr/>
        </p:nvPicPr>
        <p:blipFill>
          <a:blip r:embed="rId5"/>
          <a:stretch>
            <a:fillRect/>
          </a:stretch>
        </p:blipFill>
        <p:spPr>
          <a:xfrm>
            <a:off x="4850224" y="1215485"/>
            <a:ext cx="3634484" cy="2468880"/>
          </a:xfrm>
          <a:prstGeom prst="rect">
            <a:avLst/>
          </a:prstGeom>
          <a:ln>
            <a:solidFill>
              <a:schemeClr val="tx1"/>
            </a:solidFill>
          </a:ln>
        </p:spPr>
      </p:pic>
      <p:sp>
        <p:nvSpPr>
          <p:cNvPr id="15" name="TextBox 14">
            <a:extLst>
              <a:ext uri="{FF2B5EF4-FFF2-40B4-BE49-F238E27FC236}">
                <a16:creationId xmlns:a16="http://schemas.microsoft.com/office/drawing/2014/main" id="{86FB930F-782B-79EC-A40E-773FED9BF3A9}"/>
              </a:ext>
            </a:extLst>
          </p:cNvPr>
          <p:cNvSpPr txBox="1"/>
          <p:nvPr/>
        </p:nvSpPr>
        <p:spPr>
          <a:xfrm>
            <a:off x="7100738" y="4243209"/>
            <a:ext cx="1807356" cy="461665"/>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JM Financials research</a:t>
            </a:r>
          </a:p>
          <a:p>
            <a:pPr algn="just"/>
            <a:endParaRPr lang="en-US" sz="800" dirty="0">
              <a:latin typeface="+mn-lt"/>
            </a:endParaRPr>
          </a:p>
          <a:p>
            <a:pPr algn="just"/>
            <a:r>
              <a:rPr lang="en-US" sz="800" dirty="0">
                <a:latin typeface="+mn-lt"/>
              </a:rPr>
              <a:t>INR &amp; DXY data as on 5</a:t>
            </a:r>
            <a:r>
              <a:rPr lang="en-US" sz="800" baseline="30000" dirty="0">
                <a:latin typeface="+mn-lt"/>
              </a:rPr>
              <a:t>th</a:t>
            </a:r>
            <a:r>
              <a:rPr lang="en-US" sz="800" dirty="0">
                <a:latin typeface="+mn-lt"/>
              </a:rPr>
              <a:t> March, 2026 </a:t>
            </a:r>
            <a:endParaRPr lang="en-IN" sz="800" dirty="0">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2103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17" name="Picture 16">
            <a:extLst>
              <a:ext uri="{FF2B5EF4-FFF2-40B4-BE49-F238E27FC236}">
                <a16:creationId xmlns:a16="http://schemas.microsoft.com/office/drawing/2014/main" id="{C515428F-8008-4E04-B985-B56CEA173A8A}"/>
              </a:ext>
            </a:extLst>
          </p:cNvPr>
          <p:cNvPicPr>
            <a:picLocks noChangeAspect="1"/>
          </p:cNvPicPr>
          <p:nvPr/>
        </p:nvPicPr>
        <p:blipFill>
          <a:blip r:embed="rId3"/>
          <a:stretch>
            <a:fillRect/>
          </a:stretch>
        </p:blipFill>
        <p:spPr>
          <a:xfrm>
            <a:off x="799260" y="2963592"/>
            <a:ext cx="3474720" cy="1494254"/>
          </a:xfrm>
          <a:prstGeom prst="rect">
            <a:avLst/>
          </a:prstGeom>
          <a:ln>
            <a:solidFill>
              <a:schemeClr val="tx1"/>
            </a:solidFill>
          </a:ln>
        </p:spPr>
      </p:pic>
      <p:pic>
        <p:nvPicPr>
          <p:cNvPr id="14" name="Picture 13">
            <a:extLst>
              <a:ext uri="{FF2B5EF4-FFF2-40B4-BE49-F238E27FC236}">
                <a16:creationId xmlns:a16="http://schemas.microsoft.com/office/drawing/2014/main" id="{F8B7494C-21D9-CDD3-CED3-0B799023BA26}"/>
              </a:ext>
            </a:extLst>
          </p:cNvPr>
          <p:cNvPicPr>
            <a:picLocks noChangeAspect="1"/>
          </p:cNvPicPr>
          <p:nvPr/>
        </p:nvPicPr>
        <p:blipFill>
          <a:blip r:embed="rId4"/>
          <a:stretch>
            <a:fillRect/>
          </a:stretch>
        </p:blipFill>
        <p:spPr>
          <a:xfrm>
            <a:off x="4870020" y="1277996"/>
            <a:ext cx="3474720" cy="1397829"/>
          </a:xfrm>
          <a:prstGeom prst="rect">
            <a:avLst/>
          </a:prstGeom>
          <a:ln>
            <a:solidFill>
              <a:schemeClr val="tx1"/>
            </a:solidFill>
          </a:ln>
        </p:spPr>
      </p:pic>
      <p:pic>
        <p:nvPicPr>
          <p:cNvPr id="8" name="Picture 7">
            <a:extLst>
              <a:ext uri="{FF2B5EF4-FFF2-40B4-BE49-F238E27FC236}">
                <a16:creationId xmlns:a16="http://schemas.microsoft.com/office/drawing/2014/main" id="{1381666A-724B-ED2A-337A-A0314CC6842E}"/>
              </a:ext>
            </a:extLst>
          </p:cNvPr>
          <p:cNvPicPr>
            <a:picLocks noChangeAspect="1"/>
          </p:cNvPicPr>
          <p:nvPr/>
        </p:nvPicPr>
        <p:blipFill>
          <a:blip r:embed="rId5"/>
          <a:stretch>
            <a:fillRect/>
          </a:stretch>
        </p:blipFill>
        <p:spPr>
          <a:xfrm>
            <a:off x="799260" y="1284213"/>
            <a:ext cx="3474720" cy="1420851"/>
          </a:xfrm>
          <a:prstGeom prst="rect">
            <a:avLst/>
          </a:prstGeom>
          <a:ln>
            <a:solidFill>
              <a:schemeClr val="tx1"/>
            </a:solidFill>
          </a:ln>
        </p:spPr>
      </p:pic>
      <p:pic>
        <p:nvPicPr>
          <p:cNvPr id="19" name="Picture 18">
            <a:extLst>
              <a:ext uri="{FF2B5EF4-FFF2-40B4-BE49-F238E27FC236}">
                <a16:creationId xmlns:a16="http://schemas.microsoft.com/office/drawing/2014/main" id="{AF2D3829-41B2-C4DA-5FD1-87D6B6983080}"/>
              </a:ext>
            </a:extLst>
          </p:cNvPr>
          <p:cNvPicPr>
            <a:picLocks noChangeAspect="1"/>
          </p:cNvPicPr>
          <p:nvPr/>
        </p:nvPicPr>
        <p:blipFill>
          <a:blip r:embed="rId6"/>
          <a:stretch>
            <a:fillRect/>
          </a:stretch>
        </p:blipFill>
        <p:spPr>
          <a:xfrm>
            <a:off x="4895898" y="2987991"/>
            <a:ext cx="3474720" cy="1469855"/>
          </a:xfrm>
          <a:prstGeom prst="rect">
            <a:avLst/>
          </a:prstGeom>
          <a:ln>
            <a:solidFill>
              <a:schemeClr val="tx1"/>
            </a:solidFill>
          </a:ln>
        </p:spPr>
      </p:pic>
      <p:sp>
        <p:nvSpPr>
          <p:cNvPr id="301" name="Google Shape;301;p7"/>
          <p:cNvSpPr txBox="1">
            <a:spLocks noGrp="1"/>
          </p:cNvSpPr>
          <p:nvPr>
            <p:ph type="title"/>
          </p:nvPr>
        </p:nvSpPr>
        <p:spPr>
          <a:xfrm>
            <a:off x="719998" y="445025"/>
            <a:ext cx="6176988"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Global interest rate </a:t>
            </a:r>
            <a:endParaRPr lang="en-US" sz="2000" strike="sngStrike" dirty="0">
              <a:latin typeface="+mn-lt"/>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0D216D4-5037-4C2B-B9D1-877C81A688C4}"/>
              </a:ext>
            </a:extLst>
          </p:cNvPr>
          <p:cNvSpPr txBox="1"/>
          <p:nvPr/>
        </p:nvSpPr>
        <p:spPr>
          <a:xfrm>
            <a:off x="3676327" y="4667120"/>
            <a:ext cx="5376672" cy="21544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Source: Trading Economics</a:t>
            </a:r>
          </a:p>
        </p:txBody>
      </p:sp>
      <p:sp>
        <p:nvSpPr>
          <p:cNvPr id="27" name="TextBox 26">
            <a:extLst>
              <a:ext uri="{FF2B5EF4-FFF2-40B4-BE49-F238E27FC236}">
                <a16:creationId xmlns:a16="http://schemas.microsoft.com/office/drawing/2014/main" id="{0D8054E3-F992-4297-88FD-1A681AC62156}"/>
              </a:ext>
            </a:extLst>
          </p:cNvPr>
          <p:cNvSpPr txBox="1"/>
          <p:nvPr/>
        </p:nvSpPr>
        <p:spPr>
          <a:xfrm>
            <a:off x="2697359" y="2976968"/>
            <a:ext cx="1724722" cy="253916"/>
          </a:xfrm>
          <a:prstGeom prst="rect">
            <a:avLst/>
          </a:prstGeom>
          <a:noFill/>
        </p:spPr>
        <p:txBody>
          <a:bodyPr wrap="square" rtlCol="0">
            <a:spAutoFit/>
          </a:bodyP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EU (unchanged in Jan-26</a:t>
            </a:r>
            <a:r>
              <a:rPr lang="en-US" sz="1000" b="1" dirty="0">
                <a:solidFill>
                  <a:srgbClr val="333333"/>
                </a:solidFill>
                <a:latin typeface="Calibri" panose="020F0502020204030204" pitchFamily="34" charset="0"/>
                <a:ea typeface="Calibri" panose="020F0502020204030204" pitchFamily="34" charset="0"/>
                <a:cs typeface="Calibri" panose="020F0502020204030204" pitchFamily="34" charset="0"/>
              </a:rPr>
              <a:t>)</a:t>
            </a:r>
          </a:p>
        </p:txBody>
      </p:sp>
      <p:sp>
        <p:nvSpPr>
          <p:cNvPr id="28" name="TextBox 27">
            <a:extLst>
              <a:ext uri="{FF2B5EF4-FFF2-40B4-BE49-F238E27FC236}">
                <a16:creationId xmlns:a16="http://schemas.microsoft.com/office/drawing/2014/main" id="{9EEB858C-5D1D-4461-9F03-30C41ED8F14B}"/>
              </a:ext>
            </a:extLst>
          </p:cNvPr>
          <p:cNvSpPr txBox="1"/>
          <p:nvPr/>
        </p:nvSpPr>
        <p:spPr>
          <a:xfrm>
            <a:off x="2536620" y="1266631"/>
            <a:ext cx="2046201" cy="253916"/>
          </a:xfrm>
          <a:prstGeom prst="rect">
            <a:avLst/>
          </a:prstGeom>
          <a:noFill/>
        </p:spPr>
        <p:txBody>
          <a:bodyPr wrap="square" rtlCol="0">
            <a:spAutoFit/>
          </a:bodyPr>
          <a:lstStyle/>
          <a:p>
            <a:r>
              <a:rPr lang="en-US" sz="1000" b="1" dirty="0">
                <a:solidFill>
                  <a:schemeClr val="tx1"/>
                </a:solidFill>
                <a:latin typeface="+mn-lt"/>
                <a:ea typeface="Calibri" panose="020F0502020204030204" pitchFamily="34" charset="0"/>
                <a:cs typeface="Calibri" panose="020F0502020204030204" pitchFamily="34" charset="0"/>
              </a:rPr>
              <a:t>U.S.  </a:t>
            </a:r>
            <a:r>
              <a:rPr lang="en-US" sz="1000" b="1" dirty="0">
                <a:latin typeface="+mn-lt"/>
              </a:rPr>
              <a:t>(unchanged in Jan-26)</a:t>
            </a:r>
            <a:r>
              <a:rPr lang="en-US" sz="1000" b="1" dirty="0">
                <a:solidFill>
                  <a:schemeClr val="tx1"/>
                </a:solidFill>
                <a:latin typeface="+mn-lt"/>
                <a:ea typeface="Calibri" panose="020F0502020204030204" pitchFamily="34" charset="0"/>
                <a:cs typeface="Calibri" panose="020F0502020204030204" pitchFamily="34" charset="0"/>
              </a:rPr>
              <a:t> </a:t>
            </a:r>
            <a:endParaRPr lang="en-US" sz="1050" b="1" dirty="0">
              <a:latin typeface="+mn-lt"/>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4F2B919B-7549-4791-BD51-7BD8FDC7F6AB}"/>
              </a:ext>
            </a:extLst>
          </p:cNvPr>
          <p:cNvSpPr txBox="1"/>
          <p:nvPr/>
        </p:nvSpPr>
        <p:spPr>
          <a:xfrm>
            <a:off x="6633258" y="1257612"/>
            <a:ext cx="1828801" cy="253916"/>
          </a:xfrm>
          <a:prstGeom prst="rect">
            <a:avLst/>
          </a:prstGeom>
          <a:noFill/>
        </p:spPr>
        <p:txBody>
          <a:bodyPr wrap="square" rtlCol="0">
            <a:spAutoFit/>
          </a:bodyPr>
          <a:lstStyle/>
          <a:p>
            <a:r>
              <a:rPr lang="en-US" sz="1000" b="1" dirty="0">
                <a:solidFill>
                  <a:schemeClr val="tx1"/>
                </a:solidFill>
                <a:latin typeface="+mn-lt"/>
                <a:ea typeface="Calibri" panose="020F0502020204030204" pitchFamily="34" charset="0"/>
                <a:cs typeface="Calibri" panose="020F0502020204030204" pitchFamily="34" charset="0"/>
              </a:rPr>
              <a:t>UK </a:t>
            </a:r>
            <a:r>
              <a:rPr lang="en-US" sz="1000" b="1" dirty="0">
                <a:latin typeface="+mn-lt"/>
              </a:rPr>
              <a:t>(unchanged in Feb-26)</a:t>
            </a:r>
            <a:r>
              <a:rPr lang="en-US" sz="1000" b="1" dirty="0">
                <a:solidFill>
                  <a:schemeClr val="tx1"/>
                </a:solidFill>
                <a:latin typeface="+mn-lt"/>
                <a:ea typeface="Calibri" panose="020F0502020204030204" pitchFamily="34" charset="0"/>
                <a:cs typeface="Calibri" panose="020F0502020204030204" pitchFamily="34" charset="0"/>
              </a:rPr>
              <a:t> </a:t>
            </a:r>
            <a:endParaRPr lang="en-US" sz="1200" b="1" dirty="0">
              <a:latin typeface="+mn-lt"/>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A4F1FC91-F756-4F7F-934C-E3E5EBF99D41}"/>
              </a:ext>
            </a:extLst>
          </p:cNvPr>
          <p:cNvSpPr txBox="1"/>
          <p:nvPr/>
        </p:nvSpPr>
        <p:spPr>
          <a:xfrm>
            <a:off x="4895898" y="2971385"/>
            <a:ext cx="1809701" cy="253916"/>
          </a:xfrm>
          <a:prstGeom prst="rect">
            <a:avLst/>
          </a:prstGeom>
          <a:noFill/>
        </p:spPr>
        <p:txBody>
          <a:bodyPr wrap="square" rtlCol="0">
            <a:spAutoFit/>
          </a:bodyPr>
          <a:lstStyle/>
          <a:p>
            <a:r>
              <a:rPr lang="en-US" sz="1000" b="1" dirty="0">
                <a:solidFill>
                  <a:schemeClr val="tx1"/>
                </a:solidFill>
                <a:latin typeface="+mn-lt"/>
                <a:ea typeface="Calibri" panose="020F0502020204030204" pitchFamily="34" charset="0"/>
                <a:cs typeface="Calibri" panose="020F0502020204030204" pitchFamily="34" charset="0"/>
              </a:rPr>
              <a:t>Japan </a:t>
            </a:r>
            <a:r>
              <a:rPr lang="en-US" sz="1000" b="1" dirty="0">
                <a:latin typeface="+mn-lt"/>
              </a:rPr>
              <a:t>(unchanged in Jan-26)</a:t>
            </a:r>
            <a:endParaRPr lang="en-US" sz="1000" b="1" dirty="0">
              <a:latin typeface="+mn-lt"/>
              <a:ea typeface="Calibri" panose="020F0502020204030204" pitchFamily="34" charset="0"/>
              <a:cs typeface="Calibri" panose="020F0502020204030204" pitchFamily="34" charset="0"/>
            </a:endParaRPr>
          </a:p>
        </p:txBody>
      </p:sp>
      <p:grpSp>
        <p:nvGrpSpPr>
          <p:cNvPr id="2" name="Google Shape;262;p6">
            <a:extLst>
              <a:ext uri="{FF2B5EF4-FFF2-40B4-BE49-F238E27FC236}">
                <a16:creationId xmlns:a16="http://schemas.microsoft.com/office/drawing/2014/main" id="{84EC2844-0F37-7D8C-89AA-4015986AE2E2}"/>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79B18A34-0322-021C-DF50-69759AE4F979}"/>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4B6D5EAE-B649-4BF7-19B6-1D59DB00B322}"/>
                </a:ext>
              </a:extLst>
            </p:cNvPr>
            <p:cNvGrpSpPr/>
            <p:nvPr/>
          </p:nvGrpSpPr>
          <p:grpSpPr>
            <a:xfrm>
              <a:off x="3101100" y="4872600"/>
              <a:ext cx="2941800" cy="270900"/>
              <a:chOff x="3084200" y="4934525"/>
              <a:chExt cx="2941800" cy="270900"/>
            </a:xfrm>
          </p:grpSpPr>
          <p:sp>
            <p:nvSpPr>
              <p:cNvPr id="7" name="Google Shape;265;p6">
                <a:extLst>
                  <a:ext uri="{FF2B5EF4-FFF2-40B4-BE49-F238E27FC236}">
                    <a16:creationId xmlns:a16="http://schemas.microsoft.com/office/drawing/2014/main" id="{C8BF563F-2F6F-9B3D-E7FB-8E713B51921A}"/>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37A98A3C-8824-FE6A-F0BD-9ADC73A6163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1" name="Picture 10">
            <a:extLst>
              <a:ext uri="{FF2B5EF4-FFF2-40B4-BE49-F238E27FC236}">
                <a16:creationId xmlns:a16="http://schemas.microsoft.com/office/drawing/2014/main" id="{D9DB6A53-A0D4-9B80-FEDF-68C44646BB2A}"/>
              </a:ext>
            </a:extLst>
          </p:cNvPr>
          <p:cNvPicPr>
            <a:picLocks noChangeAspect="1"/>
          </p:cNvPicPr>
          <p:nvPr/>
        </p:nvPicPr>
        <p:blipFill>
          <a:blip r:embed="rId7"/>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270295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23" name="Picture 22">
            <a:extLst>
              <a:ext uri="{FF2B5EF4-FFF2-40B4-BE49-F238E27FC236}">
                <a16:creationId xmlns:a16="http://schemas.microsoft.com/office/drawing/2014/main" id="{B51F7543-B30B-5C0E-77E8-FD6010F066FD}"/>
              </a:ext>
            </a:extLst>
          </p:cNvPr>
          <p:cNvPicPr>
            <a:picLocks noChangeAspect="1"/>
          </p:cNvPicPr>
          <p:nvPr/>
        </p:nvPicPr>
        <p:blipFill>
          <a:blip r:embed="rId3"/>
          <a:stretch>
            <a:fillRect/>
          </a:stretch>
        </p:blipFill>
        <p:spPr>
          <a:xfrm>
            <a:off x="4939585" y="3063066"/>
            <a:ext cx="3474720" cy="1501885"/>
          </a:xfrm>
          <a:prstGeom prst="rect">
            <a:avLst/>
          </a:prstGeom>
          <a:ln>
            <a:solidFill>
              <a:schemeClr val="tx1"/>
            </a:solidFill>
          </a:ln>
        </p:spPr>
      </p:pic>
      <p:pic>
        <p:nvPicPr>
          <p:cNvPr id="19" name="Picture 18">
            <a:extLst>
              <a:ext uri="{FF2B5EF4-FFF2-40B4-BE49-F238E27FC236}">
                <a16:creationId xmlns:a16="http://schemas.microsoft.com/office/drawing/2014/main" id="{BA6B1B28-03AC-7627-79CF-6E3F1DE12D60}"/>
              </a:ext>
            </a:extLst>
          </p:cNvPr>
          <p:cNvPicPr>
            <a:picLocks noChangeAspect="1"/>
          </p:cNvPicPr>
          <p:nvPr/>
        </p:nvPicPr>
        <p:blipFill>
          <a:blip r:embed="rId4"/>
          <a:stretch>
            <a:fillRect/>
          </a:stretch>
        </p:blipFill>
        <p:spPr>
          <a:xfrm>
            <a:off x="852358" y="3063066"/>
            <a:ext cx="3474720" cy="1548356"/>
          </a:xfrm>
          <a:prstGeom prst="rect">
            <a:avLst/>
          </a:prstGeom>
          <a:ln>
            <a:solidFill>
              <a:schemeClr val="tx1"/>
            </a:solidFill>
          </a:ln>
        </p:spPr>
      </p:pic>
      <p:pic>
        <p:nvPicPr>
          <p:cNvPr id="16" name="Picture 15">
            <a:extLst>
              <a:ext uri="{FF2B5EF4-FFF2-40B4-BE49-F238E27FC236}">
                <a16:creationId xmlns:a16="http://schemas.microsoft.com/office/drawing/2014/main" id="{350CC8AA-C887-B387-5D9F-5BF85A95E68E}"/>
              </a:ext>
            </a:extLst>
          </p:cNvPr>
          <p:cNvPicPr>
            <a:picLocks noChangeAspect="1"/>
          </p:cNvPicPr>
          <p:nvPr/>
        </p:nvPicPr>
        <p:blipFill>
          <a:blip r:embed="rId5"/>
          <a:stretch>
            <a:fillRect/>
          </a:stretch>
        </p:blipFill>
        <p:spPr>
          <a:xfrm>
            <a:off x="4939585" y="1352734"/>
            <a:ext cx="3474720" cy="1426830"/>
          </a:xfrm>
          <a:prstGeom prst="rect">
            <a:avLst/>
          </a:prstGeom>
          <a:ln>
            <a:solidFill>
              <a:schemeClr val="tx1"/>
            </a:solidFill>
          </a:ln>
        </p:spPr>
      </p:pic>
      <p:pic>
        <p:nvPicPr>
          <p:cNvPr id="13" name="Picture 12">
            <a:extLst>
              <a:ext uri="{FF2B5EF4-FFF2-40B4-BE49-F238E27FC236}">
                <a16:creationId xmlns:a16="http://schemas.microsoft.com/office/drawing/2014/main" id="{ED1D4695-B50C-31E2-6209-5F602FF6A793}"/>
              </a:ext>
            </a:extLst>
          </p:cNvPr>
          <p:cNvPicPr>
            <a:picLocks noChangeAspect="1"/>
          </p:cNvPicPr>
          <p:nvPr/>
        </p:nvPicPr>
        <p:blipFill>
          <a:blip r:embed="rId6"/>
          <a:stretch>
            <a:fillRect/>
          </a:stretch>
        </p:blipFill>
        <p:spPr>
          <a:xfrm>
            <a:off x="852358" y="1350632"/>
            <a:ext cx="3474720" cy="1390621"/>
          </a:xfrm>
          <a:prstGeom prst="rect">
            <a:avLst/>
          </a:prstGeom>
          <a:ln>
            <a:solidFill>
              <a:schemeClr val="tx1"/>
            </a:solidFill>
          </a:ln>
        </p:spPr>
      </p:pic>
      <p:sp>
        <p:nvSpPr>
          <p:cNvPr id="301" name="Google Shape;301;p7"/>
          <p:cNvSpPr txBox="1">
            <a:spLocks noGrp="1"/>
          </p:cNvSpPr>
          <p:nvPr>
            <p:ph type="title"/>
          </p:nvPr>
        </p:nvSpPr>
        <p:spPr>
          <a:xfrm>
            <a:off x="719999" y="445025"/>
            <a:ext cx="5485819"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Global inflation trends remain mixed</a:t>
            </a:r>
            <a:endParaRPr sz="20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8830DCD-9317-4CE2-A2C6-E836372D021F}"/>
              </a:ext>
            </a:extLst>
          </p:cNvPr>
          <p:cNvSpPr txBox="1"/>
          <p:nvPr/>
        </p:nvSpPr>
        <p:spPr>
          <a:xfrm>
            <a:off x="7832913" y="4673356"/>
            <a:ext cx="1636945"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Source: Trading Economics</a:t>
            </a:r>
          </a:p>
        </p:txBody>
      </p:sp>
      <p:sp>
        <p:nvSpPr>
          <p:cNvPr id="4" name="TextBox 3">
            <a:extLst>
              <a:ext uri="{FF2B5EF4-FFF2-40B4-BE49-F238E27FC236}">
                <a16:creationId xmlns:a16="http://schemas.microsoft.com/office/drawing/2014/main" id="{89FBA75C-BF13-40EC-B7E1-FA0CF9447EE5}"/>
              </a:ext>
            </a:extLst>
          </p:cNvPr>
          <p:cNvSpPr txBox="1"/>
          <p:nvPr/>
        </p:nvSpPr>
        <p:spPr>
          <a:xfrm>
            <a:off x="842041" y="1329056"/>
            <a:ext cx="3485039" cy="261610"/>
          </a:xfrm>
          <a:prstGeom prst="rect">
            <a:avLst/>
          </a:prstGeom>
          <a:noFill/>
        </p:spPr>
        <p:txBody>
          <a:bodyPr wrap="square" rtlCol="0">
            <a:spAutoFit/>
          </a:bodyPr>
          <a:lstStyle/>
          <a:p>
            <a:r>
              <a:rPr lang="en-US" sz="1100" b="1" dirty="0">
                <a:latin typeface="+mn-lt"/>
                <a:ea typeface="Calibri" panose="020F0502020204030204" pitchFamily="34" charset="0"/>
                <a:cs typeface="Calibri" panose="020F0502020204030204" pitchFamily="34" charset="0"/>
              </a:rPr>
              <a:t>U.S</a:t>
            </a:r>
            <a:endParaRPr lang="en-US" sz="1100" b="1" dirty="0">
              <a:highlight>
                <a:srgbClr val="FFFF00"/>
              </a:highlight>
              <a:latin typeface="+mn-lt"/>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56909A2A-6FD0-4387-8BD8-CD503DD7CCA3}"/>
              </a:ext>
            </a:extLst>
          </p:cNvPr>
          <p:cNvSpPr txBox="1"/>
          <p:nvPr/>
        </p:nvSpPr>
        <p:spPr>
          <a:xfrm>
            <a:off x="4939583" y="1336609"/>
            <a:ext cx="2729065" cy="261610"/>
          </a:xfrm>
          <a:prstGeom prst="rect">
            <a:avLst/>
          </a:prstGeom>
          <a:noFill/>
        </p:spPr>
        <p:txBody>
          <a:bodyPr wrap="square" rtlCol="0">
            <a:spAutoFit/>
          </a:bodyPr>
          <a:lstStyle/>
          <a:p>
            <a:r>
              <a:rPr lang="en-IN" sz="1100" b="1" dirty="0">
                <a:latin typeface="+mn-lt"/>
                <a:ea typeface="Calibri" panose="020F0502020204030204" pitchFamily="34" charset="0"/>
                <a:cs typeface="Calibri" panose="020F0502020204030204" pitchFamily="34" charset="0"/>
              </a:rPr>
              <a:t>UK</a:t>
            </a:r>
            <a:endParaRPr lang="en-US" sz="1100" b="1" dirty="0">
              <a:highlight>
                <a:srgbClr val="FFFF00"/>
              </a:highlight>
              <a:latin typeface="+mn-lt"/>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3950C81C-B04F-4C7E-B9D8-D5A51C4974A4}"/>
              </a:ext>
            </a:extLst>
          </p:cNvPr>
          <p:cNvSpPr txBox="1"/>
          <p:nvPr/>
        </p:nvSpPr>
        <p:spPr>
          <a:xfrm>
            <a:off x="4939583" y="3043786"/>
            <a:ext cx="3689693" cy="261610"/>
          </a:xfrm>
          <a:prstGeom prst="rect">
            <a:avLst/>
          </a:prstGeom>
          <a:noFill/>
        </p:spPr>
        <p:txBody>
          <a:bodyPr wrap="square" rtlCol="0">
            <a:spAutoFit/>
          </a:bodyPr>
          <a:lstStyle/>
          <a:p>
            <a:r>
              <a:rPr lang="en-IN" sz="1100" b="1" dirty="0">
                <a:latin typeface="+mn-lt"/>
                <a:ea typeface="Calibri" panose="020F0502020204030204" pitchFamily="34" charset="0"/>
                <a:cs typeface="Calibri" panose="020F0502020204030204" pitchFamily="34" charset="0"/>
              </a:rPr>
              <a:t>Japan</a:t>
            </a:r>
            <a:endParaRPr lang="en-IN" sz="1100" b="1" dirty="0">
              <a:highlight>
                <a:srgbClr val="FFFF00"/>
              </a:highlight>
              <a:latin typeface="+mn-lt"/>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8CA2C49-8B6F-4E9E-8529-72FD22D79849}"/>
              </a:ext>
            </a:extLst>
          </p:cNvPr>
          <p:cNvSpPr txBox="1"/>
          <p:nvPr/>
        </p:nvSpPr>
        <p:spPr>
          <a:xfrm>
            <a:off x="842041" y="3056942"/>
            <a:ext cx="2041073" cy="261610"/>
          </a:xfrm>
          <a:prstGeom prst="rect">
            <a:avLst/>
          </a:prstGeom>
          <a:noFill/>
        </p:spPr>
        <p:txBody>
          <a:bodyPr wrap="square" rtlCol="0">
            <a:spAutoFit/>
          </a:bodyPr>
          <a:lstStyle/>
          <a:p>
            <a:r>
              <a:rPr lang="en-US" sz="1100" b="1" dirty="0">
                <a:latin typeface="+mn-lt"/>
                <a:ea typeface="Calibri" panose="020F0502020204030204" pitchFamily="34" charset="0"/>
                <a:cs typeface="Calibri" panose="020F0502020204030204" pitchFamily="34" charset="0"/>
              </a:rPr>
              <a:t>EU</a:t>
            </a:r>
            <a:r>
              <a:rPr lang="en-US" sz="1050" b="1" dirty="0">
                <a:latin typeface="+mn-lt"/>
                <a:ea typeface="Calibri" panose="020F0502020204030204" pitchFamily="34" charset="0"/>
                <a:cs typeface="Calibri" panose="020F0502020204030204" pitchFamily="34" charset="0"/>
              </a:rPr>
              <a:t> </a:t>
            </a:r>
          </a:p>
        </p:txBody>
      </p:sp>
      <p:grpSp>
        <p:nvGrpSpPr>
          <p:cNvPr id="2" name="Google Shape;262;p6">
            <a:extLst>
              <a:ext uri="{FF2B5EF4-FFF2-40B4-BE49-F238E27FC236}">
                <a16:creationId xmlns:a16="http://schemas.microsoft.com/office/drawing/2014/main" id="{40328464-C498-3EBB-5B1D-26DA36302E44}"/>
              </a:ext>
            </a:extLst>
          </p:cNvPr>
          <p:cNvGrpSpPr/>
          <p:nvPr/>
        </p:nvGrpSpPr>
        <p:grpSpPr>
          <a:xfrm>
            <a:off x="-25" y="4872600"/>
            <a:ext cx="9144000" cy="270900"/>
            <a:chOff x="-25" y="4872600"/>
            <a:chExt cx="9144000" cy="270900"/>
          </a:xfrm>
        </p:grpSpPr>
        <p:sp>
          <p:nvSpPr>
            <p:cNvPr id="5" name="Google Shape;263;p6">
              <a:extLst>
                <a:ext uri="{FF2B5EF4-FFF2-40B4-BE49-F238E27FC236}">
                  <a16:creationId xmlns:a16="http://schemas.microsoft.com/office/drawing/2014/main" id="{9731E2BA-1669-E3B5-2103-62D0437FC91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6" name="Google Shape;264;p6">
              <a:extLst>
                <a:ext uri="{FF2B5EF4-FFF2-40B4-BE49-F238E27FC236}">
                  <a16:creationId xmlns:a16="http://schemas.microsoft.com/office/drawing/2014/main" id="{DACF81EC-7B0E-D866-2B5A-CE191D68F47D}"/>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3B156E6A-6CB6-50AA-4578-BE4F14B05E60}"/>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1" name="Google Shape;266;p6">
                <a:extLst>
                  <a:ext uri="{FF2B5EF4-FFF2-40B4-BE49-F238E27FC236}">
                    <a16:creationId xmlns:a16="http://schemas.microsoft.com/office/drawing/2014/main" id="{56069E84-E520-6658-804F-1FA8FE91300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2" name="Picture 11">
            <a:extLst>
              <a:ext uri="{FF2B5EF4-FFF2-40B4-BE49-F238E27FC236}">
                <a16:creationId xmlns:a16="http://schemas.microsoft.com/office/drawing/2014/main" id="{E10EC708-19ED-8911-B1C7-4E616379CF20}"/>
              </a:ext>
            </a:extLst>
          </p:cNvPr>
          <p:cNvPicPr>
            <a:picLocks noChangeAspect="1"/>
          </p:cNvPicPr>
          <p:nvPr/>
        </p:nvPicPr>
        <p:blipFill>
          <a:blip r:embed="rId7"/>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368941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grpSp>
        <p:nvGrpSpPr>
          <p:cNvPr id="286" name="Google Shape;286;p5"/>
          <p:cNvGrpSpPr/>
          <p:nvPr/>
        </p:nvGrpSpPr>
        <p:grpSpPr>
          <a:xfrm>
            <a:off x="550455" y="175900"/>
            <a:ext cx="1955750" cy="4609200"/>
            <a:chOff x="463525" y="540450"/>
            <a:chExt cx="1697700" cy="4609200"/>
          </a:xfrm>
        </p:grpSpPr>
        <p:cxnSp>
          <p:nvCxnSpPr>
            <p:cNvPr id="287" name="Google Shape;287;p5"/>
            <p:cNvCxnSpPr/>
            <p:nvPr/>
          </p:nvCxnSpPr>
          <p:spPr>
            <a:xfrm>
              <a:off x="463525" y="542075"/>
              <a:ext cx="1697700" cy="0"/>
            </a:xfrm>
            <a:prstGeom prst="straightConnector1">
              <a:avLst/>
            </a:prstGeom>
            <a:noFill/>
            <a:ln w="9525" cap="flat" cmpd="sng">
              <a:solidFill>
                <a:schemeClr val="dk1"/>
              </a:solidFill>
              <a:prstDash val="solid"/>
              <a:round/>
              <a:headEnd type="none" w="sm" len="sm"/>
              <a:tailEnd type="none" w="sm" len="sm"/>
            </a:ln>
          </p:spPr>
        </p:cxnSp>
        <p:cxnSp>
          <p:nvCxnSpPr>
            <p:cNvPr id="288" name="Google Shape;288;p5"/>
            <p:cNvCxnSpPr/>
            <p:nvPr/>
          </p:nvCxnSpPr>
          <p:spPr>
            <a:xfrm>
              <a:off x="465800" y="540450"/>
              <a:ext cx="0" cy="4609200"/>
            </a:xfrm>
            <a:prstGeom prst="straightConnector1">
              <a:avLst/>
            </a:prstGeom>
            <a:noFill/>
            <a:ln w="9525" cap="flat" cmpd="sng">
              <a:solidFill>
                <a:schemeClr val="dk1"/>
              </a:solidFill>
              <a:prstDash val="solid"/>
              <a:round/>
              <a:headEnd type="none" w="sm" len="sm"/>
              <a:tailEnd type="none" w="sm" len="sm"/>
            </a:ln>
          </p:spPr>
        </p:cxnSp>
      </p:grpSp>
      <p:sp>
        <p:nvSpPr>
          <p:cNvPr id="289" name="Google Shape;289;p5"/>
          <p:cNvSpPr txBox="1">
            <a:spLocks noGrp="1"/>
          </p:cNvSpPr>
          <p:nvPr>
            <p:ph type="title"/>
          </p:nvPr>
        </p:nvSpPr>
        <p:spPr>
          <a:xfrm>
            <a:off x="2119775" y="1628170"/>
            <a:ext cx="4904400" cy="1600200"/>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sz="4000" dirty="0">
                <a:latin typeface="Calibri" panose="020F0502020204030204" pitchFamily="34" charset="0"/>
                <a:ea typeface="Calibri" panose="020F0502020204030204" pitchFamily="34" charset="0"/>
                <a:cs typeface="Calibri" panose="020F0502020204030204" pitchFamily="34" charset="0"/>
              </a:rPr>
              <a:t>Domestic Update</a:t>
            </a:r>
            <a:endParaRPr sz="4000" dirty="0">
              <a:latin typeface="Calibri" panose="020F0502020204030204" pitchFamily="34" charset="0"/>
              <a:ea typeface="Calibri" panose="020F0502020204030204" pitchFamily="34" charset="0"/>
              <a:cs typeface="Calibri" panose="020F0502020204030204" pitchFamily="34" charset="0"/>
            </a:endParaRPr>
          </a:p>
        </p:txBody>
      </p:sp>
      <p:pic>
        <p:nvPicPr>
          <p:cNvPr id="7" name="Graphic 6" descr="Coins">
            <a:extLst>
              <a:ext uri="{FF2B5EF4-FFF2-40B4-BE49-F238E27FC236}">
                <a16:creationId xmlns:a16="http://schemas.microsoft.com/office/drawing/2014/main" id="{FC37BCE7-93FA-459E-85E2-D8E04FAA5A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4694" y="1969281"/>
            <a:ext cx="996696" cy="996696"/>
          </a:xfrm>
          <a:prstGeom prst="rect">
            <a:avLst/>
          </a:prstGeom>
        </p:spPr>
      </p:pic>
      <p:grpSp>
        <p:nvGrpSpPr>
          <p:cNvPr id="2" name="Google Shape;262;p6">
            <a:extLst>
              <a:ext uri="{FF2B5EF4-FFF2-40B4-BE49-F238E27FC236}">
                <a16:creationId xmlns:a16="http://schemas.microsoft.com/office/drawing/2014/main" id="{924C2B21-4177-C5DD-7E82-6EA9E22FBB2D}"/>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015803C1-9F32-1F4F-49DA-95443E50A68E}"/>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23D2C27F-79C1-5ADF-70AE-AB09448D2C7B}"/>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2DDCD6FB-89DB-1E10-4678-5DE14E8FA489}"/>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02A24646-9187-1F55-7AE5-1A7854983FD0}"/>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90C867DA-0387-C2AD-2623-59C70DB88C92}"/>
              </a:ext>
            </a:extLst>
          </p:cNvPr>
          <p:cNvPicPr>
            <a:picLocks noChangeAspect="1"/>
          </p:cNvPicPr>
          <p:nvPr/>
        </p:nvPicPr>
        <p:blipFill>
          <a:blip r:embed="rId5"/>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189327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8D87D47-EBE0-E070-414D-6EB4151AAE87}"/>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A1FB2D1E-DB6E-6334-B1DA-CD4214088BD7}"/>
              </a:ext>
            </a:extLst>
          </p:cNvPr>
          <p:cNvSpPr txBox="1">
            <a:spLocks noGrp="1"/>
          </p:cNvSpPr>
          <p:nvPr>
            <p:ph type="title"/>
          </p:nvPr>
        </p:nvSpPr>
        <p:spPr>
          <a:xfrm>
            <a:off x="719999" y="445025"/>
            <a:ext cx="6299366"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mn-lt"/>
                <a:ea typeface="Calibri" panose="020F0502020204030204" pitchFamily="34" charset="0"/>
                <a:cs typeface="Calibri" panose="020F0502020204030204" pitchFamily="34" charset="0"/>
              </a:rPr>
              <a:t>Macro Updates</a:t>
            </a:r>
            <a:endParaRPr sz="2000" dirty="0">
              <a:latin typeface="+mn-lt"/>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E60D0E5F-3128-B2D0-BDBA-52A569133E3B}"/>
              </a:ext>
            </a:extLst>
          </p:cNvPr>
          <p:cNvSpPr txBox="1"/>
          <p:nvPr/>
        </p:nvSpPr>
        <p:spPr>
          <a:xfrm>
            <a:off x="688443" y="3738104"/>
            <a:ext cx="4531257" cy="430887"/>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1100" dirty="0">
                <a:solidFill>
                  <a:schemeClr val="tx1"/>
                </a:solidFill>
              </a:rPr>
              <a:t>Private consumption drove growth, net exports dragged in Q3FY26</a:t>
            </a:r>
          </a:p>
          <a:p>
            <a:r>
              <a:rPr lang="en-US" sz="1100" dirty="0">
                <a:solidFill>
                  <a:schemeClr val="tx1"/>
                </a:solidFill>
              </a:rPr>
              <a:t>B</a:t>
            </a:r>
            <a:r>
              <a:rPr lang="en-US" sz="1100" dirty="0">
                <a:solidFill>
                  <a:schemeClr val="tx1"/>
                </a:solidFill>
                <a:ea typeface="Calibri" panose="020F0502020204030204" pitchFamily="34" charset="0"/>
                <a:cs typeface="Calibri" panose="020F0502020204030204" pitchFamily="34" charset="0"/>
              </a:rPr>
              <a:t>ase year revised from 2011-2012 to  2022-2023</a:t>
            </a:r>
          </a:p>
        </p:txBody>
      </p:sp>
      <p:sp>
        <p:nvSpPr>
          <p:cNvPr id="29" name="TextBox 28">
            <a:extLst>
              <a:ext uri="{FF2B5EF4-FFF2-40B4-BE49-F238E27FC236}">
                <a16:creationId xmlns:a16="http://schemas.microsoft.com/office/drawing/2014/main" id="{38136BED-CC8D-84B7-0388-6A8D9BC1E435}"/>
              </a:ext>
            </a:extLst>
          </p:cNvPr>
          <p:cNvSpPr txBox="1"/>
          <p:nvPr/>
        </p:nvSpPr>
        <p:spPr>
          <a:xfrm>
            <a:off x="7795907" y="4585669"/>
            <a:ext cx="2696135" cy="215444"/>
          </a:xfrm>
          <a:prstGeom prst="rect">
            <a:avLst/>
          </a:prstGeom>
          <a:noFill/>
        </p:spPr>
        <p:txBody>
          <a:bodyPr wrap="square" rtlCol="0">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Source: Gst.gov.in</a:t>
            </a:r>
          </a:p>
        </p:txBody>
      </p:sp>
      <p:grpSp>
        <p:nvGrpSpPr>
          <p:cNvPr id="2" name="Google Shape;262;p6">
            <a:extLst>
              <a:ext uri="{FF2B5EF4-FFF2-40B4-BE49-F238E27FC236}">
                <a16:creationId xmlns:a16="http://schemas.microsoft.com/office/drawing/2014/main" id="{52DF6E1D-CEE3-B858-5493-B7F40343303A}"/>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36AE5A1-A2B3-5736-F447-0547C5C1CC9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0F542AE9-1F6B-8373-EA4C-BA5EC1F2CA27}"/>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3CF2D5AD-7ADE-94F6-A51C-E65078587B97}"/>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50118105-9552-9920-A0EA-17CDBF4894C1}"/>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84405619-4716-C985-F1E2-A1F26EE82B24}"/>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0" name="TextBox 9">
            <a:extLst>
              <a:ext uri="{FF2B5EF4-FFF2-40B4-BE49-F238E27FC236}">
                <a16:creationId xmlns:a16="http://schemas.microsoft.com/office/drawing/2014/main" id="{AEE547F4-8415-7692-D5BE-7A0DD74E1D21}"/>
              </a:ext>
            </a:extLst>
          </p:cNvPr>
          <p:cNvSpPr txBox="1"/>
          <p:nvPr/>
        </p:nvSpPr>
        <p:spPr>
          <a:xfrm>
            <a:off x="1470995" y="1040836"/>
            <a:ext cx="2997708" cy="369332"/>
          </a:xfrm>
          <a:prstGeom prst="rect">
            <a:avLst/>
          </a:prstGeom>
          <a:noFill/>
        </p:spPr>
        <p:txBody>
          <a:bodyPr wrap="square" rtlCol="0">
            <a:spAutoFit/>
          </a:bodyPr>
          <a:lstStyle/>
          <a:p>
            <a:r>
              <a:rPr lang="en-IN" sz="1000" b="1" dirty="0">
                <a:latin typeface="+mj-lt"/>
              </a:rPr>
              <a:t>                  India’ GDP growth rate</a:t>
            </a:r>
            <a:endParaRPr lang="en-US" sz="1000" dirty="0">
              <a:latin typeface="+mj-lt"/>
            </a:endParaRPr>
          </a:p>
          <a:p>
            <a:endParaRPr lang="en-US" sz="800" dirty="0">
              <a:latin typeface="+mj-lt"/>
            </a:endParaRPr>
          </a:p>
        </p:txBody>
      </p:sp>
      <p:pic>
        <p:nvPicPr>
          <p:cNvPr id="11" name="Picture 10">
            <a:extLst>
              <a:ext uri="{FF2B5EF4-FFF2-40B4-BE49-F238E27FC236}">
                <a16:creationId xmlns:a16="http://schemas.microsoft.com/office/drawing/2014/main" id="{7342704E-6802-374F-4DB5-630622609942}"/>
              </a:ext>
            </a:extLst>
          </p:cNvPr>
          <p:cNvPicPr>
            <a:picLocks noChangeAspect="1"/>
          </p:cNvPicPr>
          <p:nvPr/>
        </p:nvPicPr>
        <p:blipFill>
          <a:blip r:embed="rId4"/>
          <a:stretch>
            <a:fillRect/>
          </a:stretch>
        </p:blipFill>
        <p:spPr>
          <a:xfrm>
            <a:off x="5712198" y="3072110"/>
            <a:ext cx="3108960" cy="1513484"/>
          </a:xfrm>
          <a:prstGeom prst="rect">
            <a:avLst/>
          </a:prstGeom>
          <a:ln>
            <a:solidFill>
              <a:schemeClr val="tx1"/>
            </a:solidFill>
          </a:ln>
        </p:spPr>
      </p:pic>
      <p:sp>
        <p:nvSpPr>
          <p:cNvPr id="12" name="TextBox 11">
            <a:extLst>
              <a:ext uri="{FF2B5EF4-FFF2-40B4-BE49-F238E27FC236}">
                <a16:creationId xmlns:a16="http://schemas.microsoft.com/office/drawing/2014/main" id="{8F561845-520F-AB3F-4AD5-2E7989740760}"/>
              </a:ext>
            </a:extLst>
          </p:cNvPr>
          <p:cNvSpPr txBox="1"/>
          <p:nvPr/>
        </p:nvSpPr>
        <p:spPr>
          <a:xfrm>
            <a:off x="6565356" y="3124431"/>
            <a:ext cx="1905282" cy="338554"/>
          </a:xfrm>
          <a:prstGeom prst="rect">
            <a:avLst/>
          </a:prstGeom>
          <a:noFill/>
        </p:spPr>
        <p:txBody>
          <a:bodyPr wrap="square" rtlCol="0">
            <a:spAutoFit/>
          </a:bodyPr>
          <a:lstStyle/>
          <a:p>
            <a:r>
              <a:rPr lang="en-IN" sz="800" b="1" dirty="0">
                <a:latin typeface="+mj-lt"/>
              </a:rPr>
              <a:t>India’s inflation rises in Jan-26</a:t>
            </a:r>
            <a:endParaRPr lang="en-US" sz="800" dirty="0">
              <a:latin typeface="+mj-lt"/>
            </a:endParaRPr>
          </a:p>
          <a:p>
            <a:endParaRPr lang="en-US" sz="800" dirty="0">
              <a:latin typeface="+mj-lt"/>
            </a:endParaRPr>
          </a:p>
        </p:txBody>
      </p:sp>
      <p:pic>
        <p:nvPicPr>
          <p:cNvPr id="13" name="Picture 12">
            <a:extLst>
              <a:ext uri="{FF2B5EF4-FFF2-40B4-BE49-F238E27FC236}">
                <a16:creationId xmlns:a16="http://schemas.microsoft.com/office/drawing/2014/main" id="{A406DC95-D08D-53F9-8E2E-0B99A59211C1}"/>
              </a:ext>
            </a:extLst>
          </p:cNvPr>
          <p:cNvPicPr>
            <a:picLocks noChangeAspect="1"/>
          </p:cNvPicPr>
          <p:nvPr/>
        </p:nvPicPr>
        <p:blipFill>
          <a:blip r:embed="rId5"/>
          <a:stretch>
            <a:fillRect/>
          </a:stretch>
        </p:blipFill>
        <p:spPr>
          <a:xfrm>
            <a:off x="719999" y="1401214"/>
            <a:ext cx="4499701" cy="2120846"/>
          </a:xfrm>
          <a:prstGeom prst="rect">
            <a:avLst/>
          </a:prstGeom>
          <a:ln>
            <a:solidFill>
              <a:schemeClr val="tx1"/>
            </a:solidFill>
          </a:ln>
        </p:spPr>
      </p:pic>
      <p:sp>
        <p:nvSpPr>
          <p:cNvPr id="14" name="Oval 13">
            <a:extLst>
              <a:ext uri="{FF2B5EF4-FFF2-40B4-BE49-F238E27FC236}">
                <a16:creationId xmlns:a16="http://schemas.microsoft.com/office/drawing/2014/main" id="{1A74CE6D-6395-7C0C-9633-35E225A45591}"/>
              </a:ext>
            </a:extLst>
          </p:cNvPr>
          <p:cNvSpPr/>
          <p:nvPr/>
        </p:nvSpPr>
        <p:spPr>
          <a:xfrm rot="16200000">
            <a:off x="2849929" y="-234687"/>
            <a:ext cx="270900" cy="4721077"/>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91514D70-AAEF-359C-6301-A118F55A5608}"/>
              </a:ext>
            </a:extLst>
          </p:cNvPr>
          <p:cNvPicPr>
            <a:picLocks noChangeAspect="1"/>
          </p:cNvPicPr>
          <p:nvPr/>
        </p:nvPicPr>
        <p:blipFill>
          <a:blip r:embed="rId6"/>
          <a:stretch>
            <a:fillRect/>
          </a:stretch>
        </p:blipFill>
        <p:spPr>
          <a:xfrm>
            <a:off x="5712198" y="1339614"/>
            <a:ext cx="3108960" cy="1513484"/>
          </a:xfrm>
          <a:prstGeom prst="rect">
            <a:avLst/>
          </a:prstGeom>
          <a:ln>
            <a:solidFill>
              <a:schemeClr val="tx1"/>
            </a:solidFill>
          </a:ln>
        </p:spPr>
      </p:pic>
    </p:spTree>
    <p:extLst>
      <p:ext uri="{BB962C8B-B14F-4D97-AF65-F5344CB8AC3E}">
        <p14:creationId xmlns:p14="http://schemas.microsoft.com/office/powerpoint/2010/main" val="1612204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45E63CBD-1853-F6B9-05EB-7D5FE9D0009A}"/>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E7DF67EC-820C-02F0-5590-0E172B5B2E23}"/>
              </a:ext>
            </a:extLst>
          </p:cNvPr>
          <p:cNvSpPr txBox="1">
            <a:spLocks noGrp="1"/>
          </p:cNvSpPr>
          <p:nvPr>
            <p:ph type="title"/>
          </p:nvPr>
        </p:nvSpPr>
        <p:spPr>
          <a:xfrm>
            <a:off x="719999" y="445025"/>
            <a:ext cx="6299366"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mn-lt"/>
              </a:rPr>
              <a:t>GST collections remain resilient</a:t>
            </a:r>
            <a:endParaRPr sz="2000" dirty="0">
              <a:latin typeface="+mn-lt"/>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782736C9-6E8A-41CE-8624-E1FDEF62D439}"/>
              </a:ext>
            </a:extLst>
          </p:cNvPr>
          <p:cNvSpPr txBox="1"/>
          <p:nvPr/>
        </p:nvSpPr>
        <p:spPr>
          <a:xfrm>
            <a:off x="719999" y="4039971"/>
            <a:ext cx="7939377" cy="276999"/>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1200" dirty="0">
                <a:solidFill>
                  <a:schemeClr val="tx1"/>
                </a:solidFill>
              </a:rPr>
              <a:t>              GST collections up 8.1% YoY to ~Rs 1.83L cr in Feb-26, led by steady domestic consumption </a:t>
            </a:r>
          </a:p>
        </p:txBody>
      </p:sp>
      <p:sp>
        <p:nvSpPr>
          <p:cNvPr id="29" name="TextBox 28">
            <a:extLst>
              <a:ext uri="{FF2B5EF4-FFF2-40B4-BE49-F238E27FC236}">
                <a16:creationId xmlns:a16="http://schemas.microsoft.com/office/drawing/2014/main" id="{56C44403-AEE0-A8B7-89D8-51111D7CD418}"/>
              </a:ext>
            </a:extLst>
          </p:cNvPr>
          <p:cNvSpPr txBox="1"/>
          <p:nvPr/>
        </p:nvSpPr>
        <p:spPr>
          <a:xfrm>
            <a:off x="7795907" y="4585669"/>
            <a:ext cx="2696135" cy="215444"/>
          </a:xfrm>
          <a:prstGeom prst="rect">
            <a:avLst/>
          </a:prstGeom>
          <a:noFill/>
        </p:spPr>
        <p:txBody>
          <a:bodyPr wrap="square" rtlCol="0">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Source: Gst.gov.in</a:t>
            </a:r>
          </a:p>
        </p:txBody>
      </p:sp>
      <p:grpSp>
        <p:nvGrpSpPr>
          <p:cNvPr id="2" name="Google Shape;262;p6">
            <a:extLst>
              <a:ext uri="{FF2B5EF4-FFF2-40B4-BE49-F238E27FC236}">
                <a16:creationId xmlns:a16="http://schemas.microsoft.com/office/drawing/2014/main" id="{C3B56AB0-8C71-4829-FBEA-F6B30F4C73C0}"/>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34E31FBC-D5A4-E8AE-7D59-59DE272571DD}"/>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70509C44-FF7C-E93C-D975-B9BBCCB196B2}"/>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582F2B56-E108-A488-4765-3D6787D964BF}"/>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F34741B9-D3B0-E608-ACAB-688061C0CBE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67E37209-AB1C-C055-697F-FB35150D35ED}"/>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8" name="Content Placeholder 3">
            <a:extLst>
              <a:ext uri="{FF2B5EF4-FFF2-40B4-BE49-F238E27FC236}">
                <a16:creationId xmlns:a16="http://schemas.microsoft.com/office/drawing/2014/main" id="{88119ACB-07AA-5CE1-F257-CC800D60C47E}"/>
              </a:ext>
            </a:extLst>
          </p:cNvPr>
          <p:cNvGraphicFramePr>
            <a:graphicFrameLocks/>
          </p:cNvGraphicFramePr>
          <p:nvPr>
            <p:extLst>
              <p:ext uri="{D42A27DB-BD31-4B8C-83A1-F6EECF244321}">
                <p14:modId xmlns:p14="http://schemas.microsoft.com/office/powerpoint/2010/main" val="296989546"/>
              </p:ext>
            </p:extLst>
          </p:nvPr>
        </p:nvGraphicFramePr>
        <p:xfrm>
          <a:off x="768698" y="1185245"/>
          <a:ext cx="7890678" cy="262905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37908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E8966B4-688B-E075-14A9-497608EDF8F1}"/>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1F0664CC-3590-2727-FD58-11427EEBF6C9}"/>
              </a:ext>
            </a:extLst>
          </p:cNvPr>
          <p:cNvSpPr txBox="1">
            <a:spLocks noGrp="1"/>
          </p:cNvSpPr>
          <p:nvPr>
            <p:ph type="title"/>
          </p:nvPr>
        </p:nvSpPr>
        <p:spPr>
          <a:xfrm>
            <a:off x="719999" y="445025"/>
            <a:ext cx="4091487"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PMI : Manufacturing  Strengthens </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DA92A46-0B9F-78A0-FB8A-EE0E56CC61C4}"/>
              </a:ext>
            </a:extLst>
          </p:cNvPr>
          <p:cNvSpPr txBox="1"/>
          <p:nvPr/>
        </p:nvSpPr>
        <p:spPr>
          <a:xfrm>
            <a:off x="750323" y="4129402"/>
            <a:ext cx="5721234" cy="573940"/>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44" indent="-285744" defTabSz="1219170">
              <a:lnSpc>
                <a:spcPct val="150000"/>
              </a:lnSpc>
              <a:buFont typeface="Wingdings" panose="05000000000000000000" pitchFamily="2" charset="2"/>
              <a:buChar char="q"/>
            </a:pPr>
            <a:r>
              <a:rPr lang="en-US" sz="1100" dirty="0">
                <a:solidFill>
                  <a:schemeClr val="tx1"/>
                </a:solidFill>
              </a:rPr>
              <a:t>India’s Manufacturing PMI rose to 56.9 in Feb-26, driven by robust domestic demand</a:t>
            </a:r>
          </a:p>
          <a:p>
            <a:pPr marL="285744" indent="-285744" defTabSz="1219170">
              <a:lnSpc>
                <a:spcPct val="150000"/>
              </a:lnSpc>
              <a:buFont typeface="Wingdings" panose="05000000000000000000" pitchFamily="2" charset="2"/>
              <a:buChar char="q"/>
            </a:pPr>
            <a:r>
              <a:rPr lang="en-US" sz="1100" dirty="0">
                <a:solidFill>
                  <a:schemeClr val="tx1"/>
                </a:solidFill>
              </a:rPr>
              <a:t>India’s Services PMI remained steady at  58.1 in Feb-26, amid slower growth in  new orders </a:t>
            </a:r>
            <a:endParaRPr lang="en-US" sz="1100" dirty="0">
              <a:solidFill>
                <a:schemeClr val="tx1"/>
              </a:solidFill>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EC433CDF-44CD-0BCF-82F8-6C981688DB00}"/>
              </a:ext>
            </a:extLst>
          </p:cNvPr>
          <p:cNvSpPr txBox="1"/>
          <p:nvPr/>
        </p:nvSpPr>
        <p:spPr>
          <a:xfrm>
            <a:off x="7819053" y="4470863"/>
            <a:ext cx="2242943" cy="338554"/>
          </a:xfrm>
          <a:prstGeom prst="rect">
            <a:avLst/>
          </a:prstGeom>
          <a:noFill/>
        </p:spPr>
        <p:txBody>
          <a:bodyPr wrap="square" rtlCol="0">
            <a:spAutoFit/>
          </a:bodyP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Source: Trading Economics</a:t>
            </a:r>
          </a:p>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Data as on </a:t>
            </a:r>
            <a:r>
              <a:rPr lang="en-IN" sz="800" dirty="0">
                <a:solidFill>
                  <a:schemeClr val="tx1"/>
                </a:solidFill>
                <a:latin typeface="Calibri" panose="020F0502020204030204" pitchFamily="34" charset="0"/>
                <a:ea typeface="Calibri" panose="020F0502020204030204" pitchFamily="34" charset="0"/>
                <a:cs typeface="Calibri" panose="020F0502020204030204" pitchFamily="34" charset="0"/>
              </a:rPr>
              <a:t>Feb-26</a:t>
            </a:r>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lang="en-US" sz="800" dirty="0">
              <a:solidFill>
                <a:schemeClr val="tx1"/>
              </a:solidFill>
              <a:highlight>
                <a:srgbClr val="FF00FF"/>
              </a:highlight>
              <a:latin typeface="Calibri" panose="020F0502020204030204" pitchFamily="34" charset="0"/>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DDD708C4-7AA7-A26D-3F94-ED05CD3BB803}"/>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AB9DD285-9D3E-6A14-30F3-6A1431EFB09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1299F53A-7AC1-76EE-51A7-94CEC2CAB4CB}"/>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E7A08B44-2581-B5DC-A734-027DE6C9263E}"/>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404A7A56-E127-B3FF-B1D7-CAA9B7960B96}"/>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7D1FC4FF-E417-8612-8C61-23B093C245B5}"/>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10" name="Chart 9">
            <a:extLst>
              <a:ext uri="{FF2B5EF4-FFF2-40B4-BE49-F238E27FC236}">
                <a16:creationId xmlns:a16="http://schemas.microsoft.com/office/drawing/2014/main" id="{D14A91E1-8A63-AC94-B826-68AC0C1F8B69}"/>
              </a:ext>
            </a:extLst>
          </p:cNvPr>
          <p:cNvGraphicFramePr/>
          <p:nvPr>
            <p:extLst>
              <p:ext uri="{D42A27DB-BD31-4B8C-83A1-F6EECF244321}">
                <p14:modId xmlns:p14="http://schemas.microsoft.com/office/powerpoint/2010/main" val="4035759982"/>
              </p:ext>
            </p:extLst>
          </p:nvPr>
        </p:nvGraphicFramePr>
        <p:xfrm>
          <a:off x="750323" y="1141955"/>
          <a:ext cx="7814013" cy="281495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15396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45025"/>
            <a:ext cx="3448589"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Outlook – Medium Term</a:t>
            </a:r>
            <a:endParaRPr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1" name="Diagram 10">
            <a:extLst>
              <a:ext uri="{FF2B5EF4-FFF2-40B4-BE49-F238E27FC236}">
                <a16:creationId xmlns:a16="http://schemas.microsoft.com/office/drawing/2014/main" id="{96EDC516-54F1-488D-9CFC-DB645FBB4FF6}"/>
              </a:ext>
            </a:extLst>
          </p:cNvPr>
          <p:cNvGraphicFramePr/>
          <p:nvPr>
            <p:extLst>
              <p:ext uri="{D42A27DB-BD31-4B8C-83A1-F6EECF244321}">
                <p14:modId xmlns:p14="http://schemas.microsoft.com/office/powerpoint/2010/main" val="1571875088"/>
              </p:ext>
            </p:extLst>
          </p:nvPr>
        </p:nvGraphicFramePr>
        <p:xfrm>
          <a:off x="292378" y="1092829"/>
          <a:ext cx="8027895" cy="3548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Down Arrow 2">
            <a:extLst>
              <a:ext uri="{FF2B5EF4-FFF2-40B4-BE49-F238E27FC236}">
                <a16:creationId xmlns:a16="http://schemas.microsoft.com/office/drawing/2014/main" id="{F0B0499F-96D5-427D-93F6-0DE8D47CAA81}"/>
              </a:ext>
            </a:extLst>
          </p:cNvPr>
          <p:cNvSpPr/>
          <p:nvPr/>
        </p:nvSpPr>
        <p:spPr>
          <a:xfrm rot="10800000">
            <a:off x="8438721" y="1348635"/>
            <a:ext cx="347361" cy="308367"/>
          </a:xfrm>
          <a:prstGeom prst="down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Left-Right Arrow 6">
            <a:extLst>
              <a:ext uri="{FF2B5EF4-FFF2-40B4-BE49-F238E27FC236}">
                <a16:creationId xmlns:a16="http://schemas.microsoft.com/office/drawing/2014/main" id="{9BB9C202-27EC-4527-B625-AAA2FCD1279D}"/>
              </a:ext>
            </a:extLst>
          </p:cNvPr>
          <p:cNvSpPr/>
          <p:nvPr/>
        </p:nvSpPr>
        <p:spPr>
          <a:xfrm>
            <a:off x="8403302" y="2761002"/>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Left-Right Arrow 7">
            <a:extLst>
              <a:ext uri="{FF2B5EF4-FFF2-40B4-BE49-F238E27FC236}">
                <a16:creationId xmlns:a16="http://schemas.microsoft.com/office/drawing/2014/main" id="{C2B4A3FD-5DE7-48D6-9163-7EC3D76EF456}"/>
              </a:ext>
            </a:extLst>
          </p:cNvPr>
          <p:cNvSpPr/>
          <p:nvPr/>
        </p:nvSpPr>
        <p:spPr>
          <a:xfrm>
            <a:off x="8403302" y="3491438"/>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Left-Right Arrow 8">
            <a:extLst>
              <a:ext uri="{FF2B5EF4-FFF2-40B4-BE49-F238E27FC236}">
                <a16:creationId xmlns:a16="http://schemas.microsoft.com/office/drawing/2014/main" id="{B6D75F66-93AD-4A90-8DCE-FE36FC9052FA}"/>
              </a:ext>
            </a:extLst>
          </p:cNvPr>
          <p:cNvSpPr/>
          <p:nvPr/>
        </p:nvSpPr>
        <p:spPr>
          <a:xfrm>
            <a:off x="8403302" y="4197733"/>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Left-Right Arrow 9">
            <a:extLst>
              <a:ext uri="{FF2B5EF4-FFF2-40B4-BE49-F238E27FC236}">
                <a16:creationId xmlns:a16="http://schemas.microsoft.com/office/drawing/2014/main" id="{06F6397A-0F4B-41F3-AE75-9723C0445003}"/>
              </a:ext>
            </a:extLst>
          </p:cNvPr>
          <p:cNvSpPr/>
          <p:nvPr/>
        </p:nvSpPr>
        <p:spPr>
          <a:xfrm>
            <a:off x="8396578" y="2011565"/>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FA4A21F-1F8E-3CF0-6B12-975E6E9936E1}"/>
              </a:ext>
            </a:extLst>
          </p:cNvPr>
          <p:cNvSpPr txBox="1"/>
          <p:nvPr/>
        </p:nvSpPr>
        <p:spPr>
          <a:xfrm>
            <a:off x="5809269" y="4673281"/>
            <a:ext cx="3334731" cy="215444"/>
          </a:xfrm>
          <a:prstGeom prst="rect">
            <a:avLst/>
          </a:prstGeom>
          <a:noFill/>
        </p:spPr>
        <p:txBody>
          <a:bodyPr wrap="square" rtlCol="0">
            <a:spAutoFit/>
          </a:bodyPr>
          <a:lstStyle/>
          <a:p>
            <a:r>
              <a:rPr lang="en-US" sz="800" dirty="0">
                <a:solidFill>
                  <a:srgbClr val="333333"/>
                </a:solidFill>
                <a:latin typeface="Calibri" panose="020F0502020204030204" pitchFamily="34" charset="0"/>
                <a:ea typeface="Calibri" panose="020F0502020204030204" pitchFamily="34" charset="0"/>
                <a:cs typeface="Calibri" panose="020F0502020204030204" pitchFamily="34" charset="0"/>
              </a:rPr>
              <a:t>Source: Trading Economics, Investing.com, Money control, Federal reserve</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163FDCD3-794C-97AB-CADF-72429916C03B}"/>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BAEA0327-7D80-9177-A69E-AE2F60471DD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893E2A88-C19E-AFA9-7668-83C8C04E697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1EC85C24-D284-0C04-22ED-E893714E48D6}"/>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6BC501F8-4AE6-0D61-B3A4-77D3291245F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3E846EEA-8795-90A4-3796-018C990AD23F}"/>
              </a:ext>
            </a:extLst>
          </p:cNvPr>
          <p:cNvPicPr>
            <a:picLocks noChangeAspect="1"/>
          </p:cNvPicPr>
          <p:nvPr/>
        </p:nvPicPr>
        <p:blipFill>
          <a:blip r:embed="rId8"/>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763538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BD3D3AB-BC0D-4147-A428-30951BFA4E05}"/>
              </a:ext>
            </a:extLst>
          </p:cNvPr>
          <p:cNvSpPr/>
          <p:nvPr/>
        </p:nvSpPr>
        <p:spPr>
          <a:xfrm>
            <a:off x="719999" y="1157867"/>
            <a:ext cx="7952053" cy="32590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Escalating Middle East tensions risk pushing crude oil prices higher, widening India's current account deficit and fueling inflation</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FII flow volatility, as global investors shift allocations based on US yields and risk sentiment</a:t>
            </a:r>
          </a:p>
          <a:p>
            <a:pPr marL="171450" indent="-171450">
              <a:buFont typeface="Arial" panose="020B0604020202020204" pitchFamily="34" charset="0"/>
              <a:buChar char="•"/>
            </a:pPr>
            <a:endParaRPr lang="en-US" sz="1200" dirty="0">
              <a:solidFill>
                <a:schemeClr val="tx1"/>
              </a:solidFill>
            </a:endParaRP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Mid &amp; small cap valuations remain stretched despite the recent correction</a:t>
            </a: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Global trade uncertainty rises as Donald Trump imposes 15% global tariffs under Section 122 despite the U.S. Supreme Court ruling restricting his tariff powers</a:t>
            </a:r>
            <a:endParaRPr lang="en-US" sz="1200" dirty="0">
              <a:solidFill>
                <a:schemeClr val="tx1"/>
              </a:solidFill>
              <a:ea typeface="Calibri" panose="020F0502020204030204" pitchFamily="34" charset="0"/>
              <a:cs typeface="Calibri" panose="020F0502020204030204" pitchFamily="34" charset="0"/>
            </a:endParaRPr>
          </a:p>
          <a:p>
            <a:endParaRPr lang="en-US" sz="1200" dirty="0">
              <a:solidFill>
                <a:schemeClr val="tx1"/>
              </a:solidFill>
              <a:ea typeface="Calibri" panose="020F0502020204030204" pitchFamily="34" charset="0"/>
              <a:cs typeface="Calibri" panose="020F0502020204030204" pitchFamily="34" charset="0"/>
            </a:endParaRPr>
          </a:p>
          <a:p>
            <a:endParaRPr lang="en-US" sz="1200" dirty="0">
              <a:solidFill>
                <a:schemeClr val="tx1"/>
              </a:solidFill>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A9A6565E-1E40-C80E-4B77-ED61ABC2EB27}"/>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F747E186-2253-7CD2-4DFD-20BDDBE01EF1}"/>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48BDFEDC-04D6-2E94-776E-180F8AE0C6CD}"/>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9D5ACD7F-E5A0-7597-8120-CE1646513EC1}"/>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1F55750C-44DD-920A-F662-1CB5D7843A2A}"/>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04874DCD-4EDD-0F82-3D55-7F0E0BD08265}"/>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0" name="Title 9">
            <a:extLst>
              <a:ext uri="{FF2B5EF4-FFF2-40B4-BE49-F238E27FC236}">
                <a16:creationId xmlns:a16="http://schemas.microsoft.com/office/drawing/2014/main" id="{D3FD31D1-0421-E655-4BC8-8CAE6CE6D273}"/>
              </a:ext>
            </a:extLst>
          </p:cNvPr>
          <p:cNvSpPr>
            <a:spLocks noGrp="1"/>
          </p:cNvSpPr>
          <p:nvPr>
            <p:ph type="title"/>
          </p:nvPr>
        </p:nvSpPr>
        <p:spPr/>
        <p:txBody>
          <a:bodyPr/>
          <a:lstStyle/>
          <a:p>
            <a:r>
              <a:rPr lang="en-US" sz="2000" dirty="0">
                <a:latin typeface="+mn-lt"/>
              </a:rPr>
              <a:t>Key Risks</a:t>
            </a:r>
          </a:p>
        </p:txBody>
      </p:sp>
    </p:spTree>
    <p:extLst>
      <p:ext uri="{BB962C8B-B14F-4D97-AF65-F5344CB8AC3E}">
        <p14:creationId xmlns:p14="http://schemas.microsoft.com/office/powerpoint/2010/main" val="1459753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Disclaimer</a:t>
            </a:r>
          </a:p>
        </p:txBody>
      </p:sp>
      <p:sp>
        <p:nvSpPr>
          <p:cNvPr id="20" name="Content Placeholder 2">
            <a:extLst>
              <a:ext uri="{FF2B5EF4-FFF2-40B4-BE49-F238E27FC236}">
                <a16:creationId xmlns:a16="http://schemas.microsoft.com/office/drawing/2014/main" id="{446CA3D9-C2F5-9AC5-4D3B-216048E03B47}"/>
              </a:ext>
            </a:extLst>
          </p:cNvPr>
          <p:cNvSpPr txBox="1">
            <a:spLocks/>
          </p:cNvSpPr>
          <p:nvPr/>
        </p:nvSpPr>
        <p:spPr>
          <a:xfrm>
            <a:off x="541020" y="1109288"/>
            <a:ext cx="8290560" cy="3542830"/>
          </a:xfrm>
          <a:prstGeom prst="rect">
            <a:avLst/>
          </a:prstGeom>
          <a:solidFill>
            <a:srgbClr val="000000">
              <a:alpha val="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Medium"/>
                <a:ea typeface="DM Sans Medium"/>
                <a:cs typeface="DM Sans Medium"/>
                <a:sym typeface="DM Sans Medium"/>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indent="0" algn="just">
              <a:lnSpc>
                <a:spcPct val="170000"/>
              </a:lnSpc>
            </a:pPr>
            <a:r>
              <a:rPr lang="en-IN" sz="900" dirty="0">
                <a:latin typeface="Calibri" panose="020F0502020204030204" pitchFamily="34" charset="0"/>
                <a:ea typeface="Calibri" panose="020F0502020204030204" pitchFamily="34" charset="0"/>
                <a:cs typeface="Calibri" panose="020F0502020204030204" pitchFamily="34" charset="0"/>
              </a:rPr>
              <a:t>DISCLAIMER The views expressed herein are based on internal data, publicly available information and other sources believed to be reliable. Any calculations made are approximations, meant as guidelines only, which you must confirm before relying on them. This document has been prepared based on information, which is already available in publicly accessible media or developed through analysis of Shriram Mutual Fund. The recipient should note and understand that the information provided above may not contain all the material aspects relevant for making an investment decision and the security may or may not continue to form part of the scheme's portfolio in the future. Investors are advised to consult their investment advisor before making any investment decision in light of their risk appetite, investment goals, and horizon. The decision of the Investment Manager may not always be profitable; as such decisions are based on the prevailing market conditions and the understanding of the Investment Manager. Actual market movements may vary from the anticipated trends. Past performance may or may not be sustained in future. Sectors referred above are illustrative and not recommended by Shriram Mutual Fund (the Fund) / Shriram AMC. The Fund may or may not have any present or future positions in these sectors. Shriram AMC / the Fund is not guaranteeing / offering / communicating any indicative yield on investments made in the scheme(s). Neither Shriram AMC and the Fund nor any person connected with them, accepts any liability arising from the use of this document. The recipient(s) before acting on any information herein should make his/her/their own investigation and seek appropriate professional advice and shall alone be fully responsible / liable for any decision taken on the basis of information contained herein. Please refer to the Offer Documents/ Statement of Additional Information/ Key Information Memorandum of the Scheme before investing.</a:t>
            </a:r>
          </a:p>
          <a:p>
            <a:pPr marL="0" indent="0" algn="just"/>
            <a:endParaRPr lang="en-IN" sz="900" dirty="0">
              <a:latin typeface="Calibri" panose="020F0502020204030204" pitchFamily="34" charset="0"/>
              <a:ea typeface="Calibri" panose="020F0502020204030204" pitchFamily="34" charset="0"/>
              <a:cs typeface="Calibri" panose="020F0502020204030204" pitchFamily="34" charset="0"/>
            </a:endParaRPr>
          </a:p>
          <a:p>
            <a:pPr marL="0" indent="0" algn="just"/>
            <a:r>
              <a:rPr lang="en-IN" sz="900" b="1" i="1" dirty="0">
                <a:latin typeface="Calibri" panose="020F0502020204030204" pitchFamily="34" charset="0"/>
                <a:ea typeface="Calibri" panose="020F0502020204030204" pitchFamily="34" charset="0"/>
                <a:cs typeface="Calibri" panose="020F0502020204030204" pitchFamily="34" charset="0"/>
              </a:rPr>
              <a:t>MUTUAL FUND INVESTMENTS ARE SUBJECT TO MARKET RISKS, READ ALL SCHEME RELATED DOCUMENTS CAREFULLY.</a:t>
            </a:r>
          </a:p>
        </p:txBody>
      </p:sp>
      <p:grpSp>
        <p:nvGrpSpPr>
          <p:cNvPr id="2" name="Google Shape;262;p6">
            <a:extLst>
              <a:ext uri="{FF2B5EF4-FFF2-40B4-BE49-F238E27FC236}">
                <a16:creationId xmlns:a16="http://schemas.microsoft.com/office/drawing/2014/main" id="{68351EFC-8A98-53F2-88D8-F46F98F023FF}"/>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C4800DD-C9E9-C66D-347F-02ACBB17F048}"/>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CAD5EC11-C395-4C9F-FE1E-249A7564B316}"/>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3CC4205B-6FEB-225B-3E71-70CED726C795}"/>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D99498F4-1346-BD33-3A10-76ECF37F184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EF38F678-A471-680A-6C9B-52DD0001BC14}"/>
              </a:ext>
            </a:extLst>
          </p:cNvPr>
          <p:cNvPicPr>
            <a:picLocks noChangeAspect="1"/>
          </p:cNvPicPr>
          <p:nvPr/>
        </p:nvPicPr>
        <p:blipFill>
          <a:blip r:embed="rId3"/>
          <a:stretch>
            <a:fillRect/>
          </a:stretch>
        </p:blipFill>
        <p:spPr>
          <a:xfrm>
            <a:off x="7819053" y="116485"/>
            <a:ext cx="1190504" cy="5660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62E8CD-E4E0-9F68-9A0A-09849BCCFC39}"/>
              </a:ext>
            </a:extLst>
          </p:cNvPr>
          <p:cNvSpPr txBox="1"/>
          <p:nvPr/>
        </p:nvSpPr>
        <p:spPr>
          <a:xfrm>
            <a:off x="2617749" y="2306293"/>
            <a:ext cx="2892714" cy="646331"/>
          </a:xfrm>
          <a:prstGeom prst="rect">
            <a:avLst/>
          </a:prstGeom>
          <a:noFill/>
        </p:spPr>
        <p:txBody>
          <a:bodyPr wrap="square" rtlCol="0">
            <a:spAutoFit/>
          </a:bodyPr>
          <a:lstStyle/>
          <a:p>
            <a:pPr algn="ctr"/>
            <a:r>
              <a:rPr lang="en-US" sz="3600" b="1" dirty="0">
                <a:latin typeface="+mj-lt"/>
              </a:rPr>
              <a:t>Thank You</a:t>
            </a:r>
          </a:p>
        </p:txBody>
      </p:sp>
      <p:sp>
        <p:nvSpPr>
          <p:cNvPr id="3" name="Slide Number Placeholder 2"/>
          <p:cNvSpPr>
            <a:spLocks noGrp="1"/>
          </p:cNvSpPr>
          <p:nvPr>
            <p:ph type="sldNum" sz="quarter" idx="12"/>
          </p:nvPr>
        </p:nvSpPr>
        <p:spPr>
          <a:xfrm>
            <a:off x="8716457" y="632812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25430A5-9376-4D7E-A28C-CDCCC8918707}" type="slidenum">
              <a:rPr lang="en-US" smtClean="0"/>
              <a:pPr/>
              <a:t>25</a:t>
            </a:fld>
            <a:endParaRPr lang="en-US" dirty="0"/>
          </a:p>
        </p:txBody>
      </p:sp>
    </p:spTree>
    <p:extLst>
      <p:ext uri="{BB962C8B-B14F-4D97-AF65-F5344CB8AC3E}">
        <p14:creationId xmlns:p14="http://schemas.microsoft.com/office/powerpoint/2010/main" val="309313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Monochrome Strong Yellow Theme for Marketing by Slidesgo">
  <a:themeElements>
    <a:clrScheme name="Simple Light">
      <a:dk1>
        <a:srgbClr val="191919"/>
      </a:dk1>
      <a:lt1>
        <a:srgbClr val="FFFFFF"/>
      </a:lt1>
      <a:dk2>
        <a:srgbClr val="FDD900"/>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Retrospect</Template>
  <TotalTime>52831</TotalTime>
  <Words>2467</Words>
  <Application>Microsoft Office PowerPoint</Application>
  <PresentationFormat>On-screen Show (16:9)</PresentationFormat>
  <Paragraphs>321</Paragraphs>
  <Slides>25</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DM Sans Medium</vt:lpstr>
      <vt:lpstr>Montserrat</vt:lpstr>
      <vt:lpstr>Bebas Neue</vt:lpstr>
      <vt:lpstr>Nunito Light</vt:lpstr>
      <vt:lpstr>Arial</vt:lpstr>
      <vt:lpstr>DM Sans</vt:lpstr>
      <vt:lpstr>Wingdings</vt:lpstr>
      <vt:lpstr>Calibri</vt:lpstr>
      <vt:lpstr>Monochrome Strong Yellow Theme for Marketing by Slidesgo</vt:lpstr>
      <vt:lpstr>PowerPoint Presentation</vt:lpstr>
      <vt:lpstr>Market Overview  </vt:lpstr>
      <vt:lpstr>Indian markets rangebound in Feb-26</vt:lpstr>
      <vt:lpstr>Global Markets (MSCI) – Geopolitical Impact</vt:lpstr>
      <vt:lpstr>Crude &amp; Freight prices surge ahead of Middle East conflict</vt:lpstr>
      <vt:lpstr>Strait of Hormuz – Strategic oil route</vt:lpstr>
      <vt:lpstr>India’s crude oil supply</vt:lpstr>
      <vt:lpstr>India has reduced oil import dependence</vt:lpstr>
      <vt:lpstr>Sector Indices performance – Feb-26</vt:lpstr>
      <vt:lpstr>Sectors update</vt:lpstr>
      <vt:lpstr>Sectors update </vt:lpstr>
      <vt:lpstr>Sectors update </vt:lpstr>
      <vt:lpstr> FIIs flows turn positive in Feb-26</vt:lpstr>
      <vt:lpstr>Global Update</vt:lpstr>
      <vt:lpstr>INR depreciates CYTD &amp; DXY surges</vt:lpstr>
      <vt:lpstr>Global interest rate </vt:lpstr>
      <vt:lpstr>Global inflation trends remain mixed</vt:lpstr>
      <vt:lpstr>Domestic Update</vt:lpstr>
      <vt:lpstr>Macro Updates</vt:lpstr>
      <vt:lpstr>GST collections remain resilient</vt:lpstr>
      <vt:lpstr>PMI : Manufacturing  Strengthens </vt:lpstr>
      <vt:lpstr>Outlook – Medium Term</vt:lpstr>
      <vt:lpstr>Key Risks</vt:lpstr>
      <vt:lpstr>Disclaimer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Ramaraju</dc:creator>
  <cp:lastModifiedBy>Sheetal Keswani</cp:lastModifiedBy>
  <cp:revision>2271</cp:revision>
  <dcterms:modified xsi:type="dcterms:W3CDTF">2026-03-09T08:39:10Z</dcterms:modified>
</cp:coreProperties>
</file>