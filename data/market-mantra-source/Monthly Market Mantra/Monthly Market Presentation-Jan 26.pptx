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7.xml" ContentType="application/vnd.openxmlformats-officedocument.presentationml.notesSlide+xml"/>
  <Override PartName="/ppt/tags/tag1.xml" ContentType="application/vnd.openxmlformats-officedocument.presentationml.tags+xml"/>
  <Override PartName="/ppt/notesSlides/notesSlide8.xml" ContentType="application/vnd.openxmlformats-officedocument.presentationml.notesSlide+xml"/>
  <Override PartName="/ppt/tags/tag2.xml" ContentType="application/vnd.openxmlformats-officedocument.presentationml.tags+xml"/>
  <Override PartName="/ppt/notesSlides/notesSlide9.xml" ContentType="application/vnd.openxmlformats-officedocument.presentationml.notesSlide+xml"/>
  <Override PartName="/ppt/tags/tag3.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8.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551" r:id="rId3"/>
    <p:sldId id="508" r:id="rId4"/>
    <p:sldId id="550" r:id="rId5"/>
    <p:sldId id="579" r:id="rId6"/>
    <p:sldId id="566" r:id="rId7"/>
    <p:sldId id="497" r:id="rId8"/>
    <p:sldId id="450" r:id="rId9"/>
    <p:sldId id="573" r:id="rId10"/>
    <p:sldId id="452" r:id="rId11"/>
    <p:sldId id="455" r:id="rId12"/>
    <p:sldId id="260" r:id="rId13"/>
    <p:sldId id="575" r:id="rId14"/>
    <p:sldId id="503" r:id="rId15"/>
    <p:sldId id="502" r:id="rId16"/>
    <p:sldId id="461" r:id="rId17"/>
    <p:sldId id="558" r:id="rId18"/>
    <p:sldId id="496" r:id="rId19"/>
    <p:sldId id="559" r:id="rId20"/>
    <p:sldId id="552" r:id="rId21"/>
    <p:sldId id="261" r:id="rId22"/>
    <p:sldId id="298" r:id="rId23"/>
  </p:sldIdLst>
  <p:sldSz cx="9144000" cy="5143500" type="screen16x9"/>
  <p:notesSz cx="6858000" cy="9144000"/>
  <p:embeddedFontLst>
    <p:embeddedFont>
      <p:font typeface="Bebas Neue" panose="020B0606020202050201" pitchFamily="34" charset="0"/>
      <p:regular r:id="rId25"/>
    </p:embeddedFont>
    <p:embeddedFont>
      <p:font typeface="DM Sans" pitchFamily="2" charset="0"/>
      <p:regular r:id="rId26"/>
      <p:bold r:id="rId27"/>
      <p:italic r:id="rId28"/>
      <p:boldItalic r:id="rId29"/>
    </p:embeddedFont>
    <p:embeddedFont>
      <p:font typeface="DM Sans Medium" pitchFamily="2" charset="0"/>
      <p:regular r:id="rId30"/>
      <p:bold r:id="rId31"/>
      <p:italic r:id="rId32"/>
      <p:boldItalic r:id="rId33"/>
    </p:embeddedFont>
    <p:embeddedFont>
      <p:font typeface="Montserrat" panose="00000500000000000000" pitchFamily="2" charset="0"/>
      <p:regular r:id="rId34"/>
      <p:bold r:id="rId35"/>
      <p:italic r:id="rId36"/>
      <p:boldItalic r:id="rId37"/>
    </p:embeddedFont>
    <p:embeddedFont>
      <p:font typeface="Nunito Light" pitchFamily="2" charset="0"/>
      <p:regular r:id="rId38"/>
      <p: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7" roundtripDataSignature="AMtx7mgtpNPjNvlHWwJ9kNntkaGnj72ncQ=="/>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FA26D13-1640-5731-07C0-2633E89926DF}" name="ajay bhanushali" initials="ab" userId="7b362fd27c767146" providerId="Windows Live"/>
  <p188:author id="{0EA99517-056F-B13A-5DBF-44FDDDC7429F}" name="Ajay Bhanushali" initials="AR" userId="S::ajay@shriramamc.in::cb6c4228-ba46-4e04-8e35-8344592da834" providerId="AD"/>
  <p188:author id="{953B9D5E-DB98-3C3D-ED2E-F6F0EB4CF391}" name="Sheetal Keswani" initials="SK" userId="093a91d09d0f67a5" providerId="Windows Live"/>
  <p188:author id="{E84E6873-F220-4674-57D1-0CDCF9F38013}" name="Gargi Bhattacharyya Banerjee" initials="GB" userId="e1c9d0a53214f6ac" providerId="Windows Live"/>
  <p188:author id="{E9E5827F-8045-D629-AFD7-1463DEBBDFF4}" name="Gargi" initials="G" userId="S::gargi@shriramamc.in::34837e9c-ce14-468e-9e73-8e1968613f58" providerId="AD"/>
  <p188:author id="{7FE69591-7E67-9B37-9C72-CF5BE52CD564}" name="Sheetal Keswani" initials="SK" userId="S::sheetal@shriramamc.in::bf30985f-1661-43ee-8fa6-db08001090d7" providerId="AD"/>
  <p188:author id="{C81E1A97-3728-CC8F-5A0E-CB0099683B7A}" name="Shibangi Choudhury" initials="SC" userId="S::shibangi.choudhury@shriramamc.in::381f474d-aeb1-47f1-ad8d-9ca6d716be72" providerId="AD"/>
  <p188:author id="{316931B9-E745-2BAE-02A8-76DFFA56C75B}" name="Ajay Ramesh Bhanushali" initials="ARB" userId="Ajay Ramesh Bhanushali" providerId="None"/>
  <p188:author id="{AA075AEC-8ACF-3BC0-D21D-763E3103F0B4}" name="ajay bhanushali" initials="ab" userId="a2a0343971f8c688"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heetal Keswani" initials="SK" lastIdx="1" clrIdx="0">
    <p:extLst>
      <p:ext uri="{19B8F6BF-5375-455C-9EA6-DF929625EA0E}">
        <p15:presenceInfo xmlns:p15="http://schemas.microsoft.com/office/powerpoint/2012/main" userId="Sheetal Keswani" providerId="None"/>
      </p:ext>
    </p:extLst>
  </p:cmAuthor>
  <p:cmAuthor id="2" name="Gargi Bhattacharyya Banerjee" initials="GB" lastIdx="7" clrIdx="1">
    <p:extLst>
      <p:ext uri="{19B8F6BF-5375-455C-9EA6-DF929625EA0E}">
        <p15:presenceInfo xmlns:p15="http://schemas.microsoft.com/office/powerpoint/2012/main" userId="e1c9d0a53214f6a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999999"/>
    <a:srgbClr val="66CCFF"/>
    <a:srgbClr val="000000"/>
    <a:srgbClr val="66FFFF"/>
    <a:srgbClr val="CCCCFF"/>
    <a:srgbClr val="99CCFF"/>
    <a:srgbClr val="003300"/>
    <a:srgbClr val="FFCC99"/>
    <a:srgbClr val="FF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76BCA8-F93E-4912-80AD-B33BC005CF12}" v="8" dt="2026-02-06T10:39:48.760"/>
  </p1510:revLst>
</p1510:revInfo>
</file>

<file path=ppt/tableStyles.xml><?xml version="1.0" encoding="utf-8"?>
<a:tblStyleLst xmlns:a="http://schemas.openxmlformats.org/drawingml/2006/main" def="{C28A06C3-4186-4947-AB97-5CE784B852D7}">
  <a:tblStyle styleId="{C28A06C3-4186-4947-AB97-5CE784B852D7}" styleName="Table_0">
    <a:wholeTbl>
      <a:tcTxStyle b="off" i="off">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1EFBFC67-1CD7-423C-8FB7-7E03140B58E8}"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3" d="100"/>
          <a:sy n="103" d="100"/>
        </p:scale>
        <p:origin x="902" y="77"/>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89" Type="http://schemas.openxmlformats.org/officeDocument/2006/relationships/presProps" Target="presProps.xml"/><Relationship Id="rId7" Type="http://schemas.openxmlformats.org/officeDocument/2006/relationships/slide" Target="slides/slide6.xml"/><Relationship Id="rId9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87"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90" Type="http://schemas.openxmlformats.org/officeDocument/2006/relationships/viewProps" Target="viewProps.xml"/><Relationship Id="rId95"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9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8" Type="http://schemas.openxmlformats.org/officeDocument/2006/relationships/slide" Target="slides/slide7.xml"/><Relationship Id="rId93"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20" Type="http://schemas.openxmlformats.org/officeDocument/2006/relationships/slide" Target="slides/slide19.xml"/><Relationship Id="rId88" Type="http://schemas.openxmlformats.org/officeDocument/2006/relationships/commentAuthors" Target="commentAuthors.xml"/><Relationship Id="rId9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ak Ramaraju" userId="6c06e70c-98b2-4a64-a9b3-f0ac9c09df7c" providerId="ADAL" clId="{037A4D38-91EA-4C21-8376-FD3341053004}"/>
    <pc:docChg chg="custSel modSld">
      <pc:chgData name="Deepak Ramaraju" userId="6c06e70c-98b2-4a64-a9b3-f0ac9c09df7c" providerId="ADAL" clId="{037A4D38-91EA-4C21-8376-FD3341053004}" dt="2026-02-06T10:46:18.366" v="3" actId="27918"/>
      <pc:docMkLst>
        <pc:docMk/>
      </pc:docMkLst>
      <pc:sldChg chg="mod">
        <pc:chgData name="Deepak Ramaraju" userId="6c06e70c-98b2-4a64-a9b3-f0ac9c09df7c" providerId="ADAL" clId="{037A4D38-91EA-4C21-8376-FD3341053004}" dt="2026-02-06T10:46:18.366" v="3" actId="27918"/>
        <pc:sldMkLst>
          <pc:docMk/>
          <pc:sldMk cId="1612204180" sldId="558"/>
        </pc:sldMkLst>
      </pc:sldChg>
      <pc:sldChg chg="modSp mod">
        <pc:chgData name="Deepak Ramaraju" userId="6c06e70c-98b2-4a64-a9b3-f0ac9c09df7c" providerId="ADAL" clId="{037A4D38-91EA-4C21-8376-FD3341053004}" dt="2026-02-06T10:39:25.890" v="0" actId="313"/>
        <pc:sldMkLst>
          <pc:docMk/>
          <pc:sldMk cId="470001767" sldId="566"/>
        </pc:sldMkLst>
        <pc:spChg chg="mod">
          <ac:chgData name="Deepak Ramaraju" userId="6c06e70c-98b2-4a64-a9b3-f0ac9c09df7c" providerId="ADAL" clId="{037A4D38-91EA-4C21-8376-FD3341053004}" dt="2026-02-06T10:39:25.890" v="0" actId="313"/>
          <ac:spMkLst>
            <pc:docMk/>
            <pc:sldMk cId="470001767" sldId="566"/>
            <ac:spMk id="5" creationId="{0AA96379-4720-470F-88B3-AD2818B808BC}"/>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6287028663503824E-2"/>
          <c:y val="0.1681280439578737"/>
          <c:w val="0.91990572876723664"/>
          <c:h val="0.70357532364817055"/>
        </c:manualLayout>
      </c:layout>
      <c:barChart>
        <c:barDir val="col"/>
        <c:grouping val="clustered"/>
        <c:varyColors val="0"/>
        <c:ser>
          <c:idx val="0"/>
          <c:order val="0"/>
          <c:tx>
            <c:strRef>
              <c:f>Sheet1!$B$1</c:f>
              <c:strCache>
                <c:ptCount val="1"/>
                <c:pt idx="0">
                  <c:v>NIFTY 50</c:v>
                </c:pt>
              </c:strCache>
            </c:strRef>
          </c:tx>
          <c:spPr>
            <a:solidFill>
              <a:schemeClr val="tx1"/>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1M</c:v>
                </c:pt>
                <c:pt idx="1">
                  <c:v>3M</c:v>
                </c:pt>
                <c:pt idx="2">
                  <c:v>6M</c:v>
                </c:pt>
                <c:pt idx="3">
                  <c:v>1Y</c:v>
                </c:pt>
              </c:strCache>
            </c:strRef>
          </c:cat>
          <c:val>
            <c:numRef>
              <c:f>Sheet1!$B$2:$B$5</c:f>
              <c:numCache>
                <c:formatCode>0.0%</c:formatCode>
                <c:ptCount val="4"/>
                <c:pt idx="0">
                  <c:v>-2.3832976404119632E-2</c:v>
                </c:pt>
                <c:pt idx="1">
                  <c:v>-2.1531927884271607E-2</c:v>
                </c:pt>
                <c:pt idx="2">
                  <c:v>1.8732611682535483E-2</c:v>
                </c:pt>
                <c:pt idx="3">
                  <c:v>8.9083636207230255E-2</c:v>
                </c:pt>
              </c:numCache>
            </c:numRef>
          </c:val>
          <c:extLst>
            <c:ext xmlns:c16="http://schemas.microsoft.com/office/drawing/2014/chart" uri="{C3380CC4-5D6E-409C-BE32-E72D297353CC}">
              <c16:uniqueId val="{00000000-856F-42EA-9694-51B0AD87DA68}"/>
            </c:ext>
          </c:extLst>
        </c:ser>
        <c:ser>
          <c:idx val="1"/>
          <c:order val="1"/>
          <c:tx>
            <c:strRef>
              <c:f>Sheet1!$C$1</c:f>
              <c:strCache>
                <c:ptCount val="1"/>
                <c:pt idx="0">
                  <c:v>NIFTY MIDCAP 50</c:v>
                </c:pt>
              </c:strCache>
            </c:strRef>
          </c:tx>
          <c:spPr>
            <a:solidFill>
              <a:srgbClr val="FFC000"/>
            </a:solidFill>
            <a:ln>
              <a:noFill/>
            </a:ln>
            <a:effectLst/>
          </c:spPr>
          <c:invertIfNegative val="0"/>
          <c:dLbls>
            <c:dLbl>
              <c:idx val="0"/>
              <c:layout>
                <c:manualLayout>
                  <c:x val="-3.5154770493896668E-3"/>
                  <c:y val="-7.973933765290318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56F-42EA-9694-51B0AD87DA68}"/>
                </c:ext>
              </c:extLst>
            </c:dLbl>
            <c:dLbl>
              <c:idx val="2"/>
              <c:layout>
                <c:manualLayout>
                  <c:x val="0"/>
                  <c:y val="-0.1143922349564029"/>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28C3-41B2-AA16-2D43B794ECCD}"/>
                </c:ext>
              </c:extLst>
            </c:dLbl>
            <c:dLbl>
              <c:idx val="3"/>
              <c:layout>
                <c:manualLayout>
                  <c:x val="1.7327702603139396E-2"/>
                  <c:y val="-4.973575432887082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8C3-41B2-AA16-2D43B794ECCD}"/>
                </c:ext>
              </c:extLst>
            </c:dLbl>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1M</c:v>
                </c:pt>
                <c:pt idx="1">
                  <c:v>3M</c:v>
                </c:pt>
                <c:pt idx="2">
                  <c:v>6M</c:v>
                </c:pt>
                <c:pt idx="3">
                  <c:v>1Y</c:v>
                </c:pt>
              </c:strCache>
            </c:strRef>
          </c:cat>
          <c:val>
            <c:numRef>
              <c:f>Sheet1!$C$2:$C$5</c:f>
              <c:numCache>
                <c:formatCode>0.0%</c:formatCode>
                <c:ptCount val="4"/>
                <c:pt idx="0">
                  <c:v>-2.1440295445219526E-2</c:v>
                </c:pt>
                <c:pt idx="1">
                  <c:v>-2.105294022782922E-2</c:v>
                </c:pt>
                <c:pt idx="2">
                  <c:v>1.988666737945044E-2</c:v>
                </c:pt>
                <c:pt idx="3">
                  <c:v>0.13760345644181404</c:v>
                </c:pt>
              </c:numCache>
            </c:numRef>
          </c:val>
          <c:extLst>
            <c:ext xmlns:c16="http://schemas.microsoft.com/office/drawing/2014/chart" uri="{C3380CC4-5D6E-409C-BE32-E72D297353CC}">
              <c16:uniqueId val="{00000002-856F-42EA-9694-51B0AD87DA68}"/>
            </c:ext>
          </c:extLst>
        </c:ser>
        <c:ser>
          <c:idx val="2"/>
          <c:order val="2"/>
          <c:tx>
            <c:strRef>
              <c:f>Sheet1!$D$1</c:f>
              <c:strCache>
                <c:ptCount val="1"/>
                <c:pt idx="0">
                  <c:v>NIFTY SMALLCAP 100</c:v>
                </c:pt>
              </c:strCache>
            </c:strRef>
          </c:tx>
          <c:spPr>
            <a:solidFill>
              <a:schemeClr val="tx1">
                <a:lumMod val="50000"/>
                <a:lumOff val="50000"/>
              </a:schemeClr>
            </a:solidFill>
            <a:ln>
              <a:noFill/>
            </a:ln>
            <a:effectLst/>
          </c:spPr>
          <c:invertIfNegative val="0"/>
          <c:dLbls>
            <c:dLbl>
              <c:idx val="1"/>
              <c:layout>
                <c:manualLayout>
                  <c:x val="0"/>
                  <c:y val="-7.460363149330623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8C3-41B2-AA16-2D43B794ECCD}"/>
                </c:ext>
              </c:extLst>
            </c:dLbl>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1M</c:v>
                </c:pt>
                <c:pt idx="1">
                  <c:v>3M</c:v>
                </c:pt>
                <c:pt idx="2">
                  <c:v>6M</c:v>
                </c:pt>
                <c:pt idx="3">
                  <c:v>1Y</c:v>
                </c:pt>
              </c:strCache>
            </c:strRef>
          </c:cat>
          <c:val>
            <c:numRef>
              <c:f>Sheet1!$D$2:$D$5</c:f>
              <c:numCache>
                <c:formatCode>0.0%</c:formatCode>
                <c:ptCount val="4"/>
                <c:pt idx="0">
                  <c:v>-3.652330761832201E-2</c:v>
                </c:pt>
                <c:pt idx="1">
                  <c:v>-8.6119428036189105E-2</c:v>
                </c:pt>
                <c:pt idx="2">
                  <c:v>-7.0372889570602837E-2</c:v>
                </c:pt>
                <c:pt idx="3">
                  <c:v>1.9238549560701479E-2</c:v>
                </c:pt>
              </c:numCache>
            </c:numRef>
          </c:val>
          <c:extLst>
            <c:ext xmlns:c16="http://schemas.microsoft.com/office/drawing/2014/chart" uri="{C3380CC4-5D6E-409C-BE32-E72D297353CC}">
              <c16:uniqueId val="{00000003-856F-42EA-9694-51B0AD87DA68}"/>
            </c:ext>
          </c:extLst>
        </c:ser>
        <c:ser>
          <c:idx val="3"/>
          <c:order val="3"/>
          <c:tx>
            <c:strRef>
              <c:f>Sheet1!$E$1</c:f>
              <c:strCache>
                <c:ptCount val="1"/>
                <c:pt idx="0">
                  <c:v>NIFTY NEXT 50</c:v>
                </c:pt>
              </c:strCache>
            </c:strRef>
          </c:tx>
          <c:spPr>
            <a:solidFill>
              <a:srgbClr val="FF9966"/>
            </a:solidFill>
            <a:ln>
              <a:noFill/>
            </a:ln>
            <a:effectLst/>
          </c:spPr>
          <c:invertIfNegative val="0"/>
          <c:dLbls>
            <c:dLbl>
              <c:idx val="1"/>
              <c:layout>
                <c:manualLayout>
                  <c:x val="-5.1983107809418193E-3"/>
                  <c:y val="1.492072629866124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8C3-41B2-AA16-2D43B794ECCD}"/>
                </c:ext>
              </c:extLst>
            </c:dLbl>
            <c:dLbl>
              <c:idx val="2"/>
              <c:layout>
                <c:manualLayout>
                  <c:x val="2.1092999366379456E-2"/>
                  <c:y val="-1.057320068267900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56F-42EA-9694-51B0AD87DA68}"/>
                </c:ext>
              </c:extLst>
            </c:dLbl>
            <c:spPr>
              <a:noFill/>
              <a:ln>
                <a:noFill/>
              </a:ln>
              <a:effectLst/>
            </c:spPr>
            <c:txPr>
              <a:bodyPr rot="0" spcFirstLastPara="1" vertOverflow="ellipsis" vert="horz" wrap="square" anchor="ctr" anchorCtr="1"/>
              <a:lstStyle/>
              <a:p>
                <a:pPr algn="ctr">
                  <a:defRPr sz="9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1M</c:v>
                </c:pt>
                <c:pt idx="1">
                  <c:v>3M</c:v>
                </c:pt>
                <c:pt idx="2">
                  <c:v>6M</c:v>
                </c:pt>
                <c:pt idx="3">
                  <c:v>1Y</c:v>
                </c:pt>
              </c:strCache>
            </c:strRef>
          </c:cat>
          <c:val>
            <c:numRef>
              <c:f>Sheet1!$E$2:$E$5</c:f>
              <c:numCache>
                <c:formatCode>0.00%</c:formatCode>
                <c:ptCount val="4"/>
                <c:pt idx="0">
                  <c:v>-1.2056605903062123E-2</c:v>
                </c:pt>
                <c:pt idx="1">
                  <c:v>-3.2000833303011955E-2</c:v>
                </c:pt>
                <c:pt idx="2">
                  <c:v>6.0013212693974527E-3</c:v>
                </c:pt>
                <c:pt idx="3">
                  <c:v>7.4650686271481526E-2</c:v>
                </c:pt>
              </c:numCache>
            </c:numRef>
          </c:val>
          <c:extLst>
            <c:ext xmlns:c16="http://schemas.microsoft.com/office/drawing/2014/chart" uri="{C3380CC4-5D6E-409C-BE32-E72D297353CC}">
              <c16:uniqueId val="{00000005-856F-42EA-9694-51B0AD87DA68}"/>
            </c:ext>
          </c:extLst>
        </c:ser>
        <c:dLbls>
          <c:showLegendKey val="0"/>
          <c:showVal val="0"/>
          <c:showCatName val="0"/>
          <c:showSerName val="0"/>
          <c:showPercent val="0"/>
          <c:showBubbleSize val="0"/>
        </c:dLbls>
        <c:gapWidth val="219"/>
        <c:axId val="602951328"/>
        <c:axId val="602952312"/>
      </c:barChart>
      <c:catAx>
        <c:axId val="602951328"/>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602952312"/>
        <c:crosses val="autoZero"/>
        <c:auto val="1"/>
        <c:lblAlgn val="ctr"/>
        <c:lblOffset val="100"/>
        <c:noMultiLvlLbl val="0"/>
      </c:catAx>
      <c:valAx>
        <c:axId val="602952312"/>
        <c:scaling>
          <c:orientation val="minMax"/>
        </c:scaling>
        <c:delete val="1"/>
        <c:axPos val="l"/>
        <c:numFmt formatCode="0.0%" sourceLinked="1"/>
        <c:majorTickMark val="none"/>
        <c:minorTickMark val="none"/>
        <c:tickLblPos val="nextTo"/>
        <c:crossAx val="602951328"/>
        <c:crosses val="autoZero"/>
        <c:crossBetween val="between"/>
      </c:valAx>
      <c:spPr>
        <a:noFill/>
        <a:ln>
          <a:solidFill>
            <a:schemeClr val="bg1"/>
          </a:solid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solidFill>
        <a:schemeClr val="tx1"/>
      </a:solidFill>
      <a:round/>
    </a:ln>
    <a:effectLst/>
  </c:spPr>
  <c:txPr>
    <a:bodyPr/>
    <a:lstStyle/>
    <a:p>
      <a:pPr>
        <a:defRPr sz="1200">
          <a:latin typeface="Calibri" panose="020F0502020204030204" pitchFamily="34" charset="0"/>
          <a:ea typeface="Calibri" panose="020F0502020204030204" pitchFamily="34" charset="0"/>
          <a:cs typeface="Calibri" panose="020F0502020204030204" pitchFamily="34" charset="0"/>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IN" sz="1200" dirty="0"/>
              <a:t>Global Equity Market  Returns (US$)</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autoTitleDeleted val="0"/>
    <c:plotArea>
      <c:layout>
        <c:manualLayout>
          <c:layoutTarget val="inner"/>
          <c:xMode val="edge"/>
          <c:yMode val="edge"/>
          <c:x val="8.1623348362889675E-2"/>
          <c:y val="0.1181596478421145"/>
          <c:w val="0.89495408021435696"/>
          <c:h val="0.67852892185611924"/>
        </c:manualLayout>
      </c:layout>
      <c:barChart>
        <c:barDir val="col"/>
        <c:grouping val="clustered"/>
        <c:varyColors val="0"/>
        <c:ser>
          <c:idx val="0"/>
          <c:order val="0"/>
          <c:tx>
            <c:strRef>
              <c:f>Sheet1!$B$1</c:f>
              <c:strCache>
                <c:ptCount val="1"/>
                <c:pt idx="0">
                  <c:v>1M</c:v>
                </c:pt>
              </c:strCache>
            </c:strRef>
          </c:tx>
          <c:spPr>
            <a:solidFill>
              <a:schemeClr val="bg2"/>
            </a:solidFill>
            <a:ln>
              <a:noFill/>
            </a:ln>
            <a:effectLst/>
          </c:spPr>
          <c:invertIfNegative val="0"/>
          <c:cat>
            <c:strRef>
              <c:f>Sheet1!$A$2:$A$15</c:f>
              <c:strCache>
                <c:ptCount val="13"/>
                <c:pt idx="0">
                  <c:v>India</c:v>
                </c:pt>
                <c:pt idx="1">
                  <c:v>Japan</c:v>
                </c:pt>
                <c:pt idx="2">
                  <c:v>USA</c:v>
                </c:pt>
                <c:pt idx="3">
                  <c:v>Brazil</c:v>
                </c:pt>
                <c:pt idx="4">
                  <c:v>Australia</c:v>
                </c:pt>
                <c:pt idx="5">
                  <c:v>UAE</c:v>
                </c:pt>
                <c:pt idx="6">
                  <c:v>UK</c:v>
                </c:pt>
                <c:pt idx="7">
                  <c:v>Germany</c:v>
                </c:pt>
                <c:pt idx="8">
                  <c:v>Singapore</c:v>
                </c:pt>
                <c:pt idx="9">
                  <c:v>China</c:v>
                </c:pt>
                <c:pt idx="10">
                  <c:v>France</c:v>
                </c:pt>
                <c:pt idx="11">
                  <c:v>Hong Kong</c:v>
                </c:pt>
                <c:pt idx="12">
                  <c:v>South Africa</c:v>
                </c:pt>
              </c:strCache>
            </c:strRef>
          </c:cat>
          <c:val>
            <c:numRef>
              <c:f>Sheet1!$B$2:$B$15</c:f>
              <c:numCache>
                <c:formatCode>0%</c:formatCode>
                <c:ptCount val="14"/>
                <c:pt idx="0" formatCode="0.0%">
                  <c:v>-5.1479999999999998E-2</c:v>
                </c:pt>
                <c:pt idx="1">
                  <c:v>6.5860000000000002E-2</c:v>
                </c:pt>
                <c:pt idx="2">
                  <c:v>1.2239999999999999E-2</c:v>
                </c:pt>
                <c:pt idx="3">
                  <c:v>0.16636000000000001</c:v>
                </c:pt>
                <c:pt idx="4">
                  <c:v>6.6360000000000002E-2</c:v>
                </c:pt>
                <c:pt idx="5">
                  <c:v>6.9519999999999998E-2</c:v>
                </c:pt>
                <c:pt idx="6">
                  <c:v>5.1130000000000002E-2</c:v>
                </c:pt>
                <c:pt idx="7">
                  <c:v>1.668E-2</c:v>
                </c:pt>
                <c:pt idx="8">
                  <c:v>3.952E-2</c:v>
                </c:pt>
                <c:pt idx="9">
                  <c:v>4.385E-2</c:v>
                </c:pt>
                <c:pt idx="10">
                  <c:v>1.1939999999999999E-2</c:v>
                </c:pt>
                <c:pt idx="11">
                  <c:v>0.10306999999999999</c:v>
                </c:pt>
                <c:pt idx="12">
                  <c:v>8.2059999999999994E-2</c:v>
                </c:pt>
              </c:numCache>
            </c:numRef>
          </c:val>
          <c:extLst>
            <c:ext xmlns:c16="http://schemas.microsoft.com/office/drawing/2014/chart" uri="{C3380CC4-5D6E-409C-BE32-E72D297353CC}">
              <c16:uniqueId val="{00000000-A671-4713-9528-E5E7D7BE7E47}"/>
            </c:ext>
          </c:extLst>
        </c:ser>
        <c:ser>
          <c:idx val="1"/>
          <c:order val="1"/>
          <c:tx>
            <c:strRef>
              <c:f>Sheet1!$C$1</c:f>
              <c:strCache>
                <c:ptCount val="1"/>
                <c:pt idx="0">
                  <c:v>3M</c:v>
                </c:pt>
              </c:strCache>
            </c:strRef>
          </c:tx>
          <c:spPr>
            <a:solidFill>
              <a:schemeClr val="tx2">
                <a:lumMod val="75000"/>
              </a:schemeClr>
            </a:solidFill>
            <a:ln>
              <a:noFill/>
            </a:ln>
            <a:effectLst/>
          </c:spPr>
          <c:invertIfNegative val="0"/>
          <c:cat>
            <c:strRef>
              <c:f>Sheet1!$A$2:$A$15</c:f>
              <c:strCache>
                <c:ptCount val="13"/>
                <c:pt idx="0">
                  <c:v>India</c:v>
                </c:pt>
                <c:pt idx="1">
                  <c:v>Japan</c:v>
                </c:pt>
                <c:pt idx="2">
                  <c:v>USA</c:v>
                </c:pt>
                <c:pt idx="3">
                  <c:v>Brazil</c:v>
                </c:pt>
                <c:pt idx="4">
                  <c:v>Australia</c:v>
                </c:pt>
                <c:pt idx="5">
                  <c:v>UAE</c:v>
                </c:pt>
                <c:pt idx="6">
                  <c:v>UK</c:v>
                </c:pt>
                <c:pt idx="7">
                  <c:v>Germany</c:v>
                </c:pt>
                <c:pt idx="8">
                  <c:v>Singapore</c:v>
                </c:pt>
                <c:pt idx="9">
                  <c:v>China</c:v>
                </c:pt>
                <c:pt idx="10">
                  <c:v>France</c:v>
                </c:pt>
                <c:pt idx="11">
                  <c:v>Hong Kong</c:v>
                </c:pt>
                <c:pt idx="12">
                  <c:v>South Africa</c:v>
                </c:pt>
              </c:strCache>
            </c:strRef>
          </c:cat>
          <c:val>
            <c:numRef>
              <c:f>Sheet1!$C$2:$C$15</c:f>
              <c:numCache>
                <c:formatCode>0%</c:formatCode>
                <c:ptCount val="14"/>
                <c:pt idx="0" formatCode="0.0%">
                  <c:v>-4.8710000000000003E-2</c:v>
                </c:pt>
                <c:pt idx="1">
                  <c:v>6.2839999999999993E-2</c:v>
                </c:pt>
                <c:pt idx="2">
                  <c:v>1.0359999999999999E-2</c:v>
                </c:pt>
                <c:pt idx="3">
                  <c:v>0.2092</c:v>
                </c:pt>
                <c:pt idx="4">
                  <c:v>6.0819999999999999E-2</c:v>
                </c:pt>
                <c:pt idx="5">
                  <c:v>5.3420000000000002E-2</c:v>
                </c:pt>
                <c:pt idx="6">
                  <c:v>0.10106999999999999</c:v>
                </c:pt>
                <c:pt idx="7">
                  <c:v>6.5180000000000002E-2</c:v>
                </c:pt>
                <c:pt idx="8">
                  <c:v>4.8030000000000003E-2</c:v>
                </c:pt>
                <c:pt idx="9">
                  <c:v>-6.3499999999999997E-3</c:v>
                </c:pt>
                <c:pt idx="10">
                  <c:v>3.4380000000000001E-2</c:v>
                </c:pt>
                <c:pt idx="11">
                  <c:v>0.12254</c:v>
                </c:pt>
                <c:pt idx="12">
                  <c:v>0.22572</c:v>
                </c:pt>
              </c:numCache>
            </c:numRef>
          </c:val>
          <c:extLst>
            <c:ext xmlns:c16="http://schemas.microsoft.com/office/drawing/2014/chart" uri="{C3380CC4-5D6E-409C-BE32-E72D297353CC}">
              <c16:uniqueId val="{00000001-A671-4713-9528-E5E7D7BE7E47}"/>
            </c:ext>
          </c:extLst>
        </c:ser>
        <c:ser>
          <c:idx val="2"/>
          <c:order val="2"/>
          <c:tx>
            <c:strRef>
              <c:f>Sheet1!$D$1</c:f>
              <c:strCache>
                <c:ptCount val="1"/>
                <c:pt idx="0">
                  <c:v>1 Yr</c:v>
                </c:pt>
              </c:strCache>
            </c:strRef>
          </c:tx>
          <c:spPr>
            <a:solidFill>
              <a:schemeClr val="tx1"/>
            </a:solidFill>
            <a:ln>
              <a:noFill/>
            </a:ln>
            <a:effectLst/>
          </c:spPr>
          <c:invertIfNegative val="0"/>
          <c:cat>
            <c:strRef>
              <c:f>Sheet1!$A$2:$A$15</c:f>
              <c:strCache>
                <c:ptCount val="13"/>
                <c:pt idx="0">
                  <c:v>India</c:v>
                </c:pt>
                <c:pt idx="1">
                  <c:v>Japan</c:v>
                </c:pt>
                <c:pt idx="2">
                  <c:v>USA</c:v>
                </c:pt>
                <c:pt idx="3">
                  <c:v>Brazil</c:v>
                </c:pt>
                <c:pt idx="4">
                  <c:v>Australia</c:v>
                </c:pt>
                <c:pt idx="5">
                  <c:v>UAE</c:v>
                </c:pt>
                <c:pt idx="6">
                  <c:v>UK</c:v>
                </c:pt>
                <c:pt idx="7">
                  <c:v>Germany</c:v>
                </c:pt>
                <c:pt idx="8">
                  <c:v>Singapore</c:v>
                </c:pt>
                <c:pt idx="9">
                  <c:v>China</c:v>
                </c:pt>
                <c:pt idx="10">
                  <c:v>France</c:v>
                </c:pt>
                <c:pt idx="11">
                  <c:v>Hong Kong</c:v>
                </c:pt>
                <c:pt idx="12">
                  <c:v>South Africa</c:v>
                </c:pt>
              </c:strCache>
            </c:strRef>
          </c:cat>
          <c:val>
            <c:numRef>
              <c:f>Sheet1!$D$2:$D$15</c:f>
              <c:numCache>
                <c:formatCode>0%</c:formatCode>
                <c:ptCount val="14"/>
                <c:pt idx="0" formatCode="0.0%">
                  <c:v>1.3820000000000001E-2</c:v>
                </c:pt>
                <c:pt idx="1">
                  <c:v>0.28158</c:v>
                </c:pt>
                <c:pt idx="2">
                  <c:v>0.14327999999999999</c:v>
                </c:pt>
                <c:pt idx="3">
                  <c:v>0.45355000000000001</c:v>
                </c:pt>
                <c:pt idx="4">
                  <c:v>0.12572</c:v>
                </c:pt>
                <c:pt idx="5">
                  <c:v>0.22095999999999999</c:v>
                </c:pt>
                <c:pt idx="6">
                  <c:v>0.30362</c:v>
                </c:pt>
                <c:pt idx="7">
                  <c:v>0.24274999999999999</c:v>
                </c:pt>
                <c:pt idx="8">
                  <c:v>0.26216</c:v>
                </c:pt>
                <c:pt idx="9">
                  <c:v>0.31225000000000003</c:v>
                </c:pt>
                <c:pt idx="10">
                  <c:v>0.17294999999999999</c:v>
                </c:pt>
                <c:pt idx="11">
                  <c:v>0.46010000000000001</c:v>
                </c:pt>
                <c:pt idx="12">
                  <c:v>0.77581</c:v>
                </c:pt>
              </c:numCache>
            </c:numRef>
          </c:val>
          <c:extLst>
            <c:ext xmlns:c16="http://schemas.microsoft.com/office/drawing/2014/chart" uri="{C3380CC4-5D6E-409C-BE32-E72D297353CC}">
              <c16:uniqueId val="{00000002-A671-4713-9528-E5E7D7BE7E47}"/>
            </c:ext>
          </c:extLst>
        </c:ser>
        <c:ser>
          <c:idx val="3"/>
          <c:order val="3"/>
          <c:tx>
            <c:strRef>
              <c:f>Sheet1!$E$1</c:f>
              <c:strCache>
                <c:ptCount val="1"/>
                <c:pt idx="0">
                  <c:v>Column1</c:v>
                </c:pt>
              </c:strCache>
            </c:strRef>
          </c:tx>
          <c:spPr>
            <a:solidFill>
              <a:schemeClr val="accent4"/>
            </a:solidFill>
            <a:ln>
              <a:noFill/>
            </a:ln>
            <a:effectLst/>
          </c:spPr>
          <c:invertIfNegative val="0"/>
          <c:cat>
            <c:strRef>
              <c:f>Sheet1!$A$2:$A$15</c:f>
              <c:strCache>
                <c:ptCount val="13"/>
                <c:pt idx="0">
                  <c:v>India</c:v>
                </c:pt>
                <c:pt idx="1">
                  <c:v>Japan</c:v>
                </c:pt>
                <c:pt idx="2">
                  <c:v>USA</c:v>
                </c:pt>
                <c:pt idx="3">
                  <c:v>Brazil</c:v>
                </c:pt>
                <c:pt idx="4">
                  <c:v>Australia</c:v>
                </c:pt>
                <c:pt idx="5">
                  <c:v>UAE</c:v>
                </c:pt>
                <c:pt idx="6">
                  <c:v>UK</c:v>
                </c:pt>
                <c:pt idx="7">
                  <c:v>Germany</c:v>
                </c:pt>
                <c:pt idx="8">
                  <c:v>Singapore</c:v>
                </c:pt>
                <c:pt idx="9">
                  <c:v>China</c:v>
                </c:pt>
                <c:pt idx="10">
                  <c:v>France</c:v>
                </c:pt>
                <c:pt idx="11">
                  <c:v>Hong Kong</c:v>
                </c:pt>
                <c:pt idx="12">
                  <c:v>South Africa</c:v>
                </c:pt>
              </c:strCache>
            </c:strRef>
          </c:cat>
          <c:val>
            <c:numRef>
              <c:f>Sheet1!$E$2:$E$15</c:f>
            </c:numRef>
          </c:val>
          <c:extLst>
            <c:ext xmlns:c16="http://schemas.microsoft.com/office/drawing/2014/chart" uri="{C3380CC4-5D6E-409C-BE32-E72D297353CC}">
              <c16:uniqueId val="{00000003-A671-4713-9528-E5E7D7BE7E47}"/>
            </c:ext>
          </c:extLst>
        </c:ser>
        <c:ser>
          <c:idx val="4"/>
          <c:order val="4"/>
          <c:tx>
            <c:strRef>
              <c:f>Sheet1!$F$1</c:f>
              <c:strCache>
                <c:ptCount val="1"/>
                <c:pt idx="0">
                  <c:v>Column2</c:v>
                </c:pt>
              </c:strCache>
            </c:strRef>
          </c:tx>
          <c:spPr>
            <a:solidFill>
              <a:schemeClr val="accent5"/>
            </a:solidFill>
            <a:ln>
              <a:noFill/>
            </a:ln>
            <a:effectLst/>
          </c:spPr>
          <c:invertIfNegative val="0"/>
          <c:cat>
            <c:strRef>
              <c:f>Sheet1!$A$2:$A$15</c:f>
              <c:strCache>
                <c:ptCount val="13"/>
                <c:pt idx="0">
                  <c:v>India</c:v>
                </c:pt>
                <c:pt idx="1">
                  <c:v>Japan</c:v>
                </c:pt>
                <c:pt idx="2">
                  <c:v>USA</c:v>
                </c:pt>
                <c:pt idx="3">
                  <c:v>Brazil</c:v>
                </c:pt>
                <c:pt idx="4">
                  <c:v>Australia</c:v>
                </c:pt>
                <c:pt idx="5">
                  <c:v>UAE</c:v>
                </c:pt>
                <c:pt idx="6">
                  <c:v>UK</c:v>
                </c:pt>
                <c:pt idx="7">
                  <c:v>Germany</c:v>
                </c:pt>
                <c:pt idx="8">
                  <c:v>Singapore</c:v>
                </c:pt>
                <c:pt idx="9">
                  <c:v>China</c:v>
                </c:pt>
                <c:pt idx="10">
                  <c:v>France</c:v>
                </c:pt>
                <c:pt idx="11">
                  <c:v>Hong Kong</c:v>
                </c:pt>
                <c:pt idx="12">
                  <c:v>South Africa</c:v>
                </c:pt>
              </c:strCache>
            </c:strRef>
          </c:cat>
          <c:val>
            <c:numRef>
              <c:f>Sheet1!$F$2:$F$15</c:f>
            </c:numRef>
          </c:val>
          <c:extLst>
            <c:ext xmlns:c16="http://schemas.microsoft.com/office/drawing/2014/chart" uri="{C3380CC4-5D6E-409C-BE32-E72D297353CC}">
              <c16:uniqueId val="{00000004-A671-4713-9528-E5E7D7BE7E47}"/>
            </c:ext>
          </c:extLst>
        </c:ser>
        <c:ser>
          <c:idx val="5"/>
          <c:order val="5"/>
          <c:tx>
            <c:strRef>
              <c:f>Sheet1!$G$1</c:f>
              <c:strCache>
                <c:ptCount val="1"/>
                <c:pt idx="0">
                  <c:v>Column3</c:v>
                </c:pt>
              </c:strCache>
            </c:strRef>
          </c:tx>
          <c:spPr>
            <a:solidFill>
              <a:schemeClr val="accent6"/>
            </a:solidFill>
            <a:ln>
              <a:noFill/>
            </a:ln>
            <a:effectLst/>
          </c:spPr>
          <c:invertIfNegative val="0"/>
          <c:cat>
            <c:strRef>
              <c:f>Sheet1!$A$2:$A$15</c:f>
              <c:strCache>
                <c:ptCount val="13"/>
                <c:pt idx="0">
                  <c:v>India</c:v>
                </c:pt>
                <c:pt idx="1">
                  <c:v>Japan</c:v>
                </c:pt>
                <c:pt idx="2">
                  <c:v>USA</c:v>
                </c:pt>
                <c:pt idx="3">
                  <c:v>Brazil</c:v>
                </c:pt>
                <c:pt idx="4">
                  <c:v>Australia</c:v>
                </c:pt>
                <c:pt idx="5">
                  <c:v>UAE</c:v>
                </c:pt>
                <c:pt idx="6">
                  <c:v>UK</c:v>
                </c:pt>
                <c:pt idx="7">
                  <c:v>Germany</c:v>
                </c:pt>
                <c:pt idx="8">
                  <c:v>Singapore</c:v>
                </c:pt>
                <c:pt idx="9">
                  <c:v>China</c:v>
                </c:pt>
                <c:pt idx="10">
                  <c:v>France</c:v>
                </c:pt>
                <c:pt idx="11">
                  <c:v>Hong Kong</c:v>
                </c:pt>
                <c:pt idx="12">
                  <c:v>South Africa</c:v>
                </c:pt>
              </c:strCache>
            </c:strRef>
          </c:cat>
          <c:val>
            <c:numRef>
              <c:f>Sheet1!$G$2:$G$15</c:f>
            </c:numRef>
          </c:val>
          <c:extLst>
            <c:ext xmlns:c16="http://schemas.microsoft.com/office/drawing/2014/chart" uri="{C3380CC4-5D6E-409C-BE32-E72D297353CC}">
              <c16:uniqueId val="{00000005-A671-4713-9528-E5E7D7BE7E47}"/>
            </c:ext>
          </c:extLst>
        </c:ser>
        <c:dLbls>
          <c:showLegendKey val="0"/>
          <c:showVal val="0"/>
          <c:showCatName val="0"/>
          <c:showSerName val="0"/>
          <c:showPercent val="0"/>
          <c:showBubbleSize val="0"/>
        </c:dLbls>
        <c:gapWidth val="150"/>
        <c:axId val="146150304"/>
        <c:axId val="146152264"/>
      </c:barChart>
      <c:catAx>
        <c:axId val="146150304"/>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46152264"/>
        <c:crosses val="autoZero"/>
        <c:auto val="1"/>
        <c:lblAlgn val="ctr"/>
        <c:lblOffset val="100"/>
        <c:noMultiLvlLbl val="0"/>
      </c:catAx>
      <c:valAx>
        <c:axId val="146152264"/>
        <c:scaling>
          <c:orientation val="minMax"/>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46150304"/>
        <c:crosses val="autoZero"/>
        <c:crossBetween val="between"/>
      </c:valAx>
      <c:spPr>
        <a:noFill/>
        <a:ln>
          <a:noFill/>
        </a:ln>
        <a:effectLst/>
      </c:spPr>
    </c:plotArea>
    <c:legend>
      <c:legendPos val="b"/>
      <c:layout>
        <c:manualLayout>
          <c:xMode val="edge"/>
          <c:yMode val="edge"/>
          <c:x val="6.2121020520126573E-2"/>
          <c:y val="2.0658309199496495E-2"/>
          <c:w val="0.2218538041754437"/>
          <c:h val="8.2883265579998214E-2"/>
        </c:manualLayout>
      </c:layout>
      <c:overlay val="0"/>
      <c:spPr>
        <a:noFill/>
        <a:ln>
          <a:noFill/>
        </a:ln>
        <a:effectLst/>
      </c:spPr>
      <c:txPr>
        <a:bodyPr rot="0" spcFirstLastPara="1" vertOverflow="ellipsis" vert="horz" wrap="square" anchor="ctr" anchorCtr="1"/>
        <a:lstStyle/>
        <a:p>
          <a:pPr algn="ctr">
            <a:defRPr sz="1197"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solidFill>
                <a:latin typeface="Calibri" panose="020F0502020204030204" pitchFamily="34" charset="0"/>
                <a:ea typeface="Calibri" panose="020F0502020204030204" pitchFamily="34" charset="0"/>
                <a:cs typeface="Calibri" panose="020F0502020204030204" pitchFamily="34" charset="0"/>
              </a:defRPr>
            </a:pPr>
            <a:r>
              <a:rPr lang="en-US" sz="1200" b="1" dirty="0">
                <a:solidFill>
                  <a:schemeClr val="tx1"/>
                </a:solidFill>
              </a:rPr>
              <a:t>FII &amp; DII Flows (Rs. Cr</a:t>
            </a:r>
            <a:r>
              <a:rPr lang="en-US" sz="1200" dirty="0">
                <a:solidFill>
                  <a:schemeClr val="tx1"/>
                </a:solidFill>
              </a:rPr>
              <a:t>)</a:t>
            </a:r>
          </a:p>
        </c:rich>
      </c:tx>
      <c:layout>
        <c:manualLayout>
          <c:xMode val="edge"/>
          <c:yMode val="edge"/>
          <c:x val="0.36684473454873756"/>
          <c:y val="3.2429289375413346E-2"/>
        </c:manualLayout>
      </c:layout>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title>
    <c:autoTitleDeleted val="0"/>
    <c:plotArea>
      <c:layout>
        <c:manualLayout>
          <c:layoutTarget val="inner"/>
          <c:xMode val="edge"/>
          <c:yMode val="edge"/>
          <c:x val="2.41800910207325E-2"/>
          <c:y val="0.15615770854730116"/>
          <c:w val="0.96920302680054904"/>
          <c:h val="0.72542394157252088"/>
        </c:manualLayout>
      </c:layout>
      <c:barChart>
        <c:barDir val="col"/>
        <c:grouping val="clustered"/>
        <c:varyColors val="0"/>
        <c:ser>
          <c:idx val="0"/>
          <c:order val="0"/>
          <c:tx>
            <c:strRef>
              <c:f>Sheet1!$B$1</c:f>
              <c:strCache>
                <c:ptCount val="1"/>
                <c:pt idx="0">
                  <c:v>FII</c:v>
                </c:pt>
              </c:strCache>
            </c:strRef>
          </c:tx>
          <c:spPr>
            <a:solidFill>
              <a:srgbClr val="FFC000"/>
            </a:solidFill>
            <a:ln>
              <a:noFill/>
            </a:ln>
            <a:effectLst/>
          </c:spPr>
          <c:invertIfNegative val="0"/>
          <c:dLbls>
            <c:dLbl>
              <c:idx val="35"/>
              <c:layout>
                <c:manualLayout>
                  <c:x val="-4.5871559633027525E-3"/>
                  <c:y val="0.1521739130434782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F0C-4FBA-922A-4E1B570CD1F7}"/>
                </c:ext>
              </c:extLst>
            </c:dLbl>
            <c:dLbl>
              <c:idx val="39"/>
              <c:layout>
                <c:manualLayout>
                  <c:x val="-2.2935779816513763E-3"/>
                  <c:y val="0.1521739130434782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F0C-4FBA-922A-4E1B570CD1F7}"/>
                </c:ext>
              </c:extLst>
            </c:dLbl>
            <c:dLbl>
              <c:idx val="40"/>
              <c:layout>
                <c:manualLayout>
                  <c:x val="-1.1467889908256881E-2"/>
                  <c:y val="0.16666666666666666"/>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F0C-4FBA-922A-4E1B570CD1F7}"/>
                </c:ext>
              </c:extLst>
            </c:dLbl>
            <c:dLbl>
              <c:idx val="41"/>
              <c:layout>
                <c:manualLayout>
                  <c:x val="-2.2935779816514604E-3"/>
                  <c:y val="0.1811594202898550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F0C-4FBA-922A-4E1B570CD1F7}"/>
                </c:ext>
              </c:extLst>
            </c:dLbl>
            <c:dLbl>
              <c:idx val="45"/>
              <c:layout>
                <c:manualLayout>
                  <c:x val="-2.2935779816514604E-3"/>
                  <c:y val="0.16666666666666666"/>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F0C-4FBA-922A-4E1B570CD1F7}"/>
                </c:ext>
              </c:extLst>
            </c:dLbl>
            <c:dLbl>
              <c:idx val="47"/>
              <c:tx>
                <c:rich>
                  <a:bodyPr/>
                  <a:lstStyle/>
                  <a:p>
                    <a:fld id="{40504B35-5486-4C85-87CC-9C0C09B4AD00}" type="VALUE">
                      <a:rPr lang="en-US">
                        <a:solidFill>
                          <a:schemeClr val="tx1"/>
                        </a:solidFill>
                      </a:rPr>
                      <a:pPr/>
                      <a:t>[VALUE]</a:t>
                    </a:fld>
                    <a:endParaRPr 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B1D9-4CD0-A52B-0347B6F41E17}"/>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Sheet1!$A$2:$A$50</c:f>
              <c:numCache>
                <c:formatCode>mmm\-yy</c:formatCode>
                <c:ptCount val="49"/>
                <c:pt idx="0">
                  <c:v>44562</c:v>
                </c:pt>
                <c:pt idx="1">
                  <c:v>44593</c:v>
                </c:pt>
                <c:pt idx="2">
                  <c:v>44621</c:v>
                </c:pt>
                <c:pt idx="3">
                  <c:v>44652</c:v>
                </c:pt>
                <c:pt idx="4">
                  <c:v>44682</c:v>
                </c:pt>
                <c:pt idx="5">
                  <c:v>44713</c:v>
                </c:pt>
                <c:pt idx="6">
                  <c:v>44743</c:v>
                </c:pt>
                <c:pt idx="7">
                  <c:v>44774</c:v>
                </c:pt>
                <c:pt idx="8">
                  <c:v>44805</c:v>
                </c:pt>
                <c:pt idx="9">
                  <c:v>44835</c:v>
                </c:pt>
                <c:pt idx="10">
                  <c:v>44866</c:v>
                </c:pt>
                <c:pt idx="11">
                  <c:v>44896</c:v>
                </c:pt>
                <c:pt idx="12">
                  <c:v>44927</c:v>
                </c:pt>
                <c:pt idx="13">
                  <c:v>44958</c:v>
                </c:pt>
                <c:pt idx="14">
                  <c:v>44986</c:v>
                </c:pt>
                <c:pt idx="15">
                  <c:v>45017</c:v>
                </c:pt>
                <c:pt idx="16">
                  <c:v>45047</c:v>
                </c:pt>
                <c:pt idx="17">
                  <c:v>45078</c:v>
                </c:pt>
                <c:pt idx="18">
                  <c:v>45108</c:v>
                </c:pt>
                <c:pt idx="19">
                  <c:v>45139</c:v>
                </c:pt>
                <c:pt idx="20">
                  <c:v>45170</c:v>
                </c:pt>
                <c:pt idx="21">
                  <c:v>45222</c:v>
                </c:pt>
                <c:pt idx="22">
                  <c:v>45231</c:v>
                </c:pt>
                <c:pt idx="23">
                  <c:v>45261</c:v>
                </c:pt>
                <c:pt idx="24">
                  <c:v>45292</c:v>
                </c:pt>
                <c:pt idx="25">
                  <c:v>45346</c:v>
                </c:pt>
                <c:pt idx="26">
                  <c:v>45375</c:v>
                </c:pt>
                <c:pt idx="27">
                  <c:v>45383</c:v>
                </c:pt>
                <c:pt idx="28">
                  <c:v>45436</c:v>
                </c:pt>
                <c:pt idx="29">
                  <c:v>45467</c:v>
                </c:pt>
                <c:pt idx="30">
                  <c:v>45474</c:v>
                </c:pt>
                <c:pt idx="31">
                  <c:v>45528</c:v>
                </c:pt>
                <c:pt idx="32">
                  <c:v>45559</c:v>
                </c:pt>
                <c:pt idx="33">
                  <c:v>45589</c:v>
                </c:pt>
                <c:pt idx="34">
                  <c:v>45620</c:v>
                </c:pt>
                <c:pt idx="35">
                  <c:v>45650</c:v>
                </c:pt>
                <c:pt idx="36">
                  <c:v>45682</c:v>
                </c:pt>
                <c:pt idx="37">
                  <c:v>45713</c:v>
                </c:pt>
                <c:pt idx="38">
                  <c:v>45741</c:v>
                </c:pt>
                <c:pt idx="39">
                  <c:v>45772</c:v>
                </c:pt>
                <c:pt idx="40">
                  <c:v>45802</c:v>
                </c:pt>
                <c:pt idx="41">
                  <c:v>45833</c:v>
                </c:pt>
                <c:pt idx="42">
                  <c:v>45863</c:v>
                </c:pt>
                <c:pt idx="43">
                  <c:v>45894</c:v>
                </c:pt>
                <c:pt idx="44">
                  <c:v>45925</c:v>
                </c:pt>
                <c:pt idx="45">
                  <c:v>45955</c:v>
                </c:pt>
                <c:pt idx="46">
                  <c:v>45962</c:v>
                </c:pt>
                <c:pt idx="47">
                  <c:v>45992</c:v>
                </c:pt>
                <c:pt idx="48">
                  <c:v>46048</c:v>
                </c:pt>
              </c:numCache>
            </c:numRef>
          </c:cat>
          <c:val>
            <c:numRef>
              <c:f>Sheet1!$B$2:$B$50</c:f>
              <c:numCache>
                <c:formatCode>#,##0</c:formatCode>
                <c:ptCount val="49"/>
                <c:pt idx="0">
                  <c:v>-33937.839999999997</c:v>
                </c:pt>
                <c:pt idx="1">
                  <c:v>-37688.959999999992</c:v>
                </c:pt>
                <c:pt idx="2">
                  <c:v>-28311.540000000008</c:v>
                </c:pt>
                <c:pt idx="3">
                  <c:v>-29145.690000000002</c:v>
                </c:pt>
                <c:pt idx="4">
                  <c:v>-37663.39</c:v>
                </c:pt>
                <c:pt idx="5">
                  <c:v>-49468.93</c:v>
                </c:pt>
                <c:pt idx="6">
                  <c:v>6719.7500000000009</c:v>
                </c:pt>
                <c:pt idx="7">
                  <c:v>53993.919999999998</c:v>
                </c:pt>
                <c:pt idx="8">
                  <c:v>-13405.81</c:v>
                </c:pt>
                <c:pt idx="9">
                  <c:v>8430.6</c:v>
                </c:pt>
                <c:pt idx="10">
                  <c:v>38234.9</c:v>
                </c:pt>
                <c:pt idx="11">
                  <c:v>-1353.71</c:v>
                </c:pt>
                <c:pt idx="12">
                  <c:v>-30167.1</c:v>
                </c:pt>
                <c:pt idx="13">
                  <c:v>-5279.04</c:v>
                </c:pt>
                <c:pt idx="14">
                  <c:v>14944.47</c:v>
                </c:pt>
                <c:pt idx="15">
                  <c:v>15733.42</c:v>
                </c:pt>
                <c:pt idx="16">
                  <c:v>38765.42</c:v>
                </c:pt>
                <c:pt idx="17">
                  <c:v>53297.71</c:v>
                </c:pt>
                <c:pt idx="18">
                  <c:v>33994</c:v>
                </c:pt>
                <c:pt idx="19">
                  <c:v>17041</c:v>
                </c:pt>
                <c:pt idx="20">
                  <c:v>-18894</c:v>
                </c:pt>
                <c:pt idx="21">
                  <c:v>-19623</c:v>
                </c:pt>
                <c:pt idx="22">
                  <c:v>16651.03</c:v>
                </c:pt>
                <c:pt idx="23">
                  <c:v>58498</c:v>
                </c:pt>
                <c:pt idx="24">
                  <c:v>-26111</c:v>
                </c:pt>
                <c:pt idx="25">
                  <c:v>4000</c:v>
                </c:pt>
                <c:pt idx="26">
                  <c:v>35282</c:v>
                </c:pt>
                <c:pt idx="27">
                  <c:v>-9175.5</c:v>
                </c:pt>
                <c:pt idx="28">
                  <c:v>-27437.35</c:v>
                </c:pt>
                <c:pt idx="29">
                  <c:v>25940.25</c:v>
                </c:pt>
                <c:pt idx="30">
                  <c:v>27957.71</c:v>
                </c:pt>
                <c:pt idx="31">
                  <c:v>13434.26</c:v>
                </c:pt>
                <c:pt idx="32">
                  <c:v>49792.84</c:v>
                </c:pt>
                <c:pt idx="33">
                  <c:v>-91933.64</c:v>
                </c:pt>
                <c:pt idx="34">
                  <c:v>-18258.59</c:v>
                </c:pt>
                <c:pt idx="35">
                  <c:v>11086</c:v>
                </c:pt>
                <c:pt idx="36">
                  <c:v>-72677.210000000006</c:v>
                </c:pt>
                <c:pt idx="37">
                  <c:v>-46599.08</c:v>
                </c:pt>
                <c:pt idx="38">
                  <c:v>-3973</c:v>
                </c:pt>
                <c:pt idx="39">
                  <c:v>6363.48</c:v>
                </c:pt>
                <c:pt idx="40">
                  <c:v>16441.330000000002</c:v>
                </c:pt>
                <c:pt idx="41">
                  <c:v>20423.64</c:v>
                </c:pt>
                <c:pt idx="42">
                  <c:v>-24723</c:v>
                </c:pt>
                <c:pt idx="43">
                  <c:v>-37823.040000000001</c:v>
                </c:pt>
                <c:pt idx="44">
                  <c:v>-18927.89</c:v>
                </c:pt>
                <c:pt idx="45">
                  <c:v>11049.62</c:v>
                </c:pt>
                <c:pt idx="46">
                  <c:v>332.86</c:v>
                </c:pt>
                <c:pt idx="47" formatCode="_(* #,##0_);_(* \(#,##0\);_(* &quot;-&quot;??_);_(@_)">
                  <c:v>-23824.75</c:v>
                </c:pt>
                <c:pt idx="48">
                  <c:v>-29487.33</c:v>
                </c:pt>
              </c:numCache>
            </c:numRef>
          </c:val>
          <c:extLst>
            <c:ext xmlns:c16="http://schemas.microsoft.com/office/drawing/2014/chart" uri="{C3380CC4-5D6E-409C-BE32-E72D297353CC}">
              <c16:uniqueId val="{00000005-5F0C-4FBA-922A-4E1B570CD1F7}"/>
            </c:ext>
          </c:extLst>
        </c:ser>
        <c:ser>
          <c:idx val="1"/>
          <c:order val="1"/>
          <c:tx>
            <c:strRef>
              <c:f>Sheet1!$C$1</c:f>
              <c:strCache>
                <c:ptCount val="1"/>
                <c:pt idx="0">
                  <c:v>DII</c:v>
                </c:pt>
              </c:strCache>
            </c:strRef>
          </c:tx>
          <c:spPr>
            <a:solidFill>
              <a:schemeClr val="tx1"/>
            </a:solidFill>
            <a:ln>
              <a:noFill/>
            </a:ln>
            <a:effectLst/>
          </c:spPr>
          <c:invertIfNegative val="0"/>
          <c:dLbls>
            <c:dLbl>
              <c:idx val="47"/>
              <c:tx>
                <c:rich>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fld id="{D43CB1DD-2BD6-4A46-A507-48B8E50AA0FF}" type="VALUE">
                      <a:rPr lang="en-US">
                        <a:solidFill>
                          <a:schemeClr val="tx1"/>
                        </a:solidFill>
                      </a:rPr>
                      <a:pPr>
                        <a:defRPr sz="900">
                          <a:solidFill>
                            <a:schemeClr val="tx1"/>
                          </a:solidFill>
                        </a:defRPr>
                      </a:pPr>
                      <a:t>[VALUE]</a:t>
                    </a:fld>
                    <a:endParaRPr lang="en-US"/>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IN"/>
                </a:p>
              </c:txPr>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B1D9-4CD0-A52B-0347B6F41E17}"/>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Sheet1!$A$2:$A$50</c:f>
              <c:numCache>
                <c:formatCode>mmm\-yy</c:formatCode>
                <c:ptCount val="49"/>
                <c:pt idx="0">
                  <c:v>44562</c:v>
                </c:pt>
                <c:pt idx="1">
                  <c:v>44593</c:v>
                </c:pt>
                <c:pt idx="2">
                  <c:v>44621</c:v>
                </c:pt>
                <c:pt idx="3">
                  <c:v>44652</c:v>
                </c:pt>
                <c:pt idx="4">
                  <c:v>44682</c:v>
                </c:pt>
                <c:pt idx="5">
                  <c:v>44713</c:v>
                </c:pt>
                <c:pt idx="6">
                  <c:v>44743</c:v>
                </c:pt>
                <c:pt idx="7">
                  <c:v>44774</c:v>
                </c:pt>
                <c:pt idx="8">
                  <c:v>44805</c:v>
                </c:pt>
                <c:pt idx="9">
                  <c:v>44835</c:v>
                </c:pt>
                <c:pt idx="10">
                  <c:v>44866</c:v>
                </c:pt>
                <c:pt idx="11">
                  <c:v>44896</c:v>
                </c:pt>
                <c:pt idx="12">
                  <c:v>44927</c:v>
                </c:pt>
                <c:pt idx="13">
                  <c:v>44958</c:v>
                </c:pt>
                <c:pt idx="14">
                  <c:v>44986</c:v>
                </c:pt>
                <c:pt idx="15">
                  <c:v>45017</c:v>
                </c:pt>
                <c:pt idx="16">
                  <c:v>45047</c:v>
                </c:pt>
                <c:pt idx="17">
                  <c:v>45078</c:v>
                </c:pt>
                <c:pt idx="18">
                  <c:v>45108</c:v>
                </c:pt>
                <c:pt idx="19">
                  <c:v>45139</c:v>
                </c:pt>
                <c:pt idx="20">
                  <c:v>45170</c:v>
                </c:pt>
                <c:pt idx="21">
                  <c:v>45222</c:v>
                </c:pt>
                <c:pt idx="22">
                  <c:v>45231</c:v>
                </c:pt>
                <c:pt idx="23">
                  <c:v>45261</c:v>
                </c:pt>
                <c:pt idx="24">
                  <c:v>45292</c:v>
                </c:pt>
                <c:pt idx="25">
                  <c:v>45346</c:v>
                </c:pt>
                <c:pt idx="26">
                  <c:v>45375</c:v>
                </c:pt>
                <c:pt idx="27">
                  <c:v>45383</c:v>
                </c:pt>
                <c:pt idx="28">
                  <c:v>45436</c:v>
                </c:pt>
                <c:pt idx="29">
                  <c:v>45467</c:v>
                </c:pt>
                <c:pt idx="30">
                  <c:v>45474</c:v>
                </c:pt>
                <c:pt idx="31">
                  <c:v>45528</c:v>
                </c:pt>
                <c:pt idx="32">
                  <c:v>45559</c:v>
                </c:pt>
                <c:pt idx="33">
                  <c:v>45589</c:v>
                </c:pt>
                <c:pt idx="34">
                  <c:v>45620</c:v>
                </c:pt>
                <c:pt idx="35">
                  <c:v>45650</c:v>
                </c:pt>
                <c:pt idx="36">
                  <c:v>45682</c:v>
                </c:pt>
                <c:pt idx="37">
                  <c:v>45713</c:v>
                </c:pt>
                <c:pt idx="38">
                  <c:v>45741</c:v>
                </c:pt>
                <c:pt idx="39">
                  <c:v>45772</c:v>
                </c:pt>
                <c:pt idx="40">
                  <c:v>45802</c:v>
                </c:pt>
                <c:pt idx="41">
                  <c:v>45833</c:v>
                </c:pt>
                <c:pt idx="42">
                  <c:v>45863</c:v>
                </c:pt>
                <c:pt idx="43">
                  <c:v>45894</c:v>
                </c:pt>
                <c:pt idx="44">
                  <c:v>45925</c:v>
                </c:pt>
                <c:pt idx="45">
                  <c:v>45955</c:v>
                </c:pt>
                <c:pt idx="46">
                  <c:v>45962</c:v>
                </c:pt>
                <c:pt idx="47">
                  <c:v>45992</c:v>
                </c:pt>
                <c:pt idx="48">
                  <c:v>46048</c:v>
                </c:pt>
              </c:numCache>
            </c:numRef>
          </c:cat>
          <c:val>
            <c:numRef>
              <c:f>Sheet1!$C$2:$C$50</c:f>
              <c:numCache>
                <c:formatCode>#,##0</c:formatCode>
                <c:ptCount val="49"/>
                <c:pt idx="0">
                  <c:v>16487.72</c:v>
                </c:pt>
                <c:pt idx="1">
                  <c:v>28180.59</c:v>
                </c:pt>
                <c:pt idx="2">
                  <c:v>22219.86</c:v>
                </c:pt>
                <c:pt idx="3">
                  <c:v>22371.17</c:v>
                </c:pt>
                <c:pt idx="4">
                  <c:v>29413.870000000003</c:v>
                </c:pt>
                <c:pt idx="5">
                  <c:v>22050.810000000005</c:v>
                </c:pt>
                <c:pt idx="6">
                  <c:v>4712.38</c:v>
                </c:pt>
                <c:pt idx="7">
                  <c:v>-1120.7800000000002</c:v>
                </c:pt>
                <c:pt idx="8">
                  <c:v>18601.739999999998</c:v>
                </c:pt>
                <c:pt idx="9">
                  <c:v>6317.63</c:v>
                </c:pt>
                <c:pt idx="10">
                  <c:v>1688.11</c:v>
                </c:pt>
                <c:pt idx="11">
                  <c:v>14692.33</c:v>
                </c:pt>
                <c:pt idx="12">
                  <c:v>17957.759999999998</c:v>
                </c:pt>
                <c:pt idx="13">
                  <c:v>12824.67</c:v>
                </c:pt>
                <c:pt idx="14">
                  <c:v>20764.3</c:v>
                </c:pt>
                <c:pt idx="15">
                  <c:v>-5131.05</c:v>
                </c:pt>
                <c:pt idx="16">
                  <c:v>2186.5500000000002</c:v>
                </c:pt>
                <c:pt idx="17">
                  <c:v>5664</c:v>
                </c:pt>
                <c:pt idx="18">
                  <c:v>7707.46</c:v>
                </c:pt>
                <c:pt idx="19">
                  <c:v>25500.85</c:v>
                </c:pt>
                <c:pt idx="20">
                  <c:v>20506</c:v>
                </c:pt>
                <c:pt idx="21">
                  <c:v>16916</c:v>
                </c:pt>
                <c:pt idx="22">
                  <c:v>18024</c:v>
                </c:pt>
                <c:pt idx="23">
                  <c:v>21750</c:v>
                </c:pt>
                <c:pt idx="24">
                  <c:v>23010.63</c:v>
                </c:pt>
                <c:pt idx="25">
                  <c:v>21983.15</c:v>
                </c:pt>
                <c:pt idx="26">
                  <c:v>45004</c:v>
                </c:pt>
                <c:pt idx="27">
                  <c:v>30995.45</c:v>
                </c:pt>
                <c:pt idx="28">
                  <c:v>45166</c:v>
                </c:pt>
                <c:pt idx="29">
                  <c:v>29312.93</c:v>
                </c:pt>
                <c:pt idx="30">
                  <c:v>20601.34</c:v>
                </c:pt>
                <c:pt idx="31">
                  <c:v>35396.71</c:v>
                </c:pt>
                <c:pt idx="32">
                  <c:v>30383.06</c:v>
                </c:pt>
                <c:pt idx="33">
                  <c:v>89740.4</c:v>
                </c:pt>
                <c:pt idx="34">
                  <c:v>32154.89</c:v>
                </c:pt>
                <c:pt idx="35">
                  <c:v>29159.08</c:v>
                </c:pt>
                <c:pt idx="36">
                  <c:v>57990.42</c:v>
                </c:pt>
                <c:pt idx="37">
                  <c:v>47933.81</c:v>
                </c:pt>
                <c:pt idx="38">
                  <c:v>8053.44</c:v>
                </c:pt>
                <c:pt idx="39">
                  <c:v>19099.919999999998</c:v>
                </c:pt>
                <c:pt idx="40">
                  <c:v>56302.02</c:v>
                </c:pt>
                <c:pt idx="41">
                  <c:v>45518.96</c:v>
                </c:pt>
                <c:pt idx="42">
                  <c:v>47585.7</c:v>
                </c:pt>
                <c:pt idx="43">
                  <c:v>65693.66</c:v>
                </c:pt>
                <c:pt idx="44">
                  <c:v>44582.2</c:v>
                </c:pt>
                <c:pt idx="45">
                  <c:v>20195.560000000001</c:v>
                </c:pt>
                <c:pt idx="46">
                  <c:v>39950.76</c:v>
                </c:pt>
                <c:pt idx="47" formatCode="_(* #,##0_);_(* \(#,##0\);_(* &quot;-&quot;??_);_(@_)">
                  <c:v>32629.54</c:v>
                </c:pt>
                <c:pt idx="48">
                  <c:v>42354.85</c:v>
                </c:pt>
              </c:numCache>
            </c:numRef>
          </c:val>
          <c:extLst>
            <c:ext xmlns:c16="http://schemas.microsoft.com/office/drawing/2014/chart" uri="{C3380CC4-5D6E-409C-BE32-E72D297353CC}">
              <c16:uniqueId val="{00000006-5F0C-4FBA-922A-4E1B570CD1F7}"/>
            </c:ext>
          </c:extLst>
        </c:ser>
        <c:dLbls>
          <c:dLblPos val="outEnd"/>
          <c:showLegendKey val="0"/>
          <c:showVal val="1"/>
          <c:showCatName val="0"/>
          <c:showSerName val="0"/>
          <c:showPercent val="0"/>
          <c:showBubbleSize val="0"/>
        </c:dLbls>
        <c:gapWidth val="219"/>
        <c:overlap val="-27"/>
        <c:axId val="146154616"/>
        <c:axId val="146155400"/>
      </c:barChart>
      <c:dateAx>
        <c:axId val="146154616"/>
        <c:scaling>
          <c:orientation val="minMax"/>
          <c:max val="46023"/>
          <c:min val="45658"/>
        </c:scaling>
        <c:delete val="0"/>
        <c:axPos val="b"/>
        <c:numFmt formatCode="mmm\-yy" sourceLinked="1"/>
        <c:majorTickMark val="none"/>
        <c:minorTickMark val="none"/>
        <c:tickLblPos val="low"/>
        <c:spPr>
          <a:noFill/>
          <a:ln w="9525" cap="flat" cmpd="sng" algn="ctr">
            <a:solidFill>
              <a:schemeClr val="tx1"/>
            </a:solidFill>
            <a:round/>
          </a:ln>
          <a:effectLst/>
        </c:spPr>
        <c:txPr>
          <a:bodyPr rot="-60000000" spcFirstLastPara="1" vertOverflow="ellipsis" vert="horz" wrap="square" anchor="ctr" anchorCtr="1"/>
          <a:lstStyle/>
          <a:p>
            <a:pPr>
              <a:defRPr sz="8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46155400"/>
        <c:crosses val="autoZero"/>
        <c:auto val="1"/>
        <c:lblOffset val="100"/>
        <c:baseTimeUnit val="months"/>
      </c:dateAx>
      <c:valAx>
        <c:axId val="146155400"/>
        <c:scaling>
          <c:orientation val="minMax"/>
        </c:scaling>
        <c:delete val="1"/>
        <c:axPos val="l"/>
        <c:numFmt formatCode="#,##0" sourceLinked="1"/>
        <c:majorTickMark val="none"/>
        <c:minorTickMark val="none"/>
        <c:tickLblPos val="nextTo"/>
        <c:crossAx val="146154616"/>
        <c:crosses val="autoZero"/>
        <c:crossBetween val="between"/>
      </c:valAx>
      <c:spPr>
        <a:noFill/>
        <a:ln>
          <a:noFill/>
        </a:ln>
        <a:effectLst/>
      </c:spPr>
    </c:plotArea>
    <c:legend>
      <c:legendPos val="b"/>
      <c:layout>
        <c:manualLayout>
          <c:xMode val="edge"/>
          <c:yMode val="edge"/>
          <c:x val="0.76643125423682712"/>
          <c:y val="3.7478497254917163E-2"/>
          <c:w val="9.4216932745792098E-2"/>
          <c:h val="0.11353132488873674"/>
        </c:manualLayout>
      </c:layout>
      <c:overlay val="0"/>
      <c:spPr>
        <a:noFill/>
        <a:ln>
          <a:noFill/>
        </a:ln>
        <a:effectLst/>
      </c:spPr>
      <c:txPr>
        <a:bodyPr rot="0" spcFirstLastPara="1" vertOverflow="ellipsis" vert="horz" wrap="square" anchor="ctr" anchorCtr="1"/>
        <a:lstStyle/>
        <a:p>
          <a:pPr algn="ctr" rtl="0">
            <a:defRPr sz="8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cap="flat" cmpd="sng" algn="ctr">
      <a:solidFill>
        <a:schemeClr val="tx1"/>
      </a:solidFill>
      <a:round/>
    </a:ln>
    <a:effectLst/>
  </c:spPr>
  <c:txPr>
    <a:bodyPr/>
    <a:lstStyle/>
    <a:p>
      <a:pPr>
        <a:defRPr>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r>
              <a:rPr lang="en-US" sz="1400" dirty="0"/>
              <a:t>Monthly GST Collection (Rs in crores)</a:t>
            </a:r>
          </a:p>
        </c:rich>
      </c:tx>
      <c:layout>
        <c:manualLayout>
          <c:xMode val="edge"/>
          <c:yMode val="edge"/>
          <c:x val="0.2742814350400557"/>
          <c:y val="2.4950936876698849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title>
    <c:autoTitleDeleted val="0"/>
    <c:plotArea>
      <c:layout>
        <c:manualLayout>
          <c:layoutTarget val="inner"/>
          <c:xMode val="edge"/>
          <c:yMode val="edge"/>
          <c:x val="2.3735806339254609E-2"/>
          <c:y val="9.3927809428643191E-2"/>
          <c:w val="0.95304057819575061"/>
          <c:h val="0.77577729497991998"/>
        </c:manualLayout>
      </c:layout>
      <c:barChart>
        <c:barDir val="col"/>
        <c:grouping val="clustered"/>
        <c:varyColors val="0"/>
        <c:ser>
          <c:idx val="0"/>
          <c:order val="0"/>
          <c:tx>
            <c:strRef>
              <c:f>Sheet1!$D$1</c:f>
              <c:strCache>
                <c:ptCount val="1"/>
                <c:pt idx="0">
                  <c:v>2024-25</c:v>
                </c:pt>
              </c:strCache>
            </c:strRef>
          </c:tx>
          <c:spPr>
            <a:solidFill>
              <a:schemeClr val="bg2"/>
            </a:solidFill>
            <a:ln>
              <a:noFill/>
            </a:ln>
            <a:effectLst/>
          </c:spPr>
          <c:invertIfNegative val="0"/>
          <c:dLbls>
            <c:dLbl>
              <c:idx val="0"/>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0-1BFF-4A55-92EF-66A276AE285D}"/>
                </c:ext>
              </c:extLst>
            </c:dLbl>
            <c:dLbl>
              <c:idx val="1"/>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1-1BFF-4A55-92EF-66A276AE285D}"/>
                </c:ext>
              </c:extLst>
            </c:dLbl>
            <c:dLbl>
              <c:idx val="2"/>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2-1BFF-4A55-92EF-66A276AE285D}"/>
                </c:ext>
              </c:extLst>
            </c:dLbl>
            <c:dLbl>
              <c:idx val="3"/>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3-1BFF-4A55-92EF-66A276AE285D}"/>
                </c:ext>
              </c:extLst>
            </c:dLbl>
            <c:dLbl>
              <c:idx val="4"/>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4-1BFF-4A55-92EF-66A276AE285D}"/>
                </c:ext>
              </c:extLst>
            </c:dLbl>
            <c:dLbl>
              <c:idx val="5"/>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5-1BFF-4A55-92EF-66A276AE285D}"/>
                </c:ext>
              </c:extLst>
            </c:dLbl>
            <c:dLbl>
              <c:idx val="6"/>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6-1BFF-4A55-92EF-66A276AE285D}"/>
                </c:ext>
              </c:extLst>
            </c:dLbl>
            <c:dLbl>
              <c:idx val="7"/>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7-1BFF-4A55-92EF-66A276AE285D}"/>
                </c:ext>
              </c:extLst>
            </c:dLbl>
            <c:dLbl>
              <c:idx val="8"/>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8-1BFF-4A55-92EF-66A276AE285D}"/>
                </c:ext>
              </c:extLst>
            </c:dLbl>
            <c:dLbl>
              <c:idx val="9"/>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9-1BFF-4A55-92EF-66A276AE285D}"/>
                </c:ext>
              </c:extLst>
            </c:dLbl>
            <c:dLbl>
              <c:idx val="10"/>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A-1BFF-4A55-92EF-66A276AE285D}"/>
                </c:ext>
              </c:extLst>
            </c:dLbl>
            <c:dLbl>
              <c:idx val="11"/>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B-1BFF-4A55-92EF-66A276AE285D}"/>
                </c:ext>
              </c:extLst>
            </c:dLbl>
            <c:numFmt formatCode="#,##0" sourceLinked="0"/>
            <c:spPr>
              <a:solidFill>
                <a:schemeClr val="bg2"/>
              </a:solid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April</c:v>
                </c:pt>
                <c:pt idx="1">
                  <c:v>May</c:v>
                </c:pt>
                <c:pt idx="2">
                  <c:v>June</c:v>
                </c:pt>
                <c:pt idx="3">
                  <c:v>July</c:v>
                </c:pt>
                <c:pt idx="4">
                  <c:v>August</c:v>
                </c:pt>
                <c:pt idx="5">
                  <c:v>Sept</c:v>
                </c:pt>
                <c:pt idx="6">
                  <c:v>Oct</c:v>
                </c:pt>
                <c:pt idx="7">
                  <c:v>Nov</c:v>
                </c:pt>
                <c:pt idx="8">
                  <c:v>Dec</c:v>
                </c:pt>
                <c:pt idx="9">
                  <c:v>January</c:v>
                </c:pt>
                <c:pt idx="10">
                  <c:v>Feb</c:v>
                </c:pt>
                <c:pt idx="11">
                  <c:v>March</c:v>
                </c:pt>
              </c:strCache>
            </c:strRef>
          </c:cat>
          <c:val>
            <c:numRef>
              <c:f>Sheet1!$D$2:$D$13</c:f>
              <c:numCache>
                <c:formatCode>General</c:formatCode>
                <c:ptCount val="12"/>
                <c:pt idx="0">
                  <c:v>210267</c:v>
                </c:pt>
                <c:pt idx="1">
                  <c:v>172739</c:v>
                </c:pt>
                <c:pt idx="2">
                  <c:v>174000</c:v>
                </c:pt>
                <c:pt idx="3">
                  <c:v>182000</c:v>
                </c:pt>
                <c:pt idx="4">
                  <c:v>175000</c:v>
                </c:pt>
                <c:pt idx="5">
                  <c:v>173240</c:v>
                </c:pt>
                <c:pt idx="6">
                  <c:v>187346</c:v>
                </c:pt>
                <c:pt idx="7">
                  <c:v>169016</c:v>
                </c:pt>
                <c:pt idx="8">
                  <c:v>176857</c:v>
                </c:pt>
                <c:pt idx="9">
                  <c:v>182094</c:v>
                </c:pt>
                <c:pt idx="10">
                  <c:v>183646</c:v>
                </c:pt>
                <c:pt idx="11">
                  <c:v>195603.4</c:v>
                </c:pt>
              </c:numCache>
            </c:numRef>
          </c:val>
          <c:extLst>
            <c:ext xmlns:c16="http://schemas.microsoft.com/office/drawing/2014/chart" uri="{C3380CC4-5D6E-409C-BE32-E72D297353CC}">
              <c16:uniqueId val="{0000000C-1BFF-4A55-92EF-66A276AE285D}"/>
            </c:ext>
          </c:extLst>
        </c:ser>
        <c:ser>
          <c:idx val="1"/>
          <c:order val="1"/>
          <c:tx>
            <c:strRef>
              <c:f>Sheet1!$E$1</c:f>
              <c:strCache>
                <c:ptCount val="1"/>
                <c:pt idx="0">
                  <c:v>2025-26</c:v>
                </c:pt>
              </c:strCache>
            </c:strRef>
          </c:tx>
          <c:spPr>
            <a:solidFill>
              <a:schemeClr val="bg1">
                <a:lumMod val="75000"/>
              </a:schemeClr>
            </a:solidFill>
            <a:ln>
              <a:noFill/>
            </a:ln>
            <a:effectLst/>
          </c:spPr>
          <c:invertIfNegative val="0"/>
          <c:dLbls>
            <c:numFmt formatCode="#,##0" sourceLinked="0"/>
            <c:spPr>
              <a:noFill/>
              <a:ln>
                <a:noFill/>
              </a:ln>
              <a:effectLst/>
            </c:spPr>
            <c:txPr>
              <a:bodyPr rot="-5400000" spcFirstLastPara="1" vertOverflow="ellipsis" wrap="square" anchor="ctr" anchorCtr="1"/>
              <a:lstStyle/>
              <a:p>
                <a:pPr>
                  <a:defRPr sz="1200" b="0" i="0" u="none" strike="noStrike" kern="1200" baseline="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April</c:v>
                </c:pt>
                <c:pt idx="1">
                  <c:v>May</c:v>
                </c:pt>
                <c:pt idx="2">
                  <c:v>June</c:v>
                </c:pt>
                <c:pt idx="3">
                  <c:v>July</c:v>
                </c:pt>
                <c:pt idx="4">
                  <c:v>August</c:v>
                </c:pt>
                <c:pt idx="5">
                  <c:v>Sept</c:v>
                </c:pt>
                <c:pt idx="6">
                  <c:v>Oct</c:v>
                </c:pt>
                <c:pt idx="7">
                  <c:v>Nov</c:v>
                </c:pt>
                <c:pt idx="8">
                  <c:v>Dec</c:v>
                </c:pt>
                <c:pt idx="9">
                  <c:v>January</c:v>
                </c:pt>
                <c:pt idx="10">
                  <c:v>Feb</c:v>
                </c:pt>
                <c:pt idx="11">
                  <c:v>March</c:v>
                </c:pt>
              </c:strCache>
            </c:strRef>
          </c:cat>
          <c:val>
            <c:numRef>
              <c:f>Sheet1!$E$2:$E$13</c:f>
              <c:numCache>
                <c:formatCode>General</c:formatCode>
                <c:ptCount val="12"/>
                <c:pt idx="0">
                  <c:v>236716</c:v>
                </c:pt>
                <c:pt idx="1">
                  <c:v>201050</c:v>
                </c:pt>
                <c:pt idx="2">
                  <c:v>184597</c:v>
                </c:pt>
                <c:pt idx="3">
                  <c:v>195735</c:v>
                </c:pt>
                <c:pt idx="4">
                  <c:v>186315</c:v>
                </c:pt>
                <c:pt idx="5">
                  <c:v>189017</c:v>
                </c:pt>
                <c:pt idx="6">
                  <c:v>195936</c:v>
                </c:pt>
                <c:pt idx="7">
                  <c:v>170276</c:v>
                </c:pt>
                <c:pt idx="8">
                  <c:v>174550</c:v>
                </c:pt>
                <c:pt idx="9">
                  <c:v>193384</c:v>
                </c:pt>
              </c:numCache>
            </c:numRef>
          </c:val>
          <c:extLst>
            <c:ext xmlns:c16="http://schemas.microsoft.com/office/drawing/2014/chart" uri="{C3380CC4-5D6E-409C-BE32-E72D297353CC}">
              <c16:uniqueId val="{0000000D-1BFF-4A55-92EF-66A276AE285D}"/>
            </c:ext>
          </c:extLst>
        </c:ser>
        <c:dLbls>
          <c:showLegendKey val="0"/>
          <c:showVal val="0"/>
          <c:showCatName val="0"/>
          <c:showSerName val="0"/>
          <c:showPercent val="0"/>
          <c:showBubbleSize val="0"/>
        </c:dLbls>
        <c:gapWidth val="219"/>
        <c:overlap val="-27"/>
        <c:axId val="203214392"/>
        <c:axId val="203211648"/>
      </c:barChart>
      <c:dateAx>
        <c:axId val="2032143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203211648"/>
        <c:crosses val="autoZero"/>
        <c:auto val="0"/>
        <c:lblOffset val="100"/>
        <c:baseTimeUnit val="days"/>
      </c:dateAx>
      <c:valAx>
        <c:axId val="203211648"/>
        <c:scaling>
          <c:orientation val="minMax"/>
          <c:min val="80000"/>
        </c:scaling>
        <c:delete val="1"/>
        <c:axPos val="l"/>
        <c:numFmt formatCode="#,##0" sourceLinked="0"/>
        <c:majorTickMark val="none"/>
        <c:minorTickMark val="none"/>
        <c:tickLblPos val="nextTo"/>
        <c:crossAx val="203214392"/>
        <c:crosses val="autoZero"/>
        <c:crossBetween val="between"/>
        <c:majorUnit val="20000"/>
      </c:valAx>
      <c:spPr>
        <a:noFill/>
        <a:ln>
          <a:noFill/>
        </a:ln>
        <a:effectLst/>
      </c:spPr>
    </c:plotArea>
    <c:legend>
      <c:legendPos val="b"/>
      <c:layout>
        <c:manualLayout>
          <c:xMode val="edge"/>
          <c:yMode val="edge"/>
          <c:x val="0.22887791710205505"/>
          <c:y val="0.17273929550402556"/>
          <c:w val="0.17453450344136162"/>
          <c:h val="8.63254266314879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cmpd="dbl">
      <a:solidFill>
        <a:schemeClr val="tx1"/>
      </a:solidFill>
    </a:ln>
    <a:effectLst/>
  </c:spPr>
  <c:txPr>
    <a:bodyPr/>
    <a:lstStyle/>
    <a:p>
      <a:pPr>
        <a:defRPr sz="1200">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1296594976230517E-2"/>
          <c:y val="0.17944856706514523"/>
          <c:w val="0.96707811978301039"/>
          <c:h val="0.65522421834507594"/>
        </c:manualLayout>
      </c:layout>
      <c:barChart>
        <c:barDir val="col"/>
        <c:grouping val="clustered"/>
        <c:varyColors val="0"/>
        <c:ser>
          <c:idx val="0"/>
          <c:order val="0"/>
          <c:tx>
            <c:strRef>
              <c:f>Sheet1!$B$1</c:f>
              <c:strCache>
                <c:ptCount val="1"/>
                <c:pt idx="0">
                  <c:v> Manufacturing PMI </c:v>
                </c:pt>
              </c:strCache>
            </c:strRef>
          </c:tx>
          <c:spPr>
            <a:solidFill>
              <a:srgbClr val="FFC000"/>
            </a:solidFill>
            <a:ln>
              <a:noFill/>
            </a:ln>
            <a:effectLst/>
          </c:spPr>
          <c:invertIfNegative val="0"/>
          <c:dLbls>
            <c:numFmt formatCode="#,##0.0" sourceLinked="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Sheet1!$A$41:$A$53</c:f>
              <c:numCache>
                <c:formatCode>d\-mmm</c:formatCode>
                <c:ptCount val="13"/>
                <c:pt idx="0" formatCode="mmm\-yy">
                  <c:v>45682</c:v>
                </c:pt>
                <c:pt idx="1">
                  <c:v>45713</c:v>
                </c:pt>
                <c:pt idx="2">
                  <c:v>45741</c:v>
                </c:pt>
                <c:pt idx="3">
                  <c:v>45772</c:v>
                </c:pt>
                <c:pt idx="4">
                  <c:v>45808</c:v>
                </c:pt>
                <c:pt idx="5">
                  <c:v>45833</c:v>
                </c:pt>
                <c:pt idx="6">
                  <c:v>45863</c:v>
                </c:pt>
                <c:pt idx="7">
                  <c:v>45894</c:v>
                </c:pt>
                <c:pt idx="8">
                  <c:v>45925</c:v>
                </c:pt>
                <c:pt idx="9">
                  <c:v>45955</c:v>
                </c:pt>
                <c:pt idx="10">
                  <c:v>45986</c:v>
                </c:pt>
                <c:pt idx="11">
                  <c:v>46016</c:v>
                </c:pt>
                <c:pt idx="12">
                  <c:v>46048</c:v>
                </c:pt>
              </c:numCache>
            </c:numRef>
          </c:cat>
          <c:val>
            <c:numRef>
              <c:f>Sheet1!$B$41:$B$53</c:f>
              <c:numCache>
                <c:formatCode>_(* #,##0.00_);_(* \(#,##0.00\);_(* "-"??_);_(@_)</c:formatCode>
                <c:ptCount val="13"/>
                <c:pt idx="0">
                  <c:v>57.7</c:v>
                </c:pt>
                <c:pt idx="1">
                  <c:v>56.3</c:v>
                </c:pt>
                <c:pt idx="2">
                  <c:v>58.1</c:v>
                </c:pt>
                <c:pt idx="3">
                  <c:v>58.2</c:v>
                </c:pt>
                <c:pt idx="4">
                  <c:v>57.6</c:v>
                </c:pt>
                <c:pt idx="5">
                  <c:v>58.4</c:v>
                </c:pt>
                <c:pt idx="6">
                  <c:v>59.1</c:v>
                </c:pt>
                <c:pt idx="7">
                  <c:v>59.3</c:v>
                </c:pt>
                <c:pt idx="8">
                  <c:v>57.7</c:v>
                </c:pt>
                <c:pt idx="9">
                  <c:v>59.2</c:v>
                </c:pt>
                <c:pt idx="10">
                  <c:v>56.6</c:v>
                </c:pt>
                <c:pt idx="11" formatCode="0.00">
                  <c:v>55</c:v>
                </c:pt>
                <c:pt idx="12">
                  <c:v>55.4</c:v>
                </c:pt>
              </c:numCache>
            </c:numRef>
          </c:val>
          <c:extLst>
            <c:ext xmlns:c16="http://schemas.microsoft.com/office/drawing/2014/chart" uri="{C3380CC4-5D6E-409C-BE32-E72D297353CC}">
              <c16:uniqueId val="{00000000-CF1E-48AF-92E3-027FA3092AED}"/>
            </c:ext>
          </c:extLst>
        </c:ser>
        <c:ser>
          <c:idx val="1"/>
          <c:order val="1"/>
          <c:tx>
            <c:strRef>
              <c:f>Sheet1!$C$1</c:f>
              <c:strCache>
                <c:ptCount val="1"/>
                <c:pt idx="0">
                  <c:v>Service PMI</c:v>
                </c:pt>
              </c:strCache>
            </c:strRef>
          </c:tx>
          <c:spPr>
            <a:solidFill>
              <a:schemeClr val="bg1">
                <a:lumMod val="75000"/>
              </a:schemeClr>
            </a:solidFill>
            <a:ln>
              <a:noFill/>
            </a:ln>
            <a:effectLst/>
          </c:spPr>
          <c:invertIfNegative val="0"/>
          <c:dLbls>
            <c:numFmt formatCode="#,##0.0" sourceLinked="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Sheet1!$A$41:$A$53</c:f>
              <c:numCache>
                <c:formatCode>d\-mmm</c:formatCode>
                <c:ptCount val="13"/>
                <c:pt idx="0" formatCode="mmm\-yy">
                  <c:v>45682</c:v>
                </c:pt>
                <c:pt idx="1">
                  <c:v>45713</c:v>
                </c:pt>
                <c:pt idx="2">
                  <c:v>45741</c:v>
                </c:pt>
                <c:pt idx="3">
                  <c:v>45772</c:v>
                </c:pt>
                <c:pt idx="4">
                  <c:v>45808</c:v>
                </c:pt>
                <c:pt idx="5">
                  <c:v>45833</c:v>
                </c:pt>
                <c:pt idx="6">
                  <c:v>45863</c:v>
                </c:pt>
                <c:pt idx="7">
                  <c:v>45894</c:v>
                </c:pt>
                <c:pt idx="8">
                  <c:v>45925</c:v>
                </c:pt>
                <c:pt idx="9">
                  <c:v>45955</c:v>
                </c:pt>
                <c:pt idx="10">
                  <c:v>45986</c:v>
                </c:pt>
                <c:pt idx="11">
                  <c:v>46016</c:v>
                </c:pt>
                <c:pt idx="12">
                  <c:v>46048</c:v>
                </c:pt>
              </c:numCache>
            </c:numRef>
          </c:cat>
          <c:val>
            <c:numRef>
              <c:f>Sheet1!$C$41:$C$53</c:f>
              <c:numCache>
                <c:formatCode>General</c:formatCode>
                <c:ptCount val="13"/>
                <c:pt idx="0">
                  <c:v>56.5</c:v>
                </c:pt>
                <c:pt idx="1">
                  <c:v>58.8</c:v>
                </c:pt>
                <c:pt idx="2">
                  <c:v>58.5</c:v>
                </c:pt>
                <c:pt idx="3">
                  <c:v>58.7</c:v>
                </c:pt>
                <c:pt idx="4">
                  <c:v>58.8</c:v>
                </c:pt>
                <c:pt idx="5">
                  <c:v>60.4</c:v>
                </c:pt>
                <c:pt idx="6">
                  <c:v>60.5</c:v>
                </c:pt>
                <c:pt idx="7">
                  <c:v>62.5</c:v>
                </c:pt>
                <c:pt idx="8">
                  <c:v>61.6</c:v>
                </c:pt>
                <c:pt idx="9">
                  <c:v>58.9</c:v>
                </c:pt>
                <c:pt idx="10">
                  <c:v>59.8</c:v>
                </c:pt>
                <c:pt idx="11">
                  <c:v>58</c:v>
                </c:pt>
                <c:pt idx="12">
                  <c:v>58.5</c:v>
                </c:pt>
              </c:numCache>
            </c:numRef>
          </c:val>
          <c:extLst>
            <c:ext xmlns:c16="http://schemas.microsoft.com/office/drawing/2014/chart" uri="{C3380CC4-5D6E-409C-BE32-E72D297353CC}">
              <c16:uniqueId val="{00000001-CF1E-48AF-92E3-027FA3092AED}"/>
            </c:ext>
          </c:extLst>
        </c:ser>
        <c:dLbls>
          <c:showLegendKey val="0"/>
          <c:showVal val="0"/>
          <c:showCatName val="0"/>
          <c:showSerName val="0"/>
          <c:showPercent val="0"/>
          <c:showBubbleSize val="0"/>
        </c:dLbls>
        <c:gapWidth val="219"/>
        <c:overlap val="-27"/>
        <c:axId val="203217136"/>
        <c:axId val="203212432"/>
      </c:barChart>
      <c:dateAx>
        <c:axId val="203217136"/>
        <c:scaling>
          <c:orientation val="minMax"/>
        </c:scaling>
        <c:delete val="0"/>
        <c:axPos val="b"/>
        <c:numFmt formatCode="mmm\-yy"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8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203212432"/>
        <c:crosses val="autoZero"/>
        <c:auto val="1"/>
        <c:lblOffset val="100"/>
        <c:baseTimeUnit val="months"/>
      </c:dateAx>
      <c:valAx>
        <c:axId val="203212432"/>
        <c:scaling>
          <c:orientation val="minMax"/>
          <c:min val="52"/>
        </c:scaling>
        <c:delete val="1"/>
        <c:axPos val="l"/>
        <c:numFmt formatCode="_(* #,##0.00_);_(* \(#,##0.00\);_(* &quot;-&quot;??_);_(@_)" sourceLinked="1"/>
        <c:majorTickMark val="none"/>
        <c:minorTickMark val="none"/>
        <c:tickLblPos val="nextTo"/>
        <c:crossAx val="203217136"/>
        <c:crosses val="autoZero"/>
        <c:crossBetween val="between"/>
        <c:majorUnit val="2"/>
      </c:valAx>
      <c:spPr>
        <a:noFill/>
        <a:ln w="25400">
          <a:noFill/>
        </a:ln>
        <a:effectLst/>
      </c:spPr>
    </c:plotArea>
    <c:legend>
      <c:legendPos val="b"/>
      <c:layout>
        <c:manualLayout>
          <c:xMode val="edge"/>
          <c:yMode val="edge"/>
          <c:x val="4.5653878487276638E-2"/>
          <c:y val="6.1388149090732126E-2"/>
          <c:w val="0.55895911579490887"/>
          <c:h val="8.3449682621843241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a:solidFill>
        <a:schemeClr val="tx1"/>
      </a:solidFill>
    </a:ln>
    <a:effectLst/>
  </c:spPr>
  <c:txPr>
    <a:bodyPr/>
    <a:lstStyle/>
    <a:p>
      <a:pPr>
        <a:defRPr sz="80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9FCD27F-1CE5-415B-ACB8-0A5C3E5B93E9}" type="doc">
      <dgm:prSet loTypeId="urn:microsoft.com/office/officeart/2005/8/layout/vList5" loCatId="list" qsTypeId="urn:microsoft.com/office/officeart/2005/8/quickstyle/simple1" qsCatId="simple" csTypeId="urn:microsoft.com/office/officeart/2005/8/colors/colorful2" csCatId="colorful" phldr="1"/>
      <dgm:spPr/>
      <dgm:t>
        <a:bodyPr/>
        <a:lstStyle/>
        <a:p>
          <a:endParaRPr lang="en-US"/>
        </a:p>
      </dgm:t>
    </dgm:pt>
    <dgm:pt modelId="{E09C8E44-E9BA-4C00-BE50-7957EADE6D1A}">
      <dgm:prSet phldrT="[Text]" custT="1"/>
      <dgm:spPr>
        <a:solidFill>
          <a:schemeClr val="bg2"/>
        </a:solidFill>
      </dgm:spPr>
      <dgm:t>
        <a:bodyPr/>
        <a:lstStyle/>
        <a:p>
          <a:r>
            <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rPr>
            <a:t>Inflation</a:t>
          </a:r>
        </a:p>
      </dgm:t>
    </dgm:pt>
    <dgm:pt modelId="{EF4EFFDF-1140-4B20-8AB2-F5D9DEF30092}" type="parTrans" cxnId="{8619D4EF-E090-4715-AD99-2C45E8DB2F0D}">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41CCB44C-74E2-454F-BA07-D26BA7B68AC6}" type="sibTrans" cxnId="{8619D4EF-E090-4715-AD99-2C45E8DB2F0D}">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6914C3C6-9ADF-456D-9144-C11F06ECD3C3}">
      <dgm:prSet phldrT="[Text]" custT="1"/>
      <dgm:spPr>
        <a:noFill/>
        <a:ln>
          <a:solidFill>
            <a:schemeClr val="bg2">
              <a:alpha val="90000"/>
            </a:schemeClr>
          </a:solidFill>
        </a:ln>
      </dgm:spPr>
      <dgm:t>
        <a:bodyPr/>
        <a:lstStyle/>
        <a:p>
          <a:pPr algn="just">
            <a:buFont typeface="Arial" panose="020B0604020202020204" pitchFamily="34" charset="0"/>
            <a:buChar char="•"/>
          </a:pPr>
          <a:r>
            <a:rPr lang="en-US" sz="1000" dirty="0"/>
            <a:t> India’s CPI at 1.33% (Dec-25), tempered by GST rationalization</a:t>
          </a:r>
          <a:endParaRPr lang="en-US" sz="1000" dirty="0">
            <a:latin typeface="Calibri" panose="020F0502020204030204" pitchFamily="34" charset="0"/>
            <a:ea typeface="Calibri" panose="020F0502020204030204" pitchFamily="34" charset="0"/>
            <a:cs typeface="Calibri" panose="020F0502020204030204" pitchFamily="34" charset="0"/>
          </a:endParaRPr>
        </a:p>
      </dgm:t>
    </dgm:pt>
    <dgm:pt modelId="{F7500A90-FF1D-497E-8BD3-14E10465EDDE}" type="parTrans" cxnId="{CD7D0A85-E078-4080-8A69-00302D4C21DE}">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5C9325E3-CCCD-4D85-85D0-78F9A872D55B}" type="sibTrans" cxnId="{CD7D0A85-E078-4080-8A69-00302D4C21DE}">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1FEC35B1-9147-47A1-AE7C-5D954D60E25C}">
      <dgm:prSet phldrT="[Text]" custT="1"/>
      <dgm:spPr>
        <a:solidFill>
          <a:schemeClr val="tx1"/>
        </a:solidFill>
      </dgm:spPr>
      <dgm:t>
        <a:bodyPr/>
        <a:lstStyle/>
        <a:p>
          <a:r>
            <a:rPr lang="en-US" sz="1200" b="1" kern="1200" dirty="0">
              <a:solidFill>
                <a:srgbClr val="FFFFFF"/>
              </a:solidFill>
              <a:latin typeface="Calibri" panose="020F0502020204030204" pitchFamily="34" charset="0"/>
              <a:ea typeface="Calibri" panose="020F0502020204030204" pitchFamily="34" charset="0"/>
              <a:cs typeface="Calibri" panose="020F0502020204030204" pitchFamily="34" charset="0"/>
            </a:rPr>
            <a:t>Liquidity</a:t>
          </a:r>
        </a:p>
      </dgm:t>
    </dgm:pt>
    <dgm:pt modelId="{C194B499-7B44-4BB8-9674-0A378851F704}" type="parTrans" cxnId="{67274D08-BCBB-4651-A1BF-713EF9BEF183}">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89DDF03F-6DC8-44F2-A41E-D5051ED2D1F0}" type="sibTrans" cxnId="{67274D08-BCBB-4651-A1BF-713EF9BEF183}">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A34FB794-0F17-4C4B-81BB-90443F14226D}">
      <dgm:prSet phldrT="[Text]" custT="1"/>
      <dgm:spPr>
        <a:solidFill>
          <a:schemeClr val="bg1">
            <a:alpha val="90000"/>
          </a:schemeClr>
        </a:solidFill>
        <a:ln>
          <a:solidFill>
            <a:schemeClr val="tx1"/>
          </a:solidFill>
        </a:ln>
      </dgm:spPr>
      <dgm:t>
        <a:bodyPr/>
        <a:lstStyle/>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kern="1200" dirty="0"/>
            <a:t>  </a:t>
          </a:r>
          <a:r>
            <a:rPr lang="en-IN" sz="1000" kern="1200" dirty="0"/>
            <a:t>RBI advancing its Rs 1 lakh crore  OMO purchases to stabilize the market liquidity</a:t>
          </a:r>
          <a:endParaRPr lang="en-US" sz="1000"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dgm:t>
    </dgm:pt>
    <dgm:pt modelId="{F840171C-A443-49D1-B18C-66D07CEEA250}" type="parTrans" cxnId="{650171D2-CCBD-453D-BB5B-31EC244064BB}">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F36CD333-F840-4315-85E8-A037F6A3D70D}" type="sibTrans" cxnId="{650171D2-CCBD-453D-BB5B-31EC244064BB}">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A0EDAEE4-A668-40C2-BF09-4F51903BAEB4}">
      <dgm:prSet phldrT="[Text]" custT="1"/>
      <dgm:spPr>
        <a:solidFill>
          <a:schemeClr val="bg1">
            <a:lumMod val="65000"/>
          </a:schemeClr>
        </a:solidFill>
      </dgm:spPr>
      <dgm:t>
        <a:bodyPr/>
        <a:lstStyle/>
        <a:p>
          <a:r>
            <a:rPr lang="en-US" sz="12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Interest</a:t>
          </a:r>
          <a:r>
            <a:rPr lang="en-US" sz="1200" kern="12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2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rate</a:t>
          </a:r>
        </a:p>
      </dgm:t>
    </dgm:pt>
    <dgm:pt modelId="{7E2FEA2E-459E-4BD9-AE5E-EC0FA97608AB}" type="parTrans" cxnId="{C39286AB-DE45-448C-890B-E1ED66D5159D}">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5A9B8F70-38D1-4902-98F6-A0812896ADBB}" type="sibTrans" cxnId="{C39286AB-DE45-448C-890B-E1ED66D5159D}">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9F7A8909-3B6D-4AF0-A11E-BF3EF9252D33}">
      <dgm:prSet phldrT="[Text]" custT="1"/>
      <dgm:spPr>
        <a:noFill/>
        <a:ln>
          <a:solidFill>
            <a:schemeClr val="bg1">
              <a:lumMod val="75000"/>
              <a:alpha val="90000"/>
            </a:schemeClr>
          </a:solidFill>
        </a:ln>
      </dgm:spPr>
      <dgm:t>
        <a:bodyPr/>
        <a:lstStyle/>
        <a:p>
          <a:pPr marL="57150" lvl="1" indent="-57150" algn="just" defTabSz="400050">
            <a:lnSpc>
              <a:spcPct val="90000"/>
            </a:lnSpc>
            <a:spcBef>
              <a:spcPct val="0"/>
            </a:spcBef>
            <a:spcAft>
              <a:spcPct val="15000"/>
            </a:spcAft>
            <a:buClrTx/>
            <a:buSzTx/>
            <a:buFont typeface="Arial" panose="020B0604020202020204" pitchFamily="34" charset="0"/>
            <a:buChar char="•"/>
          </a:pPr>
          <a:r>
            <a:rPr lang="en-US" sz="1000" kern="1200" dirty="0">
              <a:solidFill>
                <a:srgbClr val="191919">
                  <a:hueOff val="0"/>
                  <a:satOff val="0"/>
                  <a:lumOff val="0"/>
                  <a:alphaOff val="0"/>
                </a:srgbClr>
              </a:solidFill>
              <a:latin typeface="+mj-lt"/>
              <a:ea typeface="Calibri" panose="020F0502020204030204" pitchFamily="34" charset="0"/>
              <a:cs typeface="Calibri" panose="020F0502020204030204" pitchFamily="34" charset="0"/>
            </a:rPr>
            <a:t>  </a:t>
          </a:r>
          <a:r>
            <a:rPr lang="en-US" sz="1000" kern="1200" dirty="0">
              <a:solidFill>
                <a:schemeClr val="tx1"/>
              </a:solidFill>
            </a:rPr>
            <a:t>RBI keeps interest rate unchanged at 5.25%, continues neutral stance</a:t>
          </a:r>
          <a:endParaRPr lang="en-US" sz="1000" strike="sngStrike" kern="1200" dirty="0">
            <a:solidFill>
              <a:schemeClr val="tx1"/>
            </a:solidFill>
            <a:latin typeface="+mj-lt"/>
            <a:ea typeface="Calibri" panose="020F0502020204030204" pitchFamily="34" charset="0"/>
            <a:cs typeface="Calibri" panose="020F0502020204030204" pitchFamily="34" charset="0"/>
          </a:endParaRPr>
        </a:p>
      </dgm:t>
    </dgm:pt>
    <dgm:pt modelId="{413A9B4A-07E4-4BED-86E3-5CA7DE2FC5D3}" type="parTrans" cxnId="{21BDCE92-F92F-4D31-8326-A2BF69C4D057}">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38BC8B9C-F25B-4F6D-BE48-06AA3ED6E461}" type="sibTrans" cxnId="{21BDCE92-F92F-4D31-8326-A2BF69C4D057}">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95C782F8-4FB3-417E-BC74-3E9D60A4761B}">
      <dgm:prSet custT="1"/>
      <dgm:spPr>
        <a:solidFill>
          <a:schemeClr val="bg2"/>
        </a:solidFill>
      </dgm:spPr>
      <dgm:t>
        <a:bodyPr/>
        <a:lstStyle/>
        <a:p>
          <a:pPr marL="0" lvl="0" indent="0" algn="ctr" defTabSz="622300">
            <a:lnSpc>
              <a:spcPct val="90000"/>
            </a:lnSpc>
            <a:spcBef>
              <a:spcPct val="0"/>
            </a:spcBef>
            <a:spcAft>
              <a:spcPct val="35000"/>
            </a:spcAft>
            <a:buNone/>
          </a:pPr>
          <a:r>
            <a:rPr lang="en-US" sz="12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Bond Markets</a:t>
          </a:r>
        </a:p>
      </dgm:t>
    </dgm:pt>
    <dgm:pt modelId="{221DA5EF-100B-4195-8DAE-0E661E511B4B}" type="parTrans" cxnId="{90340757-3B7D-45EB-85AD-96C6053FB371}">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F38CAC1E-B0A7-4EBD-AEC8-B5B6756A06DD}" type="sibTrans" cxnId="{90340757-3B7D-45EB-85AD-96C6053FB371}">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5A526C50-E77A-41BB-9582-FBDC4D52C0EA}">
      <dgm:prSet custT="1"/>
      <dgm:spPr>
        <a:solidFill>
          <a:schemeClr val="tx1"/>
        </a:solidFill>
      </dgm:spPr>
      <dgm:t>
        <a:bodyPr/>
        <a:lstStyle/>
        <a:p>
          <a:pPr marL="0" lvl="0" indent="0" algn="ctr" defTabSz="622300">
            <a:lnSpc>
              <a:spcPct val="90000"/>
            </a:lnSpc>
            <a:spcBef>
              <a:spcPct val="0"/>
            </a:spcBef>
            <a:spcAft>
              <a:spcPct val="35000"/>
            </a:spcAft>
            <a:buNone/>
          </a:pPr>
          <a:r>
            <a:rPr lang="en-US" sz="1200" b="1" kern="1200" dirty="0">
              <a:solidFill>
                <a:srgbClr val="FFFFFF"/>
              </a:solidFill>
              <a:latin typeface="Calibri" panose="020F0502020204030204" pitchFamily="34" charset="0"/>
              <a:ea typeface="Calibri" panose="020F0502020204030204" pitchFamily="34" charset="0"/>
              <a:cs typeface="Calibri" panose="020F0502020204030204" pitchFamily="34" charset="0"/>
            </a:rPr>
            <a:t>Equity Markets</a:t>
          </a:r>
        </a:p>
      </dgm:t>
    </dgm:pt>
    <dgm:pt modelId="{4CA67D3B-F473-4C68-A8A9-649E9DC992EC}" type="parTrans" cxnId="{EA6C78E0-E107-4C9A-A1F7-6CD910F9EEE2}">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FB36EA36-BB44-4925-82BE-B12F6B93545F}" type="sibTrans" cxnId="{EA6C78E0-E107-4C9A-A1F7-6CD910F9EEE2}">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101AD256-0ECE-481B-8C26-C90B1EA79969}">
      <dgm:prSet custT="1"/>
      <dgm:spPr>
        <a:noFill/>
        <a:ln>
          <a:solidFill>
            <a:schemeClr val="bg2">
              <a:alpha val="90000"/>
            </a:schemeClr>
          </a:solidFill>
        </a:ln>
      </dgm:spPr>
      <dgm:t>
        <a:bodyPr/>
        <a:lstStyle/>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kern="1200" dirty="0"/>
            <a:t> India’s 10Y G-sec  spiked to (~6.7%), ahead of RBI bond purchase and policy decision</a:t>
          </a:r>
          <a:endParaRPr lang="en-US" sz="1000" strike="sngStrike"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dgm:t>
    </dgm:pt>
    <dgm:pt modelId="{50A19A1D-28E4-439C-B218-27E77AFBD8B6}" type="parTrans" cxnId="{EA74136E-9C3D-4355-AC3F-78AF7E575D06}">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57BE84C1-E328-4377-82C3-23E24A9BD9B9}" type="sibTrans" cxnId="{EA74136E-9C3D-4355-AC3F-78AF7E575D06}">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418DA415-3471-48A2-8BB7-5F5F0F2305B3}">
      <dgm:prSet custT="1"/>
      <dgm:spPr>
        <a:noFill/>
        <a:ln>
          <a:solidFill>
            <a:schemeClr val="tx1">
              <a:alpha val="90000"/>
            </a:schemeClr>
          </a:solidFill>
        </a:ln>
      </dgm:spPr>
      <dgm:t>
        <a:bodyPr/>
        <a:lstStyle/>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kern="1200" dirty="0"/>
            <a:t> Domestic equities may remain sideways as elevated commodity prices pressure margins despite increase in government capex</a:t>
          </a:r>
          <a:endParaRPr lang="en-US" sz="1000" strike="sngStrike"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dgm:t>
    </dgm:pt>
    <dgm:pt modelId="{AE66C7AC-D8AF-45BF-8BFF-3A645BABF5F2}" type="parTrans" cxnId="{5E132F2D-8925-494E-8F89-03B33D8A7208}">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AF8CC799-E71F-4DC5-A1BF-6B46F8BABD0F}" type="sibTrans" cxnId="{5E132F2D-8925-494E-8F89-03B33D8A7208}">
      <dgm:prSet/>
      <dgm:spPr/>
      <dgm:t>
        <a:bodyPr/>
        <a:lstStyle/>
        <a:p>
          <a:endParaRPr lang="en-US">
            <a:latin typeface="Calibri" panose="020F0502020204030204" pitchFamily="34" charset="0"/>
            <a:ea typeface="Calibri" panose="020F0502020204030204" pitchFamily="34" charset="0"/>
            <a:cs typeface="Calibri" panose="020F0502020204030204" pitchFamily="34" charset="0"/>
          </a:endParaRPr>
        </a:p>
      </dgm:t>
    </dgm:pt>
    <dgm:pt modelId="{C8DD43CC-58EE-41C8-B9DC-43860610FFB0}">
      <dgm:prSet phldrT="[Text]" custT="1"/>
      <dgm:spPr>
        <a:noFill/>
        <a:ln>
          <a:solidFill>
            <a:schemeClr val="bg1">
              <a:lumMod val="75000"/>
              <a:alpha val="90000"/>
            </a:schemeClr>
          </a:solidFill>
        </a:ln>
      </dgm:spPr>
      <dgm:t>
        <a:bodyPr/>
        <a:lstStyle/>
        <a:p>
          <a:pPr marL="57150" lvl="1" indent="-57150" algn="just" defTabSz="400050">
            <a:lnSpc>
              <a:spcPct val="90000"/>
            </a:lnSpc>
            <a:spcBef>
              <a:spcPct val="0"/>
            </a:spcBef>
            <a:spcAft>
              <a:spcPct val="15000"/>
            </a:spcAft>
            <a:buClrTx/>
            <a:buSzTx/>
            <a:buFont typeface="Arial" panose="020B0604020202020204" pitchFamily="34" charset="0"/>
            <a:buChar char="•"/>
          </a:pPr>
          <a:r>
            <a:rPr lang="en-US" sz="1000" dirty="0"/>
            <a:t> Fed left interest rate unchanged in Jan-26, as per street estimates</a:t>
          </a:r>
          <a:endParaRPr lang="en-US" sz="1000" strike="sngStrike" kern="1200" dirty="0">
            <a:solidFill>
              <a:schemeClr val="tx1"/>
            </a:solidFill>
            <a:latin typeface="+mj-lt"/>
            <a:ea typeface="Calibri" panose="020F0502020204030204" pitchFamily="34" charset="0"/>
            <a:cs typeface="Calibri" panose="020F0502020204030204" pitchFamily="34" charset="0"/>
          </a:endParaRPr>
        </a:p>
      </dgm:t>
    </dgm:pt>
    <dgm:pt modelId="{B367E7FB-2D03-4BDD-84D9-5D181866B3C2}" type="parTrans" cxnId="{CBBC056E-BD75-490B-9B78-63BFA9D74F98}">
      <dgm:prSet/>
      <dgm:spPr/>
      <dgm:t>
        <a:bodyPr/>
        <a:lstStyle/>
        <a:p>
          <a:endParaRPr lang="en-US"/>
        </a:p>
      </dgm:t>
    </dgm:pt>
    <dgm:pt modelId="{1932BAC4-500F-48F0-8A1A-521F13F83BA2}" type="sibTrans" cxnId="{CBBC056E-BD75-490B-9B78-63BFA9D74F98}">
      <dgm:prSet/>
      <dgm:spPr/>
      <dgm:t>
        <a:bodyPr/>
        <a:lstStyle/>
        <a:p>
          <a:endParaRPr lang="en-US"/>
        </a:p>
      </dgm:t>
    </dgm:pt>
    <dgm:pt modelId="{FDB5D91C-9737-42AC-93AF-78FD4F0979B2}">
      <dgm:prSet custT="1"/>
      <dgm:spPr>
        <a:noFill/>
        <a:ln>
          <a:solidFill>
            <a:schemeClr val="bg2">
              <a:alpha val="90000"/>
            </a:schemeClr>
          </a:solidFill>
        </a:ln>
      </dgm:spPr>
      <dgm:t>
        <a:bodyPr/>
        <a:lstStyle/>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dirty="0"/>
            <a:t> US 10Y note yield (4.24%), supported by Fed’s no change in interest rates </a:t>
          </a:r>
          <a:endParaRPr lang="en-US" sz="1000" strike="sngStrike" kern="1200" dirty="0">
            <a:solidFill>
              <a:srgbClr val="191919">
                <a:hueOff val="0"/>
                <a:satOff val="0"/>
                <a:lumOff val="0"/>
                <a:alphaOff val="0"/>
              </a:srgbClr>
            </a:solidFill>
            <a:highlight>
              <a:srgbClr val="FFFF00"/>
            </a:highlight>
            <a:latin typeface="Calibri" panose="020F0502020204030204" pitchFamily="34" charset="0"/>
            <a:ea typeface="Calibri" panose="020F0502020204030204" pitchFamily="34" charset="0"/>
            <a:cs typeface="Calibri" panose="020F0502020204030204" pitchFamily="34" charset="0"/>
          </a:endParaRPr>
        </a:p>
      </dgm:t>
    </dgm:pt>
    <dgm:pt modelId="{3CABFE0E-7BF9-4C08-999A-8D000203BFFB}" type="parTrans" cxnId="{9E5B6502-E895-45D7-9FDE-D41071FFF2F9}">
      <dgm:prSet/>
      <dgm:spPr/>
      <dgm:t>
        <a:bodyPr/>
        <a:lstStyle/>
        <a:p>
          <a:endParaRPr lang="en-US"/>
        </a:p>
      </dgm:t>
    </dgm:pt>
    <dgm:pt modelId="{2556701D-BD34-4DF2-A176-953412D0E784}" type="sibTrans" cxnId="{9E5B6502-E895-45D7-9FDE-D41071FFF2F9}">
      <dgm:prSet/>
      <dgm:spPr/>
      <dgm:t>
        <a:bodyPr/>
        <a:lstStyle/>
        <a:p>
          <a:endParaRPr lang="en-US"/>
        </a:p>
      </dgm:t>
    </dgm:pt>
    <dgm:pt modelId="{23ECF797-B6B9-45AB-B19E-121073D0C222}">
      <dgm:prSet custT="1"/>
      <dgm:spPr>
        <a:noFill/>
        <a:ln>
          <a:solidFill>
            <a:schemeClr val="tx1">
              <a:alpha val="90000"/>
            </a:schemeClr>
          </a:solidFill>
        </a:ln>
      </dgm:spPr>
      <dgm:t>
        <a:bodyPr/>
        <a:lstStyle/>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dirty="0"/>
            <a:t> Global markets remain volatile amid rising Middle East and geopolitical tensions</a:t>
          </a:r>
          <a:endParaRPr lang="en-US" sz="1000" strike="sngStrike"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dgm:t>
    </dgm:pt>
    <dgm:pt modelId="{A7C951EE-8E5B-494B-8D61-B15CDAF09585}" type="parTrans" cxnId="{3BE6F7C3-40A6-4FA7-AB1A-7B8206C38A1D}">
      <dgm:prSet/>
      <dgm:spPr/>
      <dgm:t>
        <a:bodyPr/>
        <a:lstStyle/>
        <a:p>
          <a:endParaRPr lang="en-US"/>
        </a:p>
      </dgm:t>
    </dgm:pt>
    <dgm:pt modelId="{3F3BBC79-0D69-4284-B7CB-14955A8361EC}" type="sibTrans" cxnId="{3BE6F7C3-40A6-4FA7-AB1A-7B8206C38A1D}">
      <dgm:prSet/>
      <dgm:spPr/>
      <dgm:t>
        <a:bodyPr/>
        <a:lstStyle/>
        <a:p>
          <a:endParaRPr lang="en-US"/>
        </a:p>
      </dgm:t>
    </dgm:pt>
    <dgm:pt modelId="{D5663069-C489-4AF7-808B-F367D4E44E48}">
      <dgm:prSet phldrT="[Text]" custT="1"/>
      <dgm:spPr>
        <a:noFill/>
        <a:ln>
          <a:solidFill>
            <a:schemeClr val="bg2">
              <a:alpha val="90000"/>
            </a:schemeClr>
          </a:solidFill>
        </a:ln>
      </dgm:spPr>
      <dgm:t>
        <a:bodyPr/>
        <a:lstStyle/>
        <a:p>
          <a:pPr algn="just">
            <a:buFont typeface="Arial" panose="020B0604020202020204" pitchFamily="34" charset="0"/>
            <a:buChar char="•"/>
          </a:pPr>
          <a:r>
            <a:rPr lang="en-US" sz="1000" dirty="0"/>
            <a:t> US headline CPI at 2.7% (Dec-25), keeping disinflation gradual</a:t>
          </a:r>
          <a:endParaRPr lang="en-US" sz="1000" dirty="0">
            <a:latin typeface="Calibri" panose="020F0502020204030204" pitchFamily="34" charset="0"/>
            <a:ea typeface="Calibri" panose="020F0502020204030204" pitchFamily="34" charset="0"/>
            <a:cs typeface="Calibri" panose="020F0502020204030204" pitchFamily="34" charset="0"/>
          </a:endParaRPr>
        </a:p>
      </dgm:t>
    </dgm:pt>
    <dgm:pt modelId="{16A504FF-DB36-4A58-8A91-2B415AA8EF1E}" type="sibTrans" cxnId="{835C278C-00A7-407F-80E1-AF5803862992}">
      <dgm:prSet/>
      <dgm:spPr/>
      <dgm:t>
        <a:bodyPr/>
        <a:lstStyle/>
        <a:p>
          <a:endParaRPr lang="en-US"/>
        </a:p>
      </dgm:t>
    </dgm:pt>
    <dgm:pt modelId="{87C7F52B-C68F-48F1-87F7-441F6300905B}" type="parTrans" cxnId="{835C278C-00A7-407F-80E1-AF5803862992}">
      <dgm:prSet/>
      <dgm:spPr/>
      <dgm:t>
        <a:bodyPr/>
        <a:lstStyle/>
        <a:p>
          <a:endParaRPr lang="en-US"/>
        </a:p>
      </dgm:t>
    </dgm:pt>
    <dgm:pt modelId="{92CD2999-9042-4C8A-BF20-45F774828A05}">
      <dgm:prSet phldrT="[Text]" custT="1"/>
      <dgm:spPr>
        <a:solidFill>
          <a:schemeClr val="bg1">
            <a:alpha val="90000"/>
          </a:schemeClr>
        </a:solidFill>
        <a:ln>
          <a:solidFill>
            <a:schemeClr val="tx1"/>
          </a:solidFill>
        </a:ln>
      </dgm:spPr>
      <dgm:t>
        <a:bodyPr/>
        <a:lstStyle/>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kern="1200" dirty="0"/>
            <a:t> Liquidity to remain sufficient amid rupee volatility</a:t>
          </a:r>
          <a:endParaRPr lang="en-US" sz="1000"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dgm:t>
    </dgm:pt>
    <dgm:pt modelId="{4162EF96-F262-4970-9194-B2D00D05B177}" type="sibTrans" cxnId="{6455739A-7081-4C10-9BC3-1F03E164FAFA}">
      <dgm:prSet/>
      <dgm:spPr/>
      <dgm:t>
        <a:bodyPr/>
        <a:lstStyle/>
        <a:p>
          <a:endParaRPr lang="en-US"/>
        </a:p>
      </dgm:t>
    </dgm:pt>
    <dgm:pt modelId="{2C04C16F-AAC4-4D07-A10A-3CCF05AD6139}" type="parTrans" cxnId="{6455739A-7081-4C10-9BC3-1F03E164FAFA}">
      <dgm:prSet/>
      <dgm:spPr/>
      <dgm:t>
        <a:bodyPr/>
        <a:lstStyle/>
        <a:p>
          <a:endParaRPr lang="en-US"/>
        </a:p>
      </dgm:t>
    </dgm:pt>
    <dgm:pt modelId="{CFBEF807-85A7-47E8-8450-E7C94BF1F6F8}" type="pres">
      <dgm:prSet presAssocID="{19FCD27F-1CE5-415B-ACB8-0A5C3E5B93E9}" presName="Name0" presStyleCnt="0">
        <dgm:presLayoutVars>
          <dgm:dir/>
          <dgm:animLvl val="lvl"/>
          <dgm:resizeHandles val="exact"/>
        </dgm:presLayoutVars>
      </dgm:prSet>
      <dgm:spPr/>
    </dgm:pt>
    <dgm:pt modelId="{F8A7EED5-AD1C-4606-8F84-72642D631DFF}" type="pres">
      <dgm:prSet presAssocID="{E09C8E44-E9BA-4C00-BE50-7957EADE6D1A}" presName="linNode" presStyleCnt="0"/>
      <dgm:spPr/>
    </dgm:pt>
    <dgm:pt modelId="{BA6CE1E8-E35B-494E-8F9E-6082FFA7C39D}" type="pres">
      <dgm:prSet presAssocID="{E09C8E44-E9BA-4C00-BE50-7957EADE6D1A}" presName="parentText" presStyleLbl="node1" presStyleIdx="0" presStyleCnt="5" custScaleX="55317" custLinFactNeighborX="25" custLinFactNeighborY="-164">
        <dgm:presLayoutVars>
          <dgm:chMax val="1"/>
          <dgm:bulletEnabled val="1"/>
        </dgm:presLayoutVars>
      </dgm:prSet>
      <dgm:spPr/>
    </dgm:pt>
    <dgm:pt modelId="{DA931B39-482F-49D3-A948-4D0006D84345}" type="pres">
      <dgm:prSet presAssocID="{E09C8E44-E9BA-4C00-BE50-7957EADE6D1A}" presName="descendantText" presStyleLbl="alignAccFollowNode1" presStyleIdx="0" presStyleCnt="5" custScaleX="115334" custScaleY="112639">
        <dgm:presLayoutVars>
          <dgm:bulletEnabled val="1"/>
        </dgm:presLayoutVars>
      </dgm:prSet>
      <dgm:spPr/>
    </dgm:pt>
    <dgm:pt modelId="{09776274-6F27-403F-A851-FC0A8ECC41B3}" type="pres">
      <dgm:prSet presAssocID="{41CCB44C-74E2-454F-BA07-D26BA7B68AC6}" presName="sp" presStyleCnt="0"/>
      <dgm:spPr/>
    </dgm:pt>
    <dgm:pt modelId="{113E90EC-AFB2-446E-BCA0-004AE742C32F}" type="pres">
      <dgm:prSet presAssocID="{1FEC35B1-9147-47A1-AE7C-5D954D60E25C}" presName="linNode" presStyleCnt="0"/>
      <dgm:spPr/>
    </dgm:pt>
    <dgm:pt modelId="{4F5C1862-7C91-408E-BE9B-595AADD59ADD}" type="pres">
      <dgm:prSet presAssocID="{1FEC35B1-9147-47A1-AE7C-5D954D60E25C}" presName="parentText" presStyleLbl="node1" presStyleIdx="1" presStyleCnt="5" custScaleX="55317">
        <dgm:presLayoutVars>
          <dgm:chMax val="1"/>
          <dgm:bulletEnabled val="1"/>
        </dgm:presLayoutVars>
      </dgm:prSet>
      <dgm:spPr/>
    </dgm:pt>
    <dgm:pt modelId="{64EC0D4D-8F17-4312-8EC3-540AE7D77BD6}" type="pres">
      <dgm:prSet presAssocID="{1FEC35B1-9147-47A1-AE7C-5D954D60E25C}" presName="descendantText" presStyleLbl="alignAccFollowNode1" presStyleIdx="1" presStyleCnt="5" custScaleX="116220" custLinFactNeighborX="-1685" custLinFactNeighborY="-4396">
        <dgm:presLayoutVars>
          <dgm:bulletEnabled val="1"/>
        </dgm:presLayoutVars>
      </dgm:prSet>
      <dgm:spPr/>
    </dgm:pt>
    <dgm:pt modelId="{5F9FC963-5747-4B47-9207-83F05AF7323F}" type="pres">
      <dgm:prSet presAssocID="{89DDF03F-6DC8-44F2-A41E-D5051ED2D1F0}" presName="sp" presStyleCnt="0"/>
      <dgm:spPr/>
    </dgm:pt>
    <dgm:pt modelId="{7809419F-1694-4AE7-917F-B6313D7C4593}" type="pres">
      <dgm:prSet presAssocID="{A0EDAEE4-A668-40C2-BF09-4F51903BAEB4}" presName="linNode" presStyleCnt="0"/>
      <dgm:spPr/>
    </dgm:pt>
    <dgm:pt modelId="{A615328F-6E27-4EC6-BADB-D1A6A25A2B11}" type="pres">
      <dgm:prSet presAssocID="{A0EDAEE4-A668-40C2-BF09-4F51903BAEB4}" presName="parentText" presStyleLbl="node1" presStyleIdx="2" presStyleCnt="5" custScaleX="55317">
        <dgm:presLayoutVars>
          <dgm:chMax val="1"/>
          <dgm:bulletEnabled val="1"/>
        </dgm:presLayoutVars>
      </dgm:prSet>
      <dgm:spPr/>
    </dgm:pt>
    <dgm:pt modelId="{B0712708-6A42-4CBC-82DB-22D2FAD3BAE7}" type="pres">
      <dgm:prSet presAssocID="{A0EDAEE4-A668-40C2-BF09-4F51903BAEB4}" presName="descendantText" presStyleLbl="alignAccFollowNode1" presStyleIdx="2" presStyleCnt="5" custScaleX="114095">
        <dgm:presLayoutVars>
          <dgm:bulletEnabled val="1"/>
        </dgm:presLayoutVars>
      </dgm:prSet>
      <dgm:spPr/>
    </dgm:pt>
    <dgm:pt modelId="{2967583E-B15F-4665-A712-427240234858}" type="pres">
      <dgm:prSet presAssocID="{5A9B8F70-38D1-4902-98F6-A0812896ADBB}" presName="sp" presStyleCnt="0"/>
      <dgm:spPr/>
    </dgm:pt>
    <dgm:pt modelId="{0B19905A-1920-48B2-8A47-3A5CF3FF61C7}" type="pres">
      <dgm:prSet presAssocID="{95C782F8-4FB3-417E-BC74-3E9D60A4761B}" presName="linNode" presStyleCnt="0"/>
      <dgm:spPr/>
    </dgm:pt>
    <dgm:pt modelId="{69934606-21FB-4815-BC2B-3CE0D88084C6}" type="pres">
      <dgm:prSet presAssocID="{95C782F8-4FB3-417E-BC74-3E9D60A4761B}" presName="parentText" presStyleLbl="node1" presStyleIdx="3" presStyleCnt="5" custScaleX="55317">
        <dgm:presLayoutVars>
          <dgm:chMax val="1"/>
          <dgm:bulletEnabled val="1"/>
        </dgm:presLayoutVars>
      </dgm:prSet>
      <dgm:spPr/>
    </dgm:pt>
    <dgm:pt modelId="{7DA2FAD3-01FF-4501-8613-AA9FC08459C5}" type="pres">
      <dgm:prSet presAssocID="{95C782F8-4FB3-417E-BC74-3E9D60A4761B}" presName="descendantText" presStyleLbl="alignAccFollowNode1" presStyleIdx="3" presStyleCnt="5" custScaleX="114634">
        <dgm:presLayoutVars>
          <dgm:bulletEnabled val="1"/>
        </dgm:presLayoutVars>
      </dgm:prSet>
      <dgm:spPr/>
    </dgm:pt>
    <dgm:pt modelId="{9145F7A9-126A-4417-B19C-C3F4459D5FAB}" type="pres">
      <dgm:prSet presAssocID="{F38CAC1E-B0A7-4EBD-AEC8-B5B6756A06DD}" presName="sp" presStyleCnt="0"/>
      <dgm:spPr/>
    </dgm:pt>
    <dgm:pt modelId="{A69D04E3-9316-4250-A433-02A69865D502}" type="pres">
      <dgm:prSet presAssocID="{5A526C50-E77A-41BB-9582-FBDC4D52C0EA}" presName="linNode" presStyleCnt="0"/>
      <dgm:spPr/>
    </dgm:pt>
    <dgm:pt modelId="{BAE5F833-757C-48F1-840C-6B26D323D812}" type="pres">
      <dgm:prSet presAssocID="{5A526C50-E77A-41BB-9582-FBDC4D52C0EA}" presName="parentText" presStyleLbl="node1" presStyleIdx="4" presStyleCnt="5" custScaleX="55317">
        <dgm:presLayoutVars>
          <dgm:chMax val="1"/>
          <dgm:bulletEnabled val="1"/>
        </dgm:presLayoutVars>
      </dgm:prSet>
      <dgm:spPr/>
    </dgm:pt>
    <dgm:pt modelId="{76D6997D-CD2E-455F-A2A9-723E10F80EB0}" type="pres">
      <dgm:prSet presAssocID="{5A526C50-E77A-41BB-9582-FBDC4D52C0EA}" presName="descendantText" presStyleLbl="alignAccFollowNode1" presStyleIdx="4" presStyleCnt="5" custScaleX="113935" custScaleY="139525">
        <dgm:presLayoutVars>
          <dgm:bulletEnabled val="1"/>
        </dgm:presLayoutVars>
      </dgm:prSet>
      <dgm:spPr/>
    </dgm:pt>
  </dgm:ptLst>
  <dgm:cxnLst>
    <dgm:cxn modelId="{9E5B6502-E895-45D7-9FDE-D41071FFF2F9}" srcId="{95C782F8-4FB3-417E-BC74-3E9D60A4761B}" destId="{FDB5D91C-9737-42AC-93AF-78FD4F0979B2}" srcOrd="1" destOrd="0" parTransId="{3CABFE0E-7BF9-4C08-999A-8D000203BFFB}" sibTransId="{2556701D-BD34-4DF2-A176-953412D0E784}"/>
    <dgm:cxn modelId="{DA5E7905-EA77-42C1-AC09-7E66CFF62780}" type="presOf" srcId="{95C782F8-4FB3-417E-BC74-3E9D60A4761B}" destId="{69934606-21FB-4815-BC2B-3CE0D88084C6}" srcOrd="0" destOrd="0" presId="urn:microsoft.com/office/officeart/2005/8/layout/vList5"/>
    <dgm:cxn modelId="{2A90BD05-4399-45F9-B96B-3B2B5C6DC6D4}" type="presOf" srcId="{23ECF797-B6B9-45AB-B19E-121073D0C222}" destId="{76D6997D-CD2E-455F-A2A9-723E10F80EB0}" srcOrd="0" destOrd="1" presId="urn:microsoft.com/office/officeart/2005/8/layout/vList5"/>
    <dgm:cxn modelId="{67274D08-BCBB-4651-A1BF-713EF9BEF183}" srcId="{19FCD27F-1CE5-415B-ACB8-0A5C3E5B93E9}" destId="{1FEC35B1-9147-47A1-AE7C-5D954D60E25C}" srcOrd="1" destOrd="0" parTransId="{C194B499-7B44-4BB8-9674-0A378851F704}" sibTransId="{89DDF03F-6DC8-44F2-A41E-D5051ED2D1F0}"/>
    <dgm:cxn modelId="{EF039814-1778-4C2D-ADAE-2E3F068216A7}" type="presOf" srcId="{418DA415-3471-48A2-8BB7-5F5F0F2305B3}" destId="{76D6997D-CD2E-455F-A2A9-723E10F80EB0}" srcOrd="0" destOrd="0" presId="urn:microsoft.com/office/officeart/2005/8/layout/vList5"/>
    <dgm:cxn modelId="{5E132F2D-8925-494E-8F89-03B33D8A7208}" srcId="{5A526C50-E77A-41BB-9582-FBDC4D52C0EA}" destId="{418DA415-3471-48A2-8BB7-5F5F0F2305B3}" srcOrd="0" destOrd="0" parTransId="{AE66C7AC-D8AF-45BF-8BFF-3A645BABF5F2}" sibTransId="{AF8CC799-E71F-4DC5-A1BF-6B46F8BABD0F}"/>
    <dgm:cxn modelId="{BEADEF3B-E5A9-4B02-AE4F-8D7A46E7DA2D}" type="presOf" srcId="{C8DD43CC-58EE-41C8-B9DC-43860610FFB0}" destId="{B0712708-6A42-4CBC-82DB-22D2FAD3BAE7}" srcOrd="0" destOrd="1" presId="urn:microsoft.com/office/officeart/2005/8/layout/vList5"/>
    <dgm:cxn modelId="{43D4904C-1CD1-4E77-A947-B36B1C508DEC}" type="presOf" srcId="{19FCD27F-1CE5-415B-ACB8-0A5C3E5B93E9}" destId="{CFBEF807-85A7-47E8-8450-E7C94BF1F6F8}" srcOrd="0" destOrd="0" presId="urn:microsoft.com/office/officeart/2005/8/layout/vList5"/>
    <dgm:cxn modelId="{CBBC056E-BD75-490B-9B78-63BFA9D74F98}" srcId="{A0EDAEE4-A668-40C2-BF09-4F51903BAEB4}" destId="{C8DD43CC-58EE-41C8-B9DC-43860610FFB0}" srcOrd="1" destOrd="0" parTransId="{B367E7FB-2D03-4BDD-84D9-5D181866B3C2}" sibTransId="{1932BAC4-500F-48F0-8A1A-521F13F83BA2}"/>
    <dgm:cxn modelId="{EA74136E-9C3D-4355-AC3F-78AF7E575D06}" srcId="{95C782F8-4FB3-417E-BC74-3E9D60A4761B}" destId="{101AD256-0ECE-481B-8C26-C90B1EA79969}" srcOrd="0" destOrd="0" parTransId="{50A19A1D-28E4-439C-B218-27E77AFBD8B6}" sibTransId="{57BE84C1-E328-4377-82C3-23E24A9BD9B9}"/>
    <dgm:cxn modelId="{F14BE675-AEE7-47DA-BB09-DBCC8F0249B0}" type="presOf" srcId="{5A526C50-E77A-41BB-9582-FBDC4D52C0EA}" destId="{BAE5F833-757C-48F1-840C-6B26D323D812}" srcOrd="0" destOrd="0" presId="urn:microsoft.com/office/officeart/2005/8/layout/vList5"/>
    <dgm:cxn modelId="{90340757-3B7D-45EB-85AD-96C6053FB371}" srcId="{19FCD27F-1CE5-415B-ACB8-0A5C3E5B93E9}" destId="{95C782F8-4FB3-417E-BC74-3E9D60A4761B}" srcOrd="3" destOrd="0" parTransId="{221DA5EF-100B-4195-8DAE-0E661E511B4B}" sibTransId="{F38CAC1E-B0A7-4EBD-AEC8-B5B6756A06DD}"/>
    <dgm:cxn modelId="{EDC8707A-1C00-4499-96FA-226E509653F2}" type="presOf" srcId="{FDB5D91C-9737-42AC-93AF-78FD4F0979B2}" destId="{7DA2FAD3-01FF-4501-8613-AA9FC08459C5}" srcOrd="0" destOrd="1" presId="urn:microsoft.com/office/officeart/2005/8/layout/vList5"/>
    <dgm:cxn modelId="{CE6B1D7F-92C7-4000-812F-57211A93AF34}" type="presOf" srcId="{D5663069-C489-4AF7-808B-F367D4E44E48}" destId="{DA931B39-482F-49D3-A948-4D0006D84345}" srcOrd="0" destOrd="1" presId="urn:microsoft.com/office/officeart/2005/8/layout/vList5"/>
    <dgm:cxn modelId="{CD7D0A85-E078-4080-8A69-00302D4C21DE}" srcId="{E09C8E44-E9BA-4C00-BE50-7957EADE6D1A}" destId="{6914C3C6-9ADF-456D-9144-C11F06ECD3C3}" srcOrd="0" destOrd="0" parTransId="{F7500A90-FF1D-497E-8BD3-14E10465EDDE}" sibTransId="{5C9325E3-CCCD-4D85-85D0-78F9A872D55B}"/>
    <dgm:cxn modelId="{835C278C-00A7-407F-80E1-AF5803862992}" srcId="{E09C8E44-E9BA-4C00-BE50-7957EADE6D1A}" destId="{D5663069-C489-4AF7-808B-F367D4E44E48}" srcOrd="1" destOrd="0" parTransId="{87C7F52B-C68F-48F1-87F7-441F6300905B}" sibTransId="{16A504FF-DB36-4A58-8A91-2B415AA8EF1E}"/>
    <dgm:cxn modelId="{21BDCE92-F92F-4D31-8326-A2BF69C4D057}" srcId="{A0EDAEE4-A668-40C2-BF09-4F51903BAEB4}" destId="{9F7A8909-3B6D-4AF0-A11E-BF3EF9252D33}" srcOrd="0" destOrd="0" parTransId="{413A9B4A-07E4-4BED-86E3-5CA7DE2FC5D3}" sibTransId="{38BC8B9C-F25B-4F6D-BE48-06AA3ED6E461}"/>
    <dgm:cxn modelId="{6455739A-7081-4C10-9BC3-1F03E164FAFA}" srcId="{1FEC35B1-9147-47A1-AE7C-5D954D60E25C}" destId="{92CD2999-9042-4C8A-BF20-45F774828A05}" srcOrd="1" destOrd="0" parTransId="{2C04C16F-AAC4-4D07-A10A-3CCF05AD6139}" sibTransId="{4162EF96-F262-4970-9194-B2D00D05B177}"/>
    <dgm:cxn modelId="{C39286AB-DE45-448C-890B-E1ED66D5159D}" srcId="{19FCD27F-1CE5-415B-ACB8-0A5C3E5B93E9}" destId="{A0EDAEE4-A668-40C2-BF09-4F51903BAEB4}" srcOrd="2" destOrd="0" parTransId="{7E2FEA2E-459E-4BD9-AE5E-EC0FA97608AB}" sibTransId="{5A9B8F70-38D1-4902-98F6-A0812896ADBB}"/>
    <dgm:cxn modelId="{8FFA08B1-E424-45E3-AA90-1237D79FAA91}" type="presOf" srcId="{101AD256-0ECE-481B-8C26-C90B1EA79969}" destId="{7DA2FAD3-01FF-4501-8613-AA9FC08459C5}" srcOrd="0" destOrd="0" presId="urn:microsoft.com/office/officeart/2005/8/layout/vList5"/>
    <dgm:cxn modelId="{F1BBAABA-DAC3-4AD0-BF89-55C261FF6A50}" type="presOf" srcId="{A0EDAEE4-A668-40C2-BF09-4F51903BAEB4}" destId="{A615328F-6E27-4EC6-BADB-D1A6A25A2B11}" srcOrd="0" destOrd="0" presId="urn:microsoft.com/office/officeart/2005/8/layout/vList5"/>
    <dgm:cxn modelId="{BE806CBD-8E6B-4240-8A6A-BA253475A6ED}" type="presOf" srcId="{1FEC35B1-9147-47A1-AE7C-5D954D60E25C}" destId="{4F5C1862-7C91-408E-BE9B-595AADD59ADD}" srcOrd="0" destOrd="0" presId="urn:microsoft.com/office/officeart/2005/8/layout/vList5"/>
    <dgm:cxn modelId="{3BE6F7C3-40A6-4FA7-AB1A-7B8206C38A1D}" srcId="{5A526C50-E77A-41BB-9582-FBDC4D52C0EA}" destId="{23ECF797-B6B9-45AB-B19E-121073D0C222}" srcOrd="1" destOrd="0" parTransId="{A7C951EE-8E5B-494B-8D61-B15CDAF09585}" sibTransId="{3F3BBC79-0D69-4284-B7CB-14955A8361EC}"/>
    <dgm:cxn modelId="{D2D76CCA-6826-47AA-ADD8-FC41683E0B61}" type="presOf" srcId="{92CD2999-9042-4C8A-BF20-45F774828A05}" destId="{64EC0D4D-8F17-4312-8EC3-540AE7D77BD6}" srcOrd="0" destOrd="1" presId="urn:microsoft.com/office/officeart/2005/8/layout/vList5"/>
    <dgm:cxn modelId="{97FA1CCF-EA89-43EB-B756-3A9F6715F1F8}" type="presOf" srcId="{6914C3C6-9ADF-456D-9144-C11F06ECD3C3}" destId="{DA931B39-482F-49D3-A948-4D0006D84345}" srcOrd="0" destOrd="0" presId="urn:microsoft.com/office/officeart/2005/8/layout/vList5"/>
    <dgm:cxn modelId="{650171D2-CCBD-453D-BB5B-31EC244064BB}" srcId="{1FEC35B1-9147-47A1-AE7C-5D954D60E25C}" destId="{A34FB794-0F17-4C4B-81BB-90443F14226D}" srcOrd="0" destOrd="0" parTransId="{F840171C-A443-49D1-B18C-66D07CEEA250}" sibTransId="{F36CD333-F840-4315-85E8-A037F6A3D70D}"/>
    <dgm:cxn modelId="{EA6C78E0-E107-4C9A-A1F7-6CD910F9EEE2}" srcId="{19FCD27F-1CE5-415B-ACB8-0A5C3E5B93E9}" destId="{5A526C50-E77A-41BB-9582-FBDC4D52C0EA}" srcOrd="4" destOrd="0" parTransId="{4CA67D3B-F473-4C68-A8A9-649E9DC992EC}" sibTransId="{FB36EA36-BB44-4925-82BE-B12F6B93545F}"/>
    <dgm:cxn modelId="{8619D4EF-E090-4715-AD99-2C45E8DB2F0D}" srcId="{19FCD27F-1CE5-415B-ACB8-0A5C3E5B93E9}" destId="{E09C8E44-E9BA-4C00-BE50-7957EADE6D1A}" srcOrd="0" destOrd="0" parTransId="{EF4EFFDF-1140-4B20-8AB2-F5D9DEF30092}" sibTransId="{41CCB44C-74E2-454F-BA07-D26BA7B68AC6}"/>
    <dgm:cxn modelId="{50C2D6F0-D6E4-4FCB-9FB6-14FC9424E78A}" type="presOf" srcId="{9F7A8909-3B6D-4AF0-A11E-BF3EF9252D33}" destId="{B0712708-6A42-4CBC-82DB-22D2FAD3BAE7}" srcOrd="0" destOrd="0" presId="urn:microsoft.com/office/officeart/2005/8/layout/vList5"/>
    <dgm:cxn modelId="{5D3F21F4-0D11-40DC-9806-47DB3E164FF8}" type="presOf" srcId="{A34FB794-0F17-4C4B-81BB-90443F14226D}" destId="{64EC0D4D-8F17-4312-8EC3-540AE7D77BD6}" srcOrd="0" destOrd="0" presId="urn:microsoft.com/office/officeart/2005/8/layout/vList5"/>
    <dgm:cxn modelId="{062329F4-6DCC-4A1E-AFE4-9DFAAC417935}" type="presOf" srcId="{E09C8E44-E9BA-4C00-BE50-7957EADE6D1A}" destId="{BA6CE1E8-E35B-494E-8F9E-6082FFA7C39D}" srcOrd="0" destOrd="0" presId="urn:microsoft.com/office/officeart/2005/8/layout/vList5"/>
    <dgm:cxn modelId="{0FDA2A53-993F-4425-A253-BD24ED960D04}" type="presParOf" srcId="{CFBEF807-85A7-47E8-8450-E7C94BF1F6F8}" destId="{F8A7EED5-AD1C-4606-8F84-72642D631DFF}" srcOrd="0" destOrd="0" presId="urn:microsoft.com/office/officeart/2005/8/layout/vList5"/>
    <dgm:cxn modelId="{0353443C-FF75-478E-8016-FAEA0B8D7A1E}" type="presParOf" srcId="{F8A7EED5-AD1C-4606-8F84-72642D631DFF}" destId="{BA6CE1E8-E35B-494E-8F9E-6082FFA7C39D}" srcOrd="0" destOrd="0" presId="urn:microsoft.com/office/officeart/2005/8/layout/vList5"/>
    <dgm:cxn modelId="{DE3B830E-B02F-4CD0-BD70-48547672D814}" type="presParOf" srcId="{F8A7EED5-AD1C-4606-8F84-72642D631DFF}" destId="{DA931B39-482F-49D3-A948-4D0006D84345}" srcOrd="1" destOrd="0" presId="urn:microsoft.com/office/officeart/2005/8/layout/vList5"/>
    <dgm:cxn modelId="{92033485-F18A-407B-96A0-1BCD5AC10F7E}" type="presParOf" srcId="{CFBEF807-85A7-47E8-8450-E7C94BF1F6F8}" destId="{09776274-6F27-403F-A851-FC0A8ECC41B3}" srcOrd="1" destOrd="0" presId="urn:microsoft.com/office/officeart/2005/8/layout/vList5"/>
    <dgm:cxn modelId="{0495EA29-7DD2-46F1-BD51-CC55431BEB8A}" type="presParOf" srcId="{CFBEF807-85A7-47E8-8450-E7C94BF1F6F8}" destId="{113E90EC-AFB2-446E-BCA0-004AE742C32F}" srcOrd="2" destOrd="0" presId="urn:microsoft.com/office/officeart/2005/8/layout/vList5"/>
    <dgm:cxn modelId="{A57F7D96-A92A-4570-8A48-5F166DEC9703}" type="presParOf" srcId="{113E90EC-AFB2-446E-BCA0-004AE742C32F}" destId="{4F5C1862-7C91-408E-BE9B-595AADD59ADD}" srcOrd="0" destOrd="0" presId="urn:microsoft.com/office/officeart/2005/8/layout/vList5"/>
    <dgm:cxn modelId="{29C4161F-2A3C-499A-B404-F32269AF3C97}" type="presParOf" srcId="{113E90EC-AFB2-446E-BCA0-004AE742C32F}" destId="{64EC0D4D-8F17-4312-8EC3-540AE7D77BD6}" srcOrd="1" destOrd="0" presId="urn:microsoft.com/office/officeart/2005/8/layout/vList5"/>
    <dgm:cxn modelId="{2109AC77-8AF1-4E2E-98D8-48DFB296A3F1}" type="presParOf" srcId="{CFBEF807-85A7-47E8-8450-E7C94BF1F6F8}" destId="{5F9FC963-5747-4B47-9207-83F05AF7323F}" srcOrd="3" destOrd="0" presId="urn:microsoft.com/office/officeart/2005/8/layout/vList5"/>
    <dgm:cxn modelId="{7533EF07-E5C5-495E-A239-AED740080C4D}" type="presParOf" srcId="{CFBEF807-85A7-47E8-8450-E7C94BF1F6F8}" destId="{7809419F-1694-4AE7-917F-B6313D7C4593}" srcOrd="4" destOrd="0" presId="urn:microsoft.com/office/officeart/2005/8/layout/vList5"/>
    <dgm:cxn modelId="{C825EBCB-7857-4B4F-AD22-36FA3B2EFB08}" type="presParOf" srcId="{7809419F-1694-4AE7-917F-B6313D7C4593}" destId="{A615328F-6E27-4EC6-BADB-D1A6A25A2B11}" srcOrd="0" destOrd="0" presId="urn:microsoft.com/office/officeart/2005/8/layout/vList5"/>
    <dgm:cxn modelId="{735883B3-5178-42AE-A156-CDB906F3324F}" type="presParOf" srcId="{7809419F-1694-4AE7-917F-B6313D7C4593}" destId="{B0712708-6A42-4CBC-82DB-22D2FAD3BAE7}" srcOrd="1" destOrd="0" presId="urn:microsoft.com/office/officeart/2005/8/layout/vList5"/>
    <dgm:cxn modelId="{D7A0658D-9B72-4D50-BEC4-5F9B6945D53B}" type="presParOf" srcId="{CFBEF807-85A7-47E8-8450-E7C94BF1F6F8}" destId="{2967583E-B15F-4665-A712-427240234858}" srcOrd="5" destOrd="0" presId="urn:microsoft.com/office/officeart/2005/8/layout/vList5"/>
    <dgm:cxn modelId="{6909188A-F93E-426E-80CD-AF15867C00E9}" type="presParOf" srcId="{CFBEF807-85A7-47E8-8450-E7C94BF1F6F8}" destId="{0B19905A-1920-48B2-8A47-3A5CF3FF61C7}" srcOrd="6" destOrd="0" presId="urn:microsoft.com/office/officeart/2005/8/layout/vList5"/>
    <dgm:cxn modelId="{F4FE2360-5BEE-4AB0-A86F-50512B152E88}" type="presParOf" srcId="{0B19905A-1920-48B2-8A47-3A5CF3FF61C7}" destId="{69934606-21FB-4815-BC2B-3CE0D88084C6}" srcOrd="0" destOrd="0" presId="urn:microsoft.com/office/officeart/2005/8/layout/vList5"/>
    <dgm:cxn modelId="{84C6BB7D-46C7-4597-BB4A-09B54D3B7505}" type="presParOf" srcId="{0B19905A-1920-48B2-8A47-3A5CF3FF61C7}" destId="{7DA2FAD3-01FF-4501-8613-AA9FC08459C5}" srcOrd="1" destOrd="0" presId="urn:microsoft.com/office/officeart/2005/8/layout/vList5"/>
    <dgm:cxn modelId="{F5EB5167-2C6E-4BB2-B72C-225195E54B24}" type="presParOf" srcId="{CFBEF807-85A7-47E8-8450-E7C94BF1F6F8}" destId="{9145F7A9-126A-4417-B19C-C3F4459D5FAB}" srcOrd="7" destOrd="0" presId="urn:microsoft.com/office/officeart/2005/8/layout/vList5"/>
    <dgm:cxn modelId="{EBF870F2-51C2-438E-BC27-829C96E02310}" type="presParOf" srcId="{CFBEF807-85A7-47E8-8450-E7C94BF1F6F8}" destId="{A69D04E3-9316-4250-A433-02A69865D502}" srcOrd="8" destOrd="0" presId="urn:microsoft.com/office/officeart/2005/8/layout/vList5"/>
    <dgm:cxn modelId="{BD5780C0-70E9-4C7A-BFD1-6668ACA1F36D}" type="presParOf" srcId="{A69D04E3-9316-4250-A433-02A69865D502}" destId="{BAE5F833-757C-48F1-840C-6B26D323D812}" srcOrd="0" destOrd="0" presId="urn:microsoft.com/office/officeart/2005/8/layout/vList5"/>
    <dgm:cxn modelId="{1D2F44DB-F234-4126-B8E1-44E5B6E69FEE}" type="presParOf" srcId="{A69D04E3-9316-4250-A433-02A69865D502}" destId="{76D6997D-CD2E-455F-A2A9-723E10F80EB0}"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931B39-482F-49D3-A948-4D0006D84345}">
      <dsp:nvSpPr>
        <dsp:cNvPr id="0" name=""/>
        <dsp:cNvSpPr/>
      </dsp:nvSpPr>
      <dsp:spPr>
        <a:xfrm rot="5400000">
          <a:off x="4489952" y="-2628189"/>
          <a:ext cx="601153" cy="5925691"/>
        </a:xfrm>
        <a:prstGeom prst="round2SameRect">
          <a:avLst/>
        </a:prstGeom>
        <a:noFill/>
        <a:ln w="25400" cap="flat" cmpd="sng" algn="ctr">
          <a:solidFill>
            <a:schemeClr val="bg2">
              <a:alpha val="9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just" defTabSz="444500">
            <a:lnSpc>
              <a:spcPct val="90000"/>
            </a:lnSpc>
            <a:spcBef>
              <a:spcPct val="0"/>
            </a:spcBef>
            <a:spcAft>
              <a:spcPct val="15000"/>
            </a:spcAft>
            <a:buFont typeface="Arial" panose="020B0604020202020204" pitchFamily="34" charset="0"/>
            <a:buChar char="•"/>
          </a:pPr>
          <a:r>
            <a:rPr lang="en-US" sz="1000" kern="1200" dirty="0"/>
            <a:t> India’s CPI at 1.33% (Dec-25), tempered by GST rationalization</a:t>
          </a:r>
          <a:endParaRPr lang="en-US" sz="1000" kern="1200" dirty="0">
            <a:latin typeface="Calibri" panose="020F0502020204030204" pitchFamily="34" charset="0"/>
            <a:ea typeface="Calibri" panose="020F0502020204030204" pitchFamily="34" charset="0"/>
            <a:cs typeface="Calibri" panose="020F0502020204030204" pitchFamily="34" charset="0"/>
          </a:endParaRPr>
        </a:p>
        <a:p>
          <a:pPr marL="57150" lvl="1" indent="-57150" algn="just" defTabSz="444500">
            <a:lnSpc>
              <a:spcPct val="90000"/>
            </a:lnSpc>
            <a:spcBef>
              <a:spcPct val="0"/>
            </a:spcBef>
            <a:spcAft>
              <a:spcPct val="15000"/>
            </a:spcAft>
            <a:buFont typeface="Arial" panose="020B0604020202020204" pitchFamily="34" charset="0"/>
            <a:buChar char="•"/>
          </a:pPr>
          <a:r>
            <a:rPr lang="en-US" sz="1000" kern="1200" dirty="0"/>
            <a:t> US headline CPI at 2.7% (Dec-25), keeping disinflation gradual</a:t>
          </a:r>
          <a:endParaRPr lang="en-US" sz="1000" kern="1200" dirty="0">
            <a:latin typeface="Calibri" panose="020F0502020204030204" pitchFamily="34" charset="0"/>
            <a:ea typeface="Calibri" panose="020F0502020204030204" pitchFamily="34" charset="0"/>
            <a:cs typeface="Calibri" panose="020F0502020204030204" pitchFamily="34" charset="0"/>
          </a:endParaRPr>
        </a:p>
      </dsp:txBody>
      <dsp:txXfrm rot="-5400000">
        <a:off x="1827683" y="63426"/>
        <a:ext cx="5896345" cy="542461"/>
      </dsp:txXfrm>
    </dsp:sp>
    <dsp:sp modelId="{BA6CE1E8-E35B-494E-8F9E-6082FFA7C39D}">
      <dsp:nvSpPr>
        <dsp:cNvPr id="0" name=""/>
        <dsp:cNvSpPr/>
      </dsp:nvSpPr>
      <dsp:spPr>
        <a:xfrm>
          <a:off x="230283" y="0"/>
          <a:ext cx="1598684" cy="667123"/>
        </a:xfrm>
        <a:prstGeom prst="round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Inflation</a:t>
          </a:r>
        </a:p>
      </dsp:txBody>
      <dsp:txXfrm>
        <a:off x="262849" y="32566"/>
        <a:ext cx="1533552" cy="601991"/>
      </dsp:txXfrm>
    </dsp:sp>
    <dsp:sp modelId="{64EC0D4D-8F17-4312-8EC3-540AE7D77BD6}">
      <dsp:nvSpPr>
        <dsp:cNvPr id="0" name=""/>
        <dsp:cNvSpPr/>
      </dsp:nvSpPr>
      <dsp:spPr>
        <a:xfrm rot="5400000">
          <a:off x="4497743" y="-1973931"/>
          <a:ext cx="533698" cy="5971212"/>
        </a:xfrm>
        <a:prstGeom prst="round2SameRect">
          <a:avLst/>
        </a:prstGeom>
        <a:solidFill>
          <a:schemeClr val="bg1">
            <a:alpha val="90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kern="1200" dirty="0"/>
            <a:t>  </a:t>
          </a:r>
          <a:r>
            <a:rPr lang="en-IN" sz="1000" kern="1200" dirty="0"/>
            <a:t>RBI advancing its Rs 1 lakh crore  OMO purchases to stabilize the market liquidity</a:t>
          </a:r>
          <a:endParaRPr lang="en-US" sz="1000"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kern="1200" dirty="0"/>
            <a:t> Liquidity to remain sufficient amid rupee volatility</a:t>
          </a:r>
          <a:endParaRPr lang="en-US" sz="1000"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dsp:txBody>
      <dsp:txXfrm rot="-5400000">
        <a:off x="1778987" y="770878"/>
        <a:ext cx="5945159" cy="481592"/>
      </dsp:txXfrm>
    </dsp:sp>
    <dsp:sp modelId="{4F5C1862-7C91-408E-BE9B-595AADD59ADD}">
      <dsp:nvSpPr>
        <dsp:cNvPr id="0" name=""/>
        <dsp:cNvSpPr/>
      </dsp:nvSpPr>
      <dsp:spPr>
        <a:xfrm>
          <a:off x="228998" y="701574"/>
          <a:ext cx="1598684" cy="667123"/>
        </a:xfrm>
        <a:prstGeom prst="roundRect">
          <a:avLst/>
        </a:prstGeom>
        <a:solidFill>
          <a:schemeClr val="tx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rgbClr val="FFFFFF"/>
              </a:solidFill>
              <a:latin typeface="Calibri" panose="020F0502020204030204" pitchFamily="34" charset="0"/>
              <a:ea typeface="Calibri" panose="020F0502020204030204" pitchFamily="34" charset="0"/>
              <a:cs typeface="Calibri" panose="020F0502020204030204" pitchFamily="34" charset="0"/>
            </a:rPr>
            <a:t>Liquidity</a:t>
          </a:r>
        </a:p>
      </dsp:txBody>
      <dsp:txXfrm>
        <a:off x="261564" y="734140"/>
        <a:ext cx="1533552" cy="601991"/>
      </dsp:txXfrm>
    </dsp:sp>
    <dsp:sp modelId="{B0712708-6A42-4CBC-82DB-22D2FAD3BAE7}">
      <dsp:nvSpPr>
        <dsp:cNvPr id="0" name=""/>
        <dsp:cNvSpPr/>
      </dsp:nvSpPr>
      <dsp:spPr>
        <a:xfrm rot="5400000">
          <a:off x="4491850" y="-1195400"/>
          <a:ext cx="533698" cy="5862033"/>
        </a:xfrm>
        <a:prstGeom prst="round2SameRect">
          <a:avLst/>
        </a:prstGeom>
        <a:noFill/>
        <a:ln w="25400" cap="flat" cmpd="sng" algn="ctr">
          <a:solidFill>
            <a:schemeClr val="bg1">
              <a:lumMod val="75000"/>
              <a:alpha val="9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just" defTabSz="400050">
            <a:lnSpc>
              <a:spcPct val="90000"/>
            </a:lnSpc>
            <a:spcBef>
              <a:spcPct val="0"/>
            </a:spcBef>
            <a:spcAft>
              <a:spcPct val="15000"/>
            </a:spcAft>
            <a:buClrTx/>
            <a:buSzTx/>
            <a:buFont typeface="Arial" panose="020B0604020202020204" pitchFamily="34" charset="0"/>
            <a:buChar char="•"/>
          </a:pPr>
          <a:r>
            <a:rPr lang="en-US" sz="1000" kern="1200" dirty="0">
              <a:solidFill>
                <a:srgbClr val="191919">
                  <a:hueOff val="0"/>
                  <a:satOff val="0"/>
                  <a:lumOff val="0"/>
                  <a:alphaOff val="0"/>
                </a:srgbClr>
              </a:solidFill>
              <a:latin typeface="+mj-lt"/>
              <a:ea typeface="Calibri" panose="020F0502020204030204" pitchFamily="34" charset="0"/>
              <a:cs typeface="Calibri" panose="020F0502020204030204" pitchFamily="34" charset="0"/>
            </a:rPr>
            <a:t>  </a:t>
          </a:r>
          <a:r>
            <a:rPr lang="en-US" sz="1000" kern="1200" dirty="0">
              <a:solidFill>
                <a:schemeClr val="tx1"/>
              </a:solidFill>
            </a:rPr>
            <a:t>RBI keeps interest rate unchanged at 5.25%, continues neutral stance</a:t>
          </a:r>
          <a:endParaRPr lang="en-US" sz="1000" strike="sngStrike" kern="1200" dirty="0">
            <a:solidFill>
              <a:schemeClr val="tx1"/>
            </a:solidFill>
            <a:latin typeface="+mj-lt"/>
            <a:ea typeface="Calibri" panose="020F0502020204030204" pitchFamily="34" charset="0"/>
            <a:cs typeface="Calibri" panose="020F0502020204030204" pitchFamily="34" charset="0"/>
          </a:endParaRPr>
        </a:p>
        <a:p>
          <a:pPr marL="57150" lvl="1" indent="-57150" algn="just" defTabSz="400050">
            <a:lnSpc>
              <a:spcPct val="90000"/>
            </a:lnSpc>
            <a:spcBef>
              <a:spcPct val="0"/>
            </a:spcBef>
            <a:spcAft>
              <a:spcPct val="15000"/>
            </a:spcAft>
            <a:buClrTx/>
            <a:buSzTx/>
            <a:buFont typeface="Arial" panose="020B0604020202020204" pitchFamily="34" charset="0"/>
            <a:buChar char="•"/>
          </a:pPr>
          <a:r>
            <a:rPr lang="en-US" sz="1000" dirty="0"/>
            <a:t> Fed left interest rate unchanged in Jan-26, as per street estimates</a:t>
          </a:r>
          <a:endParaRPr lang="en-US" sz="1000" strike="sngStrike" kern="1200" dirty="0">
            <a:solidFill>
              <a:schemeClr val="tx1"/>
            </a:solidFill>
            <a:latin typeface="+mj-lt"/>
            <a:ea typeface="Calibri" panose="020F0502020204030204" pitchFamily="34" charset="0"/>
            <a:cs typeface="Calibri" panose="020F0502020204030204" pitchFamily="34" charset="0"/>
          </a:endParaRPr>
        </a:p>
      </dsp:txBody>
      <dsp:txXfrm rot="-5400000">
        <a:off x="1827683" y="1494820"/>
        <a:ext cx="5835980" cy="481592"/>
      </dsp:txXfrm>
    </dsp:sp>
    <dsp:sp modelId="{A615328F-6E27-4EC6-BADB-D1A6A25A2B11}">
      <dsp:nvSpPr>
        <dsp:cNvPr id="0" name=""/>
        <dsp:cNvSpPr/>
      </dsp:nvSpPr>
      <dsp:spPr>
        <a:xfrm>
          <a:off x="228998" y="1402053"/>
          <a:ext cx="1598684" cy="667123"/>
        </a:xfrm>
        <a:prstGeom prst="roundRect">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Interest</a:t>
          </a:r>
          <a:r>
            <a:rPr lang="en-US" sz="1200" kern="12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2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rate</a:t>
          </a:r>
        </a:p>
      </dsp:txBody>
      <dsp:txXfrm>
        <a:off x="261564" y="1434619"/>
        <a:ext cx="1533552" cy="601991"/>
      </dsp:txXfrm>
    </dsp:sp>
    <dsp:sp modelId="{7DA2FAD3-01FF-4501-8613-AA9FC08459C5}">
      <dsp:nvSpPr>
        <dsp:cNvPr id="0" name=""/>
        <dsp:cNvSpPr/>
      </dsp:nvSpPr>
      <dsp:spPr>
        <a:xfrm rot="5400000">
          <a:off x="4505697" y="-508767"/>
          <a:ext cx="533698" cy="5889726"/>
        </a:xfrm>
        <a:prstGeom prst="round2SameRect">
          <a:avLst/>
        </a:prstGeom>
        <a:noFill/>
        <a:ln w="25400" cap="flat" cmpd="sng" algn="ctr">
          <a:solidFill>
            <a:schemeClr val="bg2">
              <a:alpha val="9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kern="1200" dirty="0"/>
            <a:t> India’s 10Y G-sec  spiked to (~6.7%), ahead of RBI bond purchase and policy decision</a:t>
          </a:r>
          <a:endParaRPr lang="en-US" sz="1000" strike="sngStrike"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dirty="0"/>
            <a:t> US 10Y note yield (4.24%), supported by Fed’s no change in interest rates </a:t>
          </a:r>
          <a:endParaRPr lang="en-US" sz="1000" strike="sngStrike" kern="1200" dirty="0">
            <a:solidFill>
              <a:srgbClr val="191919">
                <a:hueOff val="0"/>
                <a:satOff val="0"/>
                <a:lumOff val="0"/>
                <a:alphaOff val="0"/>
              </a:srgbClr>
            </a:solidFill>
            <a:highlight>
              <a:srgbClr val="FFFF00"/>
            </a:highlight>
            <a:latin typeface="Calibri" panose="020F0502020204030204" pitchFamily="34" charset="0"/>
            <a:ea typeface="Calibri" panose="020F0502020204030204" pitchFamily="34" charset="0"/>
            <a:cs typeface="Calibri" panose="020F0502020204030204" pitchFamily="34" charset="0"/>
          </a:endParaRPr>
        </a:p>
      </dsp:txBody>
      <dsp:txXfrm rot="-5400000">
        <a:off x="1827684" y="2195299"/>
        <a:ext cx="5863673" cy="481592"/>
      </dsp:txXfrm>
    </dsp:sp>
    <dsp:sp modelId="{69934606-21FB-4815-BC2B-3CE0D88084C6}">
      <dsp:nvSpPr>
        <dsp:cNvPr id="0" name=""/>
        <dsp:cNvSpPr/>
      </dsp:nvSpPr>
      <dsp:spPr>
        <a:xfrm>
          <a:off x="228998" y="2102533"/>
          <a:ext cx="1598684" cy="667123"/>
        </a:xfrm>
        <a:prstGeom prst="roundRect">
          <a:avLst/>
        </a:prstGeom>
        <a:solidFill>
          <a:schemeClr val="bg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622300">
            <a:lnSpc>
              <a:spcPct val="90000"/>
            </a:lnSpc>
            <a:spcBef>
              <a:spcPct val="0"/>
            </a:spcBef>
            <a:spcAft>
              <a:spcPct val="35000"/>
            </a:spcAft>
            <a:buNone/>
          </a:pPr>
          <a:r>
            <a:rPr lang="en-US" sz="12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Bond Markets</a:t>
          </a:r>
        </a:p>
      </dsp:txBody>
      <dsp:txXfrm>
        <a:off x="261564" y="2135099"/>
        <a:ext cx="1533552" cy="601991"/>
      </dsp:txXfrm>
    </dsp:sp>
    <dsp:sp modelId="{76D6997D-CD2E-455F-A2A9-723E10F80EB0}">
      <dsp:nvSpPr>
        <dsp:cNvPr id="0" name=""/>
        <dsp:cNvSpPr/>
      </dsp:nvSpPr>
      <dsp:spPr>
        <a:xfrm rot="5400000">
          <a:off x="4377848" y="251287"/>
          <a:ext cx="744643" cy="5848095"/>
        </a:xfrm>
        <a:prstGeom prst="round2SameRect">
          <a:avLst/>
        </a:prstGeom>
        <a:noFill/>
        <a:ln w="25400" cap="flat" cmpd="sng" algn="ctr">
          <a:solidFill>
            <a:schemeClr val="tx1">
              <a:alpha val="9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kern="1200" dirty="0"/>
            <a:t> Domestic equities may remain sideways as elevated commodity prices pressure margins despite increase in government capex</a:t>
          </a:r>
          <a:endParaRPr lang="en-US" sz="1000" strike="sngStrike"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a:p>
          <a:pPr marL="57150" lvl="1" indent="-57150" algn="just" defTabSz="444500">
            <a:lnSpc>
              <a:spcPct val="90000"/>
            </a:lnSpc>
            <a:spcBef>
              <a:spcPct val="0"/>
            </a:spcBef>
            <a:spcAft>
              <a:spcPct val="15000"/>
            </a:spcAft>
            <a:buClrTx/>
            <a:buSzTx/>
            <a:buFont typeface="Arial" panose="020B0604020202020204" pitchFamily="34" charset="0"/>
            <a:buChar char="•"/>
          </a:pPr>
          <a:r>
            <a:rPr lang="en-US" sz="1000" dirty="0"/>
            <a:t> Global markets remain volatile amid rising Middle East and geopolitical tensions</a:t>
          </a:r>
          <a:endParaRPr lang="en-US" sz="1000" strike="sngStrike" kern="1200" dirty="0">
            <a:solidFill>
              <a:srgbClr val="191919">
                <a:hueOff val="0"/>
                <a:satOff val="0"/>
                <a:lumOff val="0"/>
                <a:alphaOff val="0"/>
              </a:srgbClr>
            </a:solidFill>
            <a:latin typeface="Calibri" panose="020F0502020204030204" pitchFamily="34" charset="0"/>
            <a:ea typeface="Calibri" panose="020F0502020204030204" pitchFamily="34" charset="0"/>
            <a:cs typeface="Calibri" panose="020F0502020204030204" pitchFamily="34" charset="0"/>
          </a:endParaRPr>
        </a:p>
      </dsp:txBody>
      <dsp:txXfrm rot="-5400000">
        <a:off x="1826122" y="2839363"/>
        <a:ext cx="5811745" cy="671943"/>
      </dsp:txXfrm>
    </dsp:sp>
    <dsp:sp modelId="{BAE5F833-757C-48F1-840C-6B26D323D812}">
      <dsp:nvSpPr>
        <dsp:cNvPr id="0" name=""/>
        <dsp:cNvSpPr/>
      </dsp:nvSpPr>
      <dsp:spPr>
        <a:xfrm>
          <a:off x="228998" y="2841773"/>
          <a:ext cx="1597123" cy="667123"/>
        </a:xfrm>
        <a:prstGeom prst="roundRect">
          <a:avLst/>
        </a:prstGeom>
        <a:solidFill>
          <a:schemeClr val="tx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622300">
            <a:lnSpc>
              <a:spcPct val="90000"/>
            </a:lnSpc>
            <a:spcBef>
              <a:spcPct val="0"/>
            </a:spcBef>
            <a:spcAft>
              <a:spcPct val="35000"/>
            </a:spcAft>
            <a:buNone/>
          </a:pPr>
          <a:r>
            <a:rPr lang="en-US" sz="1200" b="1" kern="1200" dirty="0">
              <a:solidFill>
                <a:srgbClr val="FFFFFF"/>
              </a:solidFill>
              <a:latin typeface="Calibri" panose="020F0502020204030204" pitchFamily="34" charset="0"/>
              <a:ea typeface="Calibri" panose="020F0502020204030204" pitchFamily="34" charset="0"/>
              <a:cs typeface="Calibri" panose="020F0502020204030204" pitchFamily="34" charset="0"/>
            </a:rPr>
            <a:t>Equity Markets</a:t>
          </a:r>
        </a:p>
      </dsp:txBody>
      <dsp:txXfrm>
        <a:off x="261564" y="2874339"/>
        <a:ext cx="1531991" cy="601991"/>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36" name="Google Shape;23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4275761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a:extLst>
            <a:ext uri="{FF2B5EF4-FFF2-40B4-BE49-F238E27FC236}">
              <a16:creationId xmlns:a16="http://schemas.microsoft.com/office/drawing/2014/main" id="{944486FB-18BC-95BC-6959-C2FCD6030687}"/>
            </a:ext>
          </a:extLst>
        </p:cNvPr>
        <p:cNvGrpSpPr/>
        <p:nvPr/>
      </p:nvGrpSpPr>
      <p:grpSpPr>
        <a:xfrm>
          <a:off x="0" y="0"/>
          <a:ext cx="0" cy="0"/>
          <a:chOff x="0" y="0"/>
          <a:chExt cx="0" cy="0"/>
        </a:xfrm>
      </p:grpSpPr>
      <p:sp>
        <p:nvSpPr>
          <p:cNvPr id="257" name="Google Shape;257;p6:notes">
            <a:extLst>
              <a:ext uri="{FF2B5EF4-FFF2-40B4-BE49-F238E27FC236}">
                <a16:creationId xmlns:a16="http://schemas.microsoft.com/office/drawing/2014/main" id="{EE50A503-563D-B21C-287F-F0B9D10FB6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58" name="Google Shape;258;p6:notes">
            <a:extLst>
              <a:ext uri="{FF2B5EF4-FFF2-40B4-BE49-F238E27FC236}">
                <a16:creationId xmlns:a16="http://schemas.microsoft.com/office/drawing/2014/main" id="{5D5147BF-B239-A080-60C9-FEB0F9E604F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1729917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B7429EF4-4624-FBF7-089B-247A1C82E35B}"/>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8D7C3C3C-AA14-ACC8-D861-A03AFA47BF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8BF3D071-9002-BAE7-D00A-B2181AD9854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5057377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90BF964B-31D2-8C71-D5E3-0FBC0783B286}"/>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C6EDCE59-B4DF-3167-E30D-E2AD3831F9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E7836D55-D0EC-73E6-AD7F-02D386E17ED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2070399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42014029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DEAD8F2F-77AE-A8F9-2F8F-0D6659FA0AFE}"/>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5990F977-A8E8-EC4D-12D0-F67C453B01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F61A841E-0DBE-CF3A-C1A8-3A61EEFCD52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5971303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358528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1060572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0998089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9613821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84" name="Google Shape;28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2B5B41CF-D891-11C7-7438-DE4FDDE6C5F7}"/>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26EC933E-8637-BB21-25F2-16914C5D41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5136B52F-13F9-310F-B5BA-142E23B8198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1602246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0823382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0002873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84" name="Google Shape;28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5638576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6F319673-5060-2773-4A4E-C964D5B45C60}"/>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C8281D88-C4D9-082D-CCC9-7359717F41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707E7D45-FAC0-78F3-6CCF-00FB4981F35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8260073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2B76E18A-1211-B46B-F9A1-C280C1021C48}"/>
            </a:ext>
          </a:extLst>
        </p:cNvPr>
        <p:cNvGrpSpPr/>
        <p:nvPr/>
      </p:nvGrpSpPr>
      <p:grpSpPr>
        <a:xfrm>
          <a:off x="0" y="0"/>
          <a:ext cx="0" cy="0"/>
          <a:chOff x="0" y="0"/>
          <a:chExt cx="0" cy="0"/>
        </a:xfrm>
      </p:grpSpPr>
      <p:sp>
        <p:nvSpPr>
          <p:cNvPr id="298" name="Google Shape;298;p7:notes">
            <a:extLst>
              <a:ext uri="{FF2B5EF4-FFF2-40B4-BE49-F238E27FC236}">
                <a16:creationId xmlns:a16="http://schemas.microsoft.com/office/drawing/2014/main" id="{93B453ED-C382-41B9-17F4-12EE136185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a:extLst>
              <a:ext uri="{FF2B5EF4-FFF2-40B4-BE49-F238E27FC236}">
                <a16:creationId xmlns:a16="http://schemas.microsoft.com/office/drawing/2014/main" id="{16EA8461-A04A-3416-CF5C-4EDEAD56024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41408039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7572365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8396684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299" name="Google Shape;29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58"/>
          <p:cNvSpPr>
            <a:spLocks noGrp="1"/>
          </p:cNvSpPr>
          <p:nvPr>
            <p:ph type="pic" idx="2"/>
          </p:nvPr>
        </p:nvSpPr>
        <p:spPr>
          <a:xfrm>
            <a:off x="3330125" y="0"/>
            <a:ext cx="5814000" cy="4422300"/>
          </a:xfrm>
          <a:prstGeom prst="rect">
            <a:avLst/>
          </a:prstGeom>
          <a:noFill/>
          <a:ln>
            <a:noFill/>
          </a:ln>
        </p:spPr>
        <p:txBody>
          <a:bodyPr/>
          <a:lstStyle/>
          <a:p>
            <a:endParaRPr lang="en-US" dirty="0"/>
          </a:p>
        </p:txBody>
      </p:sp>
      <p:sp>
        <p:nvSpPr>
          <p:cNvPr id="10" name="Google Shape;10;p58"/>
          <p:cNvSpPr txBox="1">
            <a:spLocks noGrp="1"/>
          </p:cNvSpPr>
          <p:nvPr>
            <p:ph type="ctrTitle"/>
          </p:nvPr>
        </p:nvSpPr>
        <p:spPr>
          <a:xfrm>
            <a:off x="713225" y="1799800"/>
            <a:ext cx="5814000" cy="2201400"/>
          </a:xfrm>
          <a:prstGeom prst="rect">
            <a:avLst/>
          </a:prstGeom>
          <a:solidFill>
            <a:schemeClr val="dk2"/>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191919"/>
              </a:buClr>
              <a:buSzPts val="5200"/>
              <a:buNone/>
              <a:defRPr sz="96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11" name="Google Shape;11;p58"/>
          <p:cNvSpPr txBox="1">
            <a:spLocks noGrp="1"/>
          </p:cNvSpPr>
          <p:nvPr>
            <p:ph type="subTitle" idx="1"/>
          </p:nvPr>
        </p:nvSpPr>
        <p:spPr>
          <a:xfrm>
            <a:off x="713225" y="4198100"/>
            <a:ext cx="5814000" cy="405900"/>
          </a:xfrm>
          <a:prstGeom prst="rect">
            <a:avLst/>
          </a:prstGeom>
          <a:solidFill>
            <a:schemeClr val="dk1"/>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600">
                <a:solidFill>
                  <a:schemeClr val="lt1"/>
                </a:solidFill>
                <a:latin typeface="DM Sans Medium"/>
                <a:ea typeface="DM Sans Medium"/>
                <a:cs typeface="DM Sans Medium"/>
                <a:sym typeface="DM Sans Medium"/>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9"/>
        <p:cNvGrpSpPr/>
        <p:nvPr/>
      </p:nvGrpSpPr>
      <p:grpSpPr>
        <a:xfrm>
          <a:off x="0" y="0"/>
          <a:ext cx="0" cy="0"/>
          <a:chOff x="0" y="0"/>
          <a:chExt cx="0" cy="0"/>
        </a:xfrm>
      </p:grpSpPr>
      <p:grpSp>
        <p:nvGrpSpPr>
          <p:cNvPr id="20" name="Google Shape;20;p60"/>
          <p:cNvGrpSpPr/>
          <p:nvPr/>
        </p:nvGrpSpPr>
        <p:grpSpPr>
          <a:xfrm>
            <a:off x="-94975" y="704675"/>
            <a:ext cx="8809210" cy="4167775"/>
            <a:chOff x="-94975" y="704675"/>
            <a:chExt cx="8809210" cy="4167775"/>
          </a:xfrm>
        </p:grpSpPr>
        <p:cxnSp>
          <p:nvCxnSpPr>
            <p:cNvPr id="21" name="Google Shape;21;p60"/>
            <p:cNvCxnSpPr/>
            <p:nvPr/>
          </p:nvCxnSpPr>
          <p:spPr>
            <a:xfrm rot="10800000">
              <a:off x="6247635" y="704675"/>
              <a:ext cx="2466600" cy="0"/>
            </a:xfrm>
            <a:prstGeom prst="straightConnector1">
              <a:avLst/>
            </a:prstGeom>
            <a:noFill/>
            <a:ln w="9525" cap="flat" cmpd="sng">
              <a:solidFill>
                <a:schemeClr val="dk1"/>
              </a:solidFill>
              <a:prstDash val="solid"/>
              <a:round/>
              <a:headEnd type="none" w="sm" len="sm"/>
              <a:tailEnd type="none" w="sm" len="sm"/>
            </a:ln>
          </p:spPr>
        </p:cxnSp>
        <p:cxnSp>
          <p:nvCxnSpPr>
            <p:cNvPr id="22" name="Google Shape;22;p60"/>
            <p:cNvCxnSpPr/>
            <p:nvPr/>
          </p:nvCxnSpPr>
          <p:spPr>
            <a:xfrm>
              <a:off x="8710050" y="711750"/>
              <a:ext cx="0" cy="4160700"/>
            </a:xfrm>
            <a:prstGeom prst="straightConnector1">
              <a:avLst/>
            </a:prstGeom>
            <a:noFill/>
            <a:ln w="9525" cap="flat" cmpd="sng">
              <a:solidFill>
                <a:schemeClr val="dk1"/>
              </a:solidFill>
              <a:prstDash val="solid"/>
              <a:round/>
              <a:headEnd type="none" w="sm" len="sm"/>
              <a:tailEnd type="none" w="sm" len="sm"/>
            </a:ln>
          </p:spPr>
        </p:cxnSp>
        <p:cxnSp>
          <p:nvCxnSpPr>
            <p:cNvPr id="23" name="Google Shape;23;p60"/>
            <p:cNvCxnSpPr/>
            <p:nvPr/>
          </p:nvCxnSpPr>
          <p:spPr>
            <a:xfrm rot="10800000">
              <a:off x="-94975" y="4872200"/>
              <a:ext cx="8809200" cy="0"/>
            </a:xfrm>
            <a:prstGeom prst="straightConnector1">
              <a:avLst/>
            </a:prstGeom>
            <a:noFill/>
            <a:ln w="9525" cap="flat" cmpd="sng">
              <a:solidFill>
                <a:schemeClr val="dk1"/>
              </a:solidFill>
              <a:prstDash val="solid"/>
              <a:round/>
              <a:headEnd type="none" w="sm" len="sm"/>
              <a:tailEnd type="none" w="sm" len="sm"/>
            </a:ln>
          </p:spPr>
        </p:cxnSp>
      </p:grpSp>
      <p:sp>
        <p:nvSpPr>
          <p:cNvPr id="24" name="Google Shape;24;p60"/>
          <p:cNvSpPr txBox="1">
            <a:spLocks noGrp="1"/>
          </p:cNvSpPr>
          <p:nvPr>
            <p:ph type="title"/>
          </p:nvPr>
        </p:nvSpPr>
        <p:spPr>
          <a:xfrm>
            <a:off x="720000" y="445025"/>
            <a:ext cx="7704000" cy="572700"/>
          </a:xfrm>
          <a:prstGeom prst="rect">
            <a:avLst/>
          </a:prstGeom>
          <a:solidFill>
            <a:schemeClr val="dk2"/>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25" name="Google Shape;25;p60"/>
          <p:cNvSpPr txBox="1">
            <a:spLocks noGrp="1"/>
          </p:cNvSpPr>
          <p:nvPr>
            <p:ph type="subTitle" idx="1"/>
          </p:nvPr>
        </p:nvSpPr>
        <p:spPr>
          <a:xfrm>
            <a:off x="720000" y="2280063"/>
            <a:ext cx="23055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
        <p:nvSpPr>
          <p:cNvPr id="26" name="Google Shape;26;p60"/>
          <p:cNvSpPr txBox="1">
            <a:spLocks noGrp="1"/>
          </p:cNvSpPr>
          <p:nvPr>
            <p:ph type="subTitle" idx="2"/>
          </p:nvPr>
        </p:nvSpPr>
        <p:spPr>
          <a:xfrm>
            <a:off x="3419269" y="2280063"/>
            <a:ext cx="23055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
        <p:nvSpPr>
          <p:cNvPr id="27" name="Google Shape;27;p60"/>
          <p:cNvSpPr txBox="1">
            <a:spLocks noGrp="1"/>
          </p:cNvSpPr>
          <p:nvPr>
            <p:ph type="subTitle" idx="3"/>
          </p:nvPr>
        </p:nvSpPr>
        <p:spPr>
          <a:xfrm>
            <a:off x="720000" y="4089703"/>
            <a:ext cx="23055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
        <p:nvSpPr>
          <p:cNvPr id="28" name="Google Shape;28;p60"/>
          <p:cNvSpPr txBox="1">
            <a:spLocks noGrp="1"/>
          </p:cNvSpPr>
          <p:nvPr>
            <p:ph type="subTitle" idx="4"/>
          </p:nvPr>
        </p:nvSpPr>
        <p:spPr>
          <a:xfrm>
            <a:off x="3419269" y="4089703"/>
            <a:ext cx="23055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
        <p:nvSpPr>
          <p:cNvPr id="29" name="Google Shape;29;p60"/>
          <p:cNvSpPr txBox="1">
            <a:spLocks noGrp="1"/>
          </p:cNvSpPr>
          <p:nvPr>
            <p:ph type="subTitle" idx="5"/>
          </p:nvPr>
        </p:nvSpPr>
        <p:spPr>
          <a:xfrm>
            <a:off x="6118545" y="2280063"/>
            <a:ext cx="23055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
        <p:nvSpPr>
          <p:cNvPr id="30" name="Google Shape;30;p60"/>
          <p:cNvSpPr txBox="1">
            <a:spLocks noGrp="1"/>
          </p:cNvSpPr>
          <p:nvPr>
            <p:ph type="subTitle" idx="6"/>
          </p:nvPr>
        </p:nvSpPr>
        <p:spPr>
          <a:xfrm>
            <a:off x="6118545" y="4089703"/>
            <a:ext cx="23055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
        <p:nvSpPr>
          <p:cNvPr id="31" name="Google Shape;31;p60"/>
          <p:cNvSpPr txBox="1">
            <a:spLocks noGrp="1"/>
          </p:cNvSpPr>
          <p:nvPr>
            <p:ph type="title" idx="7"/>
          </p:nvPr>
        </p:nvSpPr>
        <p:spPr>
          <a:xfrm>
            <a:off x="720000" y="1268575"/>
            <a:ext cx="635100" cy="447600"/>
          </a:xfrm>
          <a:prstGeom prst="rect">
            <a:avLst/>
          </a:prstGeom>
          <a:solidFill>
            <a:schemeClr val="dk2"/>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2" name="Google Shape;32;p60"/>
          <p:cNvSpPr txBox="1">
            <a:spLocks noGrp="1"/>
          </p:cNvSpPr>
          <p:nvPr>
            <p:ph type="title" idx="8"/>
          </p:nvPr>
        </p:nvSpPr>
        <p:spPr>
          <a:xfrm>
            <a:off x="720000" y="3077962"/>
            <a:ext cx="635100" cy="447600"/>
          </a:xfrm>
          <a:prstGeom prst="rect">
            <a:avLst/>
          </a:prstGeom>
          <a:solidFill>
            <a:schemeClr val="dk2"/>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3" name="Google Shape;33;p60"/>
          <p:cNvSpPr txBox="1">
            <a:spLocks noGrp="1"/>
          </p:cNvSpPr>
          <p:nvPr>
            <p:ph type="title" idx="9"/>
          </p:nvPr>
        </p:nvSpPr>
        <p:spPr>
          <a:xfrm>
            <a:off x="3419269" y="1268575"/>
            <a:ext cx="635100" cy="447600"/>
          </a:xfrm>
          <a:prstGeom prst="rect">
            <a:avLst/>
          </a:prstGeom>
          <a:solidFill>
            <a:schemeClr val="dk2"/>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4" name="Google Shape;34;p60"/>
          <p:cNvSpPr txBox="1">
            <a:spLocks noGrp="1"/>
          </p:cNvSpPr>
          <p:nvPr>
            <p:ph type="title" idx="13"/>
          </p:nvPr>
        </p:nvSpPr>
        <p:spPr>
          <a:xfrm>
            <a:off x="3419269" y="3077962"/>
            <a:ext cx="635100" cy="447600"/>
          </a:xfrm>
          <a:prstGeom prst="rect">
            <a:avLst/>
          </a:prstGeom>
          <a:solidFill>
            <a:schemeClr val="dk2"/>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5" name="Google Shape;35;p60"/>
          <p:cNvSpPr txBox="1">
            <a:spLocks noGrp="1"/>
          </p:cNvSpPr>
          <p:nvPr>
            <p:ph type="title" idx="14"/>
          </p:nvPr>
        </p:nvSpPr>
        <p:spPr>
          <a:xfrm>
            <a:off x="6118545" y="1268575"/>
            <a:ext cx="635100" cy="447600"/>
          </a:xfrm>
          <a:prstGeom prst="rect">
            <a:avLst/>
          </a:prstGeom>
          <a:solidFill>
            <a:schemeClr val="dk2"/>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6" name="Google Shape;36;p60"/>
          <p:cNvSpPr txBox="1">
            <a:spLocks noGrp="1"/>
          </p:cNvSpPr>
          <p:nvPr>
            <p:ph type="title" idx="15"/>
          </p:nvPr>
        </p:nvSpPr>
        <p:spPr>
          <a:xfrm>
            <a:off x="6118545" y="3077962"/>
            <a:ext cx="635100" cy="447600"/>
          </a:xfrm>
          <a:prstGeom prst="rect">
            <a:avLst/>
          </a:prstGeom>
          <a:solidFill>
            <a:schemeClr val="dk2"/>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22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7" name="Google Shape;37;p60"/>
          <p:cNvSpPr txBox="1">
            <a:spLocks noGrp="1"/>
          </p:cNvSpPr>
          <p:nvPr>
            <p:ph type="subTitle" idx="16"/>
          </p:nvPr>
        </p:nvSpPr>
        <p:spPr>
          <a:xfrm>
            <a:off x="720000" y="1784112"/>
            <a:ext cx="2305500" cy="641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Bebas Neue"/>
              <a:buNone/>
              <a:defRPr sz="2000" b="1">
                <a:solidFill>
                  <a:schemeClr val="dk1"/>
                </a:solidFill>
                <a:latin typeface="Montserrat"/>
                <a:ea typeface="Montserrat"/>
                <a:cs typeface="Montserrat"/>
                <a:sym typeface="Montserrat"/>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8" name="Google Shape;38;p60"/>
          <p:cNvSpPr txBox="1">
            <a:spLocks noGrp="1"/>
          </p:cNvSpPr>
          <p:nvPr>
            <p:ph type="subTitle" idx="17"/>
          </p:nvPr>
        </p:nvSpPr>
        <p:spPr>
          <a:xfrm>
            <a:off x="3419271" y="1784112"/>
            <a:ext cx="2305500" cy="641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Bebas Neue"/>
              <a:buNone/>
              <a:defRPr sz="2000" b="1">
                <a:solidFill>
                  <a:schemeClr val="dk1"/>
                </a:solidFill>
                <a:latin typeface="Montserrat"/>
                <a:ea typeface="Montserrat"/>
                <a:cs typeface="Montserrat"/>
                <a:sym typeface="Montserrat"/>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9" name="Google Shape;39;p60"/>
          <p:cNvSpPr txBox="1">
            <a:spLocks noGrp="1"/>
          </p:cNvSpPr>
          <p:nvPr>
            <p:ph type="subTitle" idx="18"/>
          </p:nvPr>
        </p:nvSpPr>
        <p:spPr>
          <a:xfrm>
            <a:off x="6118549" y="1784112"/>
            <a:ext cx="2305500" cy="641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Bebas Neue"/>
              <a:buNone/>
              <a:defRPr sz="2000" b="1">
                <a:solidFill>
                  <a:schemeClr val="dk1"/>
                </a:solidFill>
                <a:latin typeface="Montserrat"/>
                <a:ea typeface="Montserrat"/>
                <a:cs typeface="Montserrat"/>
                <a:sym typeface="Montserrat"/>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0" name="Google Shape;40;p60"/>
          <p:cNvSpPr txBox="1">
            <a:spLocks noGrp="1"/>
          </p:cNvSpPr>
          <p:nvPr>
            <p:ph type="subTitle" idx="19"/>
          </p:nvPr>
        </p:nvSpPr>
        <p:spPr>
          <a:xfrm>
            <a:off x="720000" y="3592600"/>
            <a:ext cx="2305500" cy="641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Bebas Neue"/>
              <a:buNone/>
              <a:defRPr sz="2000" b="1">
                <a:solidFill>
                  <a:schemeClr val="dk1"/>
                </a:solidFill>
                <a:latin typeface="Montserrat"/>
                <a:ea typeface="Montserrat"/>
                <a:cs typeface="Montserrat"/>
                <a:sym typeface="Montserrat"/>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1" name="Google Shape;41;p60"/>
          <p:cNvSpPr txBox="1">
            <a:spLocks noGrp="1"/>
          </p:cNvSpPr>
          <p:nvPr>
            <p:ph type="subTitle" idx="20"/>
          </p:nvPr>
        </p:nvSpPr>
        <p:spPr>
          <a:xfrm>
            <a:off x="3419271" y="3592600"/>
            <a:ext cx="2305500" cy="641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Bebas Neue"/>
              <a:buNone/>
              <a:defRPr sz="2000" b="1">
                <a:solidFill>
                  <a:schemeClr val="dk1"/>
                </a:solidFill>
                <a:latin typeface="Montserrat"/>
                <a:ea typeface="Montserrat"/>
                <a:cs typeface="Montserrat"/>
                <a:sym typeface="Montserrat"/>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2" name="Google Shape;42;p60"/>
          <p:cNvSpPr txBox="1">
            <a:spLocks noGrp="1"/>
          </p:cNvSpPr>
          <p:nvPr>
            <p:ph type="subTitle" idx="21"/>
          </p:nvPr>
        </p:nvSpPr>
        <p:spPr>
          <a:xfrm>
            <a:off x="6118549" y="3592600"/>
            <a:ext cx="2305500" cy="641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Font typeface="Bebas Neue"/>
              <a:buNone/>
              <a:defRPr sz="2000" b="1">
                <a:solidFill>
                  <a:schemeClr val="dk1"/>
                </a:solidFill>
                <a:latin typeface="Montserrat"/>
                <a:ea typeface="Montserrat"/>
                <a:cs typeface="Montserrat"/>
                <a:sym typeface="Montserrat"/>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7"/>
        <p:cNvGrpSpPr/>
        <p:nvPr/>
      </p:nvGrpSpPr>
      <p:grpSpPr>
        <a:xfrm>
          <a:off x="0" y="0"/>
          <a:ext cx="0" cy="0"/>
          <a:chOff x="0" y="0"/>
          <a:chExt cx="0" cy="0"/>
        </a:xfrm>
      </p:grpSpPr>
      <p:sp>
        <p:nvSpPr>
          <p:cNvPr id="48" name="Google Shape;48;p62"/>
          <p:cNvSpPr>
            <a:spLocks noGrp="1"/>
          </p:cNvSpPr>
          <p:nvPr>
            <p:ph type="pic" idx="2"/>
          </p:nvPr>
        </p:nvSpPr>
        <p:spPr>
          <a:xfrm>
            <a:off x="2295650" y="0"/>
            <a:ext cx="6982800" cy="4605300"/>
          </a:xfrm>
          <a:prstGeom prst="rect">
            <a:avLst/>
          </a:prstGeom>
          <a:noFill/>
          <a:ln>
            <a:noFill/>
          </a:ln>
        </p:spPr>
        <p:txBody>
          <a:bodyPr/>
          <a:lstStyle/>
          <a:p>
            <a:endParaRPr lang="en-US" dirty="0"/>
          </a:p>
        </p:txBody>
      </p:sp>
      <p:sp>
        <p:nvSpPr>
          <p:cNvPr id="49" name="Google Shape;49;p62"/>
          <p:cNvSpPr txBox="1">
            <a:spLocks noGrp="1"/>
          </p:cNvSpPr>
          <p:nvPr>
            <p:ph type="title"/>
          </p:nvPr>
        </p:nvSpPr>
        <p:spPr>
          <a:xfrm>
            <a:off x="1990325" y="2029125"/>
            <a:ext cx="4904400" cy="1600200"/>
          </a:xfrm>
          <a:prstGeom prst="rect">
            <a:avLst/>
          </a:prstGeom>
          <a:solidFill>
            <a:schemeClr val="dk2"/>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600"/>
              <a:buNone/>
              <a:defRPr sz="41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50" name="Google Shape;50;p62"/>
          <p:cNvSpPr txBox="1">
            <a:spLocks noGrp="1"/>
          </p:cNvSpPr>
          <p:nvPr>
            <p:ph type="title" idx="3"/>
          </p:nvPr>
        </p:nvSpPr>
        <p:spPr>
          <a:xfrm>
            <a:off x="713225" y="2029113"/>
            <a:ext cx="1162800" cy="1600200"/>
          </a:xfrm>
          <a:prstGeom prst="rect">
            <a:avLst/>
          </a:prstGeom>
          <a:solidFill>
            <a:schemeClr val="dk2"/>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6000"/>
              <a:buNone/>
              <a:defRPr sz="60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a:endParaRPr/>
          </a:p>
        </p:txBody>
      </p:sp>
      <p:sp>
        <p:nvSpPr>
          <p:cNvPr id="51" name="Google Shape;51;p62"/>
          <p:cNvSpPr txBox="1">
            <a:spLocks noGrp="1"/>
          </p:cNvSpPr>
          <p:nvPr>
            <p:ph type="subTitle" idx="1"/>
          </p:nvPr>
        </p:nvSpPr>
        <p:spPr>
          <a:xfrm>
            <a:off x="1990325" y="3838100"/>
            <a:ext cx="4904400" cy="375000"/>
          </a:xfrm>
          <a:prstGeom prst="rect">
            <a:avLst/>
          </a:prstGeom>
          <a:solidFill>
            <a:schemeClr val="dk1"/>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400"/>
              <a:buNone/>
              <a:defRPr sz="1600">
                <a:solidFill>
                  <a:schemeClr val="lt1"/>
                </a:solidFill>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52"/>
        <p:cNvGrpSpPr/>
        <p:nvPr/>
      </p:nvGrpSpPr>
      <p:grpSpPr>
        <a:xfrm>
          <a:off x="0" y="0"/>
          <a:ext cx="0" cy="0"/>
          <a:chOff x="0" y="0"/>
          <a:chExt cx="0" cy="0"/>
        </a:xfrm>
      </p:grpSpPr>
      <p:grpSp>
        <p:nvGrpSpPr>
          <p:cNvPr id="53" name="Google Shape;53;p63"/>
          <p:cNvGrpSpPr/>
          <p:nvPr/>
        </p:nvGrpSpPr>
        <p:grpSpPr>
          <a:xfrm>
            <a:off x="362225" y="730725"/>
            <a:ext cx="8809210" cy="4141500"/>
            <a:chOff x="362225" y="730725"/>
            <a:chExt cx="8809210" cy="4141500"/>
          </a:xfrm>
        </p:grpSpPr>
        <p:cxnSp>
          <p:nvCxnSpPr>
            <p:cNvPr id="54" name="Google Shape;54;p63"/>
            <p:cNvCxnSpPr/>
            <p:nvPr/>
          </p:nvCxnSpPr>
          <p:spPr>
            <a:xfrm>
              <a:off x="362225" y="731375"/>
              <a:ext cx="2466600" cy="0"/>
            </a:xfrm>
            <a:prstGeom prst="straightConnector1">
              <a:avLst/>
            </a:prstGeom>
            <a:noFill/>
            <a:ln w="9525" cap="flat" cmpd="sng">
              <a:solidFill>
                <a:schemeClr val="dk1"/>
              </a:solidFill>
              <a:prstDash val="solid"/>
              <a:round/>
              <a:headEnd type="none" w="sm" len="sm"/>
              <a:tailEnd type="none" w="sm" len="sm"/>
            </a:ln>
          </p:spPr>
        </p:cxnSp>
        <p:cxnSp>
          <p:nvCxnSpPr>
            <p:cNvPr id="55" name="Google Shape;55;p63"/>
            <p:cNvCxnSpPr/>
            <p:nvPr/>
          </p:nvCxnSpPr>
          <p:spPr>
            <a:xfrm>
              <a:off x="366400" y="730725"/>
              <a:ext cx="0" cy="4141500"/>
            </a:xfrm>
            <a:prstGeom prst="straightConnector1">
              <a:avLst/>
            </a:prstGeom>
            <a:noFill/>
            <a:ln w="9525" cap="flat" cmpd="sng">
              <a:solidFill>
                <a:schemeClr val="dk1"/>
              </a:solidFill>
              <a:prstDash val="solid"/>
              <a:round/>
              <a:headEnd type="none" w="sm" len="sm"/>
              <a:tailEnd type="none" w="sm" len="sm"/>
            </a:ln>
          </p:spPr>
        </p:cxnSp>
        <p:cxnSp>
          <p:nvCxnSpPr>
            <p:cNvPr id="56" name="Google Shape;56;p63"/>
            <p:cNvCxnSpPr/>
            <p:nvPr/>
          </p:nvCxnSpPr>
          <p:spPr>
            <a:xfrm>
              <a:off x="362235" y="4872200"/>
              <a:ext cx="8809200" cy="0"/>
            </a:xfrm>
            <a:prstGeom prst="straightConnector1">
              <a:avLst/>
            </a:prstGeom>
            <a:noFill/>
            <a:ln w="9525" cap="flat" cmpd="sng">
              <a:solidFill>
                <a:schemeClr val="dk1"/>
              </a:solidFill>
              <a:prstDash val="solid"/>
              <a:round/>
              <a:headEnd type="none" w="sm" len="sm"/>
              <a:tailEnd type="none" w="sm" len="sm"/>
            </a:ln>
          </p:spPr>
        </p:cxnSp>
      </p:grpSp>
      <p:sp>
        <p:nvSpPr>
          <p:cNvPr id="57" name="Google Shape;57;p63"/>
          <p:cNvSpPr txBox="1">
            <a:spLocks noGrp="1"/>
          </p:cNvSpPr>
          <p:nvPr>
            <p:ph type="title"/>
          </p:nvPr>
        </p:nvSpPr>
        <p:spPr>
          <a:xfrm>
            <a:off x="720000" y="445025"/>
            <a:ext cx="7704000" cy="572700"/>
          </a:xfrm>
          <a:prstGeom prst="rect">
            <a:avLst/>
          </a:prstGeom>
          <a:solidFill>
            <a:schemeClr val="dk2"/>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58" name="Google Shape;58;p63"/>
          <p:cNvSpPr txBox="1">
            <a:spLocks noGrp="1"/>
          </p:cNvSpPr>
          <p:nvPr>
            <p:ph type="subTitle" idx="1"/>
          </p:nvPr>
        </p:nvSpPr>
        <p:spPr>
          <a:xfrm>
            <a:off x="4811363" y="1626550"/>
            <a:ext cx="3520200" cy="2466000"/>
          </a:xfrm>
          <a:prstGeom prst="rect">
            <a:avLst/>
          </a:prstGeom>
          <a:solidFill>
            <a:srgbClr val="000000">
              <a:alpha val="0"/>
            </a:srgbClr>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b="0">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9" name="Google Shape;59;p63"/>
          <p:cNvSpPr txBox="1">
            <a:spLocks noGrp="1"/>
          </p:cNvSpPr>
          <p:nvPr>
            <p:ph type="subTitle" idx="2"/>
          </p:nvPr>
        </p:nvSpPr>
        <p:spPr>
          <a:xfrm>
            <a:off x="896725" y="1626550"/>
            <a:ext cx="3520200" cy="2466000"/>
          </a:xfrm>
          <a:prstGeom prst="rect">
            <a:avLst/>
          </a:prstGeom>
          <a:solidFill>
            <a:srgbClr val="000000">
              <a:alpha val="0"/>
            </a:srgbClr>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b="0">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0"/>
        <p:cNvGrpSpPr/>
        <p:nvPr/>
      </p:nvGrpSpPr>
      <p:grpSpPr>
        <a:xfrm>
          <a:off x="0" y="0"/>
          <a:ext cx="0" cy="0"/>
          <a:chOff x="0" y="0"/>
          <a:chExt cx="0" cy="0"/>
        </a:xfrm>
      </p:grpSpPr>
      <p:sp>
        <p:nvSpPr>
          <p:cNvPr id="61" name="Google Shape;61;p64"/>
          <p:cNvSpPr txBox="1">
            <a:spLocks noGrp="1"/>
          </p:cNvSpPr>
          <p:nvPr>
            <p:ph type="title"/>
          </p:nvPr>
        </p:nvSpPr>
        <p:spPr>
          <a:xfrm>
            <a:off x="720000" y="445025"/>
            <a:ext cx="7710900" cy="572700"/>
          </a:xfrm>
          <a:prstGeom prst="rect">
            <a:avLst/>
          </a:prstGeom>
          <a:solidFill>
            <a:schemeClr val="dk2"/>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62" name="Google Shape;62;p64"/>
          <p:cNvSpPr txBox="1">
            <a:spLocks noGrp="1"/>
          </p:cNvSpPr>
          <p:nvPr>
            <p:ph type="subTitle" idx="1"/>
          </p:nvPr>
        </p:nvSpPr>
        <p:spPr>
          <a:xfrm>
            <a:off x="720000" y="1788597"/>
            <a:ext cx="4028100" cy="2127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FDD900"/>
              </a:buClr>
              <a:buSzPts val="1400"/>
              <a:buFont typeface="Nunito Light"/>
              <a:buChar char="●"/>
              <a:defRPr sz="1600">
                <a:latin typeface="DM Sans Medium"/>
                <a:ea typeface="DM Sans Medium"/>
                <a:cs typeface="DM Sans Medium"/>
                <a:sym typeface="DM Sans Medium"/>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1600"/>
              </a:spcBef>
              <a:spcAft>
                <a:spcPts val="0"/>
              </a:spcAft>
              <a:buClr>
                <a:srgbClr val="E76A28"/>
              </a:buClr>
              <a:buSzPts val="1500"/>
              <a:buFont typeface="Nunito Light"/>
              <a:buChar char="■"/>
              <a:defRPr/>
            </a:lvl3pPr>
            <a:lvl4pPr lvl="3" algn="ctr">
              <a:lnSpc>
                <a:spcPct val="100000"/>
              </a:lnSpc>
              <a:spcBef>
                <a:spcPts val="1600"/>
              </a:spcBef>
              <a:spcAft>
                <a:spcPts val="0"/>
              </a:spcAft>
              <a:buClr>
                <a:srgbClr val="E76A28"/>
              </a:buClr>
              <a:buSzPts val="1500"/>
              <a:buFont typeface="Nunito Light"/>
              <a:buChar char="●"/>
              <a:defRPr/>
            </a:lvl4pPr>
            <a:lvl5pPr lvl="4" algn="ctr">
              <a:lnSpc>
                <a:spcPct val="100000"/>
              </a:lnSpc>
              <a:spcBef>
                <a:spcPts val="1600"/>
              </a:spcBef>
              <a:spcAft>
                <a:spcPts val="0"/>
              </a:spcAft>
              <a:buClr>
                <a:srgbClr val="E76A28"/>
              </a:buClr>
              <a:buSzPts val="1400"/>
              <a:buFont typeface="Nunito Light"/>
              <a:buChar char="○"/>
              <a:defRPr/>
            </a:lvl5pPr>
            <a:lvl6pPr lvl="5" algn="ctr">
              <a:lnSpc>
                <a:spcPct val="100000"/>
              </a:lnSpc>
              <a:spcBef>
                <a:spcPts val="1600"/>
              </a:spcBef>
              <a:spcAft>
                <a:spcPts val="0"/>
              </a:spcAft>
              <a:buClr>
                <a:srgbClr val="999999"/>
              </a:buClr>
              <a:buSzPts val="1400"/>
              <a:buFont typeface="Nunito Light"/>
              <a:buChar char="■"/>
              <a:defRPr/>
            </a:lvl6pPr>
            <a:lvl7pPr lvl="6" algn="ctr">
              <a:lnSpc>
                <a:spcPct val="100000"/>
              </a:lnSpc>
              <a:spcBef>
                <a:spcPts val="1600"/>
              </a:spcBef>
              <a:spcAft>
                <a:spcPts val="0"/>
              </a:spcAft>
              <a:buClr>
                <a:srgbClr val="999999"/>
              </a:buClr>
              <a:buSzPts val="1300"/>
              <a:buFont typeface="Nunito Light"/>
              <a:buChar char="●"/>
              <a:defRPr/>
            </a:lvl7pPr>
            <a:lvl8pPr lvl="7" algn="ctr">
              <a:lnSpc>
                <a:spcPct val="100000"/>
              </a:lnSpc>
              <a:spcBef>
                <a:spcPts val="1600"/>
              </a:spcBef>
              <a:spcAft>
                <a:spcPts val="0"/>
              </a:spcAft>
              <a:buClr>
                <a:srgbClr val="999999"/>
              </a:buClr>
              <a:buSzPts val="1300"/>
              <a:buFont typeface="Nunito Light"/>
              <a:buChar char="○"/>
              <a:defRPr/>
            </a:lvl8pPr>
            <a:lvl9pPr lvl="8" algn="ctr">
              <a:lnSpc>
                <a:spcPct val="100000"/>
              </a:lnSpc>
              <a:spcBef>
                <a:spcPts val="1600"/>
              </a:spcBef>
              <a:spcAft>
                <a:spcPts val="1600"/>
              </a:spcAft>
              <a:buClr>
                <a:srgbClr val="999999"/>
              </a:buClr>
              <a:buSzPts val="1400"/>
              <a:buFont typeface="Nunito Light"/>
              <a:buChar char="■"/>
              <a:defRPr/>
            </a:lvl9pPr>
          </a:lstStyle>
          <a:p>
            <a:endParaRPr/>
          </a:p>
        </p:txBody>
      </p:sp>
      <p:sp>
        <p:nvSpPr>
          <p:cNvPr id="63" name="Google Shape;63;p64"/>
          <p:cNvSpPr>
            <a:spLocks noGrp="1"/>
          </p:cNvSpPr>
          <p:nvPr>
            <p:ph type="pic" idx="2"/>
          </p:nvPr>
        </p:nvSpPr>
        <p:spPr>
          <a:xfrm>
            <a:off x="5008500" y="1345975"/>
            <a:ext cx="4135500" cy="3013200"/>
          </a:xfrm>
          <a:prstGeom prst="rect">
            <a:avLst/>
          </a:prstGeom>
          <a:noFill/>
          <a:ln>
            <a:noFill/>
          </a:ln>
        </p:spPr>
        <p:txBody>
          <a:bodyPr/>
          <a:lstStyle/>
          <a:p>
            <a:endParaRPr lang="en-US" dirty="0"/>
          </a:p>
        </p:txBody>
      </p:sp>
      <p:grpSp>
        <p:nvGrpSpPr>
          <p:cNvPr id="64" name="Google Shape;64;p64"/>
          <p:cNvGrpSpPr/>
          <p:nvPr/>
        </p:nvGrpSpPr>
        <p:grpSpPr>
          <a:xfrm>
            <a:off x="362235" y="727975"/>
            <a:ext cx="8809200" cy="4144225"/>
            <a:chOff x="362235" y="727975"/>
            <a:chExt cx="8809200" cy="4144225"/>
          </a:xfrm>
        </p:grpSpPr>
        <p:cxnSp>
          <p:nvCxnSpPr>
            <p:cNvPr id="65" name="Google Shape;65;p64"/>
            <p:cNvCxnSpPr/>
            <p:nvPr/>
          </p:nvCxnSpPr>
          <p:spPr>
            <a:xfrm>
              <a:off x="366400" y="727975"/>
              <a:ext cx="0" cy="4144200"/>
            </a:xfrm>
            <a:prstGeom prst="straightConnector1">
              <a:avLst/>
            </a:prstGeom>
            <a:noFill/>
            <a:ln w="9525" cap="flat" cmpd="sng">
              <a:solidFill>
                <a:schemeClr val="dk1"/>
              </a:solidFill>
              <a:prstDash val="solid"/>
              <a:round/>
              <a:headEnd type="none" w="sm" len="sm"/>
              <a:tailEnd type="none" w="sm" len="sm"/>
            </a:ln>
          </p:spPr>
        </p:cxnSp>
        <p:grpSp>
          <p:nvGrpSpPr>
            <p:cNvPr id="66" name="Google Shape;66;p64"/>
            <p:cNvGrpSpPr/>
            <p:nvPr/>
          </p:nvGrpSpPr>
          <p:grpSpPr>
            <a:xfrm>
              <a:off x="362235" y="731375"/>
              <a:ext cx="8809200" cy="4140825"/>
              <a:chOff x="362235" y="731375"/>
              <a:chExt cx="8809200" cy="4140825"/>
            </a:xfrm>
          </p:grpSpPr>
          <p:cxnSp>
            <p:nvCxnSpPr>
              <p:cNvPr id="67" name="Google Shape;67;p64"/>
              <p:cNvCxnSpPr/>
              <p:nvPr/>
            </p:nvCxnSpPr>
            <p:spPr>
              <a:xfrm>
                <a:off x="362235" y="4872200"/>
                <a:ext cx="8809200" cy="0"/>
              </a:xfrm>
              <a:prstGeom prst="straightConnector1">
                <a:avLst/>
              </a:prstGeom>
              <a:noFill/>
              <a:ln w="9525" cap="flat" cmpd="sng">
                <a:solidFill>
                  <a:schemeClr val="dk1"/>
                </a:solidFill>
                <a:prstDash val="solid"/>
                <a:round/>
                <a:headEnd type="none" w="sm" len="sm"/>
                <a:tailEnd type="none" w="sm" len="sm"/>
              </a:ln>
            </p:spPr>
          </p:cxnSp>
          <p:cxnSp>
            <p:nvCxnSpPr>
              <p:cNvPr id="68" name="Google Shape;68;p64"/>
              <p:cNvCxnSpPr/>
              <p:nvPr/>
            </p:nvCxnSpPr>
            <p:spPr>
              <a:xfrm rot="10800000">
                <a:off x="365700" y="731375"/>
                <a:ext cx="354300" cy="0"/>
              </a:xfrm>
              <a:prstGeom prst="straightConnector1">
                <a:avLst/>
              </a:prstGeom>
              <a:noFill/>
              <a:ln w="9525" cap="flat" cmpd="sng">
                <a:solidFill>
                  <a:schemeClr val="dk1"/>
                </a:solidFill>
                <a:prstDash val="solid"/>
                <a:round/>
                <a:headEnd type="none" w="sm" len="sm"/>
                <a:tailEnd type="none" w="sm" len="sm"/>
              </a:ln>
            </p:spPr>
          </p:cxn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26"/>
        <p:cNvGrpSpPr/>
        <p:nvPr/>
      </p:nvGrpSpPr>
      <p:grpSpPr>
        <a:xfrm>
          <a:off x="0" y="0"/>
          <a:ext cx="0" cy="0"/>
          <a:chOff x="0" y="0"/>
          <a:chExt cx="0" cy="0"/>
        </a:xfrm>
      </p:grpSpPr>
      <p:sp>
        <p:nvSpPr>
          <p:cNvPr id="127" name="Google Shape;127;p70"/>
          <p:cNvSpPr>
            <a:spLocks noGrp="1"/>
          </p:cNvSpPr>
          <p:nvPr>
            <p:ph type="pic" idx="2"/>
          </p:nvPr>
        </p:nvSpPr>
        <p:spPr>
          <a:xfrm>
            <a:off x="2723600" y="-29900"/>
            <a:ext cx="6420300" cy="4383000"/>
          </a:xfrm>
          <a:prstGeom prst="rect">
            <a:avLst/>
          </a:prstGeom>
          <a:noFill/>
          <a:ln>
            <a:noFill/>
          </a:ln>
        </p:spPr>
        <p:txBody>
          <a:bodyPr/>
          <a:lstStyle/>
          <a:p>
            <a:endParaRPr lang="en-US" dirty="0"/>
          </a:p>
        </p:txBody>
      </p:sp>
      <p:sp>
        <p:nvSpPr>
          <p:cNvPr id="128" name="Google Shape;128;p70"/>
          <p:cNvSpPr txBox="1">
            <a:spLocks noGrp="1"/>
          </p:cNvSpPr>
          <p:nvPr>
            <p:ph type="title"/>
          </p:nvPr>
        </p:nvSpPr>
        <p:spPr>
          <a:xfrm>
            <a:off x="713225" y="4056500"/>
            <a:ext cx="4712400" cy="547500"/>
          </a:xfrm>
          <a:prstGeom prst="rect">
            <a:avLst/>
          </a:prstGeom>
          <a:solidFill>
            <a:schemeClr val="dk1"/>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sz="2400">
                <a:solidFill>
                  <a:schemeClr val="lt1"/>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a:endParaRPr/>
          </a:p>
        </p:txBody>
      </p:sp>
      <p:sp>
        <p:nvSpPr>
          <p:cNvPr id="129" name="Google Shape;129;p70"/>
          <p:cNvSpPr txBox="1">
            <a:spLocks noGrp="1"/>
          </p:cNvSpPr>
          <p:nvPr>
            <p:ph type="subTitle" idx="1"/>
          </p:nvPr>
        </p:nvSpPr>
        <p:spPr>
          <a:xfrm>
            <a:off x="713305" y="2339100"/>
            <a:ext cx="4712400" cy="1622400"/>
          </a:xfrm>
          <a:prstGeom prst="rect">
            <a:avLst/>
          </a:prstGeom>
          <a:solidFill>
            <a:schemeClr val="dk2"/>
          </a:solid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sz="2400">
                <a:latin typeface="DM Sans Medium"/>
                <a:ea typeface="DM Sans Medium"/>
                <a:cs typeface="DM Sans Medium"/>
                <a:sym typeface="DM Sans Medium"/>
              </a:defRPr>
            </a:lvl1pPr>
            <a:lvl2pPr lvl="1" algn="ctr">
              <a:lnSpc>
                <a:spcPct val="100000"/>
              </a:lnSpc>
              <a:spcBef>
                <a:spcPts val="0"/>
              </a:spcBef>
              <a:spcAft>
                <a:spcPts val="0"/>
              </a:spcAft>
              <a:buSzPts val="3000"/>
              <a:buNone/>
              <a:defRPr sz="3000"/>
            </a:lvl2pPr>
            <a:lvl3pPr lvl="2" algn="ctr">
              <a:lnSpc>
                <a:spcPct val="100000"/>
              </a:lnSpc>
              <a:spcBef>
                <a:spcPts val="1600"/>
              </a:spcBef>
              <a:spcAft>
                <a:spcPts val="0"/>
              </a:spcAft>
              <a:buSzPts val="3000"/>
              <a:buNone/>
              <a:defRPr sz="3000"/>
            </a:lvl3pPr>
            <a:lvl4pPr lvl="3" algn="ctr">
              <a:lnSpc>
                <a:spcPct val="100000"/>
              </a:lnSpc>
              <a:spcBef>
                <a:spcPts val="1600"/>
              </a:spcBef>
              <a:spcAft>
                <a:spcPts val="0"/>
              </a:spcAft>
              <a:buSzPts val="3000"/>
              <a:buNone/>
              <a:defRPr sz="3000"/>
            </a:lvl4pPr>
            <a:lvl5pPr lvl="4" algn="ctr">
              <a:lnSpc>
                <a:spcPct val="100000"/>
              </a:lnSpc>
              <a:spcBef>
                <a:spcPts val="1600"/>
              </a:spcBef>
              <a:spcAft>
                <a:spcPts val="0"/>
              </a:spcAft>
              <a:buSzPts val="3000"/>
              <a:buNone/>
              <a:defRPr sz="3000"/>
            </a:lvl5pPr>
            <a:lvl6pPr lvl="5" algn="ctr">
              <a:lnSpc>
                <a:spcPct val="100000"/>
              </a:lnSpc>
              <a:spcBef>
                <a:spcPts val="1600"/>
              </a:spcBef>
              <a:spcAft>
                <a:spcPts val="0"/>
              </a:spcAft>
              <a:buSzPts val="3000"/>
              <a:buNone/>
              <a:defRPr sz="3000"/>
            </a:lvl6pPr>
            <a:lvl7pPr lvl="6" algn="ctr">
              <a:lnSpc>
                <a:spcPct val="100000"/>
              </a:lnSpc>
              <a:spcBef>
                <a:spcPts val="1600"/>
              </a:spcBef>
              <a:spcAft>
                <a:spcPts val="0"/>
              </a:spcAft>
              <a:buSzPts val="3000"/>
              <a:buNone/>
              <a:defRPr sz="3000"/>
            </a:lvl7pPr>
            <a:lvl8pPr lvl="7" algn="ctr">
              <a:lnSpc>
                <a:spcPct val="100000"/>
              </a:lnSpc>
              <a:spcBef>
                <a:spcPts val="1600"/>
              </a:spcBef>
              <a:spcAft>
                <a:spcPts val="0"/>
              </a:spcAft>
              <a:buSzPts val="3000"/>
              <a:buNone/>
              <a:defRPr sz="3000"/>
            </a:lvl8pPr>
            <a:lvl9pPr lvl="8" algn="ctr">
              <a:lnSpc>
                <a:spcPct val="100000"/>
              </a:lnSpc>
              <a:spcBef>
                <a:spcPts val="1600"/>
              </a:spcBef>
              <a:spcAft>
                <a:spcPts val="1600"/>
              </a:spcAft>
              <a:buSzPts val="3000"/>
              <a:buNone/>
              <a:defRPr sz="30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0"/>
        <p:cNvGrpSpPr/>
        <p:nvPr/>
      </p:nvGrpSpPr>
      <p:grpSpPr>
        <a:xfrm>
          <a:off x="0" y="0"/>
          <a:ext cx="0" cy="0"/>
          <a:chOff x="0" y="0"/>
          <a:chExt cx="0" cy="0"/>
        </a:xfrm>
      </p:grpSpPr>
      <p:sp>
        <p:nvSpPr>
          <p:cNvPr id="131" name="Google Shape;131;p71"/>
          <p:cNvSpPr>
            <a:spLocks noGrp="1"/>
          </p:cNvSpPr>
          <p:nvPr>
            <p:ph type="pic" idx="2"/>
          </p:nvPr>
        </p:nvSpPr>
        <p:spPr>
          <a:xfrm>
            <a:off x="-9450" y="-16175"/>
            <a:ext cx="9162900" cy="5211600"/>
          </a:xfrm>
          <a:prstGeom prst="rect">
            <a:avLst/>
          </a:prstGeom>
          <a:noFill/>
          <a:ln>
            <a:noFill/>
          </a:ln>
        </p:spPr>
        <p:txBody>
          <a:bodyPr/>
          <a:lstStyle/>
          <a:p>
            <a:endParaRPr lang="en-US" dirty="0"/>
          </a:p>
        </p:txBody>
      </p:sp>
      <p:sp>
        <p:nvSpPr>
          <p:cNvPr id="132" name="Google Shape;132;p71"/>
          <p:cNvSpPr txBox="1">
            <a:spLocks noGrp="1"/>
          </p:cNvSpPr>
          <p:nvPr>
            <p:ph type="title"/>
          </p:nvPr>
        </p:nvSpPr>
        <p:spPr>
          <a:xfrm>
            <a:off x="713225" y="3846850"/>
            <a:ext cx="7717500" cy="624300"/>
          </a:xfrm>
          <a:prstGeom prst="rect">
            <a:avLst/>
          </a:prstGeom>
          <a:solidFill>
            <a:schemeClr val="dk2"/>
          </a:solid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500"/>
              <a:buNone/>
              <a:defRPr sz="30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1" name="Shape 167"/>
        <p:cNvGrpSpPr/>
        <p:nvPr/>
      </p:nvGrpSpPr>
      <p:grpSpPr>
        <a:xfrm>
          <a:off x="0" y="0"/>
          <a:ext cx="0" cy="0"/>
          <a:chOff x="0" y="0"/>
          <a:chExt cx="0" cy="0"/>
        </a:xfrm>
      </p:grpSpPr>
      <p:grpSp>
        <p:nvGrpSpPr>
          <p:cNvPr id="168" name="Google Shape;168;p77"/>
          <p:cNvGrpSpPr/>
          <p:nvPr/>
        </p:nvGrpSpPr>
        <p:grpSpPr>
          <a:xfrm>
            <a:off x="-51975" y="2068075"/>
            <a:ext cx="8862300" cy="2617200"/>
            <a:chOff x="-51975" y="2068075"/>
            <a:chExt cx="8862300" cy="2617200"/>
          </a:xfrm>
        </p:grpSpPr>
        <p:cxnSp>
          <p:nvCxnSpPr>
            <p:cNvPr id="169" name="Google Shape;169;p77"/>
            <p:cNvCxnSpPr/>
            <p:nvPr/>
          </p:nvCxnSpPr>
          <p:spPr>
            <a:xfrm rot="10800000">
              <a:off x="-51975" y="4682975"/>
              <a:ext cx="8862300" cy="0"/>
            </a:xfrm>
            <a:prstGeom prst="straightConnector1">
              <a:avLst/>
            </a:prstGeom>
            <a:noFill/>
            <a:ln w="9525" cap="flat" cmpd="sng">
              <a:solidFill>
                <a:schemeClr val="dk1"/>
              </a:solidFill>
              <a:prstDash val="solid"/>
              <a:round/>
              <a:headEnd type="none" w="sm" len="sm"/>
              <a:tailEnd type="none" w="sm" len="sm"/>
            </a:ln>
          </p:spPr>
        </p:cxnSp>
        <p:cxnSp>
          <p:nvCxnSpPr>
            <p:cNvPr id="170" name="Google Shape;170;p77"/>
            <p:cNvCxnSpPr/>
            <p:nvPr/>
          </p:nvCxnSpPr>
          <p:spPr>
            <a:xfrm rot="10800000">
              <a:off x="7827000" y="2071300"/>
              <a:ext cx="979800" cy="0"/>
            </a:xfrm>
            <a:prstGeom prst="straightConnector1">
              <a:avLst/>
            </a:prstGeom>
            <a:noFill/>
            <a:ln w="9525" cap="flat" cmpd="sng">
              <a:solidFill>
                <a:schemeClr val="dk1"/>
              </a:solidFill>
              <a:prstDash val="solid"/>
              <a:round/>
              <a:headEnd type="none" w="sm" len="sm"/>
              <a:tailEnd type="none" w="sm" len="sm"/>
            </a:ln>
          </p:spPr>
        </p:cxnSp>
        <p:cxnSp>
          <p:nvCxnSpPr>
            <p:cNvPr id="171" name="Google Shape;171;p77"/>
            <p:cNvCxnSpPr/>
            <p:nvPr/>
          </p:nvCxnSpPr>
          <p:spPr>
            <a:xfrm rot="10800000">
              <a:off x="8806573" y="2068075"/>
              <a:ext cx="0" cy="2617200"/>
            </a:xfrm>
            <a:prstGeom prst="straightConnector1">
              <a:avLst/>
            </a:prstGeom>
            <a:noFill/>
            <a:ln w="9525" cap="flat" cmpd="sng">
              <a:solidFill>
                <a:schemeClr val="dk1"/>
              </a:solidFill>
              <a:prstDash val="solid"/>
              <a:round/>
              <a:headEnd type="none" w="sm" len="sm"/>
              <a:tailEnd type="none" w="sm" len="sm"/>
            </a:ln>
          </p:spPr>
        </p:cxnSp>
      </p:grpSp>
      <p:sp>
        <p:nvSpPr>
          <p:cNvPr id="172" name="Google Shape;172;p77"/>
          <p:cNvSpPr txBox="1">
            <a:spLocks noGrp="1"/>
          </p:cNvSpPr>
          <p:nvPr>
            <p:ph type="title"/>
          </p:nvPr>
        </p:nvSpPr>
        <p:spPr>
          <a:xfrm>
            <a:off x="5196575" y="1456600"/>
            <a:ext cx="2923800" cy="1229400"/>
          </a:xfrm>
          <a:prstGeom prst="rect">
            <a:avLst/>
          </a:prstGeom>
          <a:solidFill>
            <a:schemeClr val="dk2"/>
          </a:solid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173" name="Google Shape;173;p77"/>
          <p:cNvSpPr txBox="1">
            <a:spLocks noGrp="1"/>
          </p:cNvSpPr>
          <p:nvPr>
            <p:ph type="subTitle" idx="1"/>
          </p:nvPr>
        </p:nvSpPr>
        <p:spPr>
          <a:xfrm>
            <a:off x="5196575" y="2765525"/>
            <a:ext cx="2923800" cy="10803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3">
  <p:cSld name="CUSTOM_4_2">
    <p:spTree>
      <p:nvGrpSpPr>
        <p:cNvPr id="1" name="Shape 174"/>
        <p:cNvGrpSpPr/>
        <p:nvPr/>
      </p:nvGrpSpPr>
      <p:grpSpPr>
        <a:xfrm>
          <a:off x="0" y="0"/>
          <a:ext cx="0" cy="0"/>
          <a:chOff x="0" y="0"/>
          <a:chExt cx="0" cy="0"/>
        </a:xfrm>
      </p:grpSpPr>
      <p:grpSp>
        <p:nvGrpSpPr>
          <p:cNvPr id="175" name="Google Shape;175;p78"/>
          <p:cNvGrpSpPr/>
          <p:nvPr/>
        </p:nvGrpSpPr>
        <p:grpSpPr>
          <a:xfrm>
            <a:off x="320525" y="2079400"/>
            <a:ext cx="8862425" cy="2605875"/>
            <a:chOff x="320525" y="2079400"/>
            <a:chExt cx="8862425" cy="2605875"/>
          </a:xfrm>
        </p:grpSpPr>
        <p:cxnSp>
          <p:nvCxnSpPr>
            <p:cNvPr id="176" name="Google Shape;176;p78"/>
            <p:cNvCxnSpPr/>
            <p:nvPr/>
          </p:nvCxnSpPr>
          <p:spPr>
            <a:xfrm>
              <a:off x="326950" y="4682975"/>
              <a:ext cx="8856000" cy="0"/>
            </a:xfrm>
            <a:prstGeom prst="straightConnector1">
              <a:avLst/>
            </a:prstGeom>
            <a:noFill/>
            <a:ln w="9525" cap="flat" cmpd="sng">
              <a:solidFill>
                <a:schemeClr val="dk1"/>
              </a:solidFill>
              <a:prstDash val="solid"/>
              <a:round/>
              <a:headEnd type="none" w="sm" len="sm"/>
              <a:tailEnd type="none" w="sm" len="sm"/>
            </a:ln>
          </p:spPr>
        </p:cxnSp>
        <p:cxnSp>
          <p:nvCxnSpPr>
            <p:cNvPr id="177" name="Google Shape;177;p78"/>
            <p:cNvCxnSpPr/>
            <p:nvPr/>
          </p:nvCxnSpPr>
          <p:spPr>
            <a:xfrm>
              <a:off x="320525" y="2079400"/>
              <a:ext cx="1161600" cy="0"/>
            </a:xfrm>
            <a:prstGeom prst="straightConnector1">
              <a:avLst/>
            </a:prstGeom>
            <a:noFill/>
            <a:ln w="9525" cap="flat" cmpd="sng">
              <a:solidFill>
                <a:schemeClr val="dk1"/>
              </a:solidFill>
              <a:prstDash val="solid"/>
              <a:round/>
              <a:headEnd type="none" w="sm" len="sm"/>
              <a:tailEnd type="none" w="sm" len="sm"/>
            </a:ln>
          </p:spPr>
        </p:cxnSp>
        <p:cxnSp>
          <p:nvCxnSpPr>
            <p:cNvPr id="178" name="Google Shape;178;p78"/>
            <p:cNvCxnSpPr/>
            <p:nvPr/>
          </p:nvCxnSpPr>
          <p:spPr>
            <a:xfrm rot="10800000">
              <a:off x="324525" y="2081875"/>
              <a:ext cx="0" cy="2603400"/>
            </a:xfrm>
            <a:prstGeom prst="straightConnector1">
              <a:avLst/>
            </a:prstGeom>
            <a:noFill/>
            <a:ln w="9525" cap="flat" cmpd="sng">
              <a:solidFill>
                <a:schemeClr val="dk1"/>
              </a:solidFill>
              <a:prstDash val="solid"/>
              <a:round/>
              <a:headEnd type="none" w="sm" len="sm"/>
              <a:tailEnd type="none" w="sm" len="sm"/>
            </a:ln>
          </p:spPr>
        </p:cxnSp>
      </p:grpSp>
      <p:sp>
        <p:nvSpPr>
          <p:cNvPr id="179" name="Google Shape;179;p78"/>
          <p:cNvSpPr txBox="1">
            <a:spLocks noGrp="1"/>
          </p:cNvSpPr>
          <p:nvPr>
            <p:ph type="title"/>
          </p:nvPr>
        </p:nvSpPr>
        <p:spPr>
          <a:xfrm>
            <a:off x="921950" y="1364088"/>
            <a:ext cx="2914500" cy="1283700"/>
          </a:xfrm>
          <a:prstGeom prst="rect">
            <a:avLst/>
          </a:prstGeom>
          <a:solidFill>
            <a:schemeClr val="dk2"/>
          </a:solid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180" name="Google Shape;180;p78"/>
          <p:cNvSpPr txBox="1">
            <a:spLocks noGrp="1"/>
          </p:cNvSpPr>
          <p:nvPr>
            <p:ph type="subTitle" idx="1"/>
          </p:nvPr>
        </p:nvSpPr>
        <p:spPr>
          <a:xfrm>
            <a:off x="921950" y="2747713"/>
            <a:ext cx="2914500" cy="1031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203"/>
        <p:cNvGrpSpPr/>
        <p:nvPr/>
      </p:nvGrpSpPr>
      <p:grpSpPr>
        <a:xfrm>
          <a:off x="0" y="0"/>
          <a:ext cx="0" cy="0"/>
          <a:chOff x="0" y="0"/>
          <a:chExt cx="0" cy="0"/>
        </a:xfrm>
      </p:grpSpPr>
      <p:sp>
        <p:nvSpPr>
          <p:cNvPr id="204" name="Google Shape;204;p82"/>
          <p:cNvSpPr>
            <a:spLocks noGrp="1"/>
          </p:cNvSpPr>
          <p:nvPr>
            <p:ph type="pic" idx="2"/>
          </p:nvPr>
        </p:nvSpPr>
        <p:spPr>
          <a:xfrm>
            <a:off x="3579400" y="0"/>
            <a:ext cx="5620800" cy="3671700"/>
          </a:xfrm>
          <a:prstGeom prst="rect">
            <a:avLst/>
          </a:prstGeom>
          <a:noFill/>
          <a:ln>
            <a:noFill/>
          </a:ln>
        </p:spPr>
        <p:txBody>
          <a:bodyPr/>
          <a:lstStyle/>
          <a:p>
            <a:endParaRPr lang="en-US" dirty="0"/>
          </a:p>
        </p:txBody>
      </p:sp>
      <p:sp>
        <p:nvSpPr>
          <p:cNvPr id="205" name="Google Shape;205;p82"/>
          <p:cNvSpPr txBox="1"/>
          <p:nvPr/>
        </p:nvSpPr>
        <p:spPr>
          <a:xfrm>
            <a:off x="3397075" y="3805800"/>
            <a:ext cx="5033700" cy="556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300"/>
              </a:spcBef>
              <a:spcAft>
                <a:spcPts val="0"/>
              </a:spcAft>
              <a:buClr>
                <a:srgbClr val="000000"/>
              </a:buClr>
              <a:buSzPts val="1100"/>
              <a:buFont typeface="Arial"/>
              <a:buNone/>
            </a:pPr>
            <a:r>
              <a:rPr lang="en" sz="1100" b="0" i="0" u="none" strike="noStrike" cap="none">
                <a:solidFill>
                  <a:schemeClr val="dk1"/>
                </a:solidFill>
                <a:latin typeface="DM Sans Medium"/>
                <a:ea typeface="DM Sans Medium"/>
                <a:cs typeface="DM Sans Medium"/>
                <a:sym typeface="DM Sans Medium"/>
              </a:rPr>
              <a:t>CREDITS: This presentation template was created by </a:t>
            </a:r>
            <a:r>
              <a:rPr lang="en" sz="1100" b="1" i="0" u="none" strike="noStrike" cap="none">
                <a:solidFill>
                  <a:schemeClr val="dk1"/>
                </a:solidFill>
                <a:uFill>
                  <a:noFill/>
                </a:uFill>
                <a:latin typeface="DM Sans"/>
                <a:ea typeface="DM Sans"/>
                <a:cs typeface="DM Sans"/>
                <a:sym typeface="DM Sans"/>
                <a:hlinkClick r:id="rId2">
                  <a:extLst>
                    <a:ext uri="{A12FA001-AC4F-418D-AE19-62706E023703}">
                      <ahyp:hlinkClr xmlns:ahyp="http://schemas.microsoft.com/office/drawing/2018/hyperlinkcolor" val="tx"/>
                    </a:ext>
                  </a:extLst>
                </a:hlinkClick>
              </a:rPr>
              <a:t>Slidesgo</a:t>
            </a:r>
            <a:r>
              <a:rPr lang="en" sz="1100" b="1" i="0" u="none" strike="noStrike" cap="none">
                <a:solidFill>
                  <a:schemeClr val="dk1"/>
                </a:solidFill>
                <a:latin typeface="DM Sans"/>
                <a:ea typeface="DM Sans"/>
                <a:cs typeface="DM Sans"/>
                <a:sym typeface="DM Sans"/>
              </a:rPr>
              <a:t>,</a:t>
            </a:r>
            <a:r>
              <a:rPr lang="en" sz="1100" b="0" i="0" u="none" strike="noStrike" cap="none">
                <a:solidFill>
                  <a:schemeClr val="dk1"/>
                </a:solidFill>
                <a:latin typeface="DM Sans Medium"/>
                <a:ea typeface="DM Sans Medium"/>
                <a:cs typeface="DM Sans Medium"/>
                <a:sym typeface="DM Sans Medium"/>
              </a:rPr>
              <a:t> and includes icons by </a:t>
            </a:r>
            <a:r>
              <a:rPr lang="en" sz="1100" b="1" i="0" u="none" strike="noStrike" cap="none">
                <a:solidFill>
                  <a:schemeClr val="dk1"/>
                </a:solidFill>
                <a:uFill>
                  <a:noFill/>
                </a:uFill>
                <a:latin typeface="DM Sans"/>
                <a:ea typeface="DM Sans"/>
                <a:cs typeface="DM Sans"/>
                <a:sym typeface="DM Sans"/>
                <a:hlinkClick r:id="rId3">
                  <a:extLst>
                    <a:ext uri="{A12FA001-AC4F-418D-AE19-62706E023703}">
                      <ahyp:hlinkClr xmlns:ahyp="http://schemas.microsoft.com/office/drawing/2018/hyperlinkcolor" val="tx"/>
                    </a:ext>
                  </a:extLst>
                </a:hlinkClick>
              </a:rPr>
              <a:t>Flaticon</a:t>
            </a:r>
            <a:r>
              <a:rPr lang="en" sz="1100" b="0" i="0" u="none" strike="noStrike" cap="none">
                <a:solidFill>
                  <a:schemeClr val="dk1"/>
                </a:solidFill>
                <a:latin typeface="DM Sans Medium"/>
                <a:ea typeface="DM Sans Medium"/>
                <a:cs typeface="DM Sans Medium"/>
                <a:sym typeface="DM Sans Medium"/>
              </a:rPr>
              <a:t>, and infographics &amp; images by </a:t>
            </a:r>
            <a:r>
              <a:rPr lang="en" sz="1100" b="1" i="0" u="none" strike="noStrike" cap="none">
                <a:solidFill>
                  <a:schemeClr val="dk1"/>
                </a:solidFill>
                <a:uFill>
                  <a:noFill/>
                </a:uFill>
                <a:latin typeface="DM Sans"/>
                <a:ea typeface="DM Sans"/>
                <a:cs typeface="DM Sans"/>
                <a:sym typeface="DM Sans"/>
                <a:hlinkClick r:id="rId4">
                  <a:extLst>
                    <a:ext uri="{A12FA001-AC4F-418D-AE19-62706E023703}">
                      <ahyp:hlinkClr xmlns:ahyp="http://schemas.microsoft.com/office/drawing/2018/hyperlinkcolor" val="tx"/>
                    </a:ext>
                  </a:extLst>
                </a:hlinkClick>
              </a:rPr>
              <a:t>Freepik</a:t>
            </a:r>
            <a:r>
              <a:rPr lang="en" sz="1100" b="1" i="0" u="sng" strike="noStrike" cap="none">
                <a:solidFill>
                  <a:schemeClr val="dk1"/>
                </a:solidFill>
                <a:latin typeface="DM Sans"/>
                <a:ea typeface="DM Sans"/>
                <a:cs typeface="DM Sans"/>
                <a:sym typeface="DM Sans"/>
              </a:rPr>
              <a:t> </a:t>
            </a:r>
            <a:endParaRPr sz="1100" b="1" i="0" u="sng" strike="noStrike" cap="none" dirty="0">
              <a:solidFill>
                <a:schemeClr val="dk1"/>
              </a:solidFill>
              <a:latin typeface="DM Sans"/>
              <a:ea typeface="DM Sans"/>
              <a:cs typeface="DM Sans"/>
              <a:sym typeface="DM Sans"/>
            </a:endParaRPr>
          </a:p>
        </p:txBody>
      </p:sp>
      <p:sp>
        <p:nvSpPr>
          <p:cNvPr id="206" name="Google Shape;206;p82"/>
          <p:cNvSpPr txBox="1">
            <a:spLocks noGrp="1"/>
          </p:cNvSpPr>
          <p:nvPr>
            <p:ph type="title"/>
          </p:nvPr>
        </p:nvSpPr>
        <p:spPr>
          <a:xfrm>
            <a:off x="713284" y="1396063"/>
            <a:ext cx="4077000" cy="1058700"/>
          </a:xfrm>
          <a:prstGeom prst="rect">
            <a:avLst/>
          </a:prstGeom>
          <a:solidFill>
            <a:schemeClr val="dk2"/>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sz="71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207" name="Google Shape;207;p82"/>
          <p:cNvSpPr txBox="1">
            <a:spLocks noGrp="1"/>
          </p:cNvSpPr>
          <p:nvPr>
            <p:ph type="subTitle" idx="1"/>
          </p:nvPr>
        </p:nvSpPr>
        <p:spPr>
          <a:xfrm>
            <a:off x="713250" y="2608412"/>
            <a:ext cx="4077000" cy="1174800"/>
          </a:xfrm>
          <a:prstGeom prst="rect">
            <a:avLst/>
          </a:prstGeom>
          <a:solidFill>
            <a:schemeClr val="dk1"/>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400"/>
              <a:buNone/>
              <a:defRPr>
                <a:latin typeface="DM Sans Medium"/>
                <a:ea typeface="DM Sans Medium"/>
                <a:cs typeface="DM Sans Medium"/>
                <a:sym typeface="DM Sans Medium"/>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3">
  <p:cSld name="CUSTOM_4_1_1">
    <p:spTree>
      <p:nvGrpSpPr>
        <p:cNvPr id="1" name="Shape 208"/>
        <p:cNvGrpSpPr/>
        <p:nvPr/>
      </p:nvGrpSpPr>
      <p:grpSpPr>
        <a:xfrm>
          <a:off x="0" y="0"/>
          <a:ext cx="0" cy="0"/>
          <a:chOff x="0" y="0"/>
          <a:chExt cx="0" cy="0"/>
        </a:xfrm>
      </p:grpSpPr>
      <p:sp>
        <p:nvSpPr>
          <p:cNvPr id="209" name="Google Shape;209;p83"/>
          <p:cNvSpPr txBox="1">
            <a:spLocks noGrp="1"/>
          </p:cNvSpPr>
          <p:nvPr>
            <p:ph type="title"/>
          </p:nvPr>
        </p:nvSpPr>
        <p:spPr>
          <a:xfrm>
            <a:off x="722376" y="448056"/>
            <a:ext cx="7764000" cy="572700"/>
          </a:xfrm>
          <a:prstGeom prst="rect">
            <a:avLst/>
          </a:prstGeom>
          <a:solidFill>
            <a:schemeClr val="dk2"/>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210" name="Google Shape;210;p83"/>
          <p:cNvSpPr txBox="1">
            <a:spLocks noGrp="1"/>
          </p:cNvSpPr>
          <p:nvPr>
            <p:ph type="subTitle" idx="1"/>
          </p:nvPr>
        </p:nvSpPr>
        <p:spPr>
          <a:xfrm>
            <a:off x="713225" y="1353325"/>
            <a:ext cx="7247700" cy="3164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1400"/>
              <a:buChar char="●"/>
              <a:defRPr/>
            </a:lvl1pPr>
            <a:lvl2pPr lvl="1" algn="l">
              <a:lnSpc>
                <a:spcPct val="100000"/>
              </a:lnSpc>
              <a:spcBef>
                <a:spcPts val="0"/>
              </a:spcBef>
              <a:spcAft>
                <a:spcPts val="0"/>
              </a:spcAft>
              <a:buSzPts val="1400"/>
              <a:buChar char="○"/>
              <a:defRPr/>
            </a:lvl2pPr>
            <a:lvl3pPr lvl="2" algn="l">
              <a:lnSpc>
                <a:spcPct val="100000"/>
              </a:lnSpc>
              <a:spcBef>
                <a:spcPts val="1600"/>
              </a:spcBef>
              <a:spcAft>
                <a:spcPts val="0"/>
              </a:spcAft>
              <a:buSzPts val="1400"/>
              <a:buChar char="■"/>
              <a:defRPr/>
            </a:lvl3pPr>
            <a:lvl4pPr lvl="3" algn="l">
              <a:lnSpc>
                <a:spcPct val="100000"/>
              </a:lnSpc>
              <a:spcBef>
                <a:spcPts val="1600"/>
              </a:spcBef>
              <a:spcAft>
                <a:spcPts val="0"/>
              </a:spcAft>
              <a:buSzPts val="1400"/>
              <a:buChar char="●"/>
              <a:defRPr/>
            </a:lvl4pPr>
            <a:lvl5pPr lvl="4" algn="l">
              <a:lnSpc>
                <a:spcPct val="100000"/>
              </a:lnSpc>
              <a:spcBef>
                <a:spcPts val="1600"/>
              </a:spcBef>
              <a:spcAft>
                <a:spcPts val="0"/>
              </a:spcAft>
              <a:buSzPts val="1400"/>
              <a:buChar char="○"/>
              <a:defRPr/>
            </a:lvl5pPr>
            <a:lvl6pPr lvl="5" algn="l">
              <a:lnSpc>
                <a:spcPct val="100000"/>
              </a:lnSpc>
              <a:spcBef>
                <a:spcPts val="1600"/>
              </a:spcBef>
              <a:spcAft>
                <a:spcPts val="0"/>
              </a:spcAft>
              <a:buSzPts val="1400"/>
              <a:buChar char="■"/>
              <a:defRPr/>
            </a:lvl6pPr>
            <a:lvl7pPr lvl="6" algn="l">
              <a:lnSpc>
                <a:spcPct val="100000"/>
              </a:lnSpc>
              <a:spcBef>
                <a:spcPts val="1600"/>
              </a:spcBef>
              <a:spcAft>
                <a:spcPts val="0"/>
              </a:spcAft>
              <a:buSzPts val="1400"/>
              <a:buChar char="●"/>
              <a:defRPr/>
            </a:lvl7pPr>
            <a:lvl8pPr lvl="7" algn="l">
              <a:lnSpc>
                <a:spcPct val="100000"/>
              </a:lnSpc>
              <a:spcBef>
                <a:spcPts val="1600"/>
              </a:spcBef>
              <a:spcAft>
                <a:spcPts val="0"/>
              </a:spcAft>
              <a:buSzPts val="1400"/>
              <a:buChar char="○"/>
              <a:defRPr/>
            </a:lvl8pPr>
            <a:lvl9pPr lvl="8" algn="l">
              <a:lnSpc>
                <a:spcPct val="100000"/>
              </a:lnSpc>
              <a:spcBef>
                <a:spcPts val="1600"/>
              </a:spcBef>
              <a:spcAft>
                <a:spcPts val="1600"/>
              </a:spcAft>
              <a:buSzPts val="1400"/>
              <a:buChar char="■"/>
              <a:defRPr/>
            </a:lvl9pPr>
          </a:lstStyle>
          <a:p>
            <a:endParaRPr/>
          </a:p>
        </p:txBody>
      </p:sp>
      <p:grpSp>
        <p:nvGrpSpPr>
          <p:cNvPr id="211" name="Google Shape;211;p83"/>
          <p:cNvGrpSpPr/>
          <p:nvPr/>
        </p:nvGrpSpPr>
        <p:grpSpPr>
          <a:xfrm>
            <a:off x="362235" y="727975"/>
            <a:ext cx="8809200" cy="4144225"/>
            <a:chOff x="362235" y="727975"/>
            <a:chExt cx="8809200" cy="4144225"/>
          </a:xfrm>
        </p:grpSpPr>
        <p:cxnSp>
          <p:nvCxnSpPr>
            <p:cNvPr id="212" name="Google Shape;212;p83"/>
            <p:cNvCxnSpPr/>
            <p:nvPr/>
          </p:nvCxnSpPr>
          <p:spPr>
            <a:xfrm>
              <a:off x="366400" y="727975"/>
              <a:ext cx="0" cy="4144200"/>
            </a:xfrm>
            <a:prstGeom prst="straightConnector1">
              <a:avLst/>
            </a:prstGeom>
            <a:noFill/>
            <a:ln w="9525" cap="flat" cmpd="sng">
              <a:solidFill>
                <a:schemeClr val="dk1"/>
              </a:solidFill>
              <a:prstDash val="solid"/>
              <a:round/>
              <a:headEnd type="none" w="sm" len="sm"/>
              <a:tailEnd type="none" w="sm" len="sm"/>
            </a:ln>
          </p:spPr>
        </p:cxnSp>
        <p:cxnSp>
          <p:nvCxnSpPr>
            <p:cNvPr id="213" name="Google Shape;213;p83"/>
            <p:cNvCxnSpPr/>
            <p:nvPr/>
          </p:nvCxnSpPr>
          <p:spPr>
            <a:xfrm>
              <a:off x="362235" y="4872200"/>
              <a:ext cx="8809200" cy="0"/>
            </a:xfrm>
            <a:prstGeom prst="straightConnector1">
              <a:avLst/>
            </a:prstGeom>
            <a:noFill/>
            <a:ln w="9525" cap="flat" cmpd="sng">
              <a:solidFill>
                <a:schemeClr val="dk1"/>
              </a:solidFill>
              <a:prstDash val="solid"/>
              <a:round/>
              <a:headEnd type="none" w="sm" len="sm"/>
              <a:tailEnd type="none" w="sm" len="sm"/>
            </a:ln>
          </p:spPr>
        </p:cxnSp>
        <p:cxnSp>
          <p:nvCxnSpPr>
            <p:cNvPr id="214" name="Google Shape;214;p83"/>
            <p:cNvCxnSpPr/>
            <p:nvPr/>
          </p:nvCxnSpPr>
          <p:spPr>
            <a:xfrm rot="10800000">
              <a:off x="365700" y="731375"/>
              <a:ext cx="354300" cy="0"/>
            </a:xfrm>
            <a:prstGeom prst="straightConnector1">
              <a:avLst/>
            </a:prstGeom>
            <a:noFill/>
            <a:ln w="9525" cap="flat" cmpd="sng">
              <a:solidFill>
                <a:schemeClr val="dk1"/>
              </a:solidFill>
              <a:prstDash val="solid"/>
              <a:round/>
              <a:headEnd type="none" w="sm" len="sm"/>
              <a:tailEnd type="none" w="sm" len="sm"/>
            </a:ln>
          </p:spPr>
        </p:cxn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4">
  <p:cSld name="CUSTOM_4_1_1_1">
    <p:spTree>
      <p:nvGrpSpPr>
        <p:cNvPr id="1" name="Shape 215"/>
        <p:cNvGrpSpPr/>
        <p:nvPr/>
      </p:nvGrpSpPr>
      <p:grpSpPr>
        <a:xfrm>
          <a:off x="0" y="0"/>
          <a:ext cx="0" cy="0"/>
          <a:chOff x="0" y="0"/>
          <a:chExt cx="0" cy="0"/>
        </a:xfrm>
      </p:grpSpPr>
      <p:grpSp>
        <p:nvGrpSpPr>
          <p:cNvPr id="216" name="Google Shape;216;p84"/>
          <p:cNvGrpSpPr/>
          <p:nvPr/>
        </p:nvGrpSpPr>
        <p:grpSpPr>
          <a:xfrm>
            <a:off x="362235" y="727975"/>
            <a:ext cx="8809200" cy="4144225"/>
            <a:chOff x="362235" y="727975"/>
            <a:chExt cx="8809200" cy="4144225"/>
          </a:xfrm>
        </p:grpSpPr>
        <p:cxnSp>
          <p:nvCxnSpPr>
            <p:cNvPr id="217" name="Google Shape;217;p84"/>
            <p:cNvCxnSpPr/>
            <p:nvPr/>
          </p:nvCxnSpPr>
          <p:spPr>
            <a:xfrm>
              <a:off x="366400" y="727975"/>
              <a:ext cx="0" cy="4144200"/>
            </a:xfrm>
            <a:prstGeom prst="straightConnector1">
              <a:avLst/>
            </a:prstGeom>
            <a:noFill/>
            <a:ln w="9525" cap="flat" cmpd="sng">
              <a:solidFill>
                <a:schemeClr val="dk1"/>
              </a:solidFill>
              <a:prstDash val="solid"/>
              <a:round/>
              <a:headEnd type="none" w="sm" len="sm"/>
              <a:tailEnd type="none" w="sm" len="sm"/>
            </a:ln>
          </p:spPr>
        </p:cxnSp>
        <p:cxnSp>
          <p:nvCxnSpPr>
            <p:cNvPr id="218" name="Google Shape;218;p84"/>
            <p:cNvCxnSpPr/>
            <p:nvPr/>
          </p:nvCxnSpPr>
          <p:spPr>
            <a:xfrm>
              <a:off x="362235" y="4872200"/>
              <a:ext cx="8809200" cy="0"/>
            </a:xfrm>
            <a:prstGeom prst="straightConnector1">
              <a:avLst/>
            </a:prstGeom>
            <a:noFill/>
            <a:ln w="9525" cap="flat" cmpd="sng">
              <a:solidFill>
                <a:schemeClr val="dk1"/>
              </a:solidFill>
              <a:prstDash val="solid"/>
              <a:round/>
              <a:headEnd type="none" w="sm" len="sm"/>
              <a:tailEnd type="none" w="sm" len="sm"/>
            </a:ln>
          </p:spPr>
        </p:cxnSp>
        <p:cxnSp>
          <p:nvCxnSpPr>
            <p:cNvPr id="219" name="Google Shape;219;p84"/>
            <p:cNvCxnSpPr/>
            <p:nvPr/>
          </p:nvCxnSpPr>
          <p:spPr>
            <a:xfrm rot="10800000">
              <a:off x="365700" y="731375"/>
              <a:ext cx="354300" cy="0"/>
            </a:xfrm>
            <a:prstGeom prst="straightConnector1">
              <a:avLst/>
            </a:prstGeom>
            <a:noFill/>
            <a:ln w="9525" cap="flat" cmpd="sng">
              <a:solidFill>
                <a:schemeClr val="dk1"/>
              </a:solidFill>
              <a:prstDash val="solid"/>
              <a:round/>
              <a:headEnd type="none" w="sm" len="sm"/>
              <a:tailEnd type="none" w="sm" len="sm"/>
            </a:ln>
          </p:spPr>
        </p:cxnSp>
      </p:grpSp>
      <p:sp>
        <p:nvSpPr>
          <p:cNvPr id="220" name="Google Shape;220;p84"/>
          <p:cNvSpPr txBox="1">
            <a:spLocks noGrp="1"/>
          </p:cNvSpPr>
          <p:nvPr>
            <p:ph type="title"/>
          </p:nvPr>
        </p:nvSpPr>
        <p:spPr>
          <a:xfrm>
            <a:off x="731520" y="448056"/>
            <a:ext cx="7764000" cy="572700"/>
          </a:xfrm>
          <a:prstGeom prst="rect">
            <a:avLst/>
          </a:prstGeom>
          <a:solidFill>
            <a:schemeClr val="dk2"/>
          </a:solid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221" name="Google Shape;221;p84"/>
          <p:cNvSpPr txBox="1">
            <a:spLocks noGrp="1"/>
          </p:cNvSpPr>
          <p:nvPr>
            <p:ph type="subTitle" idx="1"/>
          </p:nvPr>
        </p:nvSpPr>
        <p:spPr>
          <a:xfrm>
            <a:off x="4544625" y="1722525"/>
            <a:ext cx="3886200" cy="2349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1400"/>
              <a:buChar char="●"/>
              <a:defRPr/>
            </a:lvl1pPr>
            <a:lvl2pPr lvl="1" algn="l">
              <a:lnSpc>
                <a:spcPct val="100000"/>
              </a:lnSpc>
              <a:spcBef>
                <a:spcPts val="0"/>
              </a:spcBef>
              <a:spcAft>
                <a:spcPts val="0"/>
              </a:spcAft>
              <a:buSzPts val="1400"/>
              <a:buChar char="○"/>
              <a:defRPr/>
            </a:lvl2pPr>
            <a:lvl3pPr lvl="2" algn="l">
              <a:lnSpc>
                <a:spcPct val="100000"/>
              </a:lnSpc>
              <a:spcBef>
                <a:spcPts val="1600"/>
              </a:spcBef>
              <a:spcAft>
                <a:spcPts val="0"/>
              </a:spcAft>
              <a:buSzPts val="1400"/>
              <a:buChar char="■"/>
              <a:defRPr/>
            </a:lvl3pPr>
            <a:lvl4pPr lvl="3" algn="l">
              <a:lnSpc>
                <a:spcPct val="100000"/>
              </a:lnSpc>
              <a:spcBef>
                <a:spcPts val="1600"/>
              </a:spcBef>
              <a:spcAft>
                <a:spcPts val="0"/>
              </a:spcAft>
              <a:buSzPts val="1400"/>
              <a:buChar char="●"/>
              <a:defRPr/>
            </a:lvl4pPr>
            <a:lvl5pPr lvl="4" algn="l">
              <a:lnSpc>
                <a:spcPct val="100000"/>
              </a:lnSpc>
              <a:spcBef>
                <a:spcPts val="1600"/>
              </a:spcBef>
              <a:spcAft>
                <a:spcPts val="0"/>
              </a:spcAft>
              <a:buSzPts val="1400"/>
              <a:buChar char="○"/>
              <a:defRPr/>
            </a:lvl5pPr>
            <a:lvl6pPr lvl="5" algn="l">
              <a:lnSpc>
                <a:spcPct val="100000"/>
              </a:lnSpc>
              <a:spcBef>
                <a:spcPts val="1600"/>
              </a:spcBef>
              <a:spcAft>
                <a:spcPts val="0"/>
              </a:spcAft>
              <a:buSzPts val="1400"/>
              <a:buChar char="■"/>
              <a:defRPr/>
            </a:lvl6pPr>
            <a:lvl7pPr lvl="6" algn="l">
              <a:lnSpc>
                <a:spcPct val="100000"/>
              </a:lnSpc>
              <a:spcBef>
                <a:spcPts val="1600"/>
              </a:spcBef>
              <a:spcAft>
                <a:spcPts val="0"/>
              </a:spcAft>
              <a:buSzPts val="1400"/>
              <a:buChar char="●"/>
              <a:defRPr/>
            </a:lvl7pPr>
            <a:lvl8pPr lvl="7" algn="l">
              <a:lnSpc>
                <a:spcPct val="100000"/>
              </a:lnSpc>
              <a:spcBef>
                <a:spcPts val="1600"/>
              </a:spcBef>
              <a:spcAft>
                <a:spcPts val="0"/>
              </a:spcAft>
              <a:buSzPts val="1400"/>
              <a:buChar char="○"/>
              <a:defRPr/>
            </a:lvl8pPr>
            <a:lvl9pPr lvl="8" algn="l">
              <a:lnSpc>
                <a:spcPct val="100000"/>
              </a:lnSpc>
              <a:spcBef>
                <a:spcPts val="1600"/>
              </a:spcBef>
              <a:spcAft>
                <a:spcPts val="1600"/>
              </a:spcAft>
              <a:buSzPts val="1400"/>
              <a:buChar char="■"/>
              <a:defRPr/>
            </a:lvl9pPr>
          </a:lstStyle>
          <a:p>
            <a:endParaRPr/>
          </a:p>
        </p:txBody>
      </p:sp>
      <p:sp>
        <p:nvSpPr>
          <p:cNvPr id="222" name="Google Shape;222;p84"/>
          <p:cNvSpPr txBox="1">
            <a:spLocks noGrp="1"/>
          </p:cNvSpPr>
          <p:nvPr>
            <p:ph type="subTitle" idx="2"/>
          </p:nvPr>
        </p:nvSpPr>
        <p:spPr>
          <a:xfrm>
            <a:off x="713150" y="1722525"/>
            <a:ext cx="3924600" cy="2349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1400"/>
              <a:buChar char="●"/>
              <a:defRPr/>
            </a:lvl1pPr>
            <a:lvl2pPr lvl="1" algn="l">
              <a:lnSpc>
                <a:spcPct val="100000"/>
              </a:lnSpc>
              <a:spcBef>
                <a:spcPts val="0"/>
              </a:spcBef>
              <a:spcAft>
                <a:spcPts val="0"/>
              </a:spcAft>
              <a:buSzPts val="1400"/>
              <a:buChar char="○"/>
              <a:defRPr/>
            </a:lvl2pPr>
            <a:lvl3pPr lvl="2" algn="l">
              <a:lnSpc>
                <a:spcPct val="100000"/>
              </a:lnSpc>
              <a:spcBef>
                <a:spcPts val="1600"/>
              </a:spcBef>
              <a:spcAft>
                <a:spcPts val="0"/>
              </a:spcAft>
              <a:buSzPts val="1400"/>
              <a:buChar char="■"/>
              <a:defRPr/>
            </a:lvl3pPr>
            <a:lvl4pPr lvl="3" algn="l">
              <a:lnSpc>
                <a:spcPct val="100000"/>
              </a:lnSpc>
              <a:spcBef>
                <a:spcPts val="1600"/>
              </a:spcBef>
              <a:spcAft>
                <a:spcPts val="0"/>
              </a:spcAft>
              <a:buSzPts val="1400"/>
              <a:buChar char="●"/>
              <a:defRPr/>
            </a:lvl4pPr>
            <a:lvl5pPr lvl="4" algn="l">
              <a:lnSpc>
                <a:spcPct val="100000"/>
              </a:lnSpc>
              <a:spcBef>
                <a:spcPts val="1600"/>
              </a:spcBef>
              <a:spcAft>
                <a:spcPts val="0"/>
              </a:spcAft>
              <a:buSzPts val="1400"/>
              <a:buChar char="○"/>
              <a:defRPr/>
            </a:lvl5pPr>
            <a:lvl6pPr lvl="5" algn="l">
              <a:lnSpc>
                <a:spcPct val="100000"/>
              </a:lnSpc>
              <a:spcBef>
                <a:spcPts val="1600"/>
              </a:spcBef>
              <a:spcAft>
                <a:spcPts val="0"/>
              </a:spcAft>
              <a:buSzPts val="1400"/>
              <a:buChar char="■"/>
              <a:defRPr/>
            </a:lvl6pPr>
            <a:lvl7pPr lvl="6" algn="l">
              <a:lnSpc>
                <a:spcPct val="100000"/>
              </a:lnSpc>
              <a:spcBef>
                <a:spcPts val="1600"/>
              </a:spcBef>
              <a:spcAft>
                <a:spcPts val="0"/>
              </a:spcAft>
              <a:buSzPts val="1400"/>
              <a:buChar char="●"/>
              <a:defRPr/>
            </a:lvl7pPr>
            <a:lvl8pPr lvl="7" algn="l">
              <a:lnSpc>
                <a:spcPct val="100000"/>
              </a:lnSpc>
              <a:spcBef>
                <a:spcPts val="1600"/>
              </a:spcBef>
              <a:spcAft>
                <a:spcPts val="0"/>
              </a:spcAft>
              <a:buSzPts val="1400"/>
              <a:buChar char="○"/>
              <a:defRPr/>
            </a:lvl8pPr>
            <a:lvl9pPr lvl="8" algn="l">
              <a:lnSpc>
                <a:spcPct val="100000"/>
              </a:lnSpc>
              <a:spcBef>
                <a:spcPts val="1600"/>
              </a:spcBef>
              <a:spcAft>
                <a:spcPts val="1600"/>
              </a:spcAft>
              <a:buSzPts val="1400"/>
              <a:buChar char="■"/>
              <a:defRPr/>
            </a:lvl9pPr>
          </a:lstStyle>
          <a:p>
            <a:endParaRPr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A004E-C463-B146-52C9-89735495264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52504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23"/>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24"/>
        <p:cNvGrpSpPr/>
        <p:nvPr/>
      </p:nvGrpSpPr>
      <p:grpSpPr>
        <a:xfrm>
          <a:off x="0" y="0"/>
          <a:ext cx="0" cy="0"/>
          <a:chOff x="0" y="0"/>
          <a:chExt cx="0" cy="0"/>
        </a:xfrm>
      </p:grpSpPr>
      <p:grpSp>
        <p:nvGrpSpPr>
          <p:cNvPr id="225" name="Google Shape;225;p89"/>
          <p:cNvGrpSpPr/>
          <p:nvPr/>
        </p:nvGrpSpPr>
        <p:grpSpPr>
          <a:xfrm>
            <a:off x="362235" y="727975"/>
            <a:ext cx="8809200" cy="4144225"/>
            <a:chOff x="362235" y="727975"/>
            <a:chExt cx="8809200" cy="4144225"/>
          </a:xfrm>
        </p:grpSpPr>
        <p:cxnSp>
          <p:nvCxnSpPr>
            <p:cNvPr id="226" name="Google Shape;226;p89"/>
            <p:cNvCxnSpPr/>
            <p:nvPr/>
          </p:nvCxnSpPr>
          <p:spPr>
            <a:xfrm>
              <a:off x="366400" y="727975"/>
              <a:ext cx="0" cy="4144200"/>
            </a:xfrm>
            <a:prstGeom prst="straightConnector1">
              <a:avLst/>
            </a:prstGeom>
            <a:noFill/>
            <a:ln w="9525" cap="flat" cmpd="sng">
              <a:solidFill>
                <a:schemeClr val="dk1"/>
              </a:solidFill>
              <a:prstDash val="solid"/>
              <a:round/>
              <a:headEnd type="none" w="sm" len="sm"/>
              <a:tailEnd type="none" w="sm" len="sm"/>
            </a:ln>
          </p:spPr>
        </p:cxnSp>
        <p:cxnSp>
          <p:nvCxnSpPr>
            <p:cNvPr id="227" name="Google Shape;227;p89"/>
            <p:cNvCxnSpPr/>
            <p:nvPr/>
          </p:nvCxnSpPr>
          <p:spPr>
            <a:xfrm>
              <a:off x="362235" y="4872200"/>
              <a:ext cx="8809200" cy="0"/>
            </a:xfrm>
            <a:prstGeom prst="straightConnector1">
              <a:avLst/>
            </a:prstGeom>
            <a:noFill/>
            <a:ln w="9525" cap="flat" cmpd="sng">
              <a:solidFill>
                <a:schemeClr val="dk1"/>
              </a:solidFill>
              <a:prstDash val="solid"/>
              <a:round/>
              <a:headEnd type="none" w="sm" len="sm"/>
              <a:tailEnd type="none" w="sm" len="sm"/>
            </a:ln>
          </p:spPr>
        </p:cxnSp>
        <p:cxnSp>
          <p:nvCxnSpPr>
            <p:cNvPr id="228" name="Google Shape;228;p89"/>
            <p:cNvCxnSpPr/>
            <p:nvPr/>
          </p:nvCxnSpPr>
          <p:spPr>
            <a:xfrm rot="10800000">
              <a:off x="365700" y="731375"/>
              <a:ext cx="354300" cy="0"/>
            </a:xfrm>
            <a:prstGeom prst="straightConnector1">
              <a:avLst/>
            </a:prstGeom>
            <a:noFill/>
            <a:ln w="9525" cap="flat" cmpd="sng">
              <a:solidFill>
                <a:schemeClr val="dk1"/>
              </a:solidFill>
              <a:prstDash val="solid"/>
              <a:round/>
              <a:headEnd type="none" w="sm" len="sm"/>
              <a:tailEnd type="none" w="sm" len="sm"/>
            </a:ln>
          </p:spPr>
        </p:cxn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29"/>
        <p:cNvGrpSpPr/>
        <p:nvPr/>
      </p:nvGrpSpPr>
      <p:grpSpPr>
        <a:xfrm>
          <a:off x="0" y="0"/>
          <a:ext cx="0" cy="0"/>
          <a:chOff x="0" y="0"/>
          <a:chExt cx="0" cy="0"/>
        </a:xfrm>
      </p:grpSpPr>
      <p:grpSp>
        <p:nvGrpSpPr>
          <p:cNvPr id="230" name="Google Shape;230;p90"/>
          <p:cNvGrpSpPr/>
          <p:nvPr/>
        </p:nvGrpSpPr>
        <p:grpSpPr>
          <a:xfrm>
            <a:off x="-94975" y="704675"/>
            <a:ext cx="8809210" cy="4167775"/>
            <a:chOff x="-94975" y="704675"/>
            <a:chExt cx="8809210" cy="4167775"/>
          </a:xfrm>
        </p:grpSpPr>
        <p:cxnSp>
          <p:nvCxnSpPr>
            <p:cNvPr id="231" name="Google Shape;231;p90"/>
            <p:cNvCxnSpPr/>
            <p:nvPr/>
          </p:nvCxnSpPr>
          <p:spPr>
            <a:xfrm rot="10800000">
              <a:off x="8439135" y="704675"/>
              <a:ext cx="275100" cy="0"/>
            </a:xfrm>
            <a:prstGeom prst="straightConnector1">
              <a:avLst/>
            </a:prstGeom>
            <a:noFill/>
            <a:ln w="9525" cap="flat" cmpd="sng">
              <a:solidFill>
                <a:schemeClr val="dk1"/>
              </a:solidFill>
              <a:prstDash val="solid"/>
              <a:round/>
              <a:headEnd type="none" w="sm" len="sm"/>
              <a:tailEnd type="none" w="sm" len="sm"/>
            </a:ln>
          </p:spPr>
        </p:cxnSp>
        <p:cxnSp>
          <p:nvCxnSpPr>
            <p:cNvPr id="232" name="Google Shape;232;p90"/>
            <p:cNvCxnSpPr/>
            <p:nvPr/>
          </p:nvCxnSpPr>
          <p:spPr>
            <a:xfrm>
              <a:off x="8710050" y="711750"/>
              <a:ext cx="0" cy="4160700"/>
            </a:xfrm>
            <a:prstGeom prst="straightConnector1">
              <a:avLst/>
            </a:prstGeom>
            <a:noFill/>
            <a:ln w="9525" cap="flat" cmpd="sng">
              <a:solidFill>
                <a:schemeClr val="dk1"/>
              </a:solidFill>
              <a:prstDash val="solid"/>
              <a:round/>
              <a:headEnd type="none" w="sm" len="sm"/>
              <a:tailEnd type="none" w="sm" len="sm"/>
            </a:ln>
          </p:spPr>
        </p:cxnSp>
        <p:cxnSp>
          <p:nvCxnSpPr>
            <p:cNvPr id="233" name="Google Shape;233;p90"/>
            <p:cNvCxnSpPr/>
            <p:nvPr/>
          </p:nvCxnSpPr>
          <p:spPr>
            <a:xfrm rot="10800000">
              <a:off x="-94975" y="4872200"/>
              <a:ext cx="8809200" cy="0"/>
            </a:xfrm>
            <a:prstGeom prst="straightConnector1">
              <a:avLst/>
            </a:prstGeom>
            <a:noFill/>
            <a:ln w="9525" cap="flat" cmpd="sng">
              <a:solidFill>
                <a:schemeClr val="dk1"/>
              </a:solidFill>
              <a:prstDash val="solid"/>
              <a:round/>
              <a:headEnd type="none" w="sm" len="sm"/>
              <a:tailEnd type="none" w="sm" len="sm"/>
            </a:ln>
          </p:spPr>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57"/>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3500"/>
              <a:buFont typeface="Montserrat"/>
              <a:buNone/>
              <a:defRPr sz="3500" b="1" i="0" u="none" strike="noStrike" cap="none">
                <a:solidFill>
                  <a:schemeClr val="dk1"/>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3500"/>
              <a:buFont typeface="Montserrat"/>
              <a:buNone/>
              <a:defRPr sz="3500" b="1"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chemeClr val="dk1"/>
              </a:buClr>
              <a:buSzPts val="3500"/>
              <a:buFont typeface="Montserrat"/>
              <a:buNone/>
              <a:defRPr sz="3500" b="1"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chemeClr val="dk1"/>
              </a:buClr>
              <a:buSzPts val="3500"/>
              <a:buFont typeface="Montserrat"/>
              <a:buNone/>
              <a:defRPr sz="3500" b="1"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chemeClr val="dk1"/>
              </a:buClr>
              <a:buSzPts val="3500"/>
              <a:buFont typeface="Montserrat"/>
              <a:buNone/>
              <a:defRPr sz="3500" b="1"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chemeClr val="dk1"/>
              </a:buClr>
              <a:buSzPts val="3500"/>
              <a:buFont typeface="Montserrat"/>
              <a:buNone/>
              <a:defRPr sz="3500" b="1"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chemeClr val="dk1"/>
              </a:buClr>
              <a:buSzPts val="3500"/>
              <a:buFont typeface="Montserrat"/>
              <a:buNone/>
              <a:defRPr sz="3500" b="1"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chemeClr val="dk1"/>
              </a:buClr>
              <a:buSzPts val="3500"/>
              <a:buFont typeface="Montserrat"/>
              <a:buNone/>
              <a:defRPr sz="3500" b="1"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chemeClr val="dk1"/>
              </a:buClr>
              <a:buSzPts val="3500"/>
              <a:buFont typeface="Montserrat"/>
              <a:buNone/>
              <a:defRPr sz="3500" b="1" i="0" u="none" strike="noStrike" cap="none">
                <a:solidFill>
                  <a:schemeClr val="dk1"/>
                </a:solidFill>
                <a:latin typeface="Montserrat"/>
                <a:ea typeface="Montserrat"/>
                <a:cs typeface="Montserrat"/>
                <a:sym typeface="Montserrat"/>
              </a:defRPr>
            </a:lvl9pPr>
          </a:lstStyle>
          <a:p>
            <a:endParaRPr/>
          </a:p>
        </p:txBody>
      </p:sp>
      <p:sp>
        <p:nvSpPr>
          <p:cNvPr id="7" name="Google Shape;7;p57"/>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chemeClr val="dk1"/>
              </a:buClr>
              <a:buSzPts val="1400"/>
              <a:buFont typeface="DM Sans"/>
              <a:buChar char="●"/>
              <a:defRPr sz="1400" b="0" i="0" u="none" strike="noStrike" cap="none">
                <a:solidFill>
                  <a:schemeClr val="dk1"/>
                </a:solidFill>
                <a:latin typeface="DM Sans"/>
                <a:ea typeface="DM Sans"/>
                <a:cs typeface="DM Sans"/>
                <a:sym typeface="DM Sans"/>
              </a:defRPr>
            </a:lvl1pPr>
            <a:lvl2pPr marL="914400" marR="0" lvl="1" indent="-317500" algn="l" rtl="0">
              <a:lnSpc>
                <a:spcPct val="100000"/>
              </a:lnSpc>
              <a:spcBef>
                <a:spcPts val="1600"/>
              </a:spcBef>
              <a:spcAft>
                <a:spcPts val="0"/>
              </a:spcAft>
              <a:buClr>
                <a:schemeClr val="dk1"/>
              </a:buClr>
              <a:buSzPts val="1400"/>
              <a:buFont typeface="DM Sans"/>
              <a:buChar char="○"/>
              <a:defRPr sz="1400" b="0"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1600"/>
              </a:spcBef>
              <a:spcAft>
                <a:spcPts val="0"/>
              </a:spcAft>
              <a:buClr>
                <a:schemeClr val="dk1"/>
              </a:buClr>
              <a:buSzPts val="1400"/>
              <a:buFont typeface="DM Sans"/>
              <a:buChar char="■"/>
              <a:defRPr sz="1400" b="0"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1600"/>
              </a:spcBef>
              <a:spcAft>
                <a:spcPts val="0"/>
              </a:spcAft>
              <a:buClr>
                <a:schemeClr val="dk1"/>
              </a:buClr>
              <a:buSzPts val="1400"/>
              <a:buFont typeface="DM Sans"/>
              <a:buChar char="●"/>
              <a:defRPr sz="1400" b="0"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1600"/>
              </a:spcBef>
              <a:spcAft>
                <a:spcPts val="0"/>
              </a:spcAft>
              <a:buClr>
                <a:schemeClr val="dk1"/>
              </a:buClr>
              <a:buSzPts val="1400"/>
              <a:buFont typeface="DM Sans"/>
              <a:buChar char="○"/>
              <a:defRPr sz="1400" b="0"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1600"/>
              </a:spcBef>
              <a:spcAft>
                <a:spcPts val="0"/>
              </a:spcAft>
              <a:buClr>
                <a:schemeClr val="dk1"/>
              </a:buClr>
              <a:buSzPts val="1400"/>
              <a:buFont typeface="DM Sans"/>
              <a:buChar char="■"/>
              <a:defRPr sz="1400" b="0"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1600"/>
              </a:spcBef>
              <a:spcAft>
                <a:spcPts val="0"/>
              </a:spcAft>
              <a:buClr>
                <a:schemeClr val="dk1"/>
              </a:buClr>
              <a:buSzPts val="1400"/>
              <a:buFont typeface="DM Sans"/>
              <a:buChar char="●"/>
              <a:defRPr sz="1400" b="0"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1600"/>
              </a:spcBef>
              <a:spcAft>
                <a:spcPts val="0"/>
              </a:spcAft>
              <a:buClr>
                <a:schemeClr val="dk1"/>
              </a:buClr>
              <a:buSzPts val="1400"/>
              <a:buFont typeface="DM Sans"/>
              <a:buChar char="○"/>
              <a:defRPr sz="1400" b="0"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1600"/>
              </a:spcBef>
              <a:spcAft>
                <a:spcPts val="1600"/>
              </a:spcAft>
              <a:buClr>
                <a:schemeClr val="dk1"/>
              </a:buClr>
              <a:buSzPts val="1400"/>
              <a:buFont typeface="DM Sans"/>
              <a:buChar char="■"/>
              <a:defRPr sz="1400" b="0" i="0" u="none" strike="noStrike" cap="none">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3" r:id="rId3"/>
    <p:sldLayoutId id="2147483654" r:id="rId4"/>
    <p:sldLayoutId id="2147483655" r:id="rId5"/>
    <p:sldLayoutId id="2147483661" r:id="rId6"/>
    <p:sldLayoutId id="2147483662" r:id="rId7"/>
    <p:sldLayoutId id="2147483668" r:id="rId8"/>
    <p:sldLayoutId id="2147483669" r:id="rId9"/>
    <p:sldLayoutId id="2147483673" r:id="rId10"/>
    <p:sldLayoutId id="2147483674" r:id="rId11"/>
    <p:sldLayoutId id="2147483675" r:id="rId12"/>
    <p:sldLayoutId id="2147483679" r:id="rId13"/>
    <p:sldLayoutId id="2147483676" r:id="rId14"/>
    <p:sldLayoutId id="2147483677" r:id="rId15"/>
    <p:sldLayoutId id="2147483678" r:id="rId1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49">
          <p15:clr>
            <a:srgbClr val="EA4335"/>
          </p15:clr>
        </p15:guide>
        <p15:guide id="2" pos="5311">
          <p15:clr>
            <a:srgbClr val="EA4335"/>
          </p15:clr>
        </p15:guide>
        <p15:guide id="3" orient="horz" pos="340">
          <p15:clr>
            <a:srgbClr val="EA4335"/>
          </p15:clr>
        </p15:guide>
        <p15:guide id="4" orient="horz" pos="2900">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1.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2.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3.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chart" Target="../charts/chart3.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5.xml"/><Relationship Id="rId5" Type="http://schemas.openxmlformats.org/officeDocument/2006/relationships/image" Target="../media/image6.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5.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image" Target="../media/image16.sv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chart" Target="../charts/char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chart" Target="../charts/chart5.xml"/></Relationships>
</file>

<file path=ppt/slides/_rels/slide1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9.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grpSp>
        <p:nvGrpSpPr>
          <p:cNvPr id="238" name="Google Shape;238;p1"/>
          <p:cNvGrpSpPr/>
          <p:nvPr/>
        </p:nvGrpSpPr>
        <p:grpSpPr>
          <a:xfrm>
            <a:off x="384044" y="411300"/>
            <a:ext cx="8385633" cy="4320925"/>
            <a:chOff x="1565825" y="551275"/>
            <a:chExt cx="7758010" cy="4320925"/>
          </a:xfrm>
        </p:grpSpPr>
        <p:cxnSp>
          <p:nvCxnSpPr>
            <p:cNvPr id="239" name="Google Shape;239;p1"/>
            <p:cNvCxnSpPr>
              <a:cxnSpLocks/>
            </p:cNvCxnSpPr>
            <p:nvPr/>
          </p:nvCxnSpPr>
          <p:spPr>
            <a:xfrm>
              <a:off x="1565825" y="551275"/>
              <a:ext cx="838999" cy="13"/>
            </a:xfrm>
            <a:prstGeom prst="straightConnector1">
              <a:avLst/>
            </a:prstGeom>
            <a:noFill/>
            <a:ln w="9525" cap="flat" cmpd="sng">
              <a:solidFill>
                <a:schemeClr val="dk1"/>
              </a:solidFill>
              <a:prstDash val="solid"/>
              <a:round/>
              <a:headEnd type="none" w="sm" len="sm"/>
              <a:tailEnd type="none" w="sm" len="sm"/>
            </a:ln>
          </p:spPr>
        </p:cxnSp>
        <p:cxnSp>
          <p:nvCxnSpPr>
            <p:cNvPr id="240" name="Google Shape;240;p1"/>
            <p:cNvCxnSpPr/>
            <p:nvPr/>
          </p:nvCxnSpPr>
          <p:spPr>
            <a:xfrm>
              <a:off x="1570000" y="551288"/>
              <a:ext cx="0" cy="4320900"/>
            </a:xfrm>
            <a:prstGeom prst="straightConnector1">
              <a:avLst/>
            </a:prstGeom>
            <a:noFill/>
            <a:ln w="9525" cap="flat" cmpd="sng">
              <a:solidFill>
                <a:schemeClr val="dk1"/>
              </a:solidFill>
              <a:prstDash val="solid"/>
              <a:round/>
              <a:headEnd type="none" w="sm" len="sm"/>
              <a:tailEnd type="none" w="sm" len="sm"/>
            </a:ln>
          </p:spPr>
        </p:cxnSp>
        <p:cxnSp>
          <p:nvCxnSpPr>
            <p:cNvPr id="241" name="Google Shape;241;p1"/>
            <p:cNvCxnSpPr/>
            <p:nvPr/>
          </p:nvCxnSpPr>
          <p:spPr>
            <a:xfrm>
              <a:off x="1565835" y="4872200"/>
              <a:ext cx="7758000" cy="0"/>
            </a:xfrm>
            <a:prstGeom prst="straightConnector1">
              <a:avLst/>
            </a:prstGeom>
            <a:noFill/>
            <a:ln w="9525" cap="flat" cmpd="sng">
              <a:solidFill>
                <a:schemeClr val="dk1"/>
              </a:solidFill>
              <a:prstDash val="solid"/>
              <a:round/>
              <a:headEnd type="none" w="sm" len="sm"/>
              <a:tailEnd type="none" w="sm" len="sm"/>
            </a:ln>
          </p:spPr>
        </p:cxnSp>
      </p:grpSp>
      <p:cxnSp>
        <p:nvCxnSpPr>
          <p:cNvPr id="243" name="Google Shape;243;p1"/>
          <p:cNvCxnSpPr/>
          <p:nvPr/>
        </p:nvCxnSpPr>
        <p:spPr>
          <a:xfrm>
            <a:off x="4101654" y="1548000"/>
            <a:ext cx="0" cy="2047500"/>
          </a:xfrm>
          <a:prstGeom prst="straightConnector1">
            <a:avLst/>
          </a:prstGeom>
          <a:noFill/>
          <a:ln w="19050" cap="flat" cmpd="sng">
            <a:solidFill>
              <a:srgbClr val="595959"/>
            </a:solidFill>
            <a:prstDash val="solid"/>
            <a:miter lim="800000"/>
            <a:headEnd type="none" w="sm" len="sm"/>
            <a:tailEnd type="none" w="sm" len="sm"/>
          </a:ln>
        </p:spPr>
      </p:cxnSp>
      <p:sp>
        <p:nvSpPr>
          <p:cNvPr id="244" name="Google Shape;244;p1"/>
          <p:cNvSpPr txBox="1"/>
          <p:nvPr/>
        </p:nvSpPr>
        <p:spPr>
          <a:xfrm>
            <a:off x="4357330" y="2082461"/>
            <a:ext cx="3457421" cy="839988"/>
          </a:xfrm>
          <a:prstGeom prst="rect">
            <a:avLst/>
          </a:prstGeom>
          <a:noFill/>
          <a:ln>
            <a:noFill/>
          </a:ln>
        </p:spPr>
        <p:txBody>
          <a:bodyPr spcFirstLastPara="1" wrap="square" lIns="91200" tIns="45600" rIns="91200" bIns="45600" anchor="t" anchorCtr="0">
            <a:spAutoFit/>
          </a:bodyPr>
          <a:lstStyle/>
          <a:p>
            <a:pPr marL="0" marR="0" lvl="0" indent="0" algn="l" rtl="0">
              <a:lnSpc>
                <a:spcPct val="90000"/>
              </a:lnSpc>
              <a:spcBef>
                <a:spcPts val="0"/>
              </a:spcBef>
              <a:spcAft>
                <a:spcPts val="0"/>
              </a:spcAft>
              <a:buClr>
                <a:srgbClr val="7F4900"/>
              </a:buClr>
              <a:buSzPts val="4000"/>
              <a:buFont typeface="Arial"/>
              <a:buNone/>
            </a:pPr>
            <a:r>
              <a:rPr lang="en" sz="2400" b="1" i="0" u="none" strike="noStrike" cap="none" dirty="0">
                <a:solidFill>
                  <a:srgbClr val="7F4900"/>
                </a:solidFill>
                <a:latin typeface="Calibri" panose="020F0502020204030204" pitchFamily="34" charset="0"/>
                <a:ea typeface="Calibri" panose="020F0502020204030204" pitchFamily="34" charset="0"/>
                <a:cs typeface="Calibri" panose="020F0502020204030204" pitchFamily="34" charset="0"/>
                <a:sym typeface="Montserrat"/>
              </a:rPr>
              <a:t>Monthly Market Mantra</a:t>
            </a:r>
          </a:p>
          <a:p>
            <a:pPr marL="0" marR="0" lvl="0" indent="0" algn="l" rtl="0">
              <a:lnSpc>
                <a:spcPct val="150000"/>
              </a:lnSpc>
              <a:spcBef>
                <a:spcPts val="0"/>
              </a:spcBef>
              <a:spcAft>
                <a:spcPts val="0"/>
              </a:spcAft>
              <a:buClr>
                <a:srgbClr val="7F4900"/>
              </a:buClr>
              <a:buSzPts val="4000"/>
              <a:buFont typeface="Arial"/>
              <a:buNone/>
            </a:pPr>
            <a:r>
              <a:rPr lang="en-US" sz="1800" b="1" dirty="0">
                <a:solidFill>
                  <a:schemeClr val="tx1"/>
                </a:solidFill>
                <a:latin typeface="Calibri" panose="020F0502020204030204" pitchFamily="34" charset="0"/>
                <a:ea typeface="Calibri" panose="020F0502020204030204" pitchFamily="34" charset="0"/>
                <a:cs typeface="Calibri" panose="020F0502020204030204" pitchFamily="34" charset="0"/>
                <a:sym typeface="Montserrat"/>
              </a:rPr>
              <a:t>February,</a:t>
            </a:r>
            <a:r>
              <a:rPr lang="en" sz="1800" b="1" dirty="0">
                <a:solidFill>
                  <a:schemeClr val="tx1"/>
                </a:solidFill>
                <a:latin typeface="Calibri" panose="020F0502020204030204" pitchFamily="34" charset="0"/>
                <a:ea typeface="Calibri" panose="020F0502020204030204" pitchFamily="34" charset="0"/>
                <a:cs typeface="Calibri" panose="020F0502020204030204" pitchFamily="34" charset="0"/>
                <a:sym typeface="Montserrat"/>
              </a:rPr>
              <a:t> 2026</a:t>
            </a:r>
            <a:endParaRPr sz="200" dirty="0">
              <a:solidFill>
                <a:schemeClr val="tx1"/>
              </a:solidFill>
              <a:latin typeface="Calibri" panose="020F0502020204030204" pitchFamily="34" charset="0"/>
              <a:ea typeface="Calibri" panose="020F0502020204030204" pitchFamily="34" charset="0"/>
              <a:cs typeface="Calibri" panose="020F0502020204030204" pitchFamily="34" charset="0"/>
              <a:sym typeface="Montserrat"/>
            </a:endParaRPr>
          </a:p>
        </p:txBody>
      </p:sp>
      <p:pic>
        <p:nvPicPr>
          <p:cNvPr id="7" name="Picture 6">
            <a:extLst>
              <a:ext uri="{FF2B5EF4-FFF2-40B4-BE49-F238E27FC236}">
                <a16:creationId xmlns:a16="http://schemas.microsoft.com/office/drawing/2014/main" id="{58A88408-A669-4097-EF41-D1DE335DFE34}"/>
              </a:ext>
            </a:extLst>
          </p:cNvPr>
          <p:cNvPicPr>
            <a:picLocks noChangeAspect="1"/>
          </p:cNvPicPr>
          <p:nvPr/>
        </p:nvPicPr>
        <p:blipFill>
          <a:blip r:embed="rId3"/>
          <a:stretch>
            <a:fillRect/>
          </a:stretch>
        </p:blipFill>
        <p:spPr>
          <a:xfrm>
            <a:off x="801906" y="1774754"/>
            <a:ext cx="2886400" cy="1372302"/>
          </a:xfrm>
          <a:prstGeom prst="rect">
            <a:avLst/>
          </a:prstGeom>
        </p:spPr>
      </p:pic>
      <p:pic>
        <p:nvPicPr>
          <p:cNvPr id="9" name="Picture 8">
            <a:extLst>
              <a:ext uri="{FF2B5EF4-FFF2-40B4-BE49-F238E27FC236}">
                <a16:creationId xmlns:a16="http://schemas.microsoft.com/office/drawing/2014/main" id="{4896CCE2-B457-545A-DC10-5E2A3E2B9067}"/>
              </a:ext>
            </a:extLst>
          </p:cNvPr>
          <p:cNvPicPr>
            <a:picLocks noChangeAspect="1"/>
          </p:cNvPicPr>
          <p:nvPr/>
        </p:nvPicPr>
        <p:blipFill>
          <a:blip r:embed="rId3"/>
          <a:stretch>
            <a:fillRect/>
          </a:stretch>
        </p:blipFill>
        <p:spPr>
          <a:xfrm>
            <a:off x="7819053" y="116485"/>
            <a:ext cx="1190504" cy="566010"/>
          </a:xfrm>
          <a:prstGeom prst="rect">
            <a:avLst/>
          </a:prstGeom>
        </p:spPr>
      </p:pic>
      <p:sp>
        <p:nvSpPr>
          <p:cNvPr id="2" name="Google Shape;244;p1">
            <a:extLst>
              <a:ext uri="{FF2B5EF4-FFF2-40B4-BE49-F238E27FC236}">
                <a16:creationId xmlns:a16="http://schemas.microsoft.com/office/drawing/2014/main" id="{C67C7DA0-2F52-AC8A-32DC-A951E550BEC3}"/>
              </a:ext>
            </a:extLst>
          </p:cNvPr>
          <p:cNvSpPr txBox="1"/>
          <p:nvPr/>
        </p:nvSpPr>
        <p:spPr>
          <a:xfrm>
            <a:off x="6479383" y="4492292"/>
            <a:ext cx="2434096" cy="230590"/>
          </a:xfrm>
          <a:prstGeom prst="rect">
            <a:avLst/>
          </a:prstGeom>
          <a:noFill/>
          <a:ln>
            <a:noFill/>
          </a:ln>
        </p:spPr>
        <p:txBody>
          <a:bodyPr spcFirstLastPara="1" wrap="square" lIns="91200" tIns="45600" rIns="91200" bIns="45600" anchor="t" anchorCtr="0">
            <a:spAutoFit/>
          </a:bodyPr>
          <a:lstStyle/>
          <a:p>
            <a:pPr marL="0" marR="0" lvl="0" indent="0" rtl="0">
              <a:lnSpc>
                <a:spcPct val="90000"/>
              </a:lnSpc>
              <a:spcBef>
                <a:spcPts val="0"/>
              </a:spcBef>
              <a:spcAft>
                <a:spcPts val="0"/>
              </a:spcAft>
              <a:buClr>
                <a:srgbClr val="7F4900"/>
              </a:buClr>
              <a:buSzPts val="4000"/>
              <a:buFont typeface="Arial"/>
              <a:buNone/>
            </a:pPr>
            <a:r>
              <a:rPr lang="en" sz="1000" b="1" i="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Montserrat"/>
              </a:rPr>
              <a:t>Monthly Market Update </a:t>
            </a:r>
            <a:r>
              <a:rPr lang="en-US" sz="1000" b="1" dirty="0">
                <a:solidFill>
                  <a:schemeClr val="tx1"/>
                </a:solidFill>
                <a:latin typeface="Calibri" panose="020F0502020204030204" pitchFamily="34" charset="0"/>
                <a:ea typeface="Calibri" panose="020F0502020204030204" pitchFamily="34" charset="0"/>
                <a:cs typeface="Calibri" panose="020F0502020204030204" pitchFamily="34" charset="0"/>
                <a:sym typeface="Montserrat"/>
              </a:rPr>
              <a:t>January,</a:t>
            </a:r>
            <a:r>
              <a:rPr lang="en" sz="1000" b="1" dirty="0">
                <a:solidFill>
                  <a:schemeClr val="tx1"/>
                </a:solidFill>
                <a:latin typeface="Calibri" panose="020F0502020204030204" pitchFamily="34" charset="0"/>
                <a:ea typeface="Calibri" panose="020F0502020204030204" pitchFamily="34" charset="0"/>
                <a:cs typeface="Calibri" panose="020F0502020204030204" pitchFamily="34" charset="0"/>
                <a:sym typeface="Montserrat"/>
              </a:rPr>
              <a:t> </a:t>
            </a:r>
            <a:r>
              <a:rPr lang="en" sz="1000" b="1" i="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Montserrat"/>
              </a:rPr>
              <a:t>2026</a:t>
            </a:r>
            <a:endParaRPr sz="100" dirty="0">
              <a:solidFill>
                <a:schemeClr val="tx1"/>
              </a:solidFill>
              <a:latin typeface="Calibri" panose="020F0502020204030204" pitchFamily="34" charset="0"/>
              <a:ea typeface="Calibri" panose="020F0502020204030204" pitchFamily="34" charset="0"/>
              <a:cs typeface="Calibri" panose="020F0502020204030204" pitchFamily="34" charset="0"/>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7"/>
          <p:cNvSpPr txBox="1">
            <a:spLocks noGrp="1"/>
          </p:cNvSpPr>
          <p:nvPr>
            <p:ph type="title"/>
          </p:nvPr>
        </p:nvSpPr>
        <p:spPr>
          <a:xfrm>
            <a:off x="719999" y="432000"/>
            <a:ext cx="6037147" cy="521208"/>
          </a:xfrm>
          <a:prstGeom prst="rect">
            <a:avLst/>
          </a:prstGeom>
          <a:solidFill>
            <a:srgbClr val="FECA08"/>
          </a:solidFill>
          <a:ln>
            <a:noFill/>
          </a:ln>
        </p:spPr>
        <p:txBody>
          <a:bodyPr spcFirstLastPara="1" wrap="square" lIns="91425" tIns="91425" rIns="91425" bIns="91425" anchor="ctr" anchorCtr="0">
            <a:noAutofit/>
          </a:bodyPr>
          <a:lstStyle/>
          <a:p>
            <a:pPr marL="0" lvl="0" indent="0" rtl="0">
              <a:lnSpc>
                <a:spcPct val="100000"/>
              </a:lnSpc>
              <a:spcBef>
                <a:spcPts val="0"/>
              </a:spcBef>
              <a:spcAft>
                <a:spcPts val="0"/>
              </a:spcAft>
              <a:buSzPts val="3500"/>
              <a:buNone/>
            </a:pPr>
            <a:r>
              <a:rPr lang="en-US" sz="2000" dirty="0">
                <a:latin typeface="Calibri" panose="020F0502020204030204" pitchFamily="34" charset="0"/>
                <a:ea typeface="Calibri" panose="020F0502020204030204" pitchFamily="34" charset="0"/>
                <a:cs typeface="Calibri" panose="020F0502020204030204" pitchFamily="34" charset="0"/>
              </a:rPr>
              <a:t>Market Overview  </a:t>
            </a:r>
          </a:p>
        </p:txBody>
      </p:sp>
      <p:grpSp>
        <p:nvGrpSpPr>
          <p:cNvPr id="303" name="Google Shape;303;p7"/>
          <p:cNvGrpSpPr/>
          <p:nvPr/>
        </p:nvGrpSpPr>
        <p:grpSpPr>
          <a:xfrm>
            <a:off x="-25" y="4872600"/>
            <a:ext cx="9144000" cy="281585"/>
            <a:chOff x="-25" y="4872600"/>
            <a:chExt cx="9144000" cy="281585"/>
          </a:xfrm>
        </p:grpSpPr>
        <p:sp>
          <p:nvSpPr>
            <p:cNvPr id="304" name="Google Shape;304;p7"/>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305" name="Google Shape;305;p7"/>
            <p:cNvGrpSpPr/>
            <p:nvPr/>
          </p:nvGrpSpPr>
          <p:grpSpPr>
            <a:xfrm>
              <a:off x="3101100" y="4872600"/>
              <a:ext cx="2941800" cy="281585"/>
              <a:chOff x="3084200" y="4934525"/>
              <a:chExt cx="2941800" cy="281585"/>
            </a:xfrm>
          </p:grpSpPr>
          <p:sp>
            <p:nvSpPr>
              <p:cNvPr id="306" name="Google Shape;306;p7"/>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307" name="Google Shape;307;p7"/>
              <p:cNvSpPr txBox="1"/>
              <p:nvPr/>
            </p:nvSpPr>
            <p:spPr>
              <a:xfrm>
                <a:off x="3126000" y="4934525"/>
                <a:ext cx="2892000" cy="281585"/>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grpSp>
        <p:nvGrpSpPr>
          <p:cNvPr id="3" name="Group 2">
            <a:extLst>
              <a:ext uri="{FF2B5EF4-FFF2-40B4-BE49-F238E27FC236}">
                <a16:creationId xmlns:a16="http://schemas.microsoft.com/office/drawing/2014/main" id="{F26486A1-9941-91F5-95E6-6A05CED0F9F3}"/>
              </a:ext>
            </a:extLst>
          </p:cNvPr>
          <p:cNvGrpSpPr/>
          <p:nvPr/>
        </p:nvGrpSpPr>
        <p:grpSpPr>
          <a:xfrm>
            <a:off x="732267" y="1065914"/>
            <a:ext cx="8127196" cy="3414126"/>
            <a:chOff x="1378555" y="651509"/>
            <a:chExt cx="6203903" cy="3597870"/>
          </a:xfrm>
        </p:grpSpPr>
        <p:sp>
          <p:nvSpPr>
            <p:cNvPr id="4" name="Freeform: Shape 3">
              <a:extLst>
                <a:ext uri="{FF2B5EF4-FFF2-40B4-BE49-F238E27FC236}">
                  <a16:creationId xmlns:a16="http://schemas.microsoft.com/office/drawing/2014/main" id="{F8707A78-3CBD-A393-D0C0-50BB01646FAA}"/>
                </a:ext>
              </a:extLst>
            </p:cNvPr>
            <p:cNvSpPr/>
            <p:nvPr/>
          </p:nvSpPr>
          <p:spPr>
            <a:xfrm>
              <a:off x="1378555" y="670510"/>
              <a:ext cx="2966675" cy="1567257"/>
            </a:xfrm>
            <a:custGeom>
              <a:avLst/>
              <a:gdLst>
                <a:gd name="connsiteX0" fmla="*/ 0 w 2902148"/>
                <a:gd name="connsiteY0" fmla="*/ 0 h 1741289"/>
                <a:gd name="connsiteX1" fmla="*/ 2902148 w 2902148"/>
                <a:gd name="connsiteY1" fmla="*/ 0 h 1741289"/>
                <a:gd name="connsiteX2" fmla="*/ 2902148 w 2902148"/>
                <a:gd name="connsiteY2" fmla="*/ 1741289 h 1741289"/>
                <a:gd name="connsiteX3" fmla="*/ 0 w 2902148"/>
                <a:gd name="connsiteY3" fmla="*/ 1741289 h 1741289"/>
                <a:gd name="connsiteX4" fmla="*/ 0 w 2902148"/>
                <a:gd name="connsiteY4" fmla="*/ 0 h 1741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2148" h="1741289">
                  <a:moveTo>
                    <a:pt x="0" y="0"/>
                  </a:moveTo>
                  <a:lnTo>
                    <a:pt x="2902148" y="0"/>
                  </a:lnTo>
                  <a:lnTo>
                    <a:pt x="2902148" y="1741289"/>
                  </a:lnTo>
                  <a:lnTo>
                    <a:pt x="0" y="1741289"/>
                  </a:lnTo>
                  <a:lnTo>
                    <a:pt x="0" y="0"/>
                  </a:lnTo>
                  <a:close/>
                </a:path>
              </a:pathLst>
            </a:custGeom>
          </p:spPr>
          <p:style>
            <a:lnRef idx="2">
              <a:schemeClr val="dk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2">
                <a:hueOff val="0"/>
                <a:satOff val="0"/>
                <a:lumOff val="0"/>
                <a:alphaOff val="0"/>
              </a:schemeClr>
            </a:fontRef>
          </p:style>
          <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endParaRPr lang="en-US" sz="6500" kern="1200" dirty="0">
                <a:latin typeface="Calibri" panose="020F0502020204030204" pitchFamily="34" charset="0"/>
                <a:ea typeface="Calibri" panose="020F0502020204030204" pitchFamily="34" charset="0"/>
                <a:cs typeface="Calibri" panose="020F0502020204030204" pitchFamily="34" charset="0"/>
              </a:endParaRPr>
            </a:p>
          </p:txBody>
        </p:sp>
        <p:sp>
          <p:nvSpPr>
            <p:cNvPr id="6" name="Freeform: Shape 5">
              <a:extLst>
                <a:ext uri="{FF2B5EF4-FFF2-40B4-BE49-F238E27FC236}">
                  <a16:creationId xmlns:a16="http://schemas.microsoft.com/office/drawing/2014/main" id="{3D92FB1A-D8B0-E020-2A40-F4642D0266C6}"/>
                </a:ext>
              </a:extLst>
            </p:cNvPr>
            <p:cNvSpPr/>
            <p:nvPr/>
          </p:nvSpPr>
          <p:spPr>
            <a:xfrm>
              <a:off x="4601963" y="651509"/>
              <a:ext cx="2980495" cy="1567866"/>
            </a:xfrm>
            <a:custGeom>
              <a:avLst/>
              <a:gdLst>
                <a:gd name="connsiteX0" fmla="*/ 0 w 2902148"/>
                <a:gd name="connsiteY0" fmla="*/ 0 h 1741289"/>
                <a:gd name="connsiteX1" fmla="*/ 2902148 w 2902148"/>
                <a:gd name="connsiteY1" fmla="*/ 0 h 1741289"/>
                <a:gd name="connsiteX2" fmla="*/ 2902148 w 2902148"/>
                <a:gd name="connsiteY2" fmla="*/ 1741289 h 1741289"/>
                <a:gd name="connsiteX3" fmla="*/ 0 w 2902148"/>
                <a:gd name="connsiteY3" fmla="*/ 1741289 h 1741289"/>
                <a:gd name="connsiteX4" fmla="*/ 0 w 2902148"/>
                <a:gd name="connsiteY4" fmla="*/ 0 h 1741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2148" h="1741289">
                  <a:moveTo>
                    <a:pt x="0" y="0"/>
                  </a:moveTo>
                  <a:lnTo>
                    <a:pt x="2902148" y="0"/>
                  </a:lnTo>
                  <a:lnTo>
                    <a:pt x="2902148" y="1741289"/>
                  </a:lnTo>
                  <a:lnTo>
                    <a:pt x="0" y="1741289"/>
                  </a:lnTo>
                  <a:lnTo>
                    <a:pt x="0" y="0"/>
                  </a:lnTo>
                  <a:close/>
                </a:path>
              </a:pathLst>
            </a:custGeom>
          </p:spPr>
          <p:style>
            <a:lnRef idx="2">
              <a:schemeClr val="dk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2">
                <a:hueOff val="0"/>
                <a:satOff val="0"/>
                <a:lumOff val="0"/>
                <a:alphaOff val="0"/>
              </a:schemeClr>
            </a:fontRef>
          </p:style>
          <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endParaRPr lang="en-US" sz="6500" kern="1200" dirty="0">
                <a:latin typeface="Calibri" panose="020F0502020204030204" pitchFamily="34" charset="0"/>
                <a:ea typeface="Calibri" panose="020F0502020204030204" pitchFamily="34" charset="0"/>
                <a:cs typeface="Calibri" panose="020F0502020204030204" pitchFamily="34" charset="0"/>
              </a:endParaRPr>
            </a:p>
          </p:txBody>
        </p:sp>
        <p:sp>
          <p:nvSpPr>
            <p:cNvPr id="7" name="Freeform: Shape 6">
              <a:extLst>
                <a:ext uri="{FF2B5EF4-FFF2-40B4-BE49-F238E27FC236}">
                  <a16:creationId xmlns:a16="http://schemas.microsoft.com/office/drawing/2014/main" id="{5DEBFF31-8295-B9DE-B194-970F9A1C81FE}"/>
                </a:ext>
              </a:extLst>
            </p:cNvPr>
            <p:cNvSpPr/>
            <p:nvPr/>
          </p:nvSpPr>
          <p:spPr>
            <a:xfrm>
              <a:off x="1378555" y="2502945"/>
              <a:ext cx="2980495" cy="1741049"/>
            </a:xfrm>
            <a:custGeom>
              <a:avLst/>
              <a:gdLst>
                <a:gd name="connsiteX0" fmla="*/ 0 w 2902148"/>
                <a:gd name="connsiteY0" fmla="*/ 0 h 1741289"/>
                <a:gd name="connsiteX1" fmla="*/ 2902148 w 2902148"/>
                <a:gd name="connsiteY1" fmla="*/ 0 h 1741289"/>
                <a:gd name="connsiteX2" fmla="*/ 2902148 w 2902148"/>
                <a:gd name="connsiteY2" fmla="*/ 1741289 h 1741289"/>
                <a:gd name="connsiteX3" fmla="*/ 0 w 2902148"/>
                <a:gd name="connsiteY3" fmla="*/ 1741289 h 1741289"/>
                <a:gd name="connsiteX4" fmla="*/ 0 w 2902148"/>
                <a:gd name="connsiteY4" fmla="*/ 0 h 1741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2148" h="1741289">
                  <a:moveTo>
                    <a:pt x="0" y="0"/>
                  </a:moveTo>
                  <a:lnTo>
                    <a:pt x="2902148" y="0"/>
                  </a:lnTo>
                  <a:lnTo>
                    <a:pt x="2902148" y="1741289"/>
                  </a:lnTo>
                  <a:lnTo>
                    <a:pt x="0" y="1741289"/>
                  </a:lnTo>
                  <a:lnTo>
                    <a:pt x="0" y="0"/>
                  </a:lnTo>
                  <a:close/>
                </a:path>
              </a:pathLst>
            </a:custGeom>
          </p:spPr>
          <p:style>
            <a:lnRef idx="2">
              <a:schemeClr val="dk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2">
                <a:hueOff val="0"/>
                <a:satOff val="0"/>
                <a:lumOff val="0"/>
                <a:alphaOff val="0"/>
              </a:schemeClr>
            </a:fontRef>
          </p:style>
          <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endParaRPr lang="en-US" sz="6500" kern="1200" dirty="0">
                <a:latin typeface="Calibri" panose="020F0502020204030204" pitchFamily="34" charset="0"/>
                <a:ea typeface="Calibri" panose="020F0502020204030204" pitchFamily="34" charset="0"/>
                <a:cs typeface="Calibri" panose="020F0502020204030204" pitchFamily="34" charset="0"/>
              </a:endParaRPr>
            </a:p>
          </p:txBody>
        </p:sp>
        <p:sp>
          <p:nvSpPr>
            <p:cNvPr id="8" name="Freeform: Shape 7">
              <a:extLst>
                <a:ext uri="{FF2B5EF4-FFF2-40B4-BE49-F238E27FC236}">
                  <a16:creationId xmlns:a16="http://schemas.microsoft.com/office/drawing/2014/main" id="{DABD1A88-54D9-6462-D3F4-865B1A159A49}"/>
                </a:ext>
              </a:extLst>
            </p:cNvPr>
            <p:cNvSpPr/>
            <p:nvPr/>
          </p:nvSpPr>
          <p:spPr>
            <a:xfrm>
              <a:off x="4588849" y="2508330"/>
              <a:ext cx="2980495" cy="1741049"/>
            </a:xfrm>
            <a:custGeom>
              <a:avLst/>
              <a:gdLst>
                <a:gd name="connsiteX0" fmla="*/ 0 w 2902148"/>
                <a:gd name="connsiteY0" fmla="*/ 0 h 1741289"/>
                <a:gd name="connsiteX1" fmla="*/ 2902148 w 2902148"/>
                <a:gd name="connsiteY1" fmla="*/ 0 h 1741289"/>
                <a:gd name="connsiteX2" fmla="*/ 2902148 w 2902148"/>
                <a:gd name="connsiteY2" fmla="*/ 1741289 h 1741289"/>
                <a:gd name="connsiteX3" fmla="*/ 0 w 2902148"/>
                <a:gd name="connsiteY3" fmla="*/ 1741289 h 1741289"/>
                <a:gd name="connsiteX4" fmla="*/ 0 w 2902148"/>
                <a:gd name="connsiteY4" fmla="*/ 0 h 1741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2148" h="1741289">
                  <a:moveTo>
                    <a:pt x="0" y="0"/>
                  </a:moveTo>
                  <a:lnTo>
                    <a:pt x="2902148" y="0"/>
                  </a:lnTo>
                  <a:lnTo>
                    <a:pt x="2902148" y="1741289"/>
                  </a:lnTo>
                  <a:lnTo>
                    <a:pt x="0" y="1741289"/>
                  </a:lnTo>
                  <a:lnTo>
                    <a:pt x="0" y="0"/>
                  </a:lnTo>
                  <a:close/>
                </a:path>
              </a:pathLst>
            </a:custGeom>
          </p:spPr>
          <p:style>
            <a:lnRef idx="2">
              <a:schemeClr val="dk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2">
                <a:hueOff val="0"/>
                <a:satOff val="0"/>
                <a:lumOff val="0"/>
                <a:alphaOff val="0"/>
              </a:schemeClr>
            </a:fontRef>
          </p:style>
          <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endParaRPr lang="en-US" sz="6500" kern="1200" dirty="0">
                <a:latin typeface="Calibri" panose="020F0502020204030204" pitchFamily="34" charset="0"/>
                <a:ea typeface="Calibri" panose="020F0502020204030204" pitchFamily="34" charset="0"/>
                <a:cs typeface="Calibri" panose="020F0502020204030204" pitchFamily="34" charset="0"/>
              </a:endParaRPr>
            </a:p>
          </p:txBody>
        </p:sp>
      </p:grpSp>
      <p:sp>
        <p:nvSpPr>
          <p:cNvPr id="9" name="TextBox 8">
            <a:extLst>
              <a:ext uri="{FF2B5EF4-FFF2-40B4-BE49-F238E27FC236}">
                <a16:creationId xmlns:a16="http://schemas.microsoft.com/office/drawing/2014/main" id="{E14FFC10-0386-0CD1-9B88-EF967B5C1276}"/>
              </a:ext>
            </a:extLst>
          </p:cNvPr>
          <p:cNvSpPr txBox="1"/>
          <p:nvPr/>
        </p:nvSpPr>
        <p:spPr>
          <a:xfrm>
            <a:off x="732267" y="1083945"/>
            <a:ext cx="3904488" cy="1497846"/>
          </a:xfrm>
          <a:prstGeom prst="rect">
            <a:avLst/>
          </a:prstGeom>
          <a:noFill/>
        </p:spPr>
        <p:txBody>
          <a:bodyPr wrap="square">
            <a:spAutoFit/>
          </a:bodyPr>
          <a:lstStyle/>
          <a:p>
            <a:pPr marL="0" indent="0" algn="just"/>
            <a:r>
              <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rPr>
              <a:t>India</a:t>
            </a:r>
          </a:p>
          <a:p>
            <a:pPr marL="0" indent="0" algn="just"/>
            <a:endPar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indent="0" algn="just"/>
            <a:r>
              <a:rPr lang="en-US" sz="1000" dirty="0">
                <a:solidFill>
                  <a:schemeClr val="tx1"/>
                </a:solidFill>
                <a:latin typeface="+mj-lt"/>
                <a:ea typeface="Calibri" panose="020F0502020204030204" pitchFamily="34" charset="0"/>
                <a:cs typeface="Calibri" panose="020F0502020204030204" pitchFamily="34" charset="0"/>
              </a:rPr>
              <a:t>RBI keeps policy rate unchanged at 5.25%, maintains neutral stance, and projects 7.4% GDP growth</a:t>
            </a:r>
          </a:p>
          <a:p>
            <a:pPr marL="0" indent="0" algn="just"/>
            <a:endParaRPr lang="en-US" sz="1000" dirty="0">
              <a:solidFill>
                <a:schemeClr val="tx1"/>
              </a:solidFill>
              <a:latin typeface="+mj-lt"/>
            </a:endParaRPr>
          </a:p>
          <a:p>
            <a:pPr algn="just"/>
            <a:r>
              <a:rPr lang="en-US" sz="1000" dirty="0">
                <a:solidFill>
                  <a:schemeClr val="tx1"/>
                </a:solidFill>
                <a:latin typeface="+mj-lt"/>
              </a:rPr>
              <a:t>Union budget set fiscal deficit target of 4.3% of GDP, increased Government budget  allocation to INR 12.2 lakh crore, up by 10% y-o-y </a:t>
            </a:r>
          </a:p>
          <a:p>
            <a:pPr algn="just">
              <a:lnSpc>
                <a:spcPct val="90000"/>
              </a:lnSpc>
              <a:spcBef>
                <a:spcPts val="1000"/>
              </a:spcBef>
              <a:buSzPct val="80000"/>
            </a:pPr>
            <a:r>
              <a:rPr lang="en-US" sz="1000" dirty="0">
                <a:solidFill>
                  <a:schemeClr val="tx1"/>
                </a:solidFill>
                <a:latin typeface="+mj-lt"/>
                <a:cs typeface="Arial" panose="020B0604020202020204" pitchFamily="34" charset="0"/>
              </a:rPr>
              <a:t>India – Europe signed free trade agreement, expect to boost exports </a:t>
            </a:r>
          </a:p>
        </p:txBody>
      </p:sp>
      <p:sp>
        <p:nvSpPr>
          <p:cNvPr id="10" name="TextBox 9">
            <a:extLst>
              <a:ext uri="{FF2B5EF4-FFF2-40B4-BE49-F238E27FC236}">
                <a16:creationId xmlns:a16="http://schemas.microsoft.com/office/drawing/2014/main" id="{20B278AE-3837-4396-8693-A4E67E5DDA1B}"/>
              </a:ext>
            </a:extLst>
          </p:cNvPr>
          <p:cNvSpPr txBox="1"/>
          <p:nvPr/>
        </p:nvSpPr>
        <p:spPr>
          <a:xfrm>
            <a:off x="4954975" y="998642"/>
            <a:ext cx="3904488" cy="1661993"/>
          </a:xfrm>
          <a:prstGeom prst="rect">
            <a:avLst/>
          </a:prstGeom>
          <a:noFill/>
        </p:spPr>
        <p:txBody>
          <a:bodyPr wrap="square" anchor="ctr">
            <a:spAutoFit/>
          </a:bodyPr>
          <a:lstStyle/>
          <a:p>
            <a:r>
              <a:rPr lang="en-US" sz="1200" b="1" dirty="0">
                <a:latin typeface="+mn-lt"/>
                <a:ea typeface="Calibri" panose="020F0502020204030204" pitchFamily="34" charset="0"/>
                <a:cs typeface="Calibri" panose="020F0502020204030204" pitchFamily="34" charset="0"/>
              </a:rPr>
              <a:t>Other International Market</a:t>
            </a:r>
          </a:p>
          <a:p>
            <a:endParaRPr lang="en-US" sz="1000" dirty="0">
              <a:latin typeface="+mn-lt"/>
              <a:ea typeface="Calibri" panose="020F0502020204030204" pitchFamily="34" charset="0"/>
              <a:cs typeface="Calibri" panose="020F0502020204030204" pitchFamily="34" charset="0"/>
            </a:endParaRPr>
          </a:p>
          <a:p>
            <a:pPr algn="just"/>
            <a:r>
              <a:rPr lang="en-US" sz="1000" dirty="0">
                <a:latin typeface="+mn-lt"/>
              </a:rPr>
              <a:t>India- US trade deal, cuts US tariffs on Indian goods to 18%</a:t>
            </a:r>
          </a:p>
          <a:p>
            <a:pPr algn="just"/>
            <a:endParaRPr lang="en-US" sz="1000" dirty="0">
              <a:latin typeface="+mn-lt"/>
            </a:endParaRPr>
          </a:p>
          <a:p>
            <a:pPr algn="just"/>
            <a:r>
              <a:rPr lang="en-US" sz="1000" dirty="0">
                <a:latin typeface="+mn-lt"/>
              </a:rPr>
              <a:t>Japanese yen weakened to ~153-155 per USD, driven by election uncertainty and stimulus expectations</a:t>
            </a:r>
          </a:p>
          <a:p>
            <a:pPr algn="just"/>
            <a:endParaRPr lang="en-US" sz="1000" dirty="0">
              <a:latin typeface="+mn-lt"/>
            </a:endParaRPr>
          </a:p>
          <a:p>
            <a:pPr algn="just"/>
            <a:r>
              <a:rPr lang="en-US" sz="1000" dirty="0">
                <a:latin typeface="+mn-lt"/>
              </a:rPr>
              <a:t>US–Iran tensions remain elevated amid ongoing nuclear and geopolitical differences</a:t>
            </a:r>
          </a:p>
          <a:p>
            <a:pPr algn="just"/>
            <a:endParaRPr lang="en-US" sz="1000" dirty="0">
              <a:latin typeface="+mn-lt"/>
              <a:cs typeface="Arial" panose="020B0604020202020204" pitchFamily="34" charset="0"/>
            </a:endParaRPr>
          </a:p>
        </p:txBody>
      </p:sp>
      <p:sp>
        <p:nvSpPr>
          <p:cNvPr id="11" name="TextBox 10">
            <a:extLst>
              <a:ext uri="{FF2B5EF4-FFF2-40B4-BE49-F238E27FC236}">
                <a16:creationId xmlns:a16="http://schemas.microsoft.com/office/drawing/2014/main" id="{456DDE92-5350-52CB-5EEB-D7D1387EA61D}"/>
              </a:ext>
            </a:extLst>
          </p:cNvPr>
          <p:cNvSpPr txBox="1"/>
          <p:nvPr/>
        </p:nvSpPr>
        <p:spPr>
          <a:xfrm>
            <a:off x="714163" y="2826900"/>
            <a:ext cx="3883935" cy="1641219"/>
          </a:xfrm>
          <a:prstGeom prst="rect">
            <a:avLst/>
          </a:prstGeom>
          <a:noFill/>
        </p:spPr>
        <p:txBody>
          <a:bodyPr wrap="square">
            <a:spAutoFit/>
          </a:bodyPr>
          <a:lstStyle/>
          <a:p>
            <a:pPr algn="just">
              <a:lnSpc>
                <a:spcPct val="110000"/>
              </a:lnSpc>
              <a:buFont typeface="Arial"/>
              <a:buNone/>
            </a:pPr>
            <a:r>
              <a:rPr lang="en-US" sz="1200" b="1" dirty="0">
                <a:latin typeface="+mn-lt"/>
                <a:ea typeface="Calibri" panose="020F0502020204030204" pitchFamily="34" charset="0"/>
                <a:cs typeface="Calibri" panose="020F0502020204030204" pitchFamily="34" charset="0"/>
              </a:rPr>
              <a:t>U.S.</a:t>
            </a:r>
          </a:p>
          <a:p>
            <a:pPr algn="just">
              <a:lnSpc>
                <a:spcPct val="110000"/>
              </a:lnSpc>
            </a:pPr>
            <a:endParaRPr lang="en-US" sz="1000" dirty="0">
              <a:solidFill>
                <a:srgbClr val="FF0000"/>
              </a:solidFill>
              <a:latin typeface="+mn-lt"/>
              <a:ea typeface="Calibri" panose="020F0502020204030204" pitchFamily="34" charset="0"/>
              <a:cs typeface="Calibri" panose="020F0502020204030204" pitchFamily="34" charset="0"/>
            </a:endParaRPr>
          </a:p>
          <a:p>
            <a:pPr algn="just">
              <a:lnSpc>
                <a:spcPct val="110000"/>
              </a:lnSpc>
            </a:pPr>
            <a:r>
              <a:rPr lang="en-US" sz="1000" dirty="0">
                <a:latin typeface="+mn-lt"/>
              </a:rPr>
              <a:t>Fed left interest rate unchanged in Jan-26, in line with street expectations</a:t>
            </a:r>
          </a:p>
          <a:p>
            <a:pPr algn="just">
              <a:lnSpc>
                <a:spcPct val="110000"/>
              </a:lnSpc>
            </a:pPr>
            <a:endParaRPr lang="en-US" sz="1000" dirty="0">
              <a:solidFill>
                <a:schemeClr val="tx1"/>
              </a:solidFill>
              <a:latin typeface="+mn-lt"/>
              <a:ea typeface="Calibri" panose="020F0502020204030204" pitchFamily="34" charset="0"/>
              <a:cs typeface="Calibri" panose="020F0502020204030204" pitchFamily="34" charset="0"/>
            </a:endParaRPr>
          </a:p>
          <a:p>
            <a:pPr algn="just">
              <a:lnSpc>
                <a:spcPct val="110000"/>
              </a:lnSpc>
            </a:pPr>
            <a:r>
              <a:rPr lang="en-US" sz="1000" dirty="0">
                <a:solidFill>
                  <a:schemeClr val="tx1"/>
                </a:solidFill>
                <a:latin typeface="+mn-lt"/>
                <a:cs typeface="Arial" panose="020B0604020202020204" pitchFamily="34" charset="0"/>
              </a:rPr>
              <a:t>US</a:t>
            </a:r>
            <a:r>
              <a:rPr lang="en-US" sz="1000" dirty="0">
                <a:latin typeface="+mn-lt"/>
                <a:cs typeface="Arial" panose="020B0604020202020204" pitchFamily="34" charset="0"/>
              </a:rPr>
              <a:t> headline CPI remained to 2.7% in Dec-25</a:t>
            </a:r>
          </a:p>
          <a:p>
            <a:pPr algn="just">
              <a:lnSpc>
                <a:spcPct val="110000"/>
              </a:lnSpc>
            </a:pPr>
            <a:endParaRPr lang="en-US" sz="1000" dirty="0">
              <a:solidFill>
                <a:schemeClr val="tx1"/>
              </a:solidFill>
              <a:latin typeface="+mn-lt"/>
              <a:cs typeface="Arial" panose="020B0604020202020204" pitchFamily="34" charset="0"/>
            </a:endParaRPr>
          </a:p>
          <a:p>
            <a:pPr algn="just">
              <a:lnSpc>
                <a:spcPct val="110000"/>
              </a:lnSpc>
            </a:pPr>
            <a:r>
              <a:rPr lang="en-US" sz="1000" dirty="0">
                <a:solidFill>
                  <a:schemeClr val="tx1"/>
                </a:solidFill>
                <a:latin typeface="+mn-lt"/>
                <a:cs typeface="Arial" panose="020B0604020202020204" pitchFamily="34" charset="0"/>
              </a:rPr>
              <a:t>US president signed $1.2 tn budget, ending partial government shutdown</a:t>
            </a:r>
          </a:p>
        </p:txBody>
      </p:sp>
      <p:sp>
        <p:nvSpPr>
          <p:cNvPr id="12" name="TextBox 11">
            <a:extLst>
              <a:ext uri="{FF2B5EF4-FFF2-40B4-BE49-F238E27FC236}">
                <a16:creationId xmlns:a16="http://schemas.microsoft.com/office/drawing/2014/main" id="{9B7319D2-C40D-5463-218E-8EE87F5E2E56}"/>
              </a:ext>
            </a:extLst>
          </p:cNvPr>
          <p:cNvSpPr txBox="1"/>
          <p:nvPr/>
        </p:nvSpPr>
        <p:spPr>
          <a:xfrm>
            <a:off x="4937795" y="2867880"/>
            <a:ext cx="3921668" cy="1492716"/>
          </a:xfrm>
          <a:prstGeom prst="rect">
            <a:avLst/>
          </a:prstGeom>
          <a:noFill/>
        </p:spPr>
        <p:txBody>
          <a:bodyPr wrap="square">
            <a:spAutoFit/>
          </a:bodyPr>
          <a:lstStyle/>
          <a:p>
            <a:pPr marL="0" indent="0"/>
            <a:r>
              <a:rPr lang="en-US" sz="1200" b="1" dirty="0">
                <a:latin typeface="Calibri" panose="020F0502020204030204" pitchFamily="34" charset="0"/>
                <a:ea typeface="Calibri" panose="020F0502020204030204" pitchFamily="34" charset="0"/>
                <a:cs typeface="Calibri" panose="020F0502020204030204" pitchFamily="34" charset="0"/>
              </a:rPr>
              <a:t>International </a:t>
            </a:r>
          </a:p>
          <a:p>
            <a:endParaRPr lang="en-US" sz="900" dirty="0">
              <a:latin typeface="+mn-lt"/>
            </a:endParaRPr>
          </a:p>
          <a:p>
            <a:r>
              <a:rPr lang="en-US" sz="1000" dirty="0">
                <a:latin typeface="+mn-lt"/>
              </a:rPr>
              <a:t>Gold touched $5,500 per ounce  &amp; Silver $121.8 per ounce in Jan-26 </a:t>
            </a:r>
          </a:p>
          <a:p>
            <a:endParaRPr lang="en-US" sz="1000" dirty="0">
              <a:latin typeface="+mn-lt"/>
            </a:endParaRPr>
          </a:p>
          <a:p>
            <a:r>
              <a:rPr lang="en-US" sz="1000" dirty="0">
                <a:latin typeface="+mn-lt"/>
              </a:rPr>
              <a:t>Brent crude touched ~USD 71/bbl but eased later, on escalating tensions between US-Iran  </a:t>
            </a:r>
          </a:p>
          <a:p>
            <a:endParaRPr lang="en-US" sz="1000" dirty="0">
              <a:latin typeface="+mn-lt"/>
            </a:endParaRPr>
          </a:p>
          <a:p>
            <a:r>
              <a:rPr lang="en-US" sz="1000" dirty="0">
                <a:latin typeface="+mn-lt"/>
              </a:rPr>
              <a:t>Global sentiment stayed cautious, rising commodity prices and mixed economic data and geopolitical tensions</a:t>
            </a:r>
          </a:p>
        </p:txBody>
      </p:sp>
      <p:sp>
        <p:nvSpPr>
          <p:cNvPr id="2" name="TextBox 1">
            <a:extLst>
              <a:ext uri="{FF2B5EF4-FFF2-40B4-BE49-F238E27FC236}">
                <a16:creationId xmlns:a16="http://schemas.microsoft.com/office/drawing/2014/main" id="{BFBD31A5-6529-E59F-27A7-3145111AE894}"/>
              </a:ext>
            </a:extLst>
          </p:cNvPr>
          <p:cNvSpPr txBox="1"/>
          <p:nvPr/>
        </p:nvSpPr>
        <p:spPr>
          <a:xfrm>
            <a:off x="6117557" y="4550246"/>
            <a:ext cx="2892000" cy="338554"/>
          </a:xfrm>
          <a:prstGeom prst="rect">
            <a:avLst/>
          </a:prstGeom>
          <a:noFill/>
        </p:spPr>
        <p:txBody>
          <a:bodyPr wrap="square" rtlCol="0">
            <a:spAutoFit/>
          </a:bodyPr>
          <a:lstStyle/>
          <a:p>
            <a:pPr algn="r"/>
            <a:r>
              <a:rPr lang="en-US" sz="800" i="1" dirty="0">
                <a:latin typeface="Calibri" panose="020F0502020204030204" pitchFamily="34" charset="0"/>
                <a:ea typeface="Calibri" panose="020F0502020204030204" pitchFamily="34" charset="0"/>
                <a:cs typeface="Calibri" panose="020F0502020204030204" pitchFamily="34" charset="0"/>
              </a:rPr>
              <a:t>Source: Moneycontrol, Bloomberg, CNBC, Trading economics</a:t>
            </a:r>
          </a:p>
          <a:p>
            <a:pPr algn="r"/>
            <a:r>
              <a:rPr lang="en-US" sz="800" i="1" dirty="0">
                <a:latin typeface="Calibri" panose="020F0502020204030204" pitchFamily="34" charset="0"/>
                <a:ea typeface="Calibri" panose="020F0502020204030204" pitchFamily="34" charset="0"/>
                <a:cs typeface="Calibri" panose="020F0502020204030204" pitchFamily="34" charset="0"/>
              </a:rPr>
              <a:t>As </a:t>
            </a:r>
            <a:r>
              <a:rPr lang="en-US" sz="800" i="1" dirty="0">
                <a:solidFill>
                  <a:schemeClr val="tx1"/>
                </a:solidFill>
                <a:latin typeface="Calibri" panose="020F0502020204030204" pitchFamily="34" charset="0"/>
                <a:ea typeface="Calibri" panose="020F0502020204030204" pitchFamily="34" charset="0"/>
                <a:cs typeface="Calibri" panose="020F0502020204030204" pitchFamily="34" charset="0"/>
              </a:rPr>
              <a:t>on 6</a:t>
            </a:r>
            <a:r>
              <a:rPr lang="en-US" sz="800" i="1" baseline="30000" dirty="0">
                <a:solidFill>
                  <a:schemeClr val="tx1"/>
                </a:solidFill>
                <a:latin typeface="Calibri" panose="020F0502020204030204" pitchFamily="34" charset="0"/>
                <a:ea typeface="Calibri" panose="020F0502020204030204" pitchFamily="34" charset="0"/>
                <a:cs typeface="Calibri" panose="020F0502020204030204" pitchFamily="34" charset="0"/>
              </a:rPr>
              <a:t>th</a:t>
            </a:r>
            <a:r>
              <a:rPr lang="en-US" sz="800" i="1" dirty="0">
                <a:solidFill>
                  <a:schemeClr val="tx1"/>
                </a:solidFill>
                <a:latin typeface="Calibri" panose="020F0502020204030204" pitchFamily="34" charset="0"/>
                <a:ea typeface="Calibri" panose="020F0502020204030204" pitchFamily="34" charset="0"/>
                <a:cs typeface="Calibri" panose="020F0502020204030204" pitchFamily="34" charset="0"/>
              </a:rPr>
              <a:t> February 2026</a:t>
            </a:r>
          </a:p>
        </p:txBody>
      </p:sp>
      <p:pic>
        <p:nvPicPr>
          <p:cNvPr id="13" name="Picture 12">
            <a:extLst>
              <a:ext uri="{FF2B5EF4-FFF2-40B4-BE49-F238E27FC236}">
                <a16:creationId xmlns:a16="http://schemas.microsoft.com/office/drawing/2014/main" id="{E3185110-CF42-3EBE-3A37-B1860F270B12}"/>
              </a:ext>
            </a:extLst>
          </p:cNvPr>
          <p:cNvPicPr>
            <a:picLocks noChangeAspect="1"/>
          </p:cNvPicPr>
          <p:nvPr/>
        </p:nvPicPr>
        <p:blipFill>
          <a:blip r:embed="rId3"/>
          <a:stretch>
            <a:fillRect/>
          </a:stretch>
        </p:blipFill>
        <p:spPr>
          <a:xfrm>
            <a:off x="7819053" y="116485"/>
            <a:ext cx="1190504" cy="566010"/>
          </a:xfrm>
          <a:prstGeom prst="rect">
            <a:avLst/>
          </a:prstGeom>
        </p:spPr>
      </p:pic>
    </p:spTree>
    <p:extLst>
      <p:ext uri="{BB962C8B-B14F-4D97-AF65-F5344CB8AC3E}">
        <p14:creationId xmlns:p14="http://schemas.microsoft.com/office/powerpoint/2010/main" val="3469419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9">
          <a:extLst>
            <a:ext uri="{FF2B5EF4-FFF2-40B4-BE49-F238E27FC236}">
              <a16:creationId xmlns:a16="http://schemas.microsoft.com/office/drawing/2014/main" id="{F4B54B36-D814-67AC-9769-FF0DC0EDDDA3}"/>
            </a:ext>
          </a:extLst>
        </p:cNvPr>
        <p:cNvGrpSpPr/>
        <p:nvPr/>
      </p:nvGrpSpPr>
      <p:grpSpPr>
        <a:xfrm>
          <a:off x="0" y="0"/>
          <a:ext cx="0" cy="0"/>
          <a:chOff x="0" y="0"/>
          <a:chExt cx="0" cy="0"/>
        </a:xfrm>
      </p:grpSpPr>
      <p:sp>
        <p:nvSpPr>
          <p:cNvPr id="260" name="Google Shape;260;p6">
            <a:extLst>
              <a:ext uri="{FF2B5EF4-FFF2-40B4-BE49-F238E27FC236}">
                <a16:creationId xmlns:a16="http://schemas.microsoft.com/office/drawing/2014/main" id="{E0B32E16-E79B-429D-CF04-4866835A9BDC}"/>
              </a:ext>
            </a:extLst>
          </p:cNvPr>
          <p:cNvSpPr txBox="1">
            <a:spLocks noGrp="1"/>
          </p:cNvSpPr>
          <p:nvPr>
            <p:ph type="title"/>
          </p:nvPr>
        </p:nvSpPr>
        <p:spPr>
          <a:xfrm>
            <a:off x="682569" y="394620"/>
            <a:ext cx="6983695" cy="521208"/>
          </a:xfrm>
          <a:prstGeom prst="rect">
            <a:avLst/>
          </a:prstGeom>
          <a:solidFill>
            <a:srgbClr val="FECA08"/>
          </a:solidFill>
          <a:ln>
            <a:noFill/>
          </a:ln>
        </p:spPr>
        <p:txBody>
          <a:bodyPr spcFirstLastPara="1" wrap="square" lIns="91425" tIns="91425" rIns="91425" bIns="91425" anchor="t" anchorCtr="0">
            <a:noAutofit/>
          </a:bodyPr>
          <a:lstStyle/>
          <a:p>
            <a:pPr lvl="0"/>
            <a:r>
              <a:rPr lang="en-US" sz="2000" dirty="0">
                <a:latin typeface="+mn-lt"/>
              </a:rPr>
              <a:t>Indian</a:t>
            </a:r>
            <a:r>
              <a:rPr lang="en-US" sz="2000" i="1" dirty="0">
                <a:latin typeface="+mn-lt"/>
              </a:rPr>
              <a:t> </a:t>
            </a:r>
            <a:r>
              <a:rPr lang="en-US" sz="2000" dirty="0">
                <a:latin typeface="+mn-lt"/>
              </a:rPr>
              <a:t>markets underperformed in Jan-26</a:t>
            </a:r>
            <a:endParaRPr sz="2000" dirty="0">
              <a:latin typeface="+mn-lt"/>
              <a:ea typeface="Calibri" panose="020F0502020204030204" pitchFamily="34" charset="0"/>
              <a:cs typeface="Calibri" panose="020F0502020204030204" pitchFamily="34" charset="0"/>
            </a:endParaRPr>
          </a:p>
        </p:txBody>
      </p:sp>
      <p:grpSp>
        <p:nvGrpSpPr>
          <p:cNvPr id="262" name="Google Shape;262;p6">
            <a:extLst>
              <a:ext uri="{FF2B5EF4-FFF2-40B4-BE49-F238E27FC236}">
                <a16:creationId xmlns:a16="http://schemas.microsoft.com/office/drawing/2014/main" id="{413DE8B0-606F-84AB-B13D-C5A22E45A252}"/>
              </a:ext>
            </a:extLst>
          </p:cNvPr>
          <p:cNvGrpSpPr/>
          <p:nvPr/>
        </p:nvGrpSpPr>
        <p:grpSpPr>
          <a:xfrm>
            <a:off x="-25" y="4872600"/>
            <a:ext cx="9144000" cy="270900"/>
            <a:chOff x="-25" y="4872600"/>
            <a:chExt cx="9144000" cy="270900"/>
          </a:xfrm>
        </p:grpSpPr>
        <p:sp>
          <p:nvSpPr>
            <p:cNvPr id="263" name="Google Shape;263;p6">
              <a:extLst>
                <a:ext uri="{FF2B5EF4-FFF2-40B4-BE49-F238E27FC236}">
                  <a16:creationId xmlns:a16="http://schemas.microsoft.com/office/drawing/2014/main" id="{8C817BF0-00F4-4F91-88CE-4793837F3D24}"/>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264" name="Google Shape;264;p6">
              <a:extLst>
                <a:ext uri="{FF2B5EF4-FFF2-40B4-BE49-F238E27FC236}">
                  <a16:creationId xmlns:a16="http://schemas.microsoft.com/office/drawing/2014/main" id="{718FBEA7-FF20-1AE9-DE9F-A04561DC7DC2}"/>
                </a:ext>
              </a:extLst>
            </p:cNvPr>
            <p:cNvGrpSpPr/>
            <p:nvPr/>
          </p:nvGrpSpPr>
          <p:grpSpPr>
            <a:xfrm>
              <a:off x="3101100" y="4872600"/>
              <a:ext cx="2941800" cy="270900"/>
              <a:chOff x="3084200" y="4934525"/>
              <a:chExt cx="2941800" cy="270900"/>
            </a:xfrm>
          </p:grpSpPr>
          <p:sp>
            <p:nvSpPr>
              <p:cNvPr id="265" name="Google Shape;265;p6">
                <a:extLst>
                  <a:ext uri="{FF2B5EF4-FFF2-40B4-BE49-F238E27FC236}">
                    <a16:creationId xmlns:a16="http://schemas.microsoft.com/office/drawing/2014/main" id="{1DC3F893-F79F-3CE0-CEB9-EB4AD8D12FDA}"/>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266" name="Google Shape;266;p6">
                <a:extLst>
                  <a:ext uri="{FF2B5EF4-FFF2-40B4-BE49-F238E27FC236}">
                    <a16:creationId xmlns:a16="http://schemas.microsoft.com/office/drawing/2014/main" id="{AA1D54D3-4A57-FE4C-FA16-70330DBFCED5}"/>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sp>
        <p:nvSpPr>
          <p:cNvPr id="36" name="TextBox 35">
            <a:extLst>
              <a:ext uri="{FF2B5EF4-FFF2-40B4-BE49-F238E27FC236}">
                <a16:creationId xmlns:a16="http://schemas.microsoft.com/office/drawing/2014/main" id="{CA1D1660-BE2C-EF5E-EC48-38FE65EE7DD3}"/>
              </a:ext>
            </a:extLst>
          </p:cNvPr>
          <p:cNvSpPr txBox="1"/>
          <p:nvPr/>
        </p:nvSpPr>
        <p:spPr>
          <a:xfrm>
            <a:off x="6470189" y="4557313"/>
            <a:ext cx="2673786" cy="338554"/>
          </a:xfrm>
          <a:prstGeom prst="rect">
            <a:avLst/>
          </a:prstGeom>
          <a:noFill/>
        </p:spPr>
        <p:txBody>
          <a:bodyPr wrap="square" rtlCol="0">
            <a:spAutoFit/>
          </a:bodyPr>
          <a:lstStyle/>
          <a:p>
            <a:pPr algn="r">
              <a:buClrTx/>
              <a:buFontTx/>
              <a:buNone/>
            </a:pPr>
            <a:r>
              <a:rPr lang="en-US" sz="800" i="1" kern="1200" dirty="0">
                <a:latin typeface="Calibri" panose="020F0502020204030204" pitchFamily="34" charset="0"/>
                <a:ea typeface="Calibri" panose="020F0502020204030204" pitchFamily="34" charset="0"/>
                <a:cs typeface="Calibri" panose="020F0502020204030204" pitchFamily="34" charset="0"/>
              </a:rPr>
              <a:t>Data Source: NiftyIndices.com </a:t>
            </a:r>
          </a:p>
          <a:p>
            <a:pPr algn="r">
              <a:buClrTx/>
              <a:buFontTx/>
              <a:buNone/>
            </a:pPr>
            <a:r>
              <a:rPr lang="en-US" sz="800" i="1" kern="1200" dirty="0">
                <a:latin typeface="Calibri" panose="020F0502020204030204" pitchFamily="34" charset="0"/>
                <a:ea typeface="Calibri" panose="020F0502020204030204" pitchFamily="34" charset="0"/>
                <a:cs typeface="Calibri" panose="020F0502020204030204" pitchFamily="34" charset="0"/>
              </a:rPr>
              <a:t>Data as on 30</a:t>
            </a:r>
            <a:r>
              <a:rPr lang="en-US" sz="800" i="1" kern="1200" baseline="30000" dirty="0">
                <a:latin typeface="Calibri" panose="020F0502020204030204" pitchFamily="34" charset="0"/>
                <a:ea typeface="Calibri" panose="020F0502020204030204" pitchFamily="34" charset="0"/>
                <a:cs typeface="Calibri" panose="020F0502020204030204" pitchFamily="34" charset="0"/>
              </a:rPr>
              <a:t>th </a:t>
            </a:r>
            <a:r>
              <a:rPr lang="en-US" sz="800" i="1" kern="1200" dirty="0">
                <a:latin typeface="Calibri" panose="020F0502020204030204" pitchFamily="34" charset="0"/>
                <a:ea typeface="Calibri" panose="020F0502020204030204" pitchFamily="34" charset="0"/>
                <a:cs typeface="Calibri" panose="020F0502020204030204" pitchFamily="34" charset="0"/>
              </a:rPr>
              <a:t>January 2026</a:t>
            </a:r>
          </a:p>
        </p:txBody>
      </p:sp>
      <p:cxnSp>
        <p:nvCxnSpPr>
          <p:cNvPr id="39" name="Straight Arrow Connector 38">
            <a:extLst>
              <a:ext uri="{FF2B5EF4-FFF2-40B4-BE49-F238E27FC236}">
                <a16:creationId xmlns:a16="http://schemas.microsoft.com/office/drawing/2014/main" id="{F45315C4-82F9-6939-3FAC-6B5E71C41E97}"/>
              </a:ext>
            </a:extLst>
          </p:cNvPr>
          <p:cNvCxnSpPr>
            <a:cxnSpLocks/>
          </p:cNvCxnSpPr>
          <p:nvPr/>
        </p:nvCxnSpPr>
        <p:spPr>
          <a:xfrm flipV="1">
            <a:off x="3988137" y="3593743"/>
            <a:ext cx="0" cy="11899"/>
          </a:xfrm>
          <a:prstGeom prst="straightConnector1">
            <a:avLst/>
          </a:prstGeom>
          <a:noFill/>
          <a:ln w="6350" cap="flat" cmpd="sng" algn="ctr">
            <a:solidFill>
              <a:srgbClr val="FF9900"/>
            </a:solidFill>
            <a:prstDash val="solid"/>
            <a:miter lim="800000"/>
            <a:tailEnd type="triangle"/>
          </a:ln>
          <a:effectLst/>
        </p:spPr>
      </p:cxnSp>
      <p:cxnSp>
        <p:nvCxnSpPr>
          <p:cNvPr id="42" name="Straight Arrow Connector 41">
            <a:extLst>
              <a:ext uri="{FF2B5EF4-FFF2-40B4-BE49-F238E27FC236}">
                <a16:creationId xmlns:a16="http://schemas.microsoft.com/office/drawing/2014/main" id="{810BB7C4-824C-FBBF-24CD-CEC5E0E22932}"/>
              </a:ext>
            </a:extLst>
          </p:cNvPr>
          <p:cNvCxnSpPr>
            <a:cxnSpLocks/>
          </p:cNvCxnSpPr>
          <p:nvPr/>
        </p:nvCxnSpPr>
        <p:spPr>
          <a:xfrm flipV="1">
            <a:off x="10916494" y="3523406"/>
            <a:ext cx="0" cy="11899"/>
          </a:xfrm>
          <a:prstGeom prst="straightConnector1">
            <a:avLst/>
          </a:prstGeom>
          <a:noFill/>
          <a:ln w="6350" cap="flat" cmpd="sng" algn="ctr">
            <a:solidFill>
              <a:srgbClr val="FF9900"/>
            </a:solidFill>
            <a:prstDash val="solid"/>
            <a:miter lim="800000"/>
            <a:tailEnd type="triangle"/>
          </a:ln>
          <a:effectLst/>
        </p:spPr>
      </p:cxnSp>
      <p:sp>
        <p:nvSpPr>
          <p:cNvPr id="23" name="TextBox 22">
            <a:extLst>
              <a:ext uri="{FF2B5EF4-FFF2-40B4-BE49-F238E27FC236}">
                <a16:creationId xmlns:a16="http://schemas.microsoft.com/office/drawing/2014/main" id="{7F130CB4-49D3-659F-04F3-74728FC77290}"/>
              </a:ext>
            </a:extLst>
          </p:cNvPr>
          <p:cNvSpPr txBox="1"/>
          <p:nvPr/>
        </p:nvSpPr>
        <p:spPr>
          <a:xfrm>
            <a:off x="682569" y="3899475"/>
            <a:ext cx="7329305" cy="461665"/>
          </a:xfrm>
          <a:prstGeom prst="rect">
            <a:avLst/>
          </a:prstGeom>
          <a:solidFill>
            <a:schemeClr val="bg1"/>
          </a:solidFill>
          <a:ln w="6350">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marL="171450" indent="-171450">
              <a:buFont typeface="Wingdings" panose="05000000000000000000" pitchFamily="2" charset="2"/>
              <a:buChar char="q"/>
            </a:pPr>
            <a:r>
              <a:rPr lang="en-US" sz="1200" dirty="0">
                <a:solidFill>
                  <a:schemeClr val="tx1"/>
                </a:solidFill>
              </a:rPr>
              <a:t>All indices were down in 1M period</a:t>
            </a:r>
          </a:p>
          <a:p>
            <a:pPr marL="171450" indent="-171450">
              <a:buFont typeface="Wingdings" panose="05000000000000000000" pitchFamily="2" charset="2"/>
              <a:buChar char="q"/>
            </a:pPr>
            <a:r>
              <a:rPr lang="en-US" sz="1200" dirty="0">
                <a:solidFill>
                  <a:schemeClr val="tx1"/>
                </a:solidFill>
              </a:rPr>
              <a:t> Nifty midcap 50 outperformed in 6M and 1Y period</a:t>
            </a:r>
          </a:p>
        </p:txBody>
      </p:sp>
      <p:sp>
        <p:nvSpPr>
          <p:cNvPr id="2" name="TextBox 1">
            <a:extLst>
              <a:ext uri="{FF2B5EF4-FFF2-40B4-BE49-F238E27FC236}">
                <a16:creationId xmlns:a16="http://schemas.microsoft.com/office/drawing/2014/main" id="{49022C33-E01B-D4DE-077C-B56D31DF0B78}"/>
              </a:ext>
            </a:extLst>
          </p:cNvPr>
          <p:cNvSpPr txBox="1"/>
          <p:nvPr/>
        </p:nvSpPr>
        <p:spPr>
          <a:xfrm>
            <a:off x="682569" y="4551474"/>
            <a:ext cx="7940479" cy="215444"/>
          </a:xfrm>
          <a:prstGeom prst="rect">
            <a:avLst/>
          </a:prstGeom>
          <a:noFill/>
        </p:spPr>
        <p:txBody>
          <a:bodyPr wrap="square" rtlCol="0">
            <a:spAutoFit/>
          </a:bodyPr>
          <a:lstStyle/>
          <a:p>
            <a:r>
              <a:rPr lang="en-US" sz="800" b="1" dirty="0">
                <a:latin typeface="+mn-lt"/>
              </a:rPr>
              <a:t>Disclaimer: </a:t>
            </a:r>
            <a:r>
              <a:rPr lang="en-US" sz="800" dirty="0">
                <a:latin typeface="+mn-lt"/>
              </a:rPr>
              <a:t>Past performance may or may not sustain in the future </a:t>
            </a:r>
          </a:p>
        </p:txBody>
      </p:sp>
      <p:pic>
        <p:nvPicPr>
          <p:cNvPr id="3" name="Picture 2">
            <a:extLst>
              <a:ext uri="{FF2B5EF4-FFF2-40B4-BE49-F238E27FC236}">
                <a16:creationId xmlns:a16="http://schemas.microsoft.com/office/drawing/2014/main" id="{71309D57-4824-485D-58C3-6352111D3900}"/>
              </a:ext>
            </a:extLst>
          </p:cNvPr>
          <p:cNvPicPr>
            <a:picLocks noChangeAspect="1"/>
          </p:cNvPicPr>
          <p:nvPr/>
        </p:nvPicPr>
        <p:blipFill>
          <a:blip r:embed="rId3"/>
          <a:stretch>
            <a:fillRect/>
          </a:stretch>
        </p:blipFill>
        <p:spPr>
          <a:xfrm>
            <a:off x="7819053" y="116485"/>
            <a:ext cx="1190504" cy="566010"/>
          </a:xfrm>
          <a:prstGeom prst="rect">
            <a:avLst/>
          </a:prstGeom>
        </p:spPr>
      </p:pic>
      <p:graphicFrame>
        <p:nvGraphicFramePr>
          <p:cNvPr id="4" name="Chart 3">
            <a:extLst>
              <a:ext uri="{FF2B5EF4-FFF2-40B4-BE49-F238E27FC236}">
                <a16:creationId xmlns:a16="http://schemas.microsoft.com/office/drawing/2014/main" id="{3E05E245-B646-F070-3C18-3F5B14051407}"/>
              </a:ext>
            </a:extLst>
          </p:cNvPr>
          <p:cNvGraphicFramePr/>
          <p:nvPr>
            <p:extLst>
              <p:ext uri="{D42A27DB-BD31-4B8C-83A1-F6EECF244321}">
                <p14:modId xmlns:p14="http://schemas.microsoft.com/office/powerpoint/2010/main" val="2182414229"/>
              </p:ext>
            </p:extLst>
          </p:nvPr>
        </p:nvGraphicFramePr>
        <p:xfrm>
          <a:off x="682570" y="1155646"/>
          <a:ext cx="7329304" cy="255349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7291629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5943FA56-3EC3-5F26-510E-277BA938C136}"/>
            </a:ext>
          </a:extLst>
        </p:cNvPr>
        <p:cNvGrpSpPr/>
        <p:nvPr/>
      </p:nvGrpSpPr>
      <p:grpSpPr>
        <a:xfrm>
          <a:off x="0" y="0"/>
          <a:ext cx="0" cy="0"/>
          <a:chOff x="0" y="0"/>
          <a:chExt cx="0" cy="0"/>
        </a:xfrm>
      </p:grpSpPr>
      <p:sp>
        <p:nvSpPr>
          <p:cNvPr id="301" name="Google Shape;301;p7">
            <a:extLst>
              <a:ext uri="{FF2B5EF4-FFF2-40B4-BE49-F238E27FC236}">
                <a16:creationId xmlns:a16="http://schemas.microsoft.com/office/drawing/2014/main" id="{87388122-676B-4BBA-1DE6-D9125CA53E4E}"/>
              </a:ext>
            </a:extLst>
          </p:cNvPr>
          <p:cNvSpPr txBox="1">
            <a:spLocks noGrp="1"/>
          </p:cNvSpPr>
          <p:nvPr>
            <p:ph type="title"/>
          </p:nvPr>
        </p:nvSpPr>
        <p:spPr>
          <a:xfrm>
            <a:off x="555171" y="445025"/>
            <a:ext cx="7160944" cy="521208"/>
          </a:xfrm>
          <a:prstGeom prst="rect">
            <a:avLst/>
          </a:prstGeom>
          <a:solidFill>
            <a:srgbClr val="FECA08"/>
          </a:solidFill>
          <a:ln>
            <a:noFill/>
          </a:ln>
        </p:spPr>
        <p:txBody>
          <a:bodyPr spcFirstLastPara="1" wrap="square" lIns="91425" tIns="91425" rIns="91425" bIns="91425" anchor="ctr" anchorCtr="0">
            <a:noAutofit/>
          </a:bodyPr>
          <a:lstStyle/>
          <a:p>
            <a:pPr lvl="0"/>
            <a:r>
              <a:rPr lang="en-US" sz="2000" dirty="0">
                <a:latin typeface="+mn-lt"/>
              </a:rPr>
              <a:t>India – Europe free trade agreement</a:t>
            </a:r>
            <a:endParaRPr lang="en-US" sz="1900" dirty="0">
              <a:latin typeface="+mn-lt"/>
              <a:ea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1647231B-DD99-A965-E8D2-F2FADFE91E4D}"/>
              </a:ext>
            </a:extLst>
          </p:cNvPr>
          <p:cNvSpPr txBox="1"/>
          <p:nvPr/>
        </p:nvSpPr>
        <p:spPr>
          <a:xfrm>
            <a:off x="7336620" y="4397833"/>
            <a:ext cx="1807356" cy="215444"/>
          </a:xfrm>
          <a:prstGeom prst="rect">
            <a:avLst/>
          </a:prstGeom>
          <a:noFill/>
        </p:spPr>
        <p:txBody>
          <a:bodyPr wrap="square" rtlCol="0">
            <a:spAutoFit/>
          </a:bodyPr>
          <a:lstStyle/>
          <a:p>
            <a:pPr algn="just"/>
            <a:r>
              <a:rPr lang="en-IN" sz="800" dirty="0">
                <a:latin typeface="+mn-lt"/>
                <a:ea typeface="Calibri" panose="020F0502020204030204" pitchFamily="34" charset="0"/>
                <a:cs typeface="Calibri" panose="020F0502020204030204" pitchFamily="34" charset="0"/>
              </a:rPr>
              <a:t>Source: </a:t>
            </a:r>
            <a:r>
              <a:rPr lang="en-US" sz="800" dirty="0">
                <a:latin typeface="+mn-lt"/>
              </a:rPr>
              <a:t>Elara Capital research </a:t>
            </a:r>
            <a:endParaRPr lang="en-IN" sz="800" dirty="0">
              <a:latin typeface="+mn-lt"/>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DBDBCE0D-4000-B259-19CF-9BFCD47C3178}"/>
              </a:ext>
            </a:extLst>
          </p:cNvPr>
          <p:cNvSpPr txBox="1"/>
          <p:nvPr/>
        </p:nvSpPr>
        <p:spPr>
          <a:xfrm>
            <a:off x="609241" y="4317418"/>
            <a:ext cx="6727377" cy="382092"/>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nSpc>
                <a:spcPct val="150000"/>
              </a:lnSpc>
            </a:pPr>
            <a:r>
              <a:rPr lang="en-US" dirty="0">
                <a:solidFill>
                  <a:schemeClr val="tx1"/>
                </a:solidFill>
              </a:rPr>
              <a:t>India – Europe FTA boosts growth and revenue prospects for Indian markets</a:t>
            </a:r>
          </a:p>
        </p:txBody>
      </p:sp>
      <p:grpSp>
        <p:nvGrpSpPr>
          <p:cNvPr id="2" name="Google Shape;262;p6">
            <a:extLst>
              <a:ext uri="{FF2B5EF4-FFF2-40B4-BE49-F238E27FC236}">
                <a16:creationId xmlns:a16="http://schemas.microsoft.com/office/drawing/2014/main" id="{5B56BC42-9932-4D03-3E15-17FBD61FD981}"/>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202171DE-246C-80F0-DD5E-80B7D9F1D02B}"/>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DB304AE2-0A38-E7B6-5BA2-0EC7AE4F02E4}"/>
                </a:ext>
              </a:extLst>
            </p:cNvPr>
            <p:cNvGrpSpPr/>
            <p:nvPr/>
          </p:nvGrpSpPr>
          <p:grpSpPr>
            <a:xfrm>
              <a:off x="3101100" y="4872600"/>
              <a:ext cx="2941800" cy="270900"/>
              <a:chOff x="3084200" y="4934525"/>
              <a:chExt cx="2941800" cy="270900"/>
            </a:xfrm>
          </p:grpSpPr>
          <p:sp>
            <p:nvSpPr>
              <p:cNvPr id="8" name="Google Shape;265;p6">
                <a:extLst>
                  <a:ext uri="{FF2B5EF4-FFF2-40B4-BE49-F238E27FC236}">
                    <a16:creationId xmlns:a16="http://schemas.microsoft.com/office/drawing/2014/main" id="{4C62877C-1E93-0AC3-C4BD-ABEA1249AD3E}"/>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9" name="Google Shape;266;p6">
                <a:extLst>
                  <a:ext uri="{FF2B5EF4-FFF2-40B4-BE49-F238E27FC236}">
                    <a16:creationId xmlns:a16="http://schemas.microsoft.com/office/drawing/2014/main" id="{D90AA9AA-7A8B-90E5-B518-4FF7C6D73110}"/>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0" name="Picture 9">
            <a:extLst>
              <a:ext uri="{FF2B5EF4-FFF2-40B4-BE49-F238E27FC236}">
                <a16:creationId xmlns:a16="http://schemas.microsoft.com/office/drawing/2014/main" id="{10B6BC46-6056-6C0E-26C0-64CFD42793BE}"/>
              </a:ext>
            </a:extLst>
          </p:cNvPr>
          <p:cNvPicPr>
            <a:picLocks noChangeAspect="1"/>
          </p:cNvPicPr>
          <p:nvPr/>
        </p:nvPicPr>
        <p:blipFill>
          <a:blip r:embed="rId3"/>
          <a:stretch>
            <a:fillRect/>
          </a:stretch>
        </p:blipFill>
        <p:spPr>
          <a:xfrm>
            <a:off x="7819053" y="116485"/>
            <a:ext cx="1190504" cy="566010"/>
          </a:xfrm>
          <a:prstGeom prst="rect">
            <a:avLst/>
          </a:prstGeom>
        </p:spPr>
      </p:pic>
      <p:pic>
        <p:nvPicPr>
          <p:cNvPr id="4" name="Picture 3">
            <a:extLst>
              <a:ext uri="{FF2B5EF4-FFF2-40B4-BE49-F238E27FC236}">
                <a16:creationId xmlns:a16="http://schemas.microsoft.com/office/drawing/2014/main" id="{D6100D3F-B3E4-DA5F-3EDC-D1FC5081E6F2}"/>
              </a:ext>
            </a:extLst>
          </p:cNvPr>
          <p:cNvPicPr>
            <a:picLocks noChangeAspect="1"/>
          </p:cNvPicPr>
          <p:nvPr/>
        </p:nvPicPr>
        <p:blipFill>
          <a:blip r:embed="rId4"/>
          <a:srcRect l="1470" t="6570" r="3408" b="8130"/>
          <a:stretch>
            <a:fillRect/>
          </a:stretch>
        </p:blipFill>
        <p:spPr>
          <a:xfrm>
            <a:off x="609241" y="1286847"/>
            <a:ext cx="7776475" cy="2972605"/>
          </a:xfrm>
          <a:prstGeom prst="rect">
            <a:avLst/>
          </a:prstGeom>
          <a:ln>
            <a:solidFill>
              <a:schemeClr val="tx1"/>
            </a:solidFill>
          </a:ln>
        </p:spPr>
      </p:pic>
      <p:sp>
        <p:nvSpPr>
          <p:cNvPr id="7" name="TextBox 6">
            <a:extLst>
              <a:ext uri="{FF2B5EF4-FFF2-40B4-BE49-F238E27FC236}">
                <a16:creationId xmlns:a16="http://schemas.microsoft.com/office/drawing/2014/main" id="{B5541D4F-BB20-83CC-6E8B-7566DFE6A7B1}"/>
              </a:ext>
            </a:extLst>
          </p:cNvPr>
          <p:cNvSpPr txBox="1"/>
          <p:nvPr/>
        </p:nvSpPr>
        <p:spPr>
          <a:xfrm>
            <a:off x="3071363" y="994577"/>
            <a:ext cx="2415037" cy="276999"/>
          </a:xfrm>
          <a:prstGeom prst="rect">
            <a:avLst/>
          </a:prstGeom>
          <a:noFill/>
        </p:spPr>
        <p:txBody>
          <a:bodyPr wrap="square" rtlCol="0">
            <a:spAutoFit/>
          </a:bodyPr>
          <a:lstStyle/>
          <a:p>
            <a:r>
              <a:rPr lang="en-US" sz="1200" b="1" dirty="0">
                <a:latin typeface="+mj-lt"/>
              </a:rPr>
              <a:t>Change in tariffs post FTA  </a:t>
            </a:r>
          </a:p>
        </p:txBody>
      </p:sp>
    </p:spTree>
    <p:extLst>
      <p:ext uri="{BB962C8B-B14F-4D97-AF65-F5344CB8AC3E}">
        <p14:creationId xmlns:p14="http://schemas.microsoft.com/office/powerpoint/2010/main" val="1310118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0E82DEFF-458F-7A1A-EDBB-63021EBE64F4}"/>
            </a:ext>
          </a:extLst>
        </p:cNvPr>
        <p:cNvGrpSpPr/>
        <p:nvPr/>
      </p:nvGrpSpPr>
      <p:grpSpPr>
        <a:xfrm>
          <a:off x="0" y="0"/>
          <a:ext cx="0" cy="0"/>
          <a:chOff x="0" y="0"/>
          <a:chExt cx="0" cy="0"/>
        </a:xfrm>
      </p:grpSpPr>
      <p:sp>
        <p:nvSpPr>
          <p:cNvPr id="301" name="Google Shape;301;p7">
            <a:extLst>
              <a:ext uri="{FF2B5EF4-FFF2-40B4-BE49-F238E27FC236}">
                <a16:creationId xmlns:a16="http://schemas.microsoft.com/office/drawing/2014/main" id="{AB08C25B-AB69-5C3B-1BB7-1C7B74E4BD62}"/>
              </a:ext>
            </a:extLst>
          </p:cNvPr>
          <p:cNvSpPr txBox="1">
            <a:spLocks noGrp="1"/>
          </p:cNvSpPr>
          <p:nvPr>
            <p:ph type="title"/>
          </p:nvPr>
        </p:nvSpPr>
        <p:spPr>
          <a:xfrm>
            <a:off x="555171" y="445025"/>
            <a:ext cx="7160944" cy="521208"/>
          </a:xfrm>
          <a:prstGeom prst="rect">
            <a:avLst/>
          </a:prstGeom>
          <a:solidFill>
            <a:srgbClr val="FECA08"/>
          </a:solidFill>
          <a:ln>
            <a:noFill/>
          </a:ln>
        </p:spPr>
        <p:txBody>
          <a:bodyPr spcFirstLastPara="1" wrap="square" lIns="91425" tIns="91425" rIns="91425" bIns="91425" anchor="ctr" anchorCtr="0">
            <a:noAutofit/>
          </a:bodyPr>
          <a:lstStyle/>
          <a:p>
            <a:pPr lvl="0"/>
            <a:r>
              <a:rPr lang="en-US" sz="2000" dirty="0">
                <a:latin typeface="+mn-lt"/>
              </a:rPr>
              <a:t>Gold &amp; silver correct over 1M period </a:t>
            </a:r>
            <a:endParaRPr lang="en-US" sz="1900" dirty="0">
              <a:latin typeface="+mn-lt"/>
              <a:ea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3836AD0D-A5F1-9CF5-34D2-C116B9463D5C}"/>
              </a:ext>
            </a:extLst>
          </p:cNvPr>
          <p:cNvSpPr txBox="1"/>
          <p:nvPr/>
        </p:nvSpPr>
        <p:spPr>
          <a:xfrm>
            <a:off x="7336620" y="4397833"/>
            <a:ext cx="1807356" cy="338554"/>
          </a:xfrm>
          <a:prstGeom prst="rect">
            <a:avLst/>
          </a:prstGeom>
          <a:noFill/>
        </p:spPr>
        <p:txBody>
          <a:bodyPr wrap="square" rtlCol="0">
            <a:spAutoFit/>
          </a:bodyPr>
          <a:lstStyle/>
          <a:p>
            <a:pPr algn="just"/>
            <a:r>
              <a:rPr lang="en-IN" sz="800" dirty="0">
                <a:latin typeface="+mn-lt"/>
                <a:ea typeface="Calibri" panose="020F0502020204030204" pitchFamily="34" charset="0"/>
                <a:cs typeface="Calibri" panose="020F0502020204030204" pitchFamily="34" charset="0"/>
              </a:rPr>
              <a:t>Source: </a:t>
            </a:r>
            <a:r>
              <a:rPr lang="en-US" sz="800" dirty="0">
                <a:latin typeface="+mn-lt"/>
              </a:rPr>
              <a:t>Trading Economics</a:t>
            </a:r>
          </a:p>
          <a:p>
            <a:pPr algn="just"/>
            <a:r>
              <a:rPr lang="en-US" sz="800" dirty="0">
                <a:latin typeface="+mn-lt"/>
                <a:ea typeface="Calibri" panose="020F0502020204030204" pitchFamily="34" charset="0"/>
                <a:cs typeface="Calibri" panose="020F0502020204030204" pitchFamily="34" charset="0"/>
              </a:rPr>
              <a:t>Data as on 6</a:t>
            </a:r>
            <a:r>
              <a:rPr lang="en-US" sz="800" baseline="30000" dirty="0">
                <a:latin typeface="+mn-lt"/>
                <a:ea typeface="Calibri" panose="020F0502020204030204" pitchFamily="34" charset="0"/>
                <a:cs typeface="Calibri" panose="020F0502020204030204" pitchFamily="34" charset="0"/>
              </a:rPr>
              <a:t>th</a:t>
            </a:r>
            <a:r>
              <a:rPr lang="en-US" sz="800" dirty="0">
                <a:latin typeface="+mn-lt"/>
                <a:ea typeface="Calibri" panose="020F0502020204030204" pitchFamily="34" charset="0"/>
                <a:cs typeface="Calibri" panose="020F0502020204030204" pitchFamily="34" charset="0"/>
              </a:rPr>
              <a:t> February</a:t>
            </a:r>
            <a:endParaRPr lang="en-IN" sz="800" dirty="0">
              <a:latin typeface="+mn-lt"/>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3044923-59C6-832D-5D2E-D168CD845244}"/>
              </a:ext>
            </a:extLst>
          </p:cNvPr>
          <p:cNvSpPr txBox="1"/>
          <p:nvPr/>
        </p:nvSpPr>
        <p:spPr>
          <a:xfrm>
            <a:off x="609242" y="3999616"/>
            <a:ext cx="6727377" cy="705258"/>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marL="171450" indent="-171450">
              <a:lnSpc>
                <a:spcPct val="150000"/>
              </a:lnSpc>
              <a:buFont typeface="Wingdings" panose="05000000000000000000" pitchFamily="2" charset="2"/>
              <a:buChar char="q"/>
            </a:pPr>
            <a:r>
              <a:rPr lang="en-US" dirty="0">
                <a:solidFill>
                  <a:schemeClr val="tx1"/>
                </a:solidFill>
              </a:rPr>
              <a:t>Gold prices rose &gt;$5,000 per ounce in Jan-26, amid global tensions &amp; softer dollar</a:t>
            </a:r>
          </a:p>
          <a:p>
            <a:pPr marL="171450" indent="-171450">
              <a:lnSpc>
                <a:spcPct val="150000"/>
              </a:lnSpc>
              <a:buFont typeface="Wingdings" panose="05000000000000000000" pitchFamily="2" charset="2"/>
              <a:buChar char="q"/>
            </a:pPr>
            <a:r>
              <a:rPr lang="en-US" dirty="0">
                <a:solidFill>
                  <a:schemeClr val="tx1"/>
                </a:solidFill>
                <a:ea typeface="Calibri" panose="020F0502020204030204" pitchFamily="34" charset="0"/>
                <a:cs typeface="Calibri" panose="020F0502020204030204" pitchFamily="34" charset="0"/>
              </a:rPr>
              <a:t>Silver prices rose &gt;$119.9/t.oz per ounce in Jan-26, on stronger industrial demand</a:t>
            </a:r>
          </a:p>
        </p:txBody>
      </p:sp>
      <p:grpSp>
        <p:nvGrpSpPr>
          <p:cNvPr id="2" name="Google Shape;262;p6">
            <a:extLst>
              <a:ext uri="{FF2B5EF4-FFF2-40B4-BE49-F238E27FC236}">
                <a16:creationId xmlns:a16="http://schemas.microsoft.com/office/drawing/2014/main" id="{46A6E37A-45EF-FF82-60D2-CE53AC36E415}"/>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F26D2A0D-CBD9-FF00-9993-6544F1A83F47}"/>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0996B8A2-B8A9-A232-17BD-25E79C463327}"/>
                </a:ext>
              </a:extLst>
            </p:cNvPr>
            <p:cNvGrpSpPr/>
            <p:nvPr/>
          </p:nvGrpSpPr>
          <p:grpSpPr>
            <a:xfrm>
              <a:off x="3101100" y="4872600"/>
              <a:ext cx="2941800" cy="270900"/>
              <a:chOff x="3084200" y="4934525"/>
              <a:chExt cx="2941800" cy="270900"/>
            </a:xfrm>
          </p:grpSpPr>
          <p:sp>
            <p:nvSpPr>
              <p:cNvPr id="8" name="Google Shape;265;p6">
                <a:extLst>
                  <a:ext uri="{FF2B5EF4-FFF2-40B4-BE49-F238E27FC236}">
                    <a16:creationId xmlns:a16="http://schemas.microsoft.com/office/drawing/2014/main" id="{C11CD829-C6CA-3284-3F4C-AEEAD473AA56}"/>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9" name="Google Shape;266;p6">
                <a:extLst>
                  <a:ext uri="{FF2B5EF4-FFF2-40B4-BE49-F238E27FC236}">
                    <a16:creationId xmlns:a16="http://schemas.microsoft.com/office/drawing/2014/main" id="{F00EED57-1DFB-CE10-816B-3B06B94F97D9}"/>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0" name="Picture 9">
            <a:extLst>
              <a:ext uri="{FF2B5EF4-FFF2-40B4-BE49-F238E27FC236}">
                <a16:creationId xmlns:a16="http://schemas.microsoft.com/office/drawing/2014/main" id="{F5FD1F5B-7671-8F61-6D7D-558956D7E9D4}"/>
              </a:ext>
            </a:extLst>
          </p:cNvPr>
          <p:cNvPicPr>
            <a:picLocks noChangeAspect="1"/>
          </p:cNvPicPr>
          <p:nvPr/>
        </p:nvPicPr>
        <p:blipFill>
          <a:blip r:embed="rId3"/>
          <a:stretch>
            <a:fillRect/>
          </a:stretch>
        </p:blipFill>
        <p:spPr>
          <a:xfrm>
            <a:off x="7819053" y="116485"/>
            <a:ext cx="1190504" cy="566010"/>
          </a:xfrm>
          <a:prstGeom prst="rect">
            <a:avLst/>
          </a:prstGeom>
        </p:spPr>
      </p:pic>
      <p:pic>
        <p:nvPicPr>
          <p:cNvPr id="4" name="Picture 3">
            <a:extLst>
              <a:ext uri="{FF2B5EF4-FFF2-40B4-BE49-F238E27FC236}">
                <a16:creationId xmlns:a16="http://schemas.microsoft.com/office/drawing/2014/main" id="{8C0956C4-B5B6-5926-C550-357382C088B5}"/>
              </a:ext>
            </a:extLst>
          </p:cNvPr>
          <p:cNvPicPr>
            <a:picLocks noChangeAspect="1"/>
          </p:cNvPicPr>
          <p:nvPr/>
        </p:nvPicPr>
        <p:blipFill>
          <a:blip r:embed="rId4"/>
          <a:stretch>
            <a:fillRect/>
          </a:stretch>
        </p:blipFill>
        <p:spPr>
          <a:xfrm>
            <a:off x="609242" y="1281484"/>
            <a:ext cx="3887736" cy="2380247"/>
          </a:xfrm>
          <a:prstGeom prst="rect">
            <a:avLst/>
          </a:prstGeom>
          <a:ln>
            <a:solidFill>
              <a:schemeClr val="tx1"/>
            </a:solidFill>
          </a:ln>
        </p:spPr>
      </p:pic>
      <p:pic>
        <p:nvPicPr>
          <p:cNvPr id="7" name="Picture 6">
            <a:extLst>
              <a:ext uri="{FF2B5EF4-FFF2-40B4-BE49-F238E27FC236}">
                <a16:creationId xmlns:a16="http://schemas.microsoft.com/office/drawing/2014/main" id="{3760DA89-9AB5-58BF-DB20-8EC223D5FF59}"/>
              </a:ext>
            </a:extLst>
          </p:cNvPr>
          <p:cNvPicPr>
            <a:picLocks noChangeAspect="1"/>
          </p:cNvPicPr>
          <p:nvPr/>
        </p:nvPicPr>
        <p:blipFill>
          <a:blip r:embed="rId5"/>
          <a:stretch>
            <a:fillRect/>
          </a:stretch>
        </p:blipFill>
        <p:spPr>
          <a:xfrm>
            <a:off x="5047785" y="1304118"/>
            <a:ext cx="3712580" cy="2357613"/>
          </a:xfrm>
          <a:prstGeom prst="rect">
            <a:avLst/>
          </a:prstGeom>
          <a:ln>
            <a:solidFill>
              <a:schemeClr val="tx1"/>
            </a:solidFill>
          </a:ln>
        </p:spPr>
      </p:pic>
    </p:spTree>
    <p:extLst>
      <p:ext uri="{BB962C8B-B14F-4D97-AF65-F5344CB8AC3E}">
        <p14:creationId xmlns:p14="http://schemas.microsoft.com/office/powerpoint/2010/main" val="432103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7"/>
          <p:cNvSpPr txBox="1">
            <a:spLocks noGrp="1"/>
          </p:cNvSpPr>
          <p:nvPr>
            <p:ph type="title"/>
          </p:nvPr>
        </p:nvSpPr>
        <p:spPr>
          <a:xfrm>
            <a:off x="719999" y="432000"/>
            <a:ext cx="6037147" cy="521208"/>
          </a:xfrm>
          <a:prstGeom prst="rect">
            <a:avLst/>
          </a:prstGeom>
          <a:solidFill>
            <a:srgbClr val="FECA08"/>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500"/>
              <a:buNone/>
            </a:pPr>
            <a:r>
              <a:rPr lang="en-US" sz="2000" dirty="0">
                <a:latin typeface="Calibri" panose="020F0502020204030204" pitchFamily="34" charset="0"/>
                <a:ea typeface="Calibri" panose="020F0502020204030204" pitchFamily="34" charset="0"/>
                <a:cs typeface="Calibri" panose="020F0502020204030204" pitchFamily="34" charset="0"/>
              </a:rPr>
              <a:t>Global Markets (MSCI) – Geopolitical Impact</a:t>
            </a:r>
          </a:p>
        </p:txBody>
      </p:sp>
      <p:grpSp>
        <p:nvGrpSpPr>
          <p:cNvPr id="303" name="Google Shape;303;p7"/>
          <p:cNvGrpSpPr/>
          <p:nvPr/>
        </p:nvGrpSpPr>
        <p:grpSpPr>
          <a:xfrm>
            <a:off x="-25" y="4872600"/>
            <a:ext cx="9144000" cy="270825"/>
            <a:chOff x="-25" y="4872600"/>
            <a:chExt cx="9144000" cy="270825"/>
          </a:xfrm>
        </p:grpSpPr>
        <p:sp>
          <p:nvSpPr>
            <p:cNvPr id="304" name="Google Shape;304;p7"/>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305" name="Google Shape;305;p7"/>
            <p:cNvGrpSpPr/>
            <p:nvPr/>
          </p:nvGrpSpPr>
          <p:grpSpPr>
            <a:xfrm>
              <a:off x="3101100" y="4872600"/>
              <a:ext cx="2941800" cy="270813"/>
              <a:chOff x="3084200" y="4934525"/>
              <a:chExt cx="2941800" cy="270813"/>
            </a:xfrm>
          </p:grpSpPr>
          <p:sp>
            <p:nvSpPr>
              <p:cNvPr id="306" name="Google Shape;306;p7"/>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307" name="Google Shape;307;p7"/>
              <p:cNvSpPr txBox="1"/>
              <p:nvPr/>
            </p:nvSpPr>
            <p:spPr>
              <a:xfrm>
                <a:off x="3126000" y="4934525"/>
                <a:ext cx="2892000" cy="270813"/>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sp>
        <p:nvSpPr>
          <p:cNvPr id="5" name="Rectangle: Rounded Corners 4">
            <a:extLst>
              <a:ext uri="{FF2B5EF4-FFF2-40B4-BE49-F238E27FC236}">
                <a16:creationId xmlns:a16="http://schemas.microsoft.com/office/drawing/2014/main" id="{0AA96379-4720-470F-88B3-AD2818B808BC}"/>
              </a:ext>
            </a:extLst>
          </p:cNvPr>
          <p:cNvSpPr/>
          <p:nvPr/>
        </p:nvSpPr>
        <p:spPr>
          <a:xfrm>
            <a:off x="6831219" y="1273373"/>
            <a:ext cx="2155631" cy="2976645"/>
          </a:xfrm>
          <a:prstGeom prst="round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endParaRPr lang="en-US" sz="1000" dirty="0">
              <a:solidFill>
                <a:schemeClr val="tx1"/>
              </a:solidFill>
              <a:ea typeface="Calibri" panose="020F0502020204030204" pitchFamily="34" charset="0"/>
              <a:cs typeface="Calibri" panose="020F0502020204030204" pitchFamily="34" charset="0"/>
            </a:endParaRPr>
          </a:p>
          <a:p>
            <a:pPr marL="228594" indent="-228594">
              <a:buFont typeface="Arial" panose="020B0604020202020204" pitchFamily="34" charset="0"/>
              <a:buChar char="•"/>
            </a:pP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Indian market underperformed in 1M period due to rising commodities and continued FII selling</a:t>
            </a:r>
          </a:p>
          <a:p>
            <a:endPar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228594" indent="-228594">
              <a:buFont typeface="Arial" panose="020B0604020202020204" pitchFamily="34" charset="0"/>
              <a:buChar char="•"/>
            </a:pP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US market was up by 1% in 1M period on back of improved earnings and supportive fund flows </a:t>
            </a:r>
          </a:p>
          <a:p>
            <a:pPr marL="228594" indent="-228594">
              <a:buFont typeface="Arial" panose="020B0604020202020204" pitchFamily="34" charset="0"/>
              <a:buChar char="•"/>
            </a:pPr>
            <a:endPar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228594" indent="-228594">
              <a:buFont typeface="Arial" panose="020B0604020202020204" pitchFamily="34" charset="0"/>
              <a:buChar char="•"/>
            </a:pP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Brazil market grew in 1M period on the back of stable commodity prices &amp; strong FII flows</a:t>
            </a:r>
          </a:p>
        </p:txBody>
      </p:sp>
      <p:sp>
        <p:nvSpPr>
          <p:cNvPr id="15" name="TextBox 14">
            <a:extLst>
              <a:ext uri="{FF2B5EF4-FFF2-40B4-BE49-F238E27FC236}">
                <a16:creationId xmlns:a16="http://schemas.microsoft.com/office/drawing/2014/main" id="{447CB0E5-BA9F-45F0-81D3-DB9AE1142DBF}"/>
              </a:ext>
            </a:extLst>
          </p:cNvPr>
          <p:cNvSpPr txBox="1"/>
          <p:nvPr/>
        </p:nvSpPr>
        <p:spPr>
          <a:xfrm>
            <a:off x="6403508" y="4457477"/>
            <a:ext cx="2155631" cy="338554"/>
          </a:xfrm>
          <a:prstGeom prst="rect">
            <a:avLst/>
          </a:prstGeom>
          <a:noFill/>
        </p:spPr>
        <p:txBody>
          <a:bodyPr wrap="square" rtlCol="0">
            <a:spAutoFit/>
          </a:bodyPr>
          <a:lstStyle/>
          <a:p>
            <a:pPr algn="r"/>
            <a:r>
              <a:rPr lang="en-IN" sz="800" dirty="0">
                <a:latin typeface="Calibri" panose="020F0502020204030204" pitchFamily="34" charset="0"/>
                <a:ea typeface="Calibri" panose="020F0502020204030204" pitchFamily="34" charset="0"/>
                <a:cs typeface="Calibri" panose="020F0502020204030204" pitchFamily="34" charset="0"/>
              </a:rPr>
              <a:t>Data Source: MSCI.com </a:t>
            </a:r>
          </a:p>
          <a:p>
            <a:pPr algn="r"/>
            <a:r>
              <a:rPr lang="en-US" sz="800" i="1" dirty="0">
                <a:latin typeface="Calibri" panose="020F0502020204030204" pitchFamily="34" charset="0"/>
                <a:ea typeface="Calibri" panose="020F0502020204030204" pitchFamily="34" charset="0"/>
                <a:cs typeface="Calibri" panose="020F0502020204030204" pitchFamily="34" charset="0"/>
              </a:rPr>
              <a:t>As on 30</a:t>
            </a:r>
            <a:r>
              <a:rPr lang="en-US" sz="800" i="1" kern="1200" baseline="30000" dirty="0">
                <a:latin typeface="Calibri" panose="020F0502020204030204" pitchFamily="34" charset="0"/>
                <a:ea typeface="Calibri" panose="020F0502020204030204" pitchFamily="34" charset="0"/>
                <a:cs typeface="Calibri" panose="020F0502020204030204" pitchFamily="34" charset="0"/>
              </a:rPr>
              <a:t>th </a:t>
            </a:r>
            <a:r>
              <a:rPr lang="en-US" sz="800" i="1" kern="1200" dirty="0">
                <a:latin typeface="Calibri" panose="020F0502020204030204" pitchFamily="34" charset="0"/>
                <a:ea typeface="Calibri" panose="020F0502020204030204" pitchFamily="34" charset="0"/>
                <a:cs typeface="Calibri" panose="020F0502020204030204" pitchFamily="34" charset="0"/>
              </a:rPr>
              <a:t>January 2026</a:t>
            </a:r>
            <a:endParaRPr lang="en-US" sz="800" i="1" dirty="0">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7F41831E-D521-8F5E-75B5-D6D398F7667E}"/>
              </a:ext>
            </a:extLst>
          </p:cNvPr>
          <p:cNvSpPr txBox="1"/>
          <p:nvPr/>
        </p:nvSpPr>
        <p:spPr>
          <a:xfrm>
            <a:off x="568269" y="4453587"/>
            <a:ext cx="7940479" cy="215444"/>
          </a:xfrm>
          <a:prstGeom prst="rect">
            <a:avLst/>
          </a:prstGeom>
          <a:noFill/>
        </p:spPr>
        <p:txBody>
          <a:bodyPr wrap="square" rtlCol="0">
            <a:spAutoFit/>
          </a:bodyPr>
          <a:lstStyle/>
          <a:p>
            <a:r>
              <a:rPr lang="en-US" sz="800" b="1" dirty="0">
                <a:latin typeface="+mn-lt"/>
              </a:rPr>
              <a:t>Disclaimer: </a:t>
            </a:r>
            <a:r>
              <a:rPr lang="en-US" sz="800" dirty="0">
                <a:latin typeface="+mn-lt"/>
              </a:rPr>
              <a:t>Past performance may or may not sustain in the future  					</a:t>
            </a:r>
          </a:p>
        </p:txBody>
      </p:sp>
      <p:pic>
        <p:nvPicPr>
          <p:cNvPr id="4" name="Picture 3">
            <a:extLst>
              <a:ext uri="{FF2B5EF4-FFF2-40B4-BE49-F238E27FC236}">
                <a16:creationId xmlns:a16="http://schemas.microsoft.com/office/drawing/2014/main" id="{12AE9FA2-0C1B-4FE7-AD48-1ABE2A13A020}"/>
              </a:ext>
            </a:extLst>
          </p:cNvPr>
          <p:cNvPicPr>
            <a:picLocks noChangeAspect="1"/>
          </p:cNvPicPr>
          <p:nvPr/>
        </p:nvPicPr>
        <p:blipFill>
          <a:blip r:embed="rId3"/>
          <a:stretch>
            <a:fillRect/>
          </a:stretch>
        </p:blipFill>
        <p:spPr>
          <a:xfrm>
            <a:off x="7819053" y="116485"/>
            <a:ext cx="1190504" cy="566010"/>
          </a:xfrm>
          <a:prstGeom prst="rect">
            <a:avLst/>
          </a:prstGeom>
        </p:spPr>
      </p:pic>
      <p:graphicFrame>
        <p:nvGraphicFramePr>
          <p:cNvPr id="6" name="Chart 5">
            <a:extLst>
              <a:ext uri="{FF2B5EF4-FFF2-40B4-BE49-F238E27FC236}">
                <a16:creationId xmlns:a16="http://schemas.microsoft.com/office/drawing/2014/main" id="{A8C7CE5C-034F-EF99-9D59-34D688AEFDEF}"/>
              </a:ext>
            </a:extLst>
          </p:cNvPr>
          <p:cNvGraphicFramePr/>
          <p:nvPr>
            <p:extLst>
              <p:ext uri="{D42A27DB-BD31-4B8C-83A1-F6EECF244321}">
                <p14:modId xmlns:p14="http://schemas.microsoft.com/office/powerpoint/2010/main" val="3892513385"/>
              </p:ext>
            </p:extLst>
          </p:nvPr>
        </p:nvGraphicFramePr>
        <p:xfrm>
          <a:off x="720000" y="1273373"/>
          <a:ext cx="6037146" cy="297664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700017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03FF8B99-5BB7-55C6-D55C-878849BF00E4}"/>
            </a:ext>
          </a:extLst>
        </p:cNvPr>
        <p:cNvGrpSpPr/>
        <p:nvPr/>
      </p:nvGrpSpPr>
      <p:grpSpPr>
        <a:xfrm>
          <a:off x="0" y="0"/>
          <a:ext cx="0" cy="0"/>
          <a:chOff x="0" y="0"/>
          <a:chExt cx="0" cy="0"/>
        </a:xfrm>
      </p:grpSpPr>
      <p:graphicFrame>
        <p:nvGraphicFramePr>
          <p:cNvPr id="13" name="Table 12">
            <a:extLst>
              <a:ext uri="{FF2B5EF4-FFF2-40B4-BE49-F238E27FC236}">
                <a16:creationId xmlns:a16="http://schemas.microsoft.com/office/drawing/2014/main" id="{1A1213E2-D655-5E7F-DB41-284EDB1ABA6C}"/>
              </a:ext>
            </a:extLst>
          </p:cNvPr>
          <p:cNvGraphicFramePr>
            <a:graphicFrameLocks noGrp="1"/>
          </p:cNvGraphicFramePr>
          <p:nvPr>
            <p:extLst>
              <p:ext uri="{D42A27DB-BD31-4B8C-83A1-F6EECF244321}">
                <p14:modId xmlns:p14="http://schemas.microsoft.com/office/powerpoint/2010/main" val="264737653"/>
              </p:ext>
            </p:extLst>
          </p:nvPr>
        </p:nvGraphicFramePr>
        <p:xfrm>
          <a:off x="719998" y="1355729"/>
          <a:ext cx="8067658" cy="2409580"/>
        </p:xfrm>
        <a:graphic>
          <a:graphicData uri="http://schemas.openxmlformats.org/drawingml/2006/table">
            <a:tbl>
              <a:tblPr/>
              <a:tblGrid>
                <a:gridCol w="604132">
                  <a:extLst>
                    <a:ext uri="{9D8B030D-6E8A-4147-A177-3AD203B41FA5}">
                      <a16:colId xmlns:a16="http://schemas.microsoft.com/office/drawing/2014/main" val="624211874"/>
                    </a:ext>
                  </a:extLst>
                </a:gridCol>
                <a:gridCol w="653653">
                  <a:extLst>
                    <a:ext uri="{9D8B030D-6E8A-4147-A177-3AD203B41FA5}">
                      <a16:colId xmlns:a16="http://schemas.microsoft.com/office/drawing/2014/main" val="2337598546"/>
                    </a:ext>
                  </a:extLst>
                </a:gridCol>
                <a:gridCol w="534808">
                  <a:extLst>
                    <a:ext uri="{9D8B030D-6E8A-4147-A177-3AD203B41FA5}">
                      <a16:colId xmlns:a16="http://schemas.microsoft.com/office/drawing/2014/main" val="2801850226"/>
                    </a:ext>
                  </a:extLst>
                </a:gridCol>
                <a:gridCol w="690902">
                  <a:extLst>
                    <a:ext uri="{9D8B030D-6E8A-4147-A177-3AD203B41FA5}">
                      <a16:colId xmlns:a16="http://schemas.microsoft.com/office/drawing/2014/main" val="463315111"/>
                    </a:ext>
                  </a:extLst>
                </a:gridCol>
                <a:gridCol w="583924">
                  <a:extLst>
                    <a:ext uri="{9D8B030D-6E8A-4147-A177-3AD203B41FA5}">
                      <a16:colId xmlns:a16="http://schemas.microsoft.com/office/drawing/2014/main" val="1184091386"/>
                    </a:ext>
                  </a:extLst>
                </a:gridCol>
                <a:gridCol w="579153">
                  <a:extLst>
                    <a:ext uri="{9D8B030D-6E8A-4147-A177-3AD203B41FA5}">
                      <a16:colId xmlns:a16="http://schemas.microsoft.com/office/drawing/2014/main" val="2139231602"/>
                    </a:ext>
                  </a:extLst>
                </a:gridCol>
                <a:gridCol w="597316">
                  <a:extLst>
                    <a:ext uri="{9D8B030D-6E8A-4147-A177-3AD203B41FA5}">
                      <a16:colId xmlns:a16="http://schemas.microsoft.com/office/drawing/2014/main" val="3413373166"/>
                    </a:ext>
                  </a:extLst>
                </a:gridCol>
                <a:gridCol w="604157">
                  <a:extLst>
                    <a:ext uri="{9D8B030D-6E8A-4147-A177-3AD203B41FA5}">
                      <a16:colId xmlns:a16="http://schemas.microsoft.com/office/drawing/2014/main" val="1913518683"/>
                    </a:ext>
                  </a:extLst>
                </a:gridCol>
                <a:gridCol w="608047">
                  <a:extLst>
                    <a:ext uri="{9D8B030D-6E8A-4147-A177-3AD203B41FA5}">
                      <a16:colId xmlns:a16="http://schemas.microsoft.com/office/drawing/2014/main" val="3186044143"/>
                    </a:ext>
                  </a:extLst>
                </a:gridCol>
                <a:gridCol w="562098">
                  <a:extLst>
                    <a:ext uri="{9D8B030D-6E8A-4147-A177-3AD203B41FA5}">
                      <a16:colId xmlns:a16="http://schemas.microsoft.com/office/drawing/2014/main" val="139409997"/>
                    </a:ext>
                  </a:extLst>
                </a:gridCol>
                <a:gridCol w="609669">
                  <a:extLst>
                    <a:ext uri="{9D8B030D-6E8A-4147-A177-3AD203B41FA5}">
                      <a16:colId xmlns:a16="http://schemas.microsoft.com/office/drawing/2014/main" val="2108164566"/>
                    </a:ext>
                  </a:extLst>
                </a:gridCol>
                <a:gridCol w="604461">
                  <a:extLst>
                    <a:ext uri="{9D8B030D-6E8A-4147-A177-3AD203B41FA5}">
                      <a16:colId xmlns:a16="http://schemas.microsoft.com/office/drawing/2014/main" val="3496611585"/>
                    </a:ext>
                  </a:extLst>
                </a:gridCol>
                <a:gridCol w="835338">
                  <a:extLst>
                    <a:ext uri="{9D8B030D-6E8A-4147-A177-3AD203B41FA5}">
                      <a16:colId xmlns:a16="http://schemas.microsoft.com/office/drawing/2014/main" val="1482322004"/>
                    </a:ext>
                  </a:extLst>
                </a:gridCol>
              </a:tblGrid>
              <a:tr h="660690">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ctr"/>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Period</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Auto</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Bank</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Consumer Durables</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CPSE</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FMCG</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Pharma</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IT</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Metal</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Oil &amp; Gas</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b"/>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Nifty Realty</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marL="0" algn="ctr" defTabSz="914400" rtl="0" eaLnBrk="1" fontAlgn="b" latinLnBrk="0" hangingPunct="1"/>
                      <a:r>
                        <a:rPr lang="en-US" sz="1100" b="1" u="none" strike="noStrike"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Nifty Energy</a:t>
                      </a: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marL="0" algn="ctr" defTabSz="914400" rtl="0" eaLnBrk="1" fontAlgn="b" latinLnBrk="0" hangingPunct="1"/>
                      <a:r>
                        <a:rPr lang="en-US" sz="1100" b="1" u="none" strike="noStrike" kern="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Nifty Commodities</a:t>
                      </a:r>
                    </a:p>
                  </a:txBody>
                  <a:tcPr marL="6350" marR="6350" marT="635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94013886"/>
                  </a:ext>
                </a:extLst>
              </a:tr>
              <a:tr h="386988">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ctr"/>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1M</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ap="flat" cmpd="sng" algn="ctr">
                      <a:solidFill>
                        <a:srgbClr val="FF9900"/>
                      </a:solidFill>
                      <a:prstDash val="solid"/>
                      <a:round/>
                      <a:headEnd type="none" w="med" len="med"/>
                      <a:tailEnd type="none" w="med" len="med"/>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-5%</a:t>
                      </a:r>
                    </a:p>
                  </a:txBody>
                  <a:tcPr marL="7620" marR="7620" marT="7620" marB="0" anchor="ctr">
                    <a:lnL w="12700" cmpd="sng">
                      <a:solidFill>
                        <a:srgbClr val="FF9900"/>
                      </a:solidFill>
                    </a:lnL>
                    <a:lnR w="12700" cap="flat" cmpd="sng" algn="ctr">
                      <a:solidFill>
                        <a:srgbClr val="FF9900"/>
                      </a:solidFill>
                      <a:prstDash val="solid"/>
                      <a:round/>
                      <a:headEnd type="none" w="med" len="med"/>
                      <a:tailEnd type="none" w="med" len="med"/>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1%</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-6%</a:t>
                      </a:r>
                    </a:p>
                  </a:txBody>
                  <a:tcPr marL="7620" marR="7620" marT="7620" marB="0" anchor="ctr">
                    <a:lnL w="12700" cap="flat" cmpd="sng" algn="ctr">
                      <a:solidFill>
                        <a:srgbClr val="FF9900"/>
                      </a:solidFill>
                      <a:prstDash val="solid"/>
                      <a:round/>
                      <a:headEnd type="none" w="med" len="med"/>
                      <a:tailEnd type="none" w="med" len="med"/>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7%</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-8%</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-4%</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0%</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6%</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-4%</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-11%</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-1%</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1%</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3826171"/>
                  </a:ext>
                </a:extLst>
              </a:tr>
              <a:tr h="439084">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algn="ctr" fontAlgn="ctr"/>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3M</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ap="flat" cmpd="sng" algn="ctr">
                      <a:solidFill>
                        <a:srgbClr val="FF9900"/>
                      </a:solidFill>
                      <a:prstDash val="solid"/>
                      <a:round/>
                      <a:headEnd type="none" w="med" len="med"/>
                      <a:tailEnd type="none" w="med" len="med"/>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0%</a:t>
                      </a:r>
                    </a:p>
                  </a:txBody>
                  <a:tcPr marL="7620" marR="7620" marT="7620" marB="0" anchor="ctr">
                    <a:lnL w="12700" cmpd="sng">
                      <a:solidFill>
                        <a:srgbClr val="FF9900"/>
                      </a:solidFill>
                    </a:lnL>
                    <a:lnR w="12700" cap="flat" cmpd="sng" algn="ctr">
                      <a:solidFill>
                        <a:srgbClr val="FF9900"/>
                      </a:solidFill>
                      <a:prstDash val="solid"/>
                      <a:round/>
                      <a:headEnd type="none" w="med" len="med"/>
                      <a:tailEnd type="none" w="med" len="med"/>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4%</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-11%</a:t>
                      </a:r>
                    </a:p>
                  </a:txBody>
                  <a:tcPr marL="7620" marR="7620" marT="7620" marB="0" anchor="ctr">
                    <a:lnL w="12700" cap="flat" cmpd="sng" algn="ctr">
                      <a:solidFill>
                        <a:srgbClr val="FF9900"/>
                      </a:solidFill>
                      <a:prstDash val="solid"/>
                      <a:round/>
                      <a:headEnd type="none" w="med" len="med"/>
                      <a:tailEnd type="none" w="med" len="med"/>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3%</a:t>
                      </a:r>
                    </a:p>
                  </a:txBody>
                  <a:tcPr marL="7620" marR="7620" marT="762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-9%</a:t>
                      </a:r>
                    </a:p>
                  </a:txBody>
                  <a:tcPr marL="7620" marR="7620" marT="762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-2%</a:t>
                      </a:r>
                    </a:p>
                  </a:txBody>
                  <a:tcPr marL="7620" marR="7620" marT="762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7%</a:t>
                      </a:r>
                    </a:p>
                  </a:txBody>
                  <a:tcPr marL="7620" marR="7620" marT="762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11%</a:t>
                      </a:r>
                    </a:p>
                  </a:txBody>
                  <a:tcPr marL="7620" marR="7620" marT="762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-2%</a:t>
                      </a:r>
                    </a:p>
                  </a:txBody>
                  <a:tcPr marL="7620" marR="7620" marT="762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-17%</a:t>
                      </a:r>
                    </a:p>
                  </a:txBody>
                  <a:tcPr marL="7620" marR="7620" marT="762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-3%</a:t>
                      </a:r>
                    </a:p>
                  </a:txBody>
                  <a:tcPr marL="7620" marR="7620" marT="762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3%</a:t>
                      </a:r>
                    </a:p>
                  </a:txBody>
                  <a:tcPr marL="7620" marR="7620" marT="7620" marB="0" anchor="ctr">
                    <a:lnL w="12700" cmpd="sng">
                      <a:solidFill>
                        <a:srgbClr val="FF9900"/>
                      </a:solidFill>
                    </a:lnL>
                    <a:lnR w="12700" cmpd="sng">
                      <a:solidFill>
                        <a:srgbClr val="FF9900"/>
                      </a:solidFill>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extLst>
                  <a:ext uri="{0D108BD9-81ED-4DB2-BD59-A6C34878D82A}">
                    <a16:rowId xmlns:a16="http://schemas.microsoft.com/office/drawing/2014/main" val="3715848493"/>
                  </a:ext>
                </a:extLst>
              </a:tr>
              <a:tr h="461409">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Calibri" panose="020F0502020204030204"/>
                          <a:sym typeface="Arial"/>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6M</a:t>
                      </a:r>
                      <a:endPar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lnL w="12700" cmpd="sng">
                      <a:solidFill>
                        <a:srgbClr val="FF9900"/>
                      </a:solidFill>
                    </a:lnL>
                    <a:lnR w="12700" cap="flat" cmpd="sng" algn="ctr">
                      <a:solidFill>
                        <a:srgbClr val="FF9900"/>
                      </a:solidFill>
                      <a:prstDash val="solid"/>
                      <a:round/>
                      <a:headEnd type="none" w="med" len="med"/>
                      <a:tailEnd type="none" w="med" len="med"/>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13%</a:t>
                      </a:r>
                    </a:p>
                  </a:txBody>
                  <a:tcPr marL="7620" marR="7620" marT="7620" marB="0" anchor="ctr">
                    <a:lnL w="12700" cmpd="sng">
                      <a:solidFill>
                        <a:srgbClr val="FF9900"/>
                      </a:solidFill>
                    </a:lnL>
                    <a:lnR w="12700" cap="flat" cmpd="sng" algn="ctr">
                      <a:solidFill>
                        <a:srgbClr val="FF9900"/>
                      </a:solidFill>
                      <a:prstDash val="solid"/>
                      <a:round/>
                      <a:headEnd type="none" w="med" len="med"/>
                      <a:tailEnd type="none" w="med" len="med"/>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7%</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-11%</a:t>
                      </a:r>
                    </a:p>
                  </a:txBody>
                  <a:tcPr marL="7620" marR="7620" marT="7620" marB="0" anchor="ctr">
                    <a:lnL w="12700" cap="flat" cmpd="sng" algn="ctr">
                      <a:solidFill>
                        <a:srgbClr val="FF9900"/>
                      </a:solidFill>
                      <a:prstDash val="solid"/>
                      <a:round/>
                      <a:headEnd type="none" w="med" len="med"/>
                      <a:tailEnd type="none" w="med" len="med"/>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6%</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-7%</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-6%</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7%</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26%</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3%</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-15%</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-1%</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9%</a:t>
                      </a:r>
                    </a:p>
                  </a:txBody>
                  <a:tcPr marL="7620" marR="7620" marT="7620" marB="0" anchor="ctr">
                    <a:lnL w="12700" cmpd="sng">
                      <a:solidFill>
                        <a:srgbClr val="FF9900"/>
                      </a:solidFill>
                    </a:lnL>
                    <a:lnR w="12700" cmpd="sng">
                      <a:solidFill>
                        <a:srgbClr val="FF9900"/>
                      </a:solidFill>
                    </a:lnR>
                    <a:lnT w="12700" cmpd="sng">
                      <a:solidFill>
                        <a:srgbClr val="FF9900"/>
                      </a:solidFill>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7983413"/>
                  </a:ext>
                </a:extLst>
              </a:tr>
              <a:tr h="461409">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1Y</a:t>
                      </a:r>
                    </a:p>
                  </a:txBody>
                  <a:tcPr marL="6350" marR="6350" marT="6350" marB="0" anchor="ctr">
                    <a:lnL w="12700" cmpd="sng">
                      <a:solidFill>
                        <a:srgbClr val="FF9900"/>
                      </a:solidFill>
                    </a:lnL>
                    <a:lnR w="12700" cap="flat" cmpd="sng" algn="ctr">
                      <a:solidFill>
                        <a:srgbClr val="FF9900"/>
                      </a:solidFill>
                      <a:prstDash val="solid"/>
                      <a:round/>
                      <a:headEnd type="none" w="med" len="med"/>
                      <a:tailEnd type="none" w="med" len="med"/>
                    </a:lnR>
                    <a:lnT w="12700" cmpd="sng">
                      <a:solidFill>
                        <a:srgbClr val="FF9900"/>
                      </a:solidFill>
                    </a:lnT>
                    <a:lnB w="12700" cmpd="sng">
                      <a:solidFill>
                        <a:srgbClr val="FF9900"/>
                      </a:solidFill>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19%</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22%</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-6%</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14%</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-8%</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1%</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-10%</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43%</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13%</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-13%</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6%</a:t>
                      </a:r>
                    </a:p>
                  </a:txBody>
                  <a:tcPr marL="7620" marR="7620" marT="7620" marB="0" anchor="ctr">
                    <a:lnL w="12700" cap="flat" cmpd="sng" algn="ctr">
                      <a:solidFill>
                        <a:srgbClr val="FF9900"/>
                      </a:solidFill>
                      <a:prstDash val="solid"/>
                      <a:round/>
                      <a:headEnd type="none" w="med" len="med"/>
                      <a:tailEnd type="none" w="med" len="med"/>
                    </a:lnL>
                    <a:lnR w="12700" cap="flat" cmpd="sng" algn="ctr">
                      <a:solidFill>
                        <a:srgbClr val="FF9900"/>
                      </a:solidFill>
                      <a:prstDash val="solid"/>
                      <a:round/>
                      <a:headEnd type="none" w="med" len="med"/>
                      <a:tailEnd type="none" w="med" len="med"/>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buNone/>
                      </a:pPr>
                      <a:r>
                        <a:rPr lang="en-US" sz="1100" b="0" i="0" u="none" strike="noStrike" dirty="0">
                          <a:solidFill>
                            <a:srgbClr val="000000"/>
                          </a:solidFill>
                          <a:effectLst/>
                          <a:latin typeface="Calibri" panose="020F0502020204030204" pitchFamily="34" charset="0"/>
                        </a:rPr>
                        <a:t>21%</a:t>
                      </a:r>
                    </a:p>
                  </a:txBody>
                  <a:tcPr marL="7620" marR="7620" marT="7620" marB="0" anchor="ctr">
                    <a:lnL w="12700" cap="flat" cmpd="sng" algn="ctr">
                      <a:solidFill>
                        <a:srgbClr val="FF9900"/>
                      </a:solidFill>
                      <a:prstDash val="solid"/>
                      <a:round/>
                      <a:headEnd type="none" w="med" len="med"/>
                      <a:tailEnd type="none" w="med" len="med"/>
                    </a:lnL>
                    <a:lnR w="12700" cmpd="sng">
                      <a:solidFill>
                        <a:srgbClr val="FF9900"/>
                      </a:solidFill>
                    </a:lnR>
                    <a:lnT w="12700" cap="flat" cmpd="sng" algn="ctr">
                      <a:solidFill>
                        <a:srgbClr val="FF9900"/>
                      </a:solidFill>
                      <a:prstDash val="solid"/>
                      <a:round/>
                      <a:headEnd type="none" w="med" len="med"/>
                      <a:tailEnd type="none" w="med" len="med"/>
                    </a:lnT>
                    <a:lnB w="12700" cap="flat" cmpd="sng" algn="ctr">
                      <a:solidFill>
                        <a:srgbClr val="FF99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3294774"/>
                  </a:ext>
                </a:extLst>
              </a:tr>
            </a:tbl>
          </a:graphicData>
        </a:graphic>
      </p:graphicFrame>
      <p:sp>
        <p:nvSpPr>
          <p:cNvPr id="301" name="Google Shape;301;p7">
            <a:extLst>
              <a:ext uri="{FF2B5EF4-FFF2-40B4-BE49-F238E27FC236}">
                <a16:creationId xmlns:a16="http://schemas.microsoft.com/office/drawing/2014/main" id="{A91D3CF5-2B1E-DA21-B37A-ACBF655A90BF}"/>
              </a:ext>
            </a:extLst>
          </p:cNvPr>
          <p:cNvSpPr txBox="1">
            <a:spLocks noGrp="1"/>
          </p:cNvSpPr>
          <p:nvPr>
            <p:ph type="title"/>
          </p:nvPr>
        </p:nvSpPr>
        <p:spPr>
          <a:xfrm>
            <a:off x="719998" y="445025"/>
            <a:ext cx="5257220" cy="521208"/>
          </a:xfrm>
          <a:prstGeom prst="rect">
            <a:avLst/>
          </a:prstGeom>
          <a:solidFill>
            <a:srgbClr val="FECA08"/>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500"/>
              <a:buNone/>
            </a:pPr>
            <a:r>
              <a:rPr lang="en-US" sz="2000" dirty="0">
                <a:latin typeface="Calibri" panose="020F0502020204030204" pitchFamily="34" charset="0"/>
                <a:ea typeface="Calibri" panose="020F0502020204030204" pitchFamily="34" charset="0"/>
                <a:cs typeface="Calibri" panose="020F0502020204030204" pitchFamily="34" charset="0"/>
              </a:rPr>
              <a:t>Sector Indices performance – Jan-26</a:t>
            </a:r>
            <a:endParaRPr sz="2000" dirty="0">
              <a:latin typeface="Calibri" panose="020F0502020204030204" pitchFamily="34" charset="0"/>
              <a:ea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37761202-B856-E71E-B2E4-1E4C539FD6DB}"/>
              </a:ext>
            </a:extLst>
          </p:cNvPr>
          <p:cNvSpPr txBox="1"/>
          <p:nvPr/>
        </p:nvSpPr>
        <p:spPr>
          <a:xfrm>
            <a:off x="6857030" y="4550246"/>
            <a:ext cx="2155631" cy="338554"/>
          </a:xfrm>
          <a:prstGeom prst="rect">
            <a:avLst/>
          </a:prstGeom>
          <a:noFill/>
        </p:spPr>
        <p:txBody>
          <a:bodyPr wrap="square" rtlCol="0">
            <a:spAutoFit/>
          </a:bodyPr>
          <a:lstStyle/>
          <a:p>
            <a:pPr algn="r">
              <a:buClrTx/>
              <a:buFontTx/>
              <a:buNone/>
            </a:pPr>
            <a:r>
              <a:rPr lang="en-US" sz="800" i="1" kern="1200" dirty="0">
                <a:latin typeface="Calibri" panose="020F0502020204030204" pitchFamily="34" charset="0"/>
                <a:ea typeface="Calibri" panose="020F0502020204030204" pitchFamily="34" charset="0"/>
                <a:cs typeface="Calibri" panose="020F0502020204030204" pitchFamily="34" charset="0"/>
              </a:rPr>
              <a:t>Data Source: NiftyIndices.com </a:t>
            </a:r>
          </a:p>
          <a:p>
            <a:pPr algn="r">
              <a:buClrTx/>
              <a:buFontTx/>
              <a:buNone/>
            </a:pPr>
            <a:r>
              <a:rPr lang="en-US" sz="800" i="1" kern="1200" dirty="0">
                <a:latin typeface="Calibri" panose="020F0502020204030204" pitchFamily="34" charset="0"/>
                <a:ea typeface="Calibri" panose="020F0502020204030204" pitchFamily="34" charset="0"/>
                <a:cs typeface="Calibri" panose="020F0502020204030204" pitchFamily="34" charset="0"/>
              </a:rPr>
              <a:t>Data as on 30</a:t>
            </a:r>
            <a:r>
              <a:rPr lang="en-US" sz="800" i="1" kern="1200" baseline="30000" dirty="0">
                <a:latin typeface="Calibri" panose="020F0502020204030204" pitchFamily="34" charset="0"/>
                <a:ea typeface="Calibri" panose="020F0502020204030204" pitchFamily="34" charset="0"/>
                <a:cs typeface="Calibri" panose="020F0502020204030204" pitchFamily="34" charset="0"/>
              </a:rPr>
              <a:t>th </a:t>
            </a:r>
            <a:r>
              <a:rPr lang="en-US" sz="800" i="1" kern="1200" dirty="0">
                <a:latin typeface="Calibri" panose="020F0502020204030204" pitchFamily="34" charset="0"/>
                <a:ea typeface="Calibri" panose="020F0502020204030204" pitchFamily="34" charset="0"/>
                <a:cs typeface="Calibri" panose="020F0502020204030204" pitchFamily="34" charset="0"/>
              </a:rPr>
              <a:t>January,2026</a:t>
            </a:r>
          </a:p>
        </p:txBody>
      </p:sp>
      <p:sp>
        <p:nvSpPr>
          <p:cNvPr id="22" name="TextBox 21">
            <a:extLst>
              <a:ext uri="{FF2B5EF4-FFF2-40B4-BE49-F238E27FC236}">
                <a16:creationId xmlns:a16="http://schemas.microsoft.com/office/drawing/2014/main" id="{6E478BBA-5CEA-16E5-93CF-93EE2C135DD4}"/>
              </a:ext>
            </a:extLst>
          </p:cNvPr>
          <p:cNvSpPr txBox="1"/>
          <p:nvPr/>
        </p:nvSpPr>
        <p:spPr>
          <a:xfrm>
            <a:off x="719998" y="4026563"/>
            <a:ext cx="8067658" cy="461665"/>
          </a:xfrm>
          <a:prstGeom prst="rect">
            <a:avLst/>
          </a:prstGeom>
          <a:noFill/>
          <a:ln w="6350">
            <a:solidFill>
              <a:schemeClr val="tx1"/>
            </a:solidFill>
          </a:ln>
        </p:spPr>
        <p:txBody>
          <a:bodyPr wrap="square">
            <a:spAutoFit/>
          </a:bodyPr>
          <a:lstStyle/>
          <a:p>
            <a:pPr marL="214313" indent="-214313">
              <a:buFont typeface="Wingdings" panose="05000000000000000000" pitchFamily="2" charset="2"/>
              <a:buChar char="q"/>
            </a:pPr>
            <a:r>
              <a:rPr lang="en-US" sz="1200" dirty="0">
                <a:solidFill>
                  <a:schemeClr val="tx1"/>
                </a:solidFill>
                <a:latin typeface="+mn-lt"/>
                <a:ea typeface="Calibri" panose="020F0502020204030204" pitchFamily="34" charset="0"/>
                <a:cs typeface="Calibri" panose="020F0502020204030204" pitchFamily="34" charset="0"/>
              </a:rPr>
              <a:t>Top Performer :CPSE &amp; Metals </a:t>
            </a:r>
          </a:p>
          <a:p>
            <a:pPr marL="214313" indent="-214313">
              <a:buFont typeface="Wingdings" panose="05000000000000000000" pitchFamily="2" charset="2"/>
              <a:buChar char="q"/>
            </a:pPr>
            <a:r>
              <a:rPr lang="en-US" sz="1200" dirty="0">
                <a:solidFill>
                  <a:schemeClr val="tx1"/>
                </a:solidFill>
                <a:latin typeface="+mn-lt"/>
                <a:ea typeface="Calibri" panose="020F0502020204030204" pitchFamily="34" charset="0"/>
                <a:cs typeface="Calibri" panose="020F0502020204030204" pitchFamily="34" charset="0"/>
              </a:rPr>
              <a:t>Top Laggards: Nifty Realty, FMCG, Consumer durables &amp; Auto</a:t>
            </a:r>
          </a:p>
        </p:txBody>
      </p:sp>
      <p:sp>
        <p:nvSpPr>
          <p:cNvPr id="3" name="Oval 2">
            <a:extLst>
              <a:ext uri="{FF2B5EF4-FFF2-40B4-BE49-F238E27FC236}">
                <a16:creationId xmlns:a16="http://schemas.microsoft.com/office/drawing/2014/main" id="{581C7B94-1FD7-0F60-6A9B-1B53EDD45EA0}"/>
              </a:ext>
            </a:extLst>
          </p:cNvPr>
          <p:cNvSpPr/>
          <p:nvPr/>
        </p:nvSpPr>
        <p:spPr>
          <a:xfrm>
            <a:off x="5544085" y="2010844"/>
            <a:ext cx="636927" cy="1754427"/>
          </a:xfrm>
          <a:prstGeom prst="ellipse">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40FFCB12-AA47-F5F8-7C2A-79A9D0206E23}"/>
              </a:ext>
            </a:extLst>
          </p:cNvPr>
          <p:cNvSpPr txBox="1"/>
          <p:nvPr/>
        </p:nvSpPr>
        <p:spPr>
          <a:xfrm>
            <a:off x="618660" y="4689094"/>
            <a:ext cx="7940479" cy="215444"/>
          </a:xfrm>
          <a:prstGeom prst="rect">
            <a:avLst/>
          </a:prstGeom>
          <a:noFill/>
        </p:spPr>
        <p:txBody>
          <a:bodyPr wrap="square" rtlCol="0">
            <a:spAutoFit/>
          </a:bodyPr>
          <a:lstStyle/>
          <a:p>
            <a:r>
              <a:rPr lang="en-US" sz="800" b="1" dirty="0">
                <a:latin typeface="+mn-lt"/>
              </a:rPr>
              <a:t>Disclaimer: </a:t>
            </a:r>
            <a:r>
              <a:rPr lang="en-US" sz="800" dirty="0">
                <a:latin typeface="+mn-lt"/>
              </a:rPr>
              <a:t>Past performance may or may not sustain in the future </a:t>
            </a:r>
          </a:p>
        </p:txBody>
      </p:sp>
      <p:sp>
        <p:nvSpPr>
          <p:cNvPr id="21" name="Oval 20">
            <a:extLst>
              <a:ext uri="{FF2B5EF4-FFF2-40B4-BE49-F238E27FC236}">
                <a16:creationId xmlns:a16="http://schemas.microsoft.com/office/drawing/2014/main" id="{A35B8312-016A-A6EE-C49F-A90D0BF59FF3}"/>
              </a:ext>
            </a:extLst>
          </p:cNvPr>
          <p:cNvSpPr/>
          <p:nvPr/>
        </p:nvSpPr>
        <p:spPr>
          <a:xfrm>
            <a:off x="2563473" y="2018540"/>
            <a:ext cx="636927" cy="1739034"/>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7" name="Oval 6">
            <a:extLst>
              <a:ext uri="{FF2B5EF4-FFF2-40B4-BE49-F238E27FC236}">
                <a16:creationId xmlns:a16="http://schemas.microsoft.com/office/drawing/2014/main" id="{64092BB6-E773-239A-FFA5-0F2022B425AC}"/>
              </a:ext>
            </a:extLst>
          </p:cNvPr>
          <p:cNvSpPr/>
          <p:nvPr/>
        </p:nvSpPr>
        <p:spPr>
          <a:xfrm>
            <a:off x="6759982" y="2002157"/>
            <a:ext cx="556171" cy="1754428"/>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grpSp>
        <p:nvGrpSpPr>
          <p:cNvPr id="2" name="Google Shape;262;p6">
            <a:extLst>
              <a:ext uri="{FF2B5EF4-FFF2-40B4-BE49-F238E27FC236}">
                <a16:creationId xmlns:a16="http://schemas.microsoft.com/office/drawing/2014/main" id="{8B50962C-F7A3-54F7-94A1-6A090A312603}"/>
              </a:ext>
            </a:extLst>
          </p:cNvPr>
          <p:cNvGrpSpPr/>
          <p:nvPr/>
        </p:nvGrpSpPr>
        <p:grpSpPr>
          <a:xfrm>
            <a:off x="-25" y="4872600"/>
            <a:ext cx="9144000" cy="270900"/>
            <a:chOff x="-25" y="4872600"/>
            <a:chExt cx="9144000" cy="270900"/>
          </a:xfrm>
        </p:grpSpPr>
        <p:sp>
          <p:nvSpPr>
            <p:cNvPr id="8" name="Google Shape;263;p6">
              <a:extLst>
                <a:ext uri="{FF2B5EF4-FFF2-40B4-BE49-F238E27FC236}">
                  <a16:creationId xmlns:a16="http://schemas.microsoft.com/office/drawing/2014/main" id="{9AC521B3-FD61-ADCF-69AF-6A81FBA9AC55}"/>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9" name="Google Shape;264;p6">
              <a:extLst>
                <a:ext uri="{FF2B5EF4-FFF2-40B4-BE49-F238E27FC236}">
                  <a16:creationId xmlns:a16="http://schemas.microsoft.com/office/drawing/2014/main" id="{CD2D24D4-66C6-CA1C-77E6-1F3FC0C45A97}"/>
                </a:ext>
              </a:extLst>
            </p:cNvPr>
            <p:cNvGrpSpPr/>
            <p:nvPr/>
          </p:nvGrpSpPr>
          <p:grpSpPr>
            <a:xfrm>
              <a:off x="3101100" y="4872600"/>
              <a:ext cx="2941800" cy="270900"/>
              <a:chOff x="3084200" y="4934525"/>
              <a:chExt cx="2941800" cy="270900"/>
            </a:xfrm>
          </p:grpSpPr>
          <p:sp>
            <p:nvSpPr>
              <p:cNvPr id="10" name="Google Shape;265;p6">
                <a:extLst>
                  <a:ext uri="{FF2B5EF4-FFF2-40B4-BE49-F238E27FC236}">
                    <a16:creationId xmlns:a16="http://schemas.microsoft.com/office/drawing/2014/main" id="{E5ACA95E-81E8-4379-68BF-8B530C4B4783}"/>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11" name="Google Shape;266;p6">
                <a:extLst>
                  <a:ext uri="{FF2B5EF4-FFF2-40B4-BE49-F238E27FC236}">
                    <a16:creationId xmlns:a16="http://schemas.microsoft.com/office/drawing/2014/main" id="{37AC26C0-D90A-01E6-4FD8-EBBB5D09B9AA}"/>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2" name="Picture 11">
            <a:extLst>
              <a:ext uri="{FF2B5EF4-FFF2-40B4-BE49-F238E27FC236}">
                <a16:creationId xmlns:a16="http://schemas.microsoft.com/office/drawing/2014/main" id="{9F125C38-3309-2356-25E8-FFC61D0CC065}"/>
              </a:ext>
            </a:extLst>
          </p:cNvPr>
          <p:cNvPicPr>
            <a:picLocks noChangeAspect="1"/>
          </p:cNvPicPr>
          <p:nvPr/>
        </p:nvPicPr>
        <p:blipFill>
          <a:blip r:embed="rId3"/>
          <a:stretch>
            <a:fillRect/>
          </a:stretch>
        </p:blipFill>
        <p:spPr>
          <a:xfrm>
            <a:off x="7819053" y="116485"/>
            <a:ext cx="1190504" cy="566010"/>
          </a:xfrm>
          <a:prstGeom prst="rect">
            <a:avLst/>
          </a:prstGeom>
        </p:spPr>
      </p:pic>
      <p:sp>
        <p:nvSpPr>
          <p:cNvPr id="19" name="Oval 18">
            <a:extLst>
              <a:ext uri="{FF2B5EF4-FFF2-40B4-BE49-F238E27FC236}">
                <a16:creationId xmlns:a16="http://schemas.microsoft.com/office/drawing/2014/main" id="{D70706E0-935E-4380-8D5F-A40AC9B12E01}"/>
              </a:ext>
            </a:extLst>
          </p:cNvPr>
          <p:cNvSpPr/>
          <p:nvPr/>
        </p:nvSpPr>
        <p:spPr>
          <a:xfrm>
            <a:off x="3236563" y="2031480"/>
            <a:ext cx="556171" cy="1774912"/>
          </a:xfrm>
          <a:prstGeom prst="ellipse">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6" name="Oval 15">
            <a:extLst>
              <a:ext uri="{FF2B5EF4-FFF2-40B4-BE49-F238E27FC236}">
                <a16:creationId xmlns:a16="http://schemas.microsoft.com/office/drawing/2014/main" id="{AFEA0321-8ACB-5F78-43CD-BB65EF4EE0DD}"/>
              </a:ext>
            </a:extLst>
          </p:cNvPr>
          <p:cNvSpPr/>
          <p:nvPr/>
        </p:nvSpPr>
        <p:spPr>
          <a:xfrm>
            <a:off x="3792734" y="1967951"/>
            <a:ext cx="579508" cy="1739034"/>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6" name="Oval 5">
            <a:extLst>
              <a:ext uri="{FF2B5EF4-FFF2-40B4-BE49-F238E27FC236}">
                <a16:creationId xmlns:a16="http://schemas.microsoft.com/office/drawing/2014/main" id="{325983A7-D378-6949-AE8C-60AFFF7F949C}"/>
              </a:ext>
            </a:extLst>
          </p:cNvPr>
          <p:cNvSpPr/>
          <p:nvPr/>
        </p:nvSpPr>
        <p:spPr>
          <a:xfrm>
            <a:off x="1363650" y="1918604"/>
            <a:ext cx="556171" cy="1754428"/>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11325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7"/>
          <p:cNvSpPr txBox="1">
            <a:spLocks noGrp="1"/>
          </p:cNvSpPr>
          <p:nvPr>
            <p:ph type="title"/>
          </p:nvPr>
        </p:nvSpPr>
        <p:spPr>
          <a:xfrm>
            <a:off x="720000" y="445025"/>
            <a:ext cx="4123944" cy="521208"/>
          </a:xfrm>
          <a:prstGeom prst="rect">
            <a:avLst/>
          </a:prstGeom>
          <a:solidFill>
            <a:srgbClr val="FECA08"/>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500"/>
              <a:buNone/>
            </a:pPr>
            <a:r>
              <a:rPr lang="en-US" sz="2000" dirty="0">
                <a:latin typeface="Calibri" panose="020F0502020204030204" pitchFamily="34" charset="0"/>
                <a:ea typeface="Calibri" panose="020F0502020204030204" pitchFamily="34" charset="0"/>
                <a:cs typeface="Calibri" panose="020F0502020204030204" pitchFamily="34" charset="0"/>
              </a:rPr>
              <a:t>Sectors update</a:t>
            </a:r>
            <a:endParaRPr sz="2000"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7" name="Table 16">
            <a:extLst>
              <a:ext uri="{FF2B5EF4-FFF2-40B4-BE49-F238E27FC236}">
                <a16:creationId xmlns:a16="http://schemas.microsoft.com/office/drawing/2014/main" id="{2EF99954-5847-4B61-821F-7FCC3097E99F}"/>
              </a:ext>
            </a:extLst>
          </p:cNvPr>
          <p:cNvGraphicFramePr>
            <a:graphicFrameLocks noGrp="1"/>
          </p:cNvGraphicFramePr>
          <p:nvPr>
            <p:custDataLst>
              <p:tags r:id="rId1"/>
            </p:custDataLst>
            <p:extLst>
              <p:ext uri="{D42A27DB-BD31-4B8C-83A1-F6EECF244321}">
                <p14:modId xmlns:p14="http://schemas.microsoft.com/office/powerpoint/2010/main" val="2641248583"/>
              </p:ext>
            </p:extLst>
          </p:nvPr>
        </p:nvGraphicFramePr>
        <p:xfrm>
          <a:off x="720000" y="1030148"/>
          <a:ext cx="8076811" cy="3586152"/>
        </p:xfrm>
        <a:graphic>
          <a:graphicData uri="http://schemas.openxmlformats.org/drawingml/2006/table">
            <a:tbl>
              <a:tblPr firstRow="1" bandRow="1">
                <a:tableStyleId>{7E9639D4-E3E2-4D34-9284-5A2195B3D0D7}</a:tableStyleId>
              </a:tblPr>
              <a:tblGrid>
                <a:gridCol w="737093">
                  <a:extLst>
                    <a:ext uri="{9D8B030D-6E8A-4147-A177-3AD203B41FA5}">
                      <a16:colId xmlns:a16="http://schemas.microsoft.com/office/drawing/2014/main" val="20000"/>
                    </a:ext>
                  </a:extLst>
                </a:gridCol>
                <a:gridCol w="4426636">
                  <a:extLst>
                    <a:ext uri="{9D8B030D-6E8A-4147-A177-3AD203B41FA5}">
                      <a16:colId xmlns:a16="http://schemas.microsoft.com/office/drawing/2014/main" val="20001"/>
                    </a:ext>
                  </a:extLst>
                </a:gridCol>
                <a:gridCol w="1349828">
                  <a:extLst>
                    <a:ext uri="{9D8B030D-6E8A-4147-A177-3AD203B41FA5}">
                      <a16:colId xmlns:a16="http://schemas.microsoft.com/office/drawing/2014/main" val="20002"/>
                    </a:ext>
                  </a:extLst>
                </a:gridCol>
                <a:gridCol w="1563254">
                  <a:extLst>
                    <a:ext uri="{9D8B030D-6E8A-4147-A177-3AD203B41FA5}">
                      <a16:colId xmlns:a16="http://schemas.microsoft.com/office/drawing/2014/main" val="20003"/>
                    </a:ext>
                  </a:extLst>
                </a:gridCol>
              </a:tblGrid>
              <a:tr h="228106">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Sectors</a:t>
                      </a:r>
                    </a:p>
                  </a:txBody>
                  <a:tcPr marL="68580" marR="68580" marT="34290" marB="34290" anchor="ctr">
                    <a:solidFill>
                      <a:schemeClr val="bg2"/>
                    </a:solidFill>
                  </a:tcPr>
                </a:tc>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Key Developments</a:t>
                      </a:r>
                    </a:p>
                  </a:txBody>
                  <a:tcPr marL="68580" marR="68580" marT="34290" marB="34290" anchor="ctr">
                    <a:solidFill>
                      <a:schemeClr val="bg2"/>
                    </a:solidFill>
                  </a:tcPr>
                </a:tc>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Valuation</a:t>
                      </a:r>
                    </a:p>
                  </a:txBody>
                  <a:tcPr marL="68580" marR="68580" marT="34290" marB="34290" anchor="ctr">
                    <a:solidFill>
                      <a:schemeClr val="bg2"/>
                    </a:solidFill>
                  </a:tcPr>
                </a:tc>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Our View</a:t>
                      </a:r>
                    </a:p>
                  </a:txBody>
                  <a:tcPr marL="68580" marR="68580" marT="34290" marB="34290" anchor="ctr">
                    <a:solidFill>
                      <a:schemeClr val="bg2"/>
                    </a:solidFill>
                  </a:tcPr>
                </a:tc>
                <a:extLst>
                  <a:ext uri="{0D108BD9-81ED-4DB2-BD59-A6C34878D82A}">
                    <a16:rowId xmlns:a16="http://schemas.microsoft.com/office/drawing/2014/main" val="10000"/>
                  </a:ext>
                </a:extLst>
              </a:tr>
              <a:tr h="774767">
                <a:tc>
                  <a:txBody>
                    <a:bodyPr/>
                    <a:lstStyle/>
                    <a:p>
                      <a:pPr algn="just"/>
                      <a:r>
                        <a:rPr lang="en-IN" sz="1050" b="1" dirty="0">
                          <a:latin typeface="Calibri" panose="020F0502020204030204" pitchFamily="34" charset="0"/>
                          <a:ea typeface="Calibri" panose="020F0502020204030204" pitchFamily="34" charset="0"/>
                          <a:cs typeface="Calibri" panose="020F0502020204030204" pitchFamily="34" charset="0"/>
                        </a:rPr>
                        <a:t>Consumer</a:t>
                      </a:r>
                      <a:r>
                        <a:rPr lang="en-IN" sz="1050" b="1" baseline="0" dirty="0">
                          <a:latin typeface="Calibri" panose="020F0502020204030204" pitchFamily="34" charset="0"/>
                          <a:ea typeface="Calibri" panose="020F0502020204030204" pitchFamily="34" charset="0"/>
                          <a:cs typeface="Calibri" panose="020F0502020204030204" pitchFamily="34" charset="0"/>
                        </a:rPr>
                        <a:t> </a:t>
                      </a:r>
                      <a:r>
                        <a:rPr lang="en-IN" sz="1050" b="1" dirty="0">
                          <a:latin typeface="Calibri" panose="020F0502020204030204" pitchFamily="34" charset="0"/>
                          <a:ea typeface="Calibri" panose="020F0502020204030204" pitchFamily="34" charset="0"/>
                          <a:cs typeface="Calibri" panose="020F0502020204030204" pitchFamily="34" charset="0"/>
                        </a:rPr>
                        <a:t>Durables</a:t>
                      </a:r>
                    </a:p>
                  </a:txBody>
                  <a:tcPr marL="68580" marR="68580" marT="34290" marB="34290" anchor="ctr">
                    <a:noFill/>
                  </a:tcPr>
                </a:tc>
                <a:tc>
                  <a:txBody>
                    <a:bodyPr/>
                    <a:lstStyle/>
                    <a:p>
                      <a:pPr algn="just"/>
                      <a:r>
                        <a:rPr lang="en-US" sz="1000" dirty="0">
                          <a:latin typeface="+mj-lt"/>
                        </a:rPr>
                        <a:t>Q3FY26 delivered strong 3QFY26 growth, with aggregate revenue up ~22% YoY and EBITDA/PAT rising ~27%/~30% YoY, supported by robust demand. C&amp;W outlook remains upbeat from infrastructure, power, and real estate, while RAC demand recovers on new BEE-rating norms, though elevated inventories and cost pressures persist</a:t>
                      </a:r>
                      <a:endParaRPr lang="en-US" sz="1000" dirty="0">
                        <a:highlight>
                          <a:srgbClr val="FFFF00"/>
                        </a:highlight>
                        <a:latin typeface="+mj-lt"/>
                      </a:endParaRPr>
                    </a:p>
                  </a:txBody>
                  <a:tcPr marL="68580" marR="68580" marT="34290" marB="34290" anchor="ctr">
                    <a:noFill/>
                  </a:tcPr>
                </a:tc>
                <a:tc>
                  <a:txBody>
                    <a:bodyPr/>
                    <a:lstStyle/>
                    <a:p>
                      <a:pPr algn="ctr"/>
                      <a:r>
                        <a:rPr lang="en-US" sz="1100" dirty="0">
                          <a:latin typeface="+mj-lt"/>
                        </a:rPr>
                        <a:t>Trailing P/BV near   +1SD</a:t>
                      </a:r>
                      <a:endParaRPr lang="en-IN" sz="1100" b="0" dirty="0">
                        <a:solidFill>
                          <a:schemeClr val="tx1"/>
                        </a:solidFill>
                        <a:latin typeface="+mj-lt"/>
                        <a:ea typeface="Calibri" panose="020F0502020204030204" pitchFamily="34" charset="0"/>
                        <a:cs typeface="Calibri" panose="020F0502020204030204" pitchFamily="34" charset="0"/>
                      </a:endParaRPr>
                    </a:p>
                  </a:txBody>
                  <a:tcPr marL="68580" marR="68580" marT="34290" marB="34290" anchor="ctr">
                    <a:solidFill>
                      <a:schemeClr val="accent2"/>
                    </a:solidFill>
                  </a:tcPr>
                </a:tc>
                <a:tc>
                  <a:txBody>
                    <a:bodyPr/>
                    <a:lstStyle/>
                    <a:p>
                      <a:pPr algn="ctr"/>
                      <a:r>
                        <a:rPr lang="en-IN" sz="1100" b="0" baseline="0" dirty="0">
                          <a:solidFill>
                            <a:schemeClr val="tx1"/>
                          </a:solidFill>
                          <a:latin typeface="+mj-lt"/>
                          <a:ea typeface="Calibri" panose="020F0502020204030204" pitchFamily="34" charset="0"/>
                          <a:cs typeface="Calibri" panose="020F0502020204030204" pitchFamily="34" charset="0"/>
                        </a:rPr>
                        <a:t>Underweight</a:t>
                      </a:r>
                      <a:endParaRPr lang="en-IN" sz="1100" b="0" dirty="0">
                        <a:solidFill>
                          <a:schemeClr val="tx1"/>
                        </a:solidFill>
                        <a:latin typeface="+mj-lt"/>
                        <a:ea typeface="Calibri" panose="020F0502020204030204" pitchFamily="34" charset="0"/>
                        <a:cs typeface="Calibri" panose="020F0502020204030204" pitchFamily="34" charset="0"/>
                      </a:endParaRPr>
                    </a:p>
                  </a:txBody>
                  <a:tcPr marL="68580" marR="68580" marT="34290" marB="34290" anchor="ctr">
                    <a:solidFill>
                      <a:schemeClr val="accent2"/>
                    </a:solidFill>
                  </a:tcPr>
                </a:tc>
                <a:extLst>
                  <a:ext uri="{0D108BD9-81ED-4DB2-BD59-A6C34878D82A}">
                    <a16:rowId xmlns:a16="http://schemas.microsoft.com/office/drawing/2014/main" val="10001"/>
                  </a:ext>
                </a:extLst>
              </a:tr>
              <a:tr h="822565">
                <a:tc>
                  <a:txBody>
                    <a:bodyPr/>
                    <a:lstStyle/>
                    <a:p>
                      <a:pPr algn="just"/>
                      <a:r>
                        <a:rPr lang="en-IN" sz="1050" b="1" dirty="0">
                          <a:latin typeface="Calibri" panose="020F0502020204030204" pitchFamily="34" charset="0"/>
                          <a:ea typeface="Calibri" panose="020F0502020204030204" pitchFamily="34" charset="0"/>
                          <a:cs typeface="Calibri" panose="020F0502020204030204" pitchFamily="34" charset="0"/>
                        </a:rPr>
                        <a:t>Oil &amp;</a:t>
                      </a:r>
                      <a:r>
                        <a:rPr lang="en-IN" sz="1050" b="1" baseline="0" dirty="0">
                          <a:latin typeface="Calibri" panose="020F0502020204030204" pitchFamily="34" charset="0"/>
                          <a:ea typeface="Calibri" panose="020F0502020204030204" pitchFamily="34" charset="0"/>
                          <a:cs typeface="Calibri" panose="020F0502020204030204" pitchFamily="34" charset="0"/>
                        </a:rPr>
                        <a:t> Gas </a:t>
                      </a:r>
                      <a:endParaRPr lang="en-IN" sz="1050" b="1" dirty="0">
                        <a:latin typeface="Calibri" panose="020F0502020204030204" pitchFamily="34" charset="0"/>
                        <a:ea typeface="Calibri" panose="020F0502020204030204" pitchFamily="34" charset="0"/>
                        <a:cs typeface="Calibri" panose="020F0502020204030204" pitchFamily="34" charset="0"/>
                      </a:endParaRPr>
                    </a:p>
                  </a:txBody>
                  <a:tcPr marL="68580" marR="68580" marT="34290" marB="34290" anchor="ctr">
                    <a:solidFill>
                      <a:schemeClr val="accent2"/>
                    </a:solidFill>
                  </a:tcPr>
                </a:tc>
                <a:tc>
                  <a:txBody>
                    <a:bodyPr/>
                    <a:lstStyle/>
                    <a:p>
                      <a:r>
                        <a:rPr lang="en-US" sz="1000" dirty="0">
                          <a:latin typeface="+mj-lt"/>
                        </a:rPr>
                        <a:t>Brent crude oil prices, after reaching $71/bbl recently, have now corrected. Natural gas prices are also softening, benefiting gas distribution companies. The Union Budget 2026-27 maintained excise duties on petrol, diesel, and domestic LPG, supporting OMCs</a:t>
                      </a:r>
                    </a:p>
                  </a:txBody>
                  <a:tcPr marL="68580" marR="68580" marT="34290" marB="34290" anchor="ctr">
                    <a:solidFill>
                      <a:schemeClr val="accent2"/>
                    </a:solidFill>
                  </a:tcPr>
                </a:tc>
                <a:tc>
                  <a:txBody>
                    <a:bodyPr/>
                    <a:lstStyle/>
                    <a:p>
                      <a:pPr marR="0" algn="ctr" rtl="0">
                        <a:lnSpc>
                          <a:spcPct val="100000"/>
                        </a:lnSpc>
                        <a:spcBef>
                          <a:spcPts val="0"/>
                        </a:spcBef>
                        <a:spcAft>
                          <a:spcPts val="0"/>
                        </a:spcAft>
                        <a:buClr>
                          <a:srgbClr val="000000"/>
                        </a:buClr>
                        <a:buFont typeface="Arial"/>
                      </a:pPr>
                      <a:r>
                        <a:rPr lang="en-US" sz="1100" dirty="0">
                          <a:latin typeface="+mj-lt"/>
                        </a:rPr>
                        <a:t>Trailing P/BV just above 5-yr average </a:t>
                      </a:r>
                      <a:endParaRPr lang="en-IN" sz="1100" b="0" i="0" u="none" strike="noStrike" cap="none" dirty="0">
                        <a:solidFill>
                          <a:schemeClr val="tx1"/>
                        </a:solidFill>
                        <a:latin typeface="+mj-lt"/>
                        <a:ea typeface="Calibri" panose="020F0502020204030204" pitchFamily="34" charset="0"/>
                        <a:cs typeface="Calibri" panose="020F0502020204030204" pitchFamily="34" charset="0"/>
                        <a:sym typeface="Arial"/>
                      </a:endParaRPr>
                    </a:p>
                  </a:txBody>
                  <a:tcPr marL="68580" marR="68580" marT="34290" marB="34290" anchor="ctr">
                    <a:solidFill>
                      <a:schemeClr val="bg1"/>
                    </a:solidFill>
                  </a:tcPr>
                </a:tc>
                <a:tc>
                  <a:txBody>
                    <a:bodyPr/>
                    <a:lstStyle/>
                    <a:p>
                      <a:pPr algn="ctr"/>
                      <a:r>
                        <a:rPr lang="en-IN" sz="1100" b="0" dirty="0">
                          <a:latin typeface="+mj-lt"/>
                          <a:ea typeface="Calibri" panose="020F0502020204030204" pitchFamily="34" charset="0"/>
                          <a:cs typeface="Calibri" panose="020F0502020204030204" pitchFamily="34" charset="0"/>
                        </a:rPr>
                        <a:t>Stock Specific</a:t>
                      </a:r>
                    </a:p>
                  </a:txBody>
                  <a:tcPr marL="68580" marR="68580" marT="34290" marB="34290" anchor="ctr">
                    <a:solidFill>
                      <a:schemeClr val="accent2"/>
                    </a:solidFill>
                  </a:tcPr>
                </a:tc>
                <a:extLst>
                  <a:ext uri="{0D108BD9-81ED-4DB2-BD59-A6C34878D82A}">
                    <a16:rowId xmlns:a16="http://schemas.microsoft.com/office/drawing/2014/main" val="10002"/>
                  </a:ext>
                </a:extLst>
              </a:tr>
              <a:tr h="774767">
                <a:tc>
                  <a:txBody>
                    <a:bodyPr/>
                    <a:lstStyle/>
                    <a:p>
                      <a:pPr algn="just"/>
                      <a:r>
                        <a:rPr lang="en-IN" sz="1050" b="1" dirty="0">
                          <a:latin typeface="Calibri" panose="020F0502020204030204" pitchFamily="34" charset="0"/>
                          <a:ea typeface="Calibri" panose="020F0502020204030204" pitchFamily="34" charset="0"/>
                          <a:cs typeface="Calibri" panose="020F0502020204030204" pitchFamily="34" charset="0"/>
                        </a:rPr>
                        <a:t>Auto</a:t>
                      </a:r>
                    </a:p>
                  </a:txBody>
                  <a:tcPr marL="68580" marR="68580" marT="34290" marB="34290" anchor="ctr"/>
                </a:tc>
                <a:tc>
                  <a:txBody>
                    <a:bodyPr/>
                    <a:lstStyle/>
                    <a:p>
                      <a:pPr algn="just"/>
                      <a:r>
                        <a:rPr lang="en-US" sz="1100" dirty="0">
                          <a:latin typeface="+mj-lt"/>
                        </a:rPr>
                        <a:t>In Q3FY26, auto OEMs and ancillaries saw ~20–25% revenue growth with strong profits. Labour codes and input costs had minimal impact. Union Budget 2026–27 measures, including rare earth corridors, REPM scheme, higher PLI, and PM E‑DRIVE, support the sector outlook</a:t>
                      </a:r>
                      <a:endParaRPr lang="en-IN" sz="1100" b="0" i="0" u="none" strike="noStrike" cap="none" dirty="0">
                        <a:solidFill>
                          <a:schemeClr val="tx1"/>
                        </a:solidFill>
                        <a:highlight>
                          <a:srgbClr val="FFFF00"/>
                        </a:highlight>
                        <a:latin typeface="+mj-lt"/>
                        <a:ea typeface="+mn-ea"/>
                        <a:cs typeface="+mn-cs"/>
                        <a:sym typeface="Arial"/>
                      </a:endParaRPr>
                    </a:p>
                  </a:txBody>
                  <a:tcPr marL="68580" marR="68580" marT="34290" marB="34290" anchor="ctr"/>
                </a:tc>
                <a:tc>
                  <a:txBody>
                    <a:bodyPr/>
                    <a:lstStyle/>
                    <a:p>
                      <a:pPr algn="ctr"/>
                      <a:r>
                        <a:rPr lang="en-US" sz="1100" dirty="0">
                          <a:latin typeface="+mj-lt"/>
                        </a:rPr>
                        <a:t>Trailing P/BV trading above 5 yr average </a:t>
                      </a:r>
                      <a:endParaRPr lang="en-IN" sz="1100" b="0" dirty="0">
                        <a:latin typeface="+mj-lt"/>
                        <a:ea typeface="Calibri" panose="020F0502020204030204" pitchFamily="34" charset="0"/>
                        <a:cs typeface="Calibri" panose="020F0502020204030204" pitchFamily="34" charset="0"/>
                      </a:endParaRPr>
                    </a:p>
                  </a:txBody>
                  <a:tcPr marL="68580" marR="68580" marT="34290" marB="34290" anchor="ctr">
                    <a:solidFill>
                      <a:schemeClr val="bg1"/>
                    </a:solidFill>
                  </a:tcPr>
                </a:tc>
                <a:tc>
                  <a:txBody>
                    <a:bodyPr/>
                    <a:lstStyle/>
                    <a:p>
                      <a:pPr algn="ctr"/>
                      <a:r>
                        <a:rPr lang="en-IN" sz="1100" b="0" dirty="0">
                          <a:solidFill>
                            <a:schemeClr val="tx1"/>
                          </a:solidFill>
                          <a:latin typeface="+mj-lt"/>
                          <a:ea typeface="Calibri" panose="020F0502020204030204" pitchFamily="34" charset="0"/>
                          <a:cs typeface="Calibri" panose="020F0502020204030204" pitchFamily="34" charset="0"/>
                        </a:rPr>
                        <a:t>Stock specific bottom up</a:t>
                      </a:r>
                    </a:p>
                  </a:txBody>
                  <a:tcPr marL="68580" marR="68580" marT="34290" marB="34290" anchor="ctr">
                    <a:solidFill>
                      <a:schemeClr val="accent2"/>
                    </a:solidFill>
                  </a:tcPr>
                </a:tc>
                <a:extLst>
                  <a:ext uri="{0D108BD9-81ED-4DB2-BD59-A6C34878D82A}">
                    <a16:rowId xmlns:a16="http://schemas.microsoft.com/office/drawing/2014/main" val="4191346065"/>
                  </a:ext>
                </a:extLst>
              </a:tr>
              <a:tr h="774767">
                <a:tc>
                  <a:txBody>
                    <a:bodyPr/>
                    <a:lstStyle/>
                    <a:p>
                      <a:pPr algn="just"/>
                      <a:r>
                        <a:rPr lang="en-US" sz="1050" b="1" dirty="0">
                          <a:latin typeface="Calibri" panose="020F0502020204030204" pitchFamily="34" charset="0"/>
                          <a:ea typeface="Calibri" panose="020F0502020204030204" pitchFamily="34" charset="0"/>
                          <a:cs typeface="Calibri" panose="020F0502020204030204" pitchFamily="34" charset="0"/>
                        </a:rPr>
                        <a:t>FMCG</a:t>
                      </a:r>
                    </a:p>
                  </a:txBody>
                  <a:tcPr marL="68580" marR="68580" marT="34290" marB="34290" anchor="ctr">
                    <a:noFill/>
                  </a:tcP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latin typeface="+mj-lt"/>
                        </a:rPr>
                        <a:t>Q3FY26, FMCG companies saw resilient consumption demand despite macro uncertainties. Revenue growth remained steady, supported by broad-based urban and rural demand, though price-led volume growth varied across categories. Profitability stayed stable as firms managed input costs through pricing and efficiency measures.</a:t>
                      </a:r>
                      <a:endParaRPr lang="en-US" sz="1050" strike="sngStrike" dirty="0">
                        <a:latin typeface="+mj-lt"/>
                      </a:endParaRPr>
                    </a:p>
                  </a:txBody>
                  <a:tcPr marL="68580" marR="68580" marT="34290" marB="34290" anchor="ctr">
                    <a:noFill/>
                  </a:tcPr>
                </a:tc>
                <a:tc>
                  <a:txBody>
                    <a:bodyPr/>
                    <a:lstStyle/>
                    <a:p>
                      <a:pPr algn="ctr"/>
                      <a:r>
                        <a:rPr lang="en-US" sz="1100" dirty="0">
                          <a:latin typeface="+mj-lt"/>
                        </a:rPr>
                        <a:t>Trailing P/BV just below 5-yr average SD</a:t>
                      </a:r>
                      <a:endParaRPr lang="en-US" sz="1100" b="0" dirty="0">
                        <a:solidFill>
                          <a:schemeClr val="tx1"/>
                        </a:solidFill>
                        <a:latin typeface="+mj-lt"/>
                        <a:ea typeface="Calibri" panose="020F0502020204030204" pitchFamily="34" charset="0"/>
                        <a:cs typeface="Calibri" panose="020F0502020204030204" pitchFamily="34" charset="0"/>
                      </a:endParaRPr>
                    </a:p>
                  </a:txBody>
                  <a:tcPr marL="68580" marR="68580" marT="34290" marB="34290"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kern="1200" dirty="0">
                          <a:solidFill>
                            <a:schemeClr val="tx1"/>
                          </a:solidFill>
                          <a:latin typeface="+mj-lt"/>
                          <a:ea typeface="Calibri" panose="020F0502020204030204" pitchFamily="34" charset="0"/>
                          <a:cs typeface="Calibri" panose="020F0502020204030204" pitchFamily="34" charset="0"/>
                        </a:rPr>
                        <a:t>Stock specific</a:t>
                      </a:r>
                      <a:endParaRPr lang="en-US" sz="1100" b="0" dirty="0">
                        <a:solidFill>
                          <a:schemeClr val="tx1"/>
                        </a:solidFill>
                        <a:latin typeface="+mj-lt"/>
                        <a:ea typeface="Calibri" panose="020F0502020204030204" pitchFamily="34" charset="0"/>
                        <a:cs typeface="Calibri" panose="020F0502020204030204" pitchFamily="34" charset="0"/>
                      </a:endParaRPr>
                    </a:p>
                  </a:txBody>
                  <a:tcPr marL="68580" marR="68580" marT="34290" marB="34290" anchor="ctr">
                    <a:solidFill>
                      <a:schemeClr val="accent2"/>
                    </a:solidFill>
                  </a:tcPr>
                </a:tc>
                <a:extLst>
                  <a:ext uri="{0D108BD9-81ED-4DB2-BD59-A6C34878D82A}">
                    <a16:rowId xmlns:a16="http://schemas.microsoft.com/office/drawing/2014/main" val="3347416445"/>
                  </a:ext>
                </a:extLst>
              </a:tr>
            </a:tbl>
          </a:graphicData>
        </a:graphic>
      </p:graphicFrame>
      <p:sp>
        <p:nvSpPr>
          <p:cNvPr id="2" name="TextBox 1">
            <a:extLst>
              <a:ext uri="{FF2B5EF4-FFF2-40B4-BE49-F238E27FC236}">
                <a16:creationId xmlns:a16="http://schemas.microsoft.com/office/drawing/2014/main" id="{39C53B6D-06C5-2B43-F2ED-586117131F8A}"/>
              </a:ext>
            </a:extLst>
          </p:cNvPr>
          <p:cNvSpPr txBox="1"/>
          <p:nvPr/>
        </p:nvSpPr>
        <p:spPr>
          <a:xfrm>
            <a:off x="720000" y="4688859"/>
            <a:ext cx="7940479" cy="215444"/>
          </a:xfrm>
          <a:prstGeom prst="rect">
            <a:avLst/>
          </a:prstGeom>
          <a:noFill/>
        </p:spPr>
        <p:txBody>
          <a:bodyPr wrap="square" rtlCol="0">
            <a:spAutoFit/>
          </a:bodyPr>
          <a:lstStyle/>
          <a:p>
            <a:r>
              <a:rPr lang="en-US" sz="800" b="1" dirty="0">
                <a:latin typeface="+mn-lt"/>
              </a:rPr>
              <a:t>Disclaimer</a:t>
            </a:r>
            <a:r>
              <a:rPr lang="en-US" sz="800" dirty="0">
                <a:latin typeface="+mn-lt"/>
              </a:rPr>
              <a:t>: S</a:t>
            </a:r>
            <a:r>
              <a:rPr lang="en-US" sz="800" dirty="0">
                <a:effectLst/>
                <a:latin typeface="+mn-lt"/>
              </a:rPr>
              <a:t>ectors specific views mentioned herein are for Information purpose only, the Fund may or may not hold any present or future positions in these sectors</a:t>
            </a:r>
            <a:endParaRPr lang="en-US" sz="800" dirty="0">
              <a:latin typeface="+mn-lt"/>
            </a:endParaRPr>
          </a:p>
        </p:txBody>
      </p:sp>
      <p:grpSp>
        <p:nvGrpSpPr>
          <p:cNvPr id="3" name="Google Shape;262;p6">
            <a:extLst>
              <a:ext uri="{FF2B5EF4-FFF2-40B4-BE49-F238E27FC236}">
                <a16:creationId xmlns:a16="http://schemas.microsoft.com/office/drawing/2014/main" id="{367160A0-FDEE-F288-39EE-F9E9F437A299}"/>
              </a:ext>
            </a:extLst>
          </p:cNvPr>
          <p:cNvGrpSpPr/>
          <p:nvPr/>
        </p:nvGrpSpPr>
        <p:grpSpPr>
          <a:xfrm>
            <a:off x="-25" y="4872600"/>
            <a:ext cx="9144000" cy="270900"/>
            <a:chOff x="-25" y="4872600"/>
            <a:chExt cx="9144000" cy="270900"/>
          </a:xfrm>
        </p:grpSpPr>
        <p:sp>
          <p:nvSpPr>
            <p:cNvPr id="4" name="Google Shape;263;p6">
              <a:extLst>
                <a:ext uri="{FF2B5EF4-FFF2-40B4-BE49-F238E27FC236}">
                  <a16:creationId xmlns:a16="http://schemas.microsoft.com/office/drawing/2014/main" id="{379FAD92-B74F-A5C6-2B4E-FD73CAA50546}"/>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9A606104-F350-29B2-92BC-871B31BE8E85}"/>
                </a:ext>
              </a:extLst>
            </p:cNvPr>
            <p:cNvGrpSpPr/>
            <p:nvPr/>
          </p:nvGrpSpPr>
          <p:grpSpPr>
            <a:xfrm>
              <a:off x="3101100" y="4872600"/>
              <a:ext cx="2941800" cy="270900"/>
              <a:chOff x="3084200" y="4934525"/>
              <a:chExt cx="2941800" cy="270900"/>
            </a:xfrm>
          </p:grpSpPr>
          <p:sp>
            <p:nvSpPr>
              <p:cNvPr id="6" name="Google Shape;265;p6">
                <a:extLst>
                  <a:ext uri="{FF2B5EF4-FFF2-40B4-BE49-F238E27FC236}">
                    <a16:creationId xmlns:a16="http://schemas.microsoft.com/office/drawing/2014/main" id="{9B61EB2E-1B78-8885-0C05-00A01FA68201}"/>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7" name="Google Shape;266;p6">
                <a:extLst>
                  <a:ext uri="{FF2B5EF4-FFF2-40B4-BE49-F238E27FC236}">
                    <a16:creationId xmlns:a16="http://schemas.microsoft.com/office/drawing/2014/main" id="{FA5A640D-8F09-8CA6-3815-CB1F0433EA83}"/>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8" name="Picture 7">
            <a:extLst>
              <a:ext uri="{FF2B5EF4-FFF2-40B4-BE49-F238E27FC236}">
                <a16:creationId xmlns:a16="http://schemas.microsoft.com/office/drawing/2014/main" id="{B98F33B3-35B4-9BD7-BAAB-4956B59C5BFA}"/>
              </a:ext>
            </a:extLst>
          </p:cNvPr>
          <p:cNvPicPr>
            <a:picLocks noChangeAspect="1"/>
          </p:cNvPicPr>
          <p:nvPr/>
        </p:nvPicPr>
        <p:blipFill>
          <a:blip r:embed="rId4"/>
          <a:stretch>
            <a:fillRect/>
          </a:stretch>
        </p:blipFill>
        <p:spPr>
          <a:xfrm>
            <a:off x="7819053" y="116485"/>
            <a:ext cx="1190504" cy="566010"/>
          </a:xfrm>
          <a:prstGeom prst="rect">
            <a:avLst/>
          </a:prstGeom>
        </p:spPr>
      </p:pic>
    </p:spTree>
    <p:extLst>
      <p:ext uri="{BB962C8B-B14F-4D97-AF65-F5344CB8AC3E}">
        <p14:creationId xmlns:p14="http://schemas.microsoft.com/office/powerpoint/2010/main" val="42482198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7"/>
          <p:cNvSpPr txBox="1">
            <a:spLocks noGrp="1"/>
          </p:cNvSpPr>
          <p:nvPr>
            <p:ph type="title"/>
          </p:nvPr>
        </p:nvSpPr>
        <p:spPr>
          <a:xfrm>
            <a:off x="720000" y="445025"/>
            <a:ext cx="4123944" cy="521208"/>
          </a:xfrm>
          <a:prstGeom prst="rect">
            <a:avLst/>
          </a:prstGeom>
          <a:solidFill>
            <a:srgbClr val="FECA08"/>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500"/>
              <a:buNone/>
            </a:pPr>
            <a:r>
              <a:rPr lang="en-US" sz="2000" dirty="0">
                <a:latin typeface="Calibri" panose="020F0502020204030204" pitchFamily="34" charset="0"/>
                <a:ea typeface="Calibri" panose="020F0502020204030204" pitchFamily="34" charset="0"/>
                <a:cs typeface="Calibri" panose="020F0502020204030204" pitchFamily="34" charset="0"/>
              </a:rPr>
              <a:t>Sectors update </a:t>
            </a:r>
            <a:endParaRPr sz="2000"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7" name="Table 16">
            <a:extLst>
              <a:ext uri="{FF2B5EF4-FFF2-40B4-BE49-F238E27FC236}">
                <a16:creationId xmlns:a16="http://schemas.microsoft.com/office/drawing/2014/main" id="{2EF99954-5847-4B61-821F-7FCC3097E99F}"/>
              </a:ext>
            </a:extLst>
          </p:cNvPr>
          <p:cNvGraphicFramePr>
            <a:graphicFrameLocks noGrp="1"/>
          </p:cNvGraphicFramePr>
          <p:nvPr>
            <p:custDataLst>
              <p:tags r:id="rId1"/>
            </p:custDataLst>
            <p:extLst>
              <p:ext uri="{D42A27DB-BD31-4B8C-83A1-F6EECF244321}">
                <p14:modId xmlns:p14="http://schemas.microsoft.com/office/powerpoint/2010/main" val="670027025"/>
              </p:ext>
            </p:extLst>
          </p:nvPr>
        </p:nvGraphicFramePr>
        <p:xfrm>
          <a:off x="770006" y="1050467"/>
          <a:ext cx="7940479" cy="3437713"/>
        </p:xfrm>
        <a:graphic>
          <a:graphicData uri="http://schemas.openxmlformats.org/drawingml/2006/table">
            <a:tbl>
              <a:tblPr firstRow="1" bandRow="1">
                <a:tableStyleId>{7E9639D4-E3E2-4D34-9284-5A2195B3D0D7}</a:tableStyleId>
              </a:tblPr>
              <a:tblGrid>
                <a:gridCol w="992260">
                  <a:extLst>
                    <a:ext uri="{9D8B030D-6E8A-4147-A177-3AD203B41FA5}">
                      <a16:colId xmlns:a16="http://schemas.microsoft.com/office/drawing/2014/main" val="20000"/>
                    </a:ext>
                  </a:extLst>
                </a:gridCol>
                <a:gridCol w="3838434">
                  <a:extLst>
                    <a:ext uri="{9D8B030D-6E8A-4147-A177-3AD203B41FA5}">
                      <a16:colId xmlns:a16="http://schemas.microsoft.com/office/drawing/2014/main" val="20001"/>
                    </a:ext>
                  </a:extLst>
                </a:gridCol>
                <a:gridCol w="1301085">
                  <a:extLst>
                    <a:ext uri="{9D8B030D-6E8A-4147-A177-3AD203B41FA5}">
                      <a16:colId xmlns:a16="http://schemas.microsoft.com/office/drawing/2014/main" val="20002"/>
                    </a:ext>
                  </a:extLst>
                </a:gridCol>
                <a:gridCol w="1808700">
                  <a:extLst>
                    <a:ext uri="{9D8B030D-6E8A-4147-A177-3AD203B41FA5}">
                      <a16:colId xmlns:a16="http://schemas.microsoft.com/office/drawing/2014/main" val="20003"/>
                    </a:ext>
                  </a:extLst>
                </a:gridCol>
              </a:tblGrid>
              <a:tr h="243680">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Sectors</a:t>
                      </a:r>
                    </a:p>
                  </a:txBody>
                  <a:tcPr marL="68580" marR="68580" marT="34290" marB="34290" anchor="ctr">
                    <a:solidFill>
                      <a:schemeClr val="bg2"/>
                    </a:solidFill>
                  </a:tcPr>
                </a:tc>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Key Developments</a:t>
                      </a:r>
                    </a:p>
                  </a:txBody>
                  <a:tcPr marL="68580" marR="68580" marT="34290" marB="34290" anchor="ctr">
                    <a:solidFill>
                      <a:schemeClr val="bg2"/>
                    </a:solidFill>
                  </a:tcPr>
                </a:tc>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Valuation</a:t>
                      </a:r>
                    </a:p>
                  </a:txBody>
                  <a:tcPr marL="68580" marR="68580" marT="34290" marB="34290" anchor="ctr">
                    <a:solidFill>
                      <a:schemeClr val="bg2"/>
                    </a:solidFill>
                  </a:tcPr>
                </a:tc>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Our View</a:t>
                      </a:r>
                    </a:p>
                  </a:txBody>
                  <a:tcPr marL="68580" marR="68580" marT="34290" marB="34290" anchor="ctr">
                    <a:solidFill>
                      <a:schemeClr val="bg2"/>
                    </a:solidFill>
                  </a:tcPr>
                </a:tc>
                <a:extLst>
                  <a:ext uri="{0D108BD9-81ED-4DB2-BD59-A6C34878D82A}">
                    <a16:rowId xmlns:a16="http://schemas.microsoft.com/office/drawing/2014/main" val="10000"/>
                  </a:ext>
                </a:extLst>
              </a:tr>
              <a:tr h="1092930">
                <a:tc>
                  <a:txBody>
                    <a:bodyPr/>
                    <a:lstStyle/>
                    <a:p>
                      <a:pPr algn="just"/>
                      <a:r>
                        <a:rPr lang="en-US" sz="1000" b="1" dirty="0">
                          <a:latin typeface="+mj-lt"/>
                          <a:ea typeface="Calibri" panose="020F0502020204030204" pitchFamily="34" charset="0"/>
                          <a:cs typeface="Calibri" panose="020F0502020204030204" pitchFamily="34" charset="0"/>
                        </a:rPr>
                        <a:t>Banks</a:t>
                      </a:r>
                    </a:p>
                  </a:txBody>
                  <a:tcPr marL="68580" marR="68580" marT="34290" marB="34290" anchor="ctr"/>
                </a:tc>
                <a:tc>
                  <a:txBody>
                    <a:bodyPr/>
                    <a:lstStyle/>
                    <a:p>
                      <a:pPr algn="just"/>
                      <a:r>
                        <a:rPr lang="en-US" sz="1000" dirty="0">
                          <a:latin typeface="+mj-lt"/>
                        </a:rPr>
                        <a:t>Q3 FY26 earnings highlight continued strength across financial services, including banks, NBFCs, life insurers, and AMCs. Credit growth was robust, driven by retail, MSME, NBFC, and corporate demand, alongside early industrial recovery, while deposit growth lagged amid competition. RBI liquidity support remains, though the recent STT hike on F&amp;O may weigh on capital market–linked stocks</a:t>
                      </a:r>
                    </a:p>
                  </a:txBody>
                  <a:tcPr marL="68580" marR="68580" marT="34290" marB="34290" anchor="ctr">
                    <a:solidFill>
                      <a:schemeClr val="bg1"/>
                    </a:solidFill>
                  </a:tcPr>
                </a:tc>
                <a:tc>
                  <a:txBody>
                    <a:bodyPr/>
                    <a:lstStyle/>
                    <a:p>
                      <a:pPr algn="ctr"/>
                      <a:r>
                        <a:rPr lang="en-US" sz="1000" dirty="0">
                          <a:latin typeface="+mj-lt"/>
                        </a:rPr>
                        <a:t>Trailing P/BV &lt; 5yr avg SD</a:t>
                      </a:r>
                      <a:endParaRPr lang="en-US" sz="1000" b="1" dirty="0">
                        <a:solidFill>
                          <a:srgbClr val="C00000"/>
                        </a:solidFill>
                        <a:latin typeface="+mj-lt"/>
                        <a:ea typeface="Calibri" panose="020F0502020204030204" pitchFamily="34" charset="0"/>
                        <a:cs typeface="Calibri" panose="020F0502020204030204" pitchFamily="34" charset="0"/>
                      </a:endParaRP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kern="1200" baseline="0" dirty="0">
                          <a:latin typeface="+mj-lt"/>
                          <a:ea typeface="Calibri" panose="020F0502020204030204" pitchFamily="34" charset="0"/>
                          <a:cs typeface="Calibri" panose="020F0502020204030204" pitchFamily="34" charset="0"/>
                        </a:rPr>
                        <a:t>Overweight</a:t>
                      </a:r>
                      <a:endParaRPr lang="en-US" sz="1000" b="0" dirty="0">
                        <a:latin typeface="+mj-lt"/>
                        <a:ea typeface="Calibri" panose="020F0502020204030204" pitchFamily="34" charset="0"/>
                        <a:cs typeface="Calibri" panose="020F0502020204030204" pitchFamily="34" charset="0"/>
                      </a:endParaRPr>
                    </a:p>
                  </a:txBody>
                  <a:tcPr marL="68580" marR="68580" marT="34290" marB="34290" anchor="ctr">
                    <a:solidFill>
                      <a:schemeClr val="accent2"/>
                    </a:solidFill>
                  </a:tcPr>
                </a:tc>
                <a:extLst>
                  <a:ext uri="{0D108BD9-81ED-4DB2-BD59-A6C34878D82A}">
                    <a16:rowId xmlns:a16="http://schemas.microsoft.com/office/drawing/2014/main" val="10001"/>
                  </a:ext>
                </a:extLst>
              </a:tr>
              <a:tr h="1110343">
                <a:tc>
                  <a:txBody>
                    <a:bodyPr/>
                    <a:lstStyle/>
                    <a:p>
                      <a:pPr algn="just"/>
                      <a:r>
                        <a:rPr lang="en-US" sz="1000" b="1" dirty="0">
                          <a:latin typeface="+mj-lt"/>
                          <a:ea typeface="Calibri" panose="020F0502020204030204" pitchFamily="34" charset="0"/>
                          <a:cs typeface="Calibri" panose="020F0502020204030204" pitchFamily="34" charset="0"/>
                        </a:rPr>
                        <a:t>Metals</a:t>
                      </a:r>
                    </a:p>
                  </a:txBody>
                  <a:tcPr marL="68580" marR="68580" marT="34290" marB="34290" anchor="ct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latin typeface="+mj-lt"/>
                        </a:rPr>
                        <a:t>In Q3FY26, ferrous companies saw healthy volume growth (12% YoY, 6% QoQ) but EBITDA/t fell due to weaker steel prices after the lapse of provisional safeguard duty. Non-ferrous players mostly reported earnings beats on strong pricing, with aluminum, zinc, and copper at elevated levels. Cost pressures remain manageable, though global trade tensions and metal price volatility are key risks going forward</a:t>
                      </a:r>
                    </a:p>
                  </a:txBody>
                  <a:tcPr marL="68580" marR="68580" marT="34290" marB="34290" anchor="ctr">
                    <a:solidFill>
                      <a:schemeClr val="bg1"/>
                    </a:solidFill>
                  </a:tcPr>
                </a:tc>
                <a:tc>
                  <a:txBody>
                    <a:bodyPr/>
                    <a:lstStyle/>
                    <a:p>
                      <a:pPr algn="ctr"/>
                      <a:r>
                        <a:rPr lang="en-US" sz="1000" dirty="0">
                          <a:latin typeface="+mj-lt"/>
                        </a:rPr>
                        <a:t>Trailing P/BV ~ 5-yr &gt;+2× SD</a:t>
                      </a:r>
                      <a:endParaRPr lang="en-US" sz="1000" b="0" dirty="0">
                        <a:latin typeface="+mj-lt"/>
                        <a:ea typeface="Calibri" panose="020F0502020204030204" pitchFamily="34" charset="0"/>
                        <a:cs typeface="Calibri" panose="020F0502020204030204" pitchFamily="34" charset="0"/>
                      </a:endParaRPr>
                    </a:p>
                  </a:txBody>
                  <a:tcPr marL="68580" marR="68580" marT="34290" marB="34290"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kern="1200" baseline="0" dirty="0">
                          <a:latin typeface="+mj-lt"/>
                          <a:ea typeface="Calibri" panose="020F0502020204030204" pitchFamily="34" charset="0"/>
                          <a:cs typeface="Calibri" panose="020F0502020204030204" pitchFamily="34" charset="0"/>
                        </a:rPr>
                        <a:t>Stock specific</a:t>
                      </a:r>
                      <a:endParaRPr lang="en-US" sz="1000" b="0" dirty="0">
                        <a:latin typeface="+mj-lt"/>
                        <a:ea typeface="Calibri" panose="020F0502020204030204" pitchFamily="34" charset="0"/>
                        <a:cs typeface="Calibri" panose="020F0502020204030204" pitchFamily="34" charset="0"/>
                      </a:endParaRPr>
                    </a:p>
                  </a:txBody>
                  <a:tcPr marL="68580" marR="68580" marT="34290" marB="34290" anchor="ctr">
                    <a:solidFill>
                      <a:schemeClr val="accent2"/>
                    </a:solidFill>
                  </a:tcPr>
                </a:tc>
                <a:extLst>
                  <a:ext uri="{0D108BD9-81ED-4DB2-BD59-A6C34878D82A}">
                    <a16:rowId xmlns:a16="http://schemas.microsoft.com/office/drawing/2014/main" val="10002"/>
                  </a:ext>
                </a:extLst>
              </a:tr>
              <a:tr h="882272">
                <a:tc>
                  <a:txBody>
                    <a:bodyPr/>
                    <a:lstStyle/>
                    <a:p>
                      <a:pPr algn="just"/>
                      <a:endParaRPr lang="en-US" sz="1000" b="1" dirty="0">
                        <a:latin typeface="+mj-lt"/>
                        <a:ea typeface="Calibri" panose="020F0502020204030204" pitchFamily="34" charset="0"/>
                        <a:cs typeface="Calibri" panose="020F0502020204030204" pitchFamily="34" charset="0"/>
                      </a:endParaRPr>
                    </a:p>
                    <a:p>
                      <a:pPr algn="just"/>
                      <a:r>
                        <a:rPr lang="en-US" sz="1000" b="1" dirty="0">
                          <a:latin typeface="+mj-lt"/>
                          <a:ea typeface="Calibri" panose="020F0502020204030204" pitchFamily="34" charset="0"/>
                          <a:cs typeface="Calibri" panose="020F0502020204030204" pitchFamily="34" charset="0"/>
                        </a:rPr>
                        <a:t>CPSE</a:t>
                      </a:r>
                    </a:p>
                  </a:txBody>
                  <a:tcPr marL="68580" marR="68580" marT="34290" marB="34290" anchor="ctr">
                    <a:solidFill>
                      <a:schemeClr val="bg1"/>
                    </a:solidFill>
                  </a:tcPr>
                </a:tc>
                <a:tc>
                  <a:txBody>
                    <a:bodyPr/>
                    <a:lstStyle/>
                    <a:p>
                      <a:r>
                        <a:rPr lang="en-US" sz="1000" b="0" dirty="0">
                          <a:latin typeface="+mj-lt"/>
                        </a:rPr>
                        <a:t>3QFY26 capital goods and defense saw YoY profit growth with strong orders. Margins were mixed due to commodity costs, partly offset by pass-throughs. Union Budget 2026–27 allocated a record INR 7.85 lakh crore to defense, including INR2.19 lakh crore for capital expenditure, the India-EU FTA expected to boost international opportunities</a:t>
                      </a:r>
                      <a:endParaRPr lang="en-US" sz="1000" dirty="0">
                        <a:latin typeface="+mj-lt"/>
                      </a:endParaRPr>
                    </a:p>
                  </a:txBody>
                  <a:tcPr marL="68580" marR="68580" marT="34290" marB="34290" anchor="ctr">
                    <a:solidFill>
                      <a:schemeClr val="bg1"/>
                    </a:solidFill>
                  </a:tcPr>
                </a:tc>
                <a:tc>
                  <a:txBody>
                    <a:bodyPr/>
                    <a:lstStyle/>
                    <a:p>
                      <a:pPr algn="ctr"/>
                      <a:r>
                        <a:rPr lang="en-US" sz="1000" dirty="0">
                          <a:latin typeface="+mj-lt"/>
                        </a:rPr>
                        <a:t>Trailing P/BV ~ 5-yr near +1× SD</a:t>
                      </a:r>
                      <a:endParaRPr lang="en-US" sz="1000" b="0" dirty="0">
                        <a:latin typeface="+mj-lt"/>
                        <a:ea typeface="Calibri" panose="020F0502020204030204" pitchFamily="34" charset="0"/>
                        <a:cs typeface="Calibri" panose="020F0502020204030204" pitchFamily="34" charset="0"/>
                      </a:endParaRPr>
                    </a:p>
                  </a:txBody>
                  <a:tcPr marL="68580" marR="68580" marT="34290" marB="34290"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dirty="0">
                          <a:latin typeface="+mj-lt"/>
                          <a:ea typeface="Calibri" panose="020F0502020204030204" pitchFamily="34" charset="0"/>
                          <a:cs typeface="Calibri" panose="020F0502020204030204" pitchFamily="34" charset="0"/>
                        </a:rPr>
                        <a:t>Stock specific</a:t>
                      </a:r>
                    </a:p>
                  </a:txBody>
                  <a:tcPr marL="68580" marR="68580" marT="34290" marB="34290" anchor="ctr">
                    <a:solidFill>
                      <a:schemeClr val="accent2"/>
                    </a:solidFill>
                  </a:tcPr>
                </a:tc>
                <a:extLst>
                  <a:ext uri="{0D108BD9-81ED-4DB2-BD59-A6C34878D82A}">
                    <a16:rowId xmlns:a16="http://schemas.microsoft.com/office/drawing/2014/main" val="4191346065"/>
                  </a:ext>
                </a:extLst>
              </a:tr>
            </a:tbl>
          </a:graphicData>
        </a:graphic>
      </p:graphicFrame>
      <p:sp>
        <p:nvSpPr>
          <p:cNvPr id="2" name="TextBox 1">
            <a:extLst>
              <a:ext uri="{FF2B5EF4-FFF2-40B4-BE49-F238E27FC236}">
                <a16:creationId xmlns:a16="http://schemas.microsoft.com/office/drawing/2014/main" id="{96E35FC3-F6F3-A5CA-A0CF-4909705FCC3C}"/>
              </a:ext>
            </a:extLst>
          </p:cNvPr>
          <p:cNvSpPr txBox="1"/>
          <p:nvPr/>
        </p:nvSpPr>
        <p:spPr>
          <a:xfrm>
            <a:off x="720000" y="4628517"/>
            <a:ext cx="7940479" cy="215444"/>
          </a:xfrm>
          <a:prstGeom prst="rect">
            <a:avLst/>
          </a:prstGeom>
          <a:noFill/>
        </p:spPr>
        <p:txBody>
          <a:bodyPr wrap="square" rtlCol="0">
            <a:spAutoFit/>
          </a:bodyPr>
          <a:lstStyle/>
          <a:p>
            <a:r>
              <a:rPr lang="en-US" sz="800" b="1" dirty="0">
                <a:latin typeface="+mn-lt"/>
              </a:rPr>
              <a:t>Disclaimer</a:t>
            </a:r>
            <a:r>
              <a:rPr lang="en-US" sz="800" dirty="0">
                <a:latin typeface="+mn-lt"/>
              </a:rPr>
              <a:t>: S</a:t>
            </a:r>
            <a:r>
              <a:rPr lang="en-US" sz="800" dirty="0">
                <a:effectLst/>
                <a:latin typeface="+mn-lt"/>
              </a:rPr>
              <a:t>ectors specific views mentioned herein are for Information purpose only, the Fund may or may not hold any present or future positions in these sectors</a:t>
            </a:r>
            <a:endParaRPr lang="en-US" sz="800" dirty="0">
              <a:latin typeface="+mn-lt"/>
            </a:endParaRPr>
          </a:p>
        </p:txBody>
      </p:sp>
      <p:grpSp>
        <p:nvGrpSpPr>
          <p:cNvPr id="3" name="Google Shape;262;p6">
            <a:extLst>
              <a:ext uri="{FF2B5EF4-FFF2-40B4-BE49-F238E27FC236}">
                <a16:creationId xmlns:a16="http://schemas.microsoft.com/office/drawing/2014/main" id="{0A5B8D48-E131-B36D-C6A1-1D6706BAAE44}"/>
              </a:ext>
            </a:extLst>
          </p:cNvPr>
          <p:cNvGrpSpPr/>
          <p:nvPr/>
        </p:nvGrpSpPr>
        <p:grpSpPr>
          <a:xfrm>
            <a:off x="-25" y="4872600"/>
            <a:ext cx="9144000" cy="270900"/>
            <a:chOff x="-25" y="4872600"/>
            <a:chExt cx="9144000" cy="270900"/>
          </a:xfrm>
        </p:grpSpPr>
        <p:sp>
          <p:nvSpPr>
            <p:cNvPr id="4" name="Google Shape;263;p6">
              <a:extLst>
                <a:ext uri="{FF2B5EF4-FFF2-40B4-BE49-F238E27FC236}">
                  <a16:creationId xmlns:a16="http://schemas.microsoft.com/office/drawing/2014/main" id="{A921A29B-B5C6-2777-F6B9-A8DF5D016020}"/>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CB1AAFAC-F8A0-C057-2F06-36C5E1AE3CA5}"/>
                </a:ext>
              </a:extLst>
            </p:cNvPr>
            <p:cNvGrpSpPr/>
            <p:nvPr/>
          </p:nvGrpSpPr>
          <p:grpSpPr>
            <a:xfrm>
              <a:off x="3101100" y="4872600"/>
              <a:ext cx="2941800" cy="270900"/>
              <a:chOff x="3084200" y="4934525"/>
              <a:chExt cx="2941800" cy="270900"/>
            </a:xfrm>
          </p:grpSpPr>
          <p:sp>
            <p:nvSpPr>
              <p:cNvPr id="6" name="Google Shape;265;p6">
                <a:extLst>
                  <a:ext uri="{FF2B5EF4-FFF2-40B4-BE49-F238E27FC236}">
                    <a16:creationId xmlns:a16="http://schemas.microsoft.com/office/drawing/2014/main" id="{EDA0DA70-F511-0EB9-C3E6-89483BAB4CDC}"/>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7" name="Google Shape;266;p6">
                <a:extLst>
                  <a:ext uri="{FF2B5EF4-FFF2-40B4-BE49-F238E27FC236}">
                    <a16:creationId xmlns:a16="http://schemas.microsoft.com/office/drawing/2014/main" id="{D68E7CDB-4B03-6B81-9182-2EC1117648C9}"/>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8" name="Picture 7">
            <a:extLst>
              <a:ext uri="{FF2B5EF4-FFF2-40B4-BE49-F238E27FC236}">
                <a16:creationId xmlns:a16="http://schemas.microsoft.com/office/drawing/2014/main" id="{C1062F57-F680-BDCF-E43C-721622495479}"/>
              </a:ext>
            </a:extLst>
          </p:cNvPr>
          <p:cNvPicPr>
            <a:picLocks noChangeAspect="1"/>
          </p:cNvPicPr>
          <p:nvPr/>
        </p:nvPicPr>
        <p:blipFill>
          <a:blip r:embed="rId4"/>
          <a:stretch>
            <a:fillRect/>
          </a:stretch>
        </p:blipFill>
        <p:spPr>
          <a:xfrm>
            <a:off x="7819053" y="116485"/>
            <a:ext cx="1190504" cy="566010"/>
          </a:xfrm>
          <a:prstGeom prst="rect">
            <a:avLst/>
          </a:prstGeom>
        </p:spPr>
      </p:pic>
    </p:spTree>
    <p:extLst>
      <p:ext uri="{BB962C8B-B14F-4D97-AF65-F5344CB8AC3E}">
        <p14:creationId xmlns:p14="http://schemas.microsoft.com/office/powerpoint/2010/main" val="37009292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7"/>
          <p:cNvSpPr txBox="1">
            <a:spLocks noGrp="1"/>
          </p:cNvSpPr>
          <p:nvPr>
            <p:ph type="title"/>
          </p:nvPr>
        </p:nvSpPr>
        <p:spPr>
          <a:xfrm>
            <a:off x="720000" y="445025"/>
            <a:ext cx="4123944" cy="521208"/>
          </a:xfrm>
          <a:prstGeom prst="rect">
            <a:avLst/>
          </a:prstGeom>
          <a:solidFill>
            <a:srgbClr val="FECA08"/>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500"/>
              <a:buNone/>
            </a:pPr>
            <a:r>
              <a:rPr lang="en-US" sz="2000" dirty="0">
                <a:latin typeface="Calibri" panose="020F0502020204030204" pitchFamily="34" charset="0"/>
                <a:ea typeface="Calibri" panose="020F0502020204030204" pitchFamily="34" charset="0"/>
                <a:cs typeface="Calibri" panose="020F0502020204030204" pitchFamily="34" charset="0"/>
              </a:rPr>
              <a:t>Sectors update </a:t>
            </a:r>
            <a:endParaRPr sz="2000"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7" name="Table 16">
            <a:extLst>
              <a:ext uri="{FF2B5EF4-FFF2-40B4-BE49-F238E27FC236}">
                <a16:creationId xmlns:a16="http://schemas.microsoft.com/office/drawing/2014/main" id="{2EF99954-5847-4B61-821F-7FCC3097E99F}"/>
              </a:ext>
            </a:extLst>
          </p:cNvPr>
          <p:cNvGraphicFramePr>
            <a:graphicFrameLocks noGrp="1"/>
          </p:cNvGraphicFramePr>
          <p:nvPr>
            <p:custDataLst>
              <p:tags r:id="rId1"/>
            </p:custDataLst>
            <p:extLst>
              <p:ext uri="{D42A27DB-BD31-4B8C-83A1-F6EECF244321}">
                <p14:modId xmlns:p14="http://schemas.microsoft.com/office/powerpoint/2010/main" val="1288334971"/>
              </p:ext>
            </p:extLst>
          </p:nvPr>
        </p:nvGraphicFramePr>
        <p:xfrm>
          <a:off x="720000" y="1097558"/>
          <a:ext cx="8135998" cy="3359966"/>
        </p:xfrm>
        <a:graphic>
          <a:graphicData uri="http://schemas.openxmlformats.org/drawingml/2006/table">
            <a:tbl>
              <a:tblPr firstRow="1" bandRow="1">
                <a:tableStyleId>{7E9639D4-E3E2-4D34-9284-5A2195B3D0D7}</a:tableStyleId>
              </a:tblPr>
              <a:tblGrid>
                <a:gridCol w="814886">
                  <a:extLst>
                    <a:ext uri="{9D8B030D-6E8A-4147-A177-3AD203B41FA5}">
                      <a16:colId xmlns:a16="http://schemas.microsoft.com/office/drawing/2014/main" val="20000"/>
                    </a:ext>
                  </a:extLst>
                </a:gridCol>
                <a:gridCol w="42291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949012">
                  <a:extLst>
                    <a:ext uri="{9D8B030D-6E8A-4147-A177-3AD203B41FA5}">
                      <a16:colId xmlns:a16="http://schemas.microsoft.com/office/drawing/2014/main" val="20003"/>
                    </a:ext>
                  </a:extLst>
                </a:gridCol>
              </a:tblGrid>
              <a:tr h="263569">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Sectors</a:t>
                      </a:r>
                    </a:p>
                  </a:txBody>
                  <a:tcPr marL="68580" marR="68580" marT="34290" marB="34290" anchor="ctr">
                    <a:solidFill>
                      <a:schemeClr val="bg2"/>
                    </a:solidFill>
                  </a:tcPr>
                </a:tc>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Key Developments</a:t>
                      </a:r>
                    </a:p>
                  </a:txBody>
                  <a:tcPr marL="68580" marR="68580" marT="34290" marB="34290" anchor="ctr">
                    <a:solidFill>
                      <a:schemeClr val="bg2"/>
                    </a:solidFill>
                  </a:tcPr>
                </a:tc>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ValuationFY25</a:t>
                      </a:r>
                    </a:p>
                  </a:txBody>
                  <a:tcPr marL="68580" marR="68580" marT="34290" marB="34290" anchor="ctr">
                    <a:solidFill>
                      <a:schemeClr val="bg2"/>
                    </a:solidFill>
                  </a:tcPr>
                </a:tc>
                <a:tc>
                  <a:txBody>
                    <a:bodyPr/>
                    <a:lstStyle/>
                    <a:p>
                      <a:pPr algn="just"/>
                      <a:r>
                        <a:rPr lang="en-IN" sz="1200" b="1" dirty="0">
                          <a:solidFill>
                            <a:schemeClr val="tx1"/>
                          </a:solidFill>
                          <a:latin typeface="Calibri" panose="020F0502020204030204" pitchFamily="34" charset="0"/>
                          <a:ea typeface="Calibri" panose="020F0502020204030204" pitchFamily="34" charset="0"/>
                          <a:cs typeface="Calibri" panose="020F0502020204030204" pitchFamily="34" charset="0"/>
                        </a:rPr>
                        <a:t>Our View</a:t>
                      </a:r>
                    </a:p>
                  </a:txBody>
                  <a:tcPr marL="68580" marR="68580" marT="34290" marB="34290" anchor="ctr">
                    <a:solidFill>
                      <a:schemeClr val="bg2"/>
                    </a:solidFill>
                  </a:tcPr>
                </a:tc>
                <a:extLst>
                  <a:ext uri="{0D108BD9-81ED-4DB2-BD59-A6C34878D82A}">
                    <a16:rowId xmlns:a16="http://schemas.microsoft.com/office/drawing/2014/main" val="10000"/>
                  </a:ext>
                </a:extLst>
              </a:tr>
              <a:tr h="1072067">
                <a:tc>
                  <a:txBody>
                    <a:bodyPr/>
                    <a:lstStyle/>
                    <a:p>
                      <a:pPr algn="just"/>
                      <a:r>
                        <a:rPr lang="en-US" sz="1000" b="1" dirty="0">
                          <a:solidFill>
                            <a:schemeClr val="tx1"/>
                          </a:solidFill>
                          <a:latin typeface="+mj-lt"/>
                          <a:ea typeface="Calibri" panose="020F0502020204030204" pitchFamily="34" charset="0"/>
                          <a:cs typeface="Calibri" panose="020F0502020204030204" pitchFamily="34" charset="0"/>
                        </a:rPr>
                        <a:t>IT</a:t>
                      </a:r>
                    </a:p>
                  </a:txBody>
                  <a:tcPr anchor="ctr"/>
                </a:tc>
                <a:tc>
                  <a:txBody>
                    <a:bodyPr/>
                    <a:lstStyle/>
                    <a:p>
                      <a:pPr algn="just"/>
                      <a:r>
                        <a:rPr lang="en-US" sz="1000" dirty="0">
                          <a:latin typeface="+mj-lt"/>
                        </a:rPr>
                        <a:t>In Q3FY26, IT services delivered better-than-feared earnings with stable margins and modest revenue growth, while AI adoption gains momentum. Union Budget 2026–27 supported the sector via higher safe-harbour limits, unified margins, faster APA, and a tax holiday for cloud and data centres, boosting investment and tax certainty</a:t>
                      </a:r>
                      <a:endParaRPr lang="en-US" sz="1000" b="0" i="0" u="none" strike="noStrike" cap="none" dirty="0">
                        <a:solidFill>
                          <a:schemeClr val="tx1"/>
                        </a:solidFill>
                        <a:latin typeface="+mj-lt"/>
                        <a:ea typeface="+mn-ea"/>
                        <a:cs typeface="+mn-cs"/>
                        <a:sym typeface="Arial"/>
                      </a:endParaRPr>
                    </a:p>
                  </a:txBody>
                  <a:tcPr anchor="ctr"/>
                </a:tc>
                <a:tc>
                  <a:txBody>
                    <a:bodyPr/>
                    <a:lstStyle/>
                    <a:p>
                      <a:pPr algn="ctr"/>
                      <a:r>
                        <a:rPr lang="en-US" sz="1000" dirty="0">
                          <a:latin typeface="+mj-lt"/>
                        </a:rPr>
                        <a:t>Trailing P/BV at 5-yr SD</a:t>
                      </a:r>
                      <a:endParaRPr lang="en-US" sz="1000" b="0" dirty="0">
                        <a:solidFill>
                          <a:schemeClr val="tx1"/>
                        </a:solidFill>
                        <a:latin typeface="+mj-lt"/>
                        <a:ea typeface="Calibri" panose="020F0502020204030204" pitchFamily="34" charset="0"/>
                        <a:cs typeface="Calibri" panose="020F0502020204030204" pitchFamily="34" charset="0"/>
                      </a:endParaRPr>
                    </a:p>
                  </a:txBody>
                  <a:tcPr anchor="ctr">
                    <a:solidFill>
                      <a:schemeClr val="bg1"/>
                    </a:solidFill>
                  </a:tcPr>
                </a:tc>
                <a:tc>
                  <a:txBody>
                    <a:bodyPr/>
                    <a:lstStyle/>
                    <a:p>
                      <a:pPr algn="ctr"/>
                      <a:r>
                        <a:rPr lang="en-US" sz="1000" b="0" dirty="0">
                          <a:solidFill>
                            <a:schemeClr val="tx1"/>
                          </a:solidFill>
                          <a:latin typeface="+mj-lt"/>
                          <a:ea typeface="Calibri" panose="020F0502020204030204" pitchFamily="34" charset="0"/>
                          <a:cs typeface="Calibri" panose="020F0502020204030204" pitchFamily="34" charset="0"/>
                        </a:rPr>
                        <a:t>Overweight</a:t>
                      </a:r>
                    </a:p>
                  </a:txBody>
                  <a:tcPr anchor="ctr">
                    <a:solidFill>
                      <a:schemeClr val="accent2"/>
                    </a:solidFill>
                  </a:tcPr>
                </a:tc>
                <a:extLst>
                  <a:ext uri="{0D108BD9-81ED-4DB2-BD59-A6C34878D82A}">
                    <a16:rowId xmlns:a16="http://schemas.microsoft.com/office/drawing/2014/main" val="10001"/>
                  </a:ext>
                </a:extLst>
              </a:tr>
              <a:tr h="952263">
                <a:tc>
                  <a:txBody>
                    <a:bodyPr/>
                    <a:lstStyle/>
                    <a:p>
                      <a:pPr algn="just"/>
                      <a:r>
                        <a:rPr lang="en-US" sz="1000" b="1" dirty="0">
                          <a:solidFill>
                            <a:schemeClr val="tx1"/>
                          </a:solidFill>
                          <a:latin typeface="+mj-lt"/>
                          <a:ea typeface="Calibri" panose="020F0502020204030204" pitchFamily="34" charset="0"/>
                          <a:cs typeface="Calibri" panose="020F0502020204030204" pitchFamily="34" charset="0"/>
                        </a:rPr>
                        <a:t>Pharma</a:t>
                      </a:r>
                    </a:p>
                  </a:txBody>
                  <a:tcPr anchor="ctr"/>
                </a:tc>
                <a:tc>
                  <a:txBody>
                    <a:bodyPr/>
                    <a:lstStyle/>
                    <a:p>
                      <a:pPr algn="just"/>
                      <a:r>
                        <a:rPr lang="en-US" sz="1000" dirty="0">
                          <a:latin typeface="+mj-lt"/>
                        </a:rPr>
                        <a:t>In Q3 FY26, India’s pharma sector saw broad growth, healthy margins, and ongoing pipeline and international focus. Union Budget measures like Biopharma SHAKTI and integrated medical hubs support long-term healthcare, pharma innovation, and advanced manufacturing</a:t>
                      </a:r>
                      <a:endParaRPr lang="en-US" sz="1000" strike="sngStrike" dirty="0">
                        <a:highlight>
                          <a:srgbClr val="00FFFF"/>
                        </a:highlight>
                        <a:latin typeface="+mj-lt"/>
                      </a:endParaRPr>
                    </a:p>
                  </a:txBody>
                  <a:tcPr anchor="ctr"/>
                </a:tc>
                <a:tc>
                  <a:txBody>
                    <a:bodyPr/>
                    <a:lstStyle/>
                    <a:p>
                      <a:pPr algn="ctr"/>
                      <a:r>
                        <a:rPr lang="en-US" sz="1000" dirty="0">
                          <a:latin typeface="+mj-lt"/>
                        </a:rPr>
                        <a:t>Trailing P/BV  &gt;  5-yr SD</a:t>
                      </a:r>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kern="1200" dirty="0">
                          <a:solidFill>
                            <a:schemeClr val="tx1"/>
                          </a:solidFill>
                          <a:latin typeface="+mj-lt"/>
                          <a:ea typeface="Calibri" panose="020F0502020204030204" pitchFamily="34" charset="0"/>
                          <a:cs typeface="Calibri" panose="020F0502020204030204" pitchFamily="34" charset="0"/>
                        </a:rPr>
                        <a:t>Stock specific</a:t>
                      </a:r>
                      <a:endParaRPr lang="en-US" sz="1000" b="0" dirty="0">
                        <a:solidFill>
                          <a:schemeClr val="tx1"/>
                        </a:solidFill>
                        <a:latin typeface="+mj-lt"/>
                        <a:ea typeface="Calibri" panose="020F0502020204030204" pitchFamily="34" charset="0"/>
                        <a:cs typeface="Calibri" panose="020F0502020204030204" pitchFamily="34" charset="0"/>
                      </a:endParaRPr>
                    </a:p>
                  </a:txBody>
                  <a:tcPr anchor="ctr">
                    <a:solidFill>
                      <a:schemeClr val="accent2"/>
                    </a:solidFill>
                  </a:tcPr>
                </a:tc>
                <a:extLst>
                  <a:ext uri="{0D108BD9-81ED-4DB2-BD59-A6C34878D82A}">
                    <a16:rowId xmlns:a16="http://schemas.microsoft.com/office/drawing/2014/main" val="10002"/>
                  </a:ext>
                </a:extLst>
              </a:tr>
              <a:tr h="1072067">
                <a:tc>
                  <a:txBody>
                    <a:bodyPr/>
                    <a:lstStyle/>
                    <a:p>
                      <a:pPr algn="just"/>
                      <a:r>
                        <a:rPr lang="en-US" sz="1000" b="1" dirty="0">
                          <a:solidFill>
                            <a:schemeClr val="tx1"/>
                          </a:solidFill>
                          <a:latin typeface="+mj-lt"/>
                          <a:ea typeface="Calibri" panose="020F0502020204030204" pitchFamily="34" charset="0"/>
                          <a:cs typeface="Calibri" panose="020F0502020204030204" pitchFamily="34" charset="0"/>
                        </a:rPr>
                        <a:t>Chemicals</a:t>
                      </a:r>
                    </a:p>
                  </a:txBody>
                  <a:tcPr anchor="ctr"/>
                </a:tc>
                <a:tc>
                  <a:txBody>
                    <a:bodyPr/>
                    <a:lstStyle/>
                    <a:p>
                      <a:pPr lvl="0" algn="just"/>
                      <a:r>
                        <a:rPr lang="en-US" sz="1000" dirty="0">
                          <a:latin typeface="+mj-lt"/>
                        </a:rPr>
                        <a:t>Agriculture and chemical markets remain under pressure, with oversupply in most segments, weak crop prices, and muted global demand. Temporary upticks in certain chemicals were driven by maintenance outages and stocking ahead of Chinese holidays, while exports show mixed trends</a:t>
                      </a:r>
                      <a:endParaRPr lang="en-US" sz="1000" b="0" i="0" u="none" strike="noStrike" cap="none" dirty="0">
                        <a:solidFill>
                          <a:schemeClr val="tx1"/>
                        </a:solidFill>
                        <a:effectLst/>
                        <a:latin typeface="+mj-lt"/>
                        <a:ea typeface="+mn-ea"/>
                        <a:cs typeface="+mn-cs"/>
                        <a:sym typeface="Arial"/>
                      </a:endParaRPr>
                    </a:p>
                  </a:txBody>
                  <a:tcPr anchor="ctr"/>
                </a:tc>
                <a:tc>
                  <a:txBody>
                    <a:bodyPr/>
                    <a:lstStyle/>
                    <a:p>
                      <a:pPr algn="ctr"/>
                      <a:r>
                        <a:rPr lang="en-US" sz="1000" b="0" dirty="0">
                          <a:solidFill>
                            <a:schemeClr val="tx1"/>
                          </a:solidFill>
                          <a:latin typeface="+mj-lt"/>
                          <a:ea typeface="Calibri" panose="020F0502020204030204" pitchFamily="34" charset="0"/>
                          <a:cs typeface="Calibri" panose="020F0502020204030204" pitchFamily="34" charset="0"/>
                        </a:rPr>
                        <a:t>Trailing P/BV Fairly</a:t>
                      </a:r>
                      <a:r>
                        <a:rPr lang="en-US" sz="1000" b="0" baseline="0" dirty="0">
                          <a:solidFill>
                            <a:schemeClr val="tx1"/>
                          </a:solidFill>
                          <a:latin typeface="+mj-lt"/>
                          <a:ea typeface="Calibri" panose="020F0502020204030204" pitchFamily="34" charset="0"/>
                          <a:cs typeface="Calibri" panose="020F0502020204030204" pitchFamily="34" charset="0"/>
                        </a:rPr>
                        <a:t> Valued</a:t>
                      </a:r>
                      <a:endParaRPr lang="en-US" sz="1000" b="0" dirty="0">
                        <a:solidFill>
                          <a:schemeClr val="tx1"/>
                        </a:solidFill>
                        <a:latin typeface="+mj-lt"/>
                        <a:ea typeface="Calibri" panose="020F0502020204030204" pitchFamily="34" charset="0"/>
                        <a:cs typeface="Calibri" panose="020F0502020204030204" pitchFamily="34" charset="0"/>
                      </a:endParaRPr>
                    </a:p>
                  </a:txBody>
                  <a:tcPr anchor="ctr">
                    <a:solidFill>
                      <a:schemeClr val="accent2"/>
                    </a:solidFill>
                  </a:tcPr>
                </a:tc>
                <a:tc>
                  <a:txBody>
                    <a:bodyPr/>
                    <a:lstStyle/>
                    <a:p>
                      <a:pPr algn="ctr"/>
                      <a:r>
                        <a:rPr lang="en-US" sz="1000" b="0" baseline="0" dirty="0">
                          <a:solidFill>
                            <a:schemeClr val="tx1"/>
                          </a:solidFill>
                          <a:latin typeface="+mj-lt"/>
                          <a:ea typeface="Calibri" panose="020F0502020204030204" pitchFamily="34" charset="0"/>
                          <a:cs typeface="Calibri" panose="020F0502020204030204" pitchFamily="34" charset="0"/>
                        </a:rPr>
                        <a:t>Stock specific</a:t>
                      </a:r>
                      <a:endParaRPr lang="en-US" sz="1000" b="0" dirty="0">
                        <a:solidFill>
                          <a:schemeClr val="tx1"/>
                        </a:solidFill>
                        <a:latin typeface="+mj-lt"/>
                        <a:ea typeface="Calibri" panose="020F0502020204030204" pitchFamily="34" charset="0"/>
                        <a:cs typeface="Calibri" panose="020F0502020204030204" pitchFamily="34" charset="0"/>
                      </a:endParaRPr>
                    </a:p>
                  </a:txBody>
                  <a:tcPr anchor="ctr">
                    <a:solidFill>
                      <a:schemeClr val="accent2"/>
                    </a:solidFill>
                  </a:tcPr>
                </a:tc>
                <a:extLst>
                  <a:ext uri="{0D108BD9-81ED-4DB2-BD59-A6C34878D82A}">
                    <a16:rowId xmlns:a16="http://schemas.microsoft.com/office/drawing/2014/main" val="4191346065"/>
                  </a:ext>
                </a:extLst>
              </a:tr>
            </a:tbl>
          </a:graphicData>
        </a:graphic>
      </p:graphicFrame>
      <p:sp>
        <p:nvSpPr>
          <p:cNvPr id="2" name="TextBox 1">
            <a:extLst>
              <a:ext uri="{FF2B5EF4-FFF2-40B4-BE49-F238E27FC236}">
                <a16:creationId xmlns:a16="http://schemas.microsoft.com/office/drawing/2014/main" id="{658AECD7-5B33-92C3-16C1-1331BC9AFC75}"/>
              </a:ext>
            </a:extLst>
          </p:cNvPr>
          <p:cNvSpPr txBox="1"/>
          <p:nvPr/>
        </p:nvSpPr>
        <p:spPr>
          <a:xfrm>
            <a:off x="817758" y="4641031"/>
            <a:ext cx="7940479" cy="215444"/>
          </a:xfrm>
          <a:prstGeom prst="rect">
            <a:avLst/>
          </a:prstGeom>
          <a:noFill/>
        </p:spPr>
        <p:txBody>
          <a:bodyPr wrap="square" rtlCol="0">
            <a:spAutoFit/>
          </a:bodyPr>
          <a:lstStyle/>
          <a:p>
            <a:r>
              <a:rPr lang="en-US" sz="800" b="1" dirty="0">
                <a:latin typeface="+mn-lt"/>
              </a:rPr>
              <a:t>Disclaimer</a:t>
            </a:r>
            <a:r>
              <a:rPr lang="en-US" sz="800" dirty="0">
                <a:latin typeface="+mn-lt"/>
              </a:rPr>
              <a:t>: S</a:t>
            </a:r>
            <a:r>
              <a:rPr lang="en-US" sz="800" dirty="0">
                <a:effectLst/>
                <a:latin typeface="+mn-lt"/>
              </a:rPr>
              <a:t>ectors specific views mentioned herein are for Information purpose only, the Fund may or may not hold any present or future positions in these sectors</a:t>
            </a:r>
            <a:endParaRPr lang="en-US" sz="800" dirty="0">
              <a:latin typeface="+mn-lt"/>
            </a:endParaRPr>
          </a:p>
        </p:txBody>
      </p:sp>
      <p:grpSp>
        <p:nvGrpSpPr>
          <p:cNvPr id="3" name="Google Shape;262;p6">
            <a:extLst>
              <a:ext uri="{FF2B5EF4-FFF2-40B4-BE49-F238E27FC236}">
                <a16:creationId xmlns:a16="http://schemas.microsoft.com/office/drawing/2014/main" id="{8B58B6AD-48AE-F694-D4B3-FD71722A2758}"/>
              </a:ext>
            </a:extLst>
          </p:cNvPr>
          <p:cNvGrpSpPr/>
          <p:nvPr/>
        </p:nvGrpSpPr>
        <p:grpSpPr>
          <a:xfrm>
            <a:off x="-25" y="4872600"/>
            <a:ext cx="9144000" cy="270900"/>
            <a:chOff x="-25" y="4872600"/>
            <a:chExt cx="9144000" cy="270900"/>
          </a:xfrm>
        </p:grpSpPr>
        <p:sp>
          <p:nvSpPr>
            <p:cNvPr id="4" name="Google Shape;263;p6">
              <a:extLst>
                <a:ext uri="{FF2B5EF4-FFF2-40B4-BE49-F238E27FC236}">
                  <a16:creationId xmlns:a16="http://schemas.microsoft.com/office/drawing/2014/main" id="{BFB472E2-4F1F-82B1-A7AE-E42887406DFB}"/>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A7E92677-0F6B-53D7-F269-7E763379BE93}"/>
                </a:ext>
              </a:extLst>
            </p:cNvPr>
            <p:cNvGrpSpPr/>
            <p:nvPr/>
          </p:nvGrpSpPr>
          <p:grpSpPr>
            <a:xfrm>
              <a:off x="3101100" y="4872600"/>
              <a:ext cx="2941800" cy="270900"/>
              <a:chOff x="3084200" y="4934525"/>
              <a:chExt cx="2941800" cy="270900"/>
            </a:xfrm>
          </p:grpSpPr>
          <p:sp>
            <p:nvSpPr>
              <p:cNvPr id="6" name="Google Shape;265;p6">
                <a:extLst>
                  <a:ext uri="{FF2B5EF4-FFF2-40B4-BE49-F238E27FC236}">
                    <a16:creationId xmlns:a16="http://schemas.microsoft.com/office/drawing/2014/main" id="{7BFA5D9D-4D1C-6AC2-D718-FDC936FF5983}"/>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7" name="Google Shape;266;p6">
                <a:extLst>
                  <a:ext uri="{FF2B5EF4-FFF2-40B4-BE49-F238E27FC236}">
                    <a16:creationId xmlns:a16="http://schemas.microsoft.com/office/drawing/2014/main" id="{3DF62E22-3CBD-7B2D-6171-36453BFF56B6}"/>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8" name="Picture 7">
            <a:extLst>
              <a:ext uri="{FF2B5EF4-FFF2-40B4-BE49-F238E27FC236}">
                <a16:creationId xmlns:a16="http://schemas.microsoft.com/office/drawing/2014/main" id="{428A1629-1457-9103-A63C-1A7FADEF5CE0}"/>
              </a:ext>
            </a:extLst>
          </p:cNvPr>
          <p:cNvPicPr>
            <a:picLocks noChangeAspect="1"/>
          </p:cNvPicPr>
          <p:nvPr/>
        </p:nvPicPr>
        <p:blipFill>
          <a:blip r:embed="rId4"/>
          <a:stretch>
            <a:fillRect/>
          </a:stretch>
        </p:blipFill>
        <p:spPr>
          <a:xfrm>
            <a:off x="7819053" y="116485"/>
            <a:ext cx="1190504" cy="566010"/>
          </a:xfrm>
          <a:prstGeom prst="rect">
            <a:avLst/>
          </a:prstGeom>
        </p:spPr>
      </p:pic>
    </p:spTree>
    <p:extLst>
      <p:ext uri="{BB962C8B-B14F-4D97-AF65-F5344CB8AC3E}">
        <p14:creationId xmlns:p14="http://schemas.microsoft.com/office/powerpoint/2010/main" val="4672940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7"/>
          <p:cNvSpPr txBox="1">
            <a:spLocks noGrp="1"/>
          </p:cNvSpPr>
          <p:nvPr>
            <p:ph type="title"/>
          </p:nvPr>
        </p:nvSpPr>
        <p:spPr>
          <a:xfrm>
            <a:off x="746101" y="368375"/>
            <a:ext cx="5695520" cy="521208"/>
          </a:xfrm>
          <a:prstGeom prst="rect">
            <a:avLst/>
          </a:prstGeom>
          <a:solidFill>
            <a:srgbClr val="FECA08"/>
          </a:solidFill>
          <a:ln>
            <a:noFill/>
          </a:ln>
        </p:spPr>
        <p:txBody>
          <a:bodyPr spcFirstLastPara="1" wrap="square" lIns="91425" tIns="91425" rIns="91425" bIns="91425" anchor="ctr" anchorCtr="0">
            <a:noAutofit/>
          </a:bodyPr>
          <a:lstStyle/>
          <a:p>
            <a:pPr lvl="0"/>
            <a:r>
              <a:rPr lang="en-US" sz="2000" dirty="0">
                <a:latin typeface="+mn-lt"/>
              </a:rPr>
              <a:t>DIIs support amid FII selling -Jan-26 </a:t>
            </a:r>
            <a:endParaRPr lang="en-US" sz="2800" dirty="0">
              <a:latin typeface="+mn-lt"/>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00D216D4-5037-4C2B-B9D1-877C81A688C4}"/>
              </a:ext>
            </a:extLst>
          </p:cNvPr>
          <p:cNvSpPr txBox="1"/>
          <p:nvPr/>
        </p:nvSpPr>
        <p:spPr>
          <a:xfrm>
            <a:off x="4278086" y="4450965"/>
            <a:ext cx="4774913" cy="338554"/>
          </a:xfrm>
          <a:prstGeom prst="rect">
            <a:avLst/>
          </a:prstGeom>
          <a:noFill/>
        </p:spPr>
        <p:txBody>
          <a:bodyPr wrap="square" rtlCol="0">
            <a:spAutoFit/>
          </a:bodyPr>
          <a:lstStyle/>
          <a:p>
            <a:pPr algn="r"/>
            <a:r>
              <a:rPr lang="en-IN" sz="800" dirty="0">
                <a:latin typeface="Calibri" panose="020F0502020204030204" pitchFamily="34" charset="0"/>
                <a:ea typeface="Calibri" panose="020F0502020204030204" pitchFamily="34" charset="0"/>
                <a:cs typeface="Calibri" panose="020F0502020204030204" pitchFamily="34" charset="0"/>
              </a:rPr>
              <a:t>Source: Moneycontrol.com</a:t>
            </a:r>
          </a:p>
          <a:p>
            <a:pPr algn="r"/>
            <a:r>
              <a:rPr lang="en-IN" sz="800" dirty="0">
                <a:latin typeface="Calibri" panose="020F0502020204030204" pitchFamily="34" charset="0"/>
                <a:ea typeface="Calibri" panose="020F0502020204030204" pitchFamily="34" charset="0"/>
                <a:cs typeface="Calibri" panose="020F0502020204030204" pitchFamily="34" charset="0"/>
              </a:rPr>
              <a:t>DII &amp; FII data as on 30</a:t>
            </a:r>
            <a:r>
              <a:rPr lang="en-IN" sz="800" baseline="30000" dirty="0">
                <a:latin typeface="Calibri" panose="020F0502020204030204" pitchFamily="34" charset="0"/>
                <a:ea typeface="Calibri" panose="020F0502020204030204" pitchFamily="34" charset="0"/>
                <a:cs typeface="Calibri" panose="020F0502020204030204" pitchFamily="34" charset="0"/>
              </a:rPr>
              <a:t>th</a:t>
            </a:r>
            <a:r>
              <a:rPr lang="en-IN" sz="800" dirty="0">
                <a:latin typeface="Calibri" panose="020F0502020204030204" pitchFamily="34" charset="0"/>
                <a:ea typeface="Calibri" panose="020F0502020204030204" pitchFamily="34" charset="0"/>
                <a:cs typeface="Calibri" panose="020F0502020204030204" pitchFamily="34" charset="0"/>
              </a:rPr>
              <a:t> Jan-26  </a:t>
            </a:r>
          </a:p>
        </p:txBody>
      </p:sp>
      <p:sp>
        <p:nvSpPr>
          <p:cNvPr id="4" name="TextBox 3">
            <a:extLst>
              <a:ext uri="{FF2B5EF4-FFF2-40B4-BE49-F238E27FC236}">
                <a16:creationId xmlns:a16="http://schemas.microsoft.com/office/drawing/2014/main" id="{3293F608-2FB5-A8D2-B31B-85998ABE1CD6}"/>
              </a:ext>
            </a:extLst>
          </p:cNvPr>
          <p:cNvSpPr txBox="1"/>
          <p:nvPr/>
        </p:nvSpPr>
        <p:spPr>
          <a:xfrm>
            <a:off x="577252" y="4066827"/>
            <a:ext cx="7241801" cy="261610"/>
          </a:xfrm>
          <a:prstGeom prst="rect">
            <a:avLst/>
          </a:prstGeom>
          <a:noFill/>
          <a:ln w="6350">
            <a:solidFill>
              <a:schemeClr val="tx1"/>
            </a:solidFill>
          </a:ln>
        </p:spPr>
        <p:txBody>
          <a:bodyPr wrap="square">
            <a:spAutoFit/>
          </a:bodyPr>
          <a:lstStyle/>
          <a:p>
            <a:pPr marL="171450" indent="-171450">
              <a:buFont typeface="Wingdings" panose="05000000000000000000" pitchFamily="2" charset="2"/>
              <a:buChar char="q"/>
            </a:pPr>
            <a:r>
              <a:rPr lang="en-US" sz="1100" dirty="0"/>
              <a:t>DIIs kept Indian stocks steady as FIIs continue to sell</a:t>
            </a:r>
            <a:endParaRPr lang="en-US" sz="1100" dirty="0">
              <a:latin typeface="+mj-lt"/>
            </a:endParaRPr>
          </a:p>
        </p:txBody>
      </p:sp>
      <p:grpSp>
        <p:nvGrpSpPr>
          <p:cNvPr id="5" name="Google Shape;262;p6">
            <a:extLst>
              <a:ext uri="{FF2B5EF4-FFF2-40B4-BE49-F238E27FC236}">
                <a16:creationId xmlns:a16="http://schemas.microsoft.com/office/drawing/2014/main" id="{00316FCA-DF16-BEAF-DC0D-7A08823A80FF}"/>
              </a:ext>
            </a:extLst>
          </p:cNvPr>
          <p:cNvGrpSpPr/>
          <p:nvPr/>
        </p:nvGrpSpPr>
        <p:grpSpPr>
          <a:xfrm>
            <a:off x="-25" y="4872600"/>
            <a:ext cx="9144000" cy="270900"/>
            <a:chOff x="-25" y="4872600"/>
            <a:chExt cx="9144000" cy="270900"/>
          </a:xfrm>
        </p:grpSpPr>
        <p:sp>
          <p:nvSpPr>
            <p:cNvPr id="6" name="Google Shape;263;p6">
              <a:extLst>
                <a:ext uri="{FF2B5EF4-FFF2-40B4-BE49-F238E27FC236}">
                  <a16:creationId xmlns:a16="http://schemas.microsoft.com/office/drawing/2014/main" id="{9C4F68EB-969C-2C44-DB82-470BED496D2B}"/>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7" name="Google Shape;264;p6">
              <a:extLst>
                <a:ext uri="{FF2B5EF4-FFF2-40B4-BE49-F238E27FC236}">
                  <a16:creationId xmlns:a16="http://schemas.microsoft.com/office/drawing/2014/main" id="{BAC8779C-694B-C91F-BF50-7E2C68CA5E21}"/>
                </a:ext>
              </a:extLst>
            </p:cNvPr>
            <p:cNvGrpSpPr/>
            <p:nvPr/>
          </p:nvGrpSpPr>
          <p:grpSpPr>
            <a:xfrm>
              <a:off x="3101100" y="4872600"/>
              <a:ext cx="2941800" cy="270900"/>
              <a:chOff x="3084200" y="4934525"/>
              <a:chExt cx="2941800" cy="270900"/>
            </a:xfrm>
          </p:grpSpPr>
          <p:sp>
            <p:nvSpPr>
              <p:cNvPr id="8" name="Google Shape;265;p6">
                <a:extLst>
                  <a:ext uri="{FF2B5EF4-FFF2-40B4-BE49-F238E27FC236}">
                    <a16:creationId xmlns:a16="http://schemas.microsoft.com/office/drawing/2014/main" id="{97695A90-D7E7-F1CB-78EC-DA38093850E0}"/>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9" name="Google Shape;266;p6">
                <a:extLst>
                  <a:ext uri="{FF2B5EF4-FFF2-40B4-BE49-F238E27FC236}">
                    <a16:creationId xmlns:a16="http://schemas.microsoft.com/office/drawing/2014/main" id="{13CAEA80-D5A2-55B1-50A1-BD97D1967858}"/>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0" name="Picture 9">
            <a:extLst>
              <a:ext uri="{FF2B5EF4-FFF2-40B4-BE49-F238E27FC236}">
                <a16:creationId xmlns:a16="http://schemas.microsoft.com/office/drawing/2014/main" id="{C5C31158-9C92-9418-16F6-C81518685E6F}"/>
              </a:ext>
            </a:extLst>
          </p:cNvPr>
          <p:cNvPicPr>
            <a:picLocks noChangeAspect="1"/>
          </p:cNvPicPr>
          <p:nvPr/>
        </p:nvPicPr>
        <p:blipFill>
          <a:blip r:embed="rId3"/>
          <a:stretch>
            <a:fillRect/>
          </a:stretch>
        </p:blipFill>
        <p:spPr>
          <a:xfrm>
            <a:off x="7819053" y="116485"/>
            <a:ext cx="1190504" cy="566010"/>
          </a:xfrm>
          <a:prstGeom prst="rect">
            <a:avLst/>
          </a:prstGeom>
        </p:spPr>
      </p:pic>
      <p:graphicFrame>
        <p:nvGraphicFramePr>
          <p:cNvPr id="2" name="Chart 1">
            <a:extLst>
              <a:ext uri="{FF2B5EF4-FFF2-40B4-BE49-F238E27FC236}">
                <a16:creationId xmlns:a16="http://schemas.microsoft.com/office/drawing/2014/main" id="{9B6E021B-7B91-4F6F-9281-EAA1EF796A4C}"/>
              </a:ext>
            </a:extLst>
          </p:cNvPr>
          <p:cNvGraphicFramePr/>
          <p:nvPr>
            <p:extLst>
              <p:ext uri="{D42A27DB-BD31-4B8C-83A1-F6EECF244321}">
                <p14:modId xmlns:p14="http://schemas.microsoft.com/office/powerpoint/2010/main" val="2355461171"/>
              </p:ext>
            </p:extLst>
          </p:nvPr>
        </p:nvGraphicFramePr>
        <p:xfrm>
          <a:off x="577251" y="1073581"/>
          <a:ext cx="7241801" cy="270144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7958100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grpSp>
        <p:nvGrpSpPr>
          <p:cNvPr id="286" name="Google Shape;286;p5"/>
          <p:cNvGrpSpPr/>
          <p:nvPr/>
        </p:nvGrpSpPr>
        <p:grpSpPr>
          <a:xfrm>
            <a:off x="550455" y="175900"/>
            <a:ext cx="1955750" cy="4609200"/>
            <a:chOff x="463525" y="540450"/>
            <a:chExt cx="1697700" cy="4609200"/>
          </a:xfrm>
        </p:grpSpPr>
        <p:cxnSp>
          <p:nvCxnSpPr>
            <p:cNvPr id="287" name="Google Shape;287;p5"/>
            <p:cNvCxnSpPr/>
            <p:nvPr/>
          </p:nvCxnSpPr>
          <p:spPr>
            <a:xfrm>
              <a:off x="463525" y="542075"/>
              <a:ext cx="1697700" cy="0"/>
            </a:xfrm>
            <a:prstGeom prst="straightConnector1">
              <a:avLst/>
            </a:prstGeom>
            <a:noFill/>
            <a:ln w="9525" cap="flat" cmpd="sng">
              <a:solidFill>
                <a:schemeClr val="dk1"/>
              </a:solidFill>
              <a:prstDash val="solid"/>
              <a:round/>
              <a:headEnd type="none" w="sm" len="sm"/>
              <a:tailEnd type="none" w="sm" len="sm"/>
            </a:ln>
          </p:spPr>
        </p:cxnSp>
        <p:cxnSp>
          <p:nvCxnSpPr>
            <p:cNvPr id="288" name="Google Shape;288;p5"/>
            <p:cNvCxnSpPr/>
            <p:nvPr/>
          </p:nvCxnSpPr>
          <p:spPr>
            <a:xfrm>
              <a:off x="465800" y="540450"/>
              <a:ext cx="0" cy="4609200"/>
            </a:xfrm>
            <a:prstGeom prst="straightConnector1">
              <a:avLst/>
            </a:prstGeom>
            <a:noFill/>
            <a:ln w="9525" cap="flat" cmpd="sng">
              <a:solidFill>
                <a:schemeClr val="dk1"/>
              </a:solidFill>
              <a:prstDash val="solid"/>
              <a:round/>
              <a:headEnd type="none" w="sm" len="sm"/>
              <a:tailEnd type="none" w="sm" len="sm"/>
            </a:ln>
          </p:spPr>
        </p:cxnSp>
      </p:grpSp>
      <p:sp>
        <p:nvSpPr>
          <p:cNvPr id="289" name="Google Shape;289;p5"/>
          <p:cNvSpPr txBox="1">
            <a:spLocks noGrp="1"/>
          </p:cNvSpPr>
          <p:nvPr>
            <p:ph type="title"/>
          </p:nvPr>
        </p:nvSpPr>
        <p:spPr>
          <a:xfrm>
            <a:off x="2119775" y="1628170"/>
            <a:ext cx="4904400" cy="1600200"/>
          </a:xfrm>
          <a:prstGeom prst="rect">
            <a:avLst/>
          </a:prstGeom>
          <a:solidFill>
            <a:srgbClr val="FECA08"/>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600"/>
              <a:buNone/>
            </a:pPr>
            <a:r>
              <a:rPr lang="en" dirty="0">
                <a:latin typeface="Calibri" panose="020F0502020204030204" pitchFamily="34" charset="0"/>
                <a:ea typeface="Calibri" panose="020F0502020204030204" pitchFamily="34" charset="0"/>
                <a:cs typeface="Calibri" panose="020F0502020204030204" pitchFamily="34" charset="0"/>
              </a:rPr>
              <a:t>Global Update</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14" name="Google Shape;832;p36">
            <a:extLst>
              <a:ext uri="{FF2B5EF4-FFF2-40B4-BE49-F238E27FC236}">
                <a16:creationId xmlns:a16="http://schemas.microsoft.com/office/drawing/2014/main" id="{C6FC1D95-C845-4365-831D-DAEB2F513E48}"/>
              </a:ext>
            </a:extLst>
          </p:cNvPr>
          <p:cNvSpPr/>
          <p:nvPr/>
        </p:nvSpPr>
        <p:spPr>
          <a:xfrm>
            <a:off x="970666" y="1969281"/>
            <a:ext cx="871576" cy="995792"/>
          </a:xfrm>
          <a:custGeom>
            <a:avLst/>
            <a:gdLst/>
            <a:ahLst/>
            <a:cxnLst/>
            <a:rect l="l" t="t" r="r" b="b"/>
            <a:pathLst>
              <a:path w="10740" h="12240" extrusionOk="0">
                <a:moveTo>
                  <a:pt x="5441" y="714"/>
                </a:moveTo>
                <a:cubicBezTo>
                  <a:pt x="5310" y="714"/>
                  <a:pt x="5049" y="1084"/>
                  <a:pt x="4882" y="1786"/>
                </a:cubicBezTo>
                <a:lnTo>
                  <a:pt x="6013" y="1786"/>
                </a:lnTo>
                <a:cubicBezTo>
                  <a:pt x="5834" y="1084"/>
                  <a:pt x="5584" y="714"/>
                  <a:pt x="5441" y="714"/>
                </a:cubicBezTo>
                <a:close/>
                <a:moveTo>
                  <a:pt x="5441" y="0"/>
                </a:moveTo>
                <a:cubicBezTo>
                  <a:pt x="4179" y="0"/>
                  <a:pt x="3096" y="750"/>
                  <a:pt x="2560" y="1798"/>
                </a:cubicBezTo>
                <a:lnTo>
                  <a:pt x="4156" y="1798"/>
                </a:lnTo>
                <a:cubicBezTo>
                  <a:pt x="4358" y="774"/>
                  <a:pt x="4787" y="0"/>
                  <a:pt x="5441" y="0"/>
                </a:cubicBezTo>
                <a:close/>
                <a:moveTo>
                  <a:pt x="5441" y="0"/>
                </a:moveTo>
                <a:cubicBezTo>
                  <a:pt x="6096" y="0"/>
                  <a:pt x="6537" y="774"/>
                  <a:pt x="6739" y="1798"/>
                </a:cubicBezTo>
                <a:lnTo>
                  <a:pt x="8335" y="1798"/>
                </a:lnTo>
                <a:cubicBezTo>
                  <a:pt x="7799" y="750"/>
                  <a:pt x="6715" y="0"/>
                  <a:pt x="5441" y="0"/>
                </a:cubicBezTo>
                <a:close/>
                <a:moveTo>
                  <a:pt x="2286" y="2512"/>
                </a:moveTo>
                <a:cubicBezTo>
                  <a:pt x="2227" y="2750"/>
                  <a:pt x="2203" y="2989"/>
                  <a:pt x="2203" y="3227"/>
                </a:cubicBezTo>
                <a:cubicBezTo>
                  <a:pt x="2203" y="3489"/>
                  <a:pt x="2227" y="3727"/>
                  <a:pt x="2286" y="3941"/>
                </a:cubicBezTo>
                <a:lnTo>
                  <a:pt x="4036" y="3941"/>
                </a:lnTo>
                <a:cubicBezTo>
                  <a:pt x="4013" y="3703"/>
                  <a:pt x="4001" y="3465"/>
                  <a:pt x="4001" y="3227"/>
                </a:cubicBezTo>
                <a:cubicBezTo>
                  <a:pt x="4001" y="2989"/>
                  <a:pt x="4013" y="2750"/>
                  <a:pt x="4036" y="2512"/>
                </a:cubicBezTo>
                <a:close/>
                <a:moveTo>
                  <a:pt x="4763" y="2512"/>
                </a:moveTo>
                <a:cubicBezTo>
                  <a:pt x="4727" y="2738"/>
                  <a:pt x="4715" y="2977"/>
                  <a:pt x="4715" y="3227"/>
                </a:cubicBezTo>
                <a:cubicBezTo>
                  <a:pt x="4715" y="3500"/>
                  <a:pt x="4727" y="3727"/>
                  <a:pt x="4763" y="3941"/>
                </a:cubicBezTo>
                <a:lnTo>
                  <a:pt x="6108" y="3941"/>
                </a:lnTo>
                <a:cubicBezTo>
                  <a:pt x="6144" y="3727"/>
                  <a:pt x="6156" y="3489"/>
                  <a:pt x="6156" y="3227"/>
                </a:cubicBezTo>
                <a:cubicBezTo>
                  <a:pt x="6156" y="2965"/>
                  <a:pt x="6144" y="2738"/>
                  <a:pt x="6108" y="2512"/>
                </a:cubicBezTo>
                <a:close/>
                <a:moveTo>
                  <a:pt x="6846" y="2512"/>
                </a:moveTo>
                <a:cubicBezTo>
                  <a:pt x="6858" y="2750"/>
                  <a:pt x="6870" y="2989"/>
                  <a:pt x="6870" y="3227"/>
                </a:cubicBezTo>
                <a:cubicBezTo>
                  <a:pt x="6870" y="3465"/>
                  <a:pt x="6858" y="3703"/>
                  <a:pt x="6846" y="3941"/>
                </a:cubicBezTo>
                <a:lnTo>
                  <a:pt x="8585" y="3941"/>
                </a:lnTo>
                <a:cubicBezTo>
                  <a:pt x="8644" y="3703"/>
                  <a:pt x="8680" y="3465"/>
                  <a:pt x="8680" y="3227"/>
                </a:cubicBezTo>
                <a:cubicBezTo>
                  <a:pt x="8680" y="2977"/>
                  <a:pt x="8644" y="2738"/>
                  <a:pt x="8585" y="2512"/>
                </a:cubicBezTo>
                <a:close/>
                <a:moveTo>
                  <a:pt x="4882" y="4679"/>
                </a:moveTo>
                <a:cubicBezTo>
                  <a:pt x="5049" y="5370"/>
                  <a:pt x="5310" y="5751"/>
                  <a:pt x="5441" y="5751"/>
                </a:cubicBezTo>
                <a:cubicBezTo>
                  <a:pt x="5584" y="5751"/>
                  <a:pt x="5846" y="5370"/>
                  <a:pt x="6013" y="4679"/>
                </a:cubicBezTo>
                <a:close/>
                <a:moveTo>
                  <a:pt x="2560" y="4679"/>
                </a:moveTo>
                <a:cubicBezTo>
                  <a:pt x="3095" y="5725"/>
                  <a:pt x="4175" y="6474"/>
                  <a:pt x="5434" y="6477"/>
                </a:cubicBezTo>
                <a:lnTo>
                  <a:pt x="5434" y="6477"/>
                </a:lnTo>
                <a:cubicBezTo>
                  <a:pt x="5432" y="6477"/>
                  <a:pt x="5431" y="6477"/>
                  <a:pt x="5430" y="6477"/>
                </a:cubicBezTo>
                <a:cubicBezTo>
                  <a:pt x="5432" y="6477"/>
                  <a:pt x="5434" y="6477"/>
                  <a:pt x="5436" y="6477"/>
                </a:cubicBezTo>
                <a:lnTo>
                  <a:pt x="5436" y="6477"/>
                </a:lnTo>
                <a:cubicBezTo>
                  <a:pt x="5437" y="6477"/>
                  <a:pt x="5439" y="6477"/>
                  <a:pt x="5441" y="6477"/>
                </a:cubicBezTo>
                <a:cubicBezTo>
                  <a:pt x="5440" y="6477"/>
                  <a:pt x="5439" y="6477"/>
                  <a:pt x="5437" y="6477"/>
                </a:cubicBezTo>
                <a:lnTo>
                  <a:pt x="5437" y="6477"/>
                </a:lnTo>
                <a:cubicBezTo>
                  <a:pt x="6720" y="6474"/>
                  <a:pt x="7800" y="5725"/>
                  <a:pt x="8323" y="4679"/>
                </a:cubicBezTo>
                <a:lnTo>
                  <a:pt x="6727" y="4679"/>
                </a:lnTo>
                <a:cubicBezTo>
                  <a:pt x="6514" y="5688"/>
                  <a:pt x="6087" y="6472"/>
                  <a:pt x="5435" y="6477"/>
                </a:cubicBezTo>
                <a:lnTo>
                  <a:pt x="5435" y="6477"/>
                </a:lnTo>
                <a:cubicBezTo>
                  <a:pt x="4784" y="6472"/>
                  <a:pt x="4357" y="5688"/>
                  <a:pt x="4156" y="4679"/>
                </a:cubicBezTo>
                <a:close/>
                <a:moveTo>
                  <a:pt x="10371" y="5763"/>
                </a:moveTo>
                <a:cubicBezTo>
                  <a:pt x="9728" y="5763"/>
                  <a:pt x="9156" y="6120"/>
                  <a:pt x="8870" y="6668"/>
                </a:cubicBezTo>
                <a:lnTo>
                  <a:pt x="7763" y="8763"/>
                </a:lnTo>
                <a:cubicBezTo>
                  <a:pt x="7573" y="9120"/>
                  <a:pt x="7215" y="9346"/>
                  <a:pt x="6811" y="9346"/>
                </a:cubicBezTo>
                <a:lnTo>
                  <a:pt x="4370" y="9346"/>
                </a:lnTo>
                <a:cubicBezTo>
                  <a:pt x="4179" y="9346"/>
                  <a:pt x="4013" y="9180"/>
                  <a:pt x="4013" y="8989"/>
                </a:cubicBezTo>
                <a:cubicBezTo>
                  <a:pt x="4013" y="8799"/>
                  <a:pt x="4179" y="8632"/>
                  <a:pt x="4370" y="8632"/>
                </a:cubicBezTo>
                <a:lnTo>
                  <a:pt x="6811" y="8632"/>
                </a:lnTo>
                <a:cubicBezTo>
                  <a:pt x="6954" y="8632"/>
                  <a:pt x="7073" y="8561"/>
                  <a:pt x="7132" y="8442"/>
                </a:cubicBezTo>
                <a:cubicBezTo>
                  <a:pt x="7192" y="8322"/>
                  <a:pt x="7382" y="7965"/>
                  <a:pt x="7549" y="7656"/>
                </a:cubicBezTo>
                <a:cubicBezTo>
                  <a:pt x="7585" y="7549"/>
                  <a:pt x="7585" y="7441"/>
                  <a:pt x="7525" y="7334"/>
                </a:cubicBezTo>
                <a:cubicBezTo>
                  <a:pt x="7465" y="7251"/>
                  <a:pt x="7370" y="7191"/>
                  <a:pt x="7263" y="7191"/>
                </a:cubicBezTo>
                <a:lnTo>
                  <a:pt x="3525" y="7191"/>
                </a:lnTo>
                <a:cubicBezTo>
                  <a:pt x="3048" y="7191"/>
                  <a:pt x="2584" y="7382"/>
                  <a:pt x="2262" y="7715"/>
                </a:cubicBezTo>
                <a:lnTo>
                  <a:pt x="131" y="9835"/>
                </a:lnTo>
                <a:cubicBezTo>
                  <a:pt x="0" y="9977"/>
                  <a:pt x="0" y="10216"/>
                  <a:pt x="131" y="10347"/>
                </a:cubicBezTo>
                <a:lnTo>
                  <a:pt x="1929" y="12132"/>
                </a:lnTo>
                <a:cubicBezTo>
                  <a:pt x="2012" y="12204"/>
                  <a:pt x="2096" y="12240"/>
                  <a:pt x="2191" y="12240"/>
                </a:cubicBezTo>
                <a:cubicBezTo>
                  <a:pt x="2274" y="12240"/>
                  <a:pt x="2370" y="12204"/>
                  <a:pt x="2441" y="12132"/>
                </a:cubicBezTo>
                <a:lnTo>
                  <a:pt x="3810" y="10775"/>
                </a:lnTo>
                <a:lnTo>
                  <a:pt x="6811" y="10775"/>
                </a:lnTo>
                <a:cubicBezTo>
                  <a:pt x="7751" y="10775"/>
                  <a:pt x="8597" y="10251"/>
                  <a:pt x="9049" y="9418"/>
                </a:cubicBezTo>
                <a:lnTo>
                  <a:pt x="10704" y="6263"/>
                </a:lnTo>
                <a:cubicBezTo>
                  <a:pt x="10740" y="6191"/>
                  <a:pt x="10740" y="6060"/>
                  <a:pt x="10680" y="5941"/>
                </a:cubicBezTo>
                <a:cubicBezTo>
                  <a:pt x="10621" y="5834"/>
                  <a:pt x="10502" y="5763"/>
                  <a:pt x="10371" y="5763"/>
                </a:cubicBezTo>
                <a:close/>
              </a:path>
            </a:pathLst>
          </a:custGeom>
          <a:solidFill>
            <a:schemeClr val="bg1">
              <a:lumMod val="50000"/>
            </a:schemeClr>
          </a:solidFill>
          <a:ln>
            <a:solidFill>
              <a:schemeClr val="tx1"/>
            </a:solid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p:txBody>
      </p:sp>
      <p:grpSp>
        <p:nvGrpSpPr>
          <p:cNvPr id="2" name="Google Shape;262;p6">
            <a:extLst>
              <a:ext uri="{FF2B5EF4-FFF2-40B4-BE49-F238E27FC236}">
                <a16:creationId xmlns:a16="http://schemas.microsoft.com/office/drawing/2014/main" id="{A8210EAB-1BAD-FD0D-1549-FDBDCEB34D73}"/>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DD922339-7516-0B5B-764B-516D99285EC3}"/>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4" name="Google Shape;264;p6">
              <a:extLst>
                <a:ext uri="{FF2B5EF4-FFF2-40B4-BE49-F238E27FC236}">
                  <a16:creationId xmlns:a16="http://schemas.microsoft.com/office/drawing/2014/main" id="{59AB65E3-7A91-632A-FFFB-8A1B8383B9DD}"/>
                </a:ext>
              </a:extLst>
            </p:cNvPr>
            <p:cNvGrpSpPr/>
            <p:nvPr/>
          </p:nvGrpSpPr>
          <p:grpSpPr>
            <a:xfrm>
              <a:off x="3101100" y="4872600"/>
              <a:ext cx="2941800" cy="270900"/>
              <a:chOff x="3084200" y="4934525"/>
              <a:chExt cx="2941800" cy="270900"/>
            </a:xfrm>
          </p:grpSpPr>
          <p:sp>
            <p:nvSpPr>
              <p:cNvPr id="5" name="Google Shape;265;p6">
                <a:extLst>
                  <a:ext uri="{FF2B5EF4-FFF2-40B4-BE49-F238E27FC236}">
                    <a16:creationId xmlns:a16="http://schemas.microsoft.com/office/drawing/2014/main" id="{68CE6D3B-D5E7-BE28-45B1-9638458FEEB4}"/>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6" name="Google Shape;266;p6">
                <a:extLst>
                  <a:ext uri="{FF2B5EF4-FFF2-40B4-BE49-F238E27FC236}">
                    <a16:creationId xmlns:a16="http://schemas.microsoft.com/office/drawing/2014/main" id="{4F09A209-FCF8-1A23-D957-DB01C0CDD26E}"/>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7" name="Picture 6">
            <a:extLst>
              <a:ext uri="{FF2B5EF4-FFF2-40B4-BE49-F238E27FC236}">
                <a16:creationId xmlns:a16="http://schemas.microsoft.com/office/drawing/2014/main" id="{BE055D3A-3F88-3183-4D4D-C38DD54ADAD5}"/>
              </a:ext>
            </a:extLst>
          </p:cNvPr>
          <p:cNvPicPr>
            <a:picLocks noChangeAspect="1"/>
          </p:cNvPicPr>
          <p:nvPr/>
        </p:nvPicPr>
        <p:blipFill>
          <a:blip r:embed="rId3"/>
          <a:stretch>
            <a:fillRect/>
          </a:stretch>
        </p:blipFill>
        <p:spPr>
          <a:xfrm>
            <a:off x="7819053" y="116485"/>
            <a:ext cx="1190504" cy="56601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B69FF9FC-9A05-AE7F-6A4A-EC123EA65671}"/>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1530A00-BC22-5B7C-D323-190BBE403E1A}"/>
              </a:ext>
            </a:extLst>
          </p:cNvPr>
          <p:cNvPicPr>
            <a:picLocks noChangeAspect="1"/>
          </p:cNvPicPr>
          <p:nvPr/>
        </p:nvPicPr>
        <p:blipFill>
          <a:blip r:embed="rId3"/>
          <a:stretch>
            <a:fillRect/>
          </a:stretch>
        </p:blipFill>
        <p:spPr>
          <a:xfrm>
            <a:off x="624469" y="1244675"/>
            <a:ext cx="5895278" cy="3074563"/>
          </a:xfrm>
          <a:prstGeom prst="rect">
            <a:avLst/>
          </a:prstGeom>
          <a:ln>
            <a:solidFill>
              <a:schemeClr val="tx1"/>
            </a:solidFill>
          </a:ln>
        </p:spPr>
      </p:pic>
      <p:sp>
        <p:nvSpPr>
          <p:cNvPr id="301" name="Google Shape;301;p7">
            <a:extLst>
              <a:ext uri="{FF2B5EF4-FFF2-40B4-BE49-F238E27FC236}">
                <a16:creationId xmlns:a16="http://schemas.microsoft.com/office/drawing/2014/main" id="{8FE3716D-DE8C-5DF4-AC89-14A7FAFD2036}"/>
              </a:ext>
            </a:extLst>
          </p:cNvPr>
          <p:cNvSpPr txBox="1">
            <a:spLocks noGrp="1"/>
          </p:cNvSpPr>
          <p:nvPr>
            <p:ph type="title"/>
          </p:nvPr>
        </p:nvSpPr>
        <p:spPr>
          <a:xfrm>
            <a:off x="555171" y="445025"/>
            <a:ext cx="7160944" cy="521208"/>
          </a:xfrm>
          <a:prstGeom prst="rect">
            <a:avLst/>
          </a:prstGeom>
          <a:solidFill>
            <a:srgbClr val="FECA08"/>
          </a:solidFill>
          <a:ln>
            <a:noFill/>
          </a:ln>
        </p:spPr>
        <p:txBody>
          <a:bodyPr spcFirstLastPara="1" wrap="square" lIns="91425" tIns="91425" rIns="91425" bIns="91425" anchor="ctr" anchorCtr="0">
            <a:noAutofit/>
          </a:bodyPr>
          <a:lstStyle/>
          <a:p>
            <a:pPr lvl="0"/>
            <a:r>
              <a:rPr lang="en-US" sz="1900" dirty="0">
                <a:latin typeface="+mn-lt"/>
                <a:ea typeface="Calibri" panose="020F0502020204030204" pitchFamily="34" charset="0"/>
                <a:cs typeface="Calibri" panose="020F0502020204030204" pitchFamily="34" charset="0"/>
              </a:rPr>
              <a:t>US-Iran tensions escalate global crude oil prices </a:t>
            </a:r>
          </a:p>
        </p:txBody>
      </p:sp>
      <p:sp>
        <p:nvSpPr>
          <p:cNvPr id="21" name="TextBox 20">
            <a:extLst>
              <a:ext uri="{FF2B5EF4-FFF2-40B4-BE49-F238E27FC236}">
                <a16:creationId xmlns:a16="http://schemas.microsoft.com/office/drawing/2014/main" id="{DB5A2D59-1A1B-1C63-438F-5169C5D7763A}"/>
              </a:ext>
            </a:extLst>
          </p:cNvPr>
          <p:cNvSpPr txBox="1"/>
          <p:nvPr/>
        </p:nvSpPr>
        <p:spPr>
          <a:xfrm>
            <a:off x="7336619" y="4397833"/>
            <a:ext cx="2155371" cy="338554"/>
          </a:xfrm>
          <a:prstGeom prst="rect">
            <a:avLst/>
          </a:prstGeom>
          <a:noFill/>
        </p:spPr>
        <p:txBody>
          <a:bodyPr wrap="square" rtlCol="0">
            <a:spAutoFit/>
          </a:bodyPr>
          <a:lstStyle/>
          <a:p>
            <a:pPr algn="just"/>
            <a:r>
              <a:rPr lang="en-IN" sz="800" dirty="0">
                <a:latin typeface="+mn-lt"/>
                <a:ea typeface="Calibri" panose="020F0502020204030204" pitchFamily="34" charset="0"/>
                <a:cs typeface="Calibri" panose="020F0502020204030204" pitchFamily="34" charset="0"/>
              </a:rPr>
              <a:t>Source: Trading economics</a:t>
            </a:r>
          </a:p>
          <a:p>
            <a:r>
              <a:rPr lang="en-IN" sz="800" dirty="0">
                <a:latin typeface="+mn-lt"/>
                <a:ea typeface="Calibri" panose="020F0502020204030204" pitchFamily="34" charset="0"/>
                <a:cs typeface="Calibri" panose="020F0502020204030204" pitchFamily="34" charset="0"/>
              </a:rPr>
              <a:t> Data as on 6</a:t>
            </a:r>
            <a:r>
              <a:rPr lang="en-IN" sz="800" baseline="30000" dirty="0">
                <a:latin typeface="+mn-lt"/>
                <a:ea typeface="Calibri" panose="020F0502020204030204" pitchFamily="34" charset="0"/>
                <a:cs typeface="Calibri" panose="020F0502020204030204" pitchFamily="34" charset="0"/>
              </a:rPr>
              <a:t>th</a:t>
            </a:r>
            <a:r>
              <a:rPr lang="en-IN" sz="800" dirty="0">
                <a:latin typeface="+mn-lt"/>
                <a:ea typeface="Calibri" panose="020F0502020204030204" pitchFamily="34" charset="0"/>
                <a:cs typeface="Calibri" panose="020F0502020204030204" pitchFamily="34" charset="0"/>
              </a:rPr>
              <a:t> Februaray, 2026</a:t>
            </a:r>
          </a:p>
        </p:txBody>
      </p:sp>
      <p:sp>
        <p:nvSpPr>
          <p:cNvPr id="6" name="TextBox 5">
            <a:extLst>
              <a:ext uri="{FF2B5EF4-FFF2-40B4-BE49-F238E27FC236}">
                <a16:creationId xmlns:a16="http://schemas.microsoft.com/office/drawing/2014/main" id="{1D8013F6-9BE8-E5B9-261D-87F2EA53035B}"/>
              </a:ext>
            </a:extLst>
          </p:cNvPr>
          <p:cNvSpPr txBox="1"/>
          <p:nvPr/>
        </p:nvSpPr>
        <p:spPr>
          <a:xfrm>
            <a:off x="6927638" y="2159076"/>
            <a:ext cx="2081919" cy="1448730"/>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marL="171450" indent="-171450">
              <a:lnSpc>
                <a:spcPct val="150000"/>
              </a:lnSpc>
              <a:buFont typeface="Wingdings" panose="05000000000000000000" pitchFamily="2" charset="2"/>
              <a:buChar char="q"/>
            </a:pPr>
            <a:r>
              <a:rPr lang="en-US" sz="1200" dirty="0">
                <a:solidFill>
                  <a:schemeClr val="tx1"/>
                </a:solidFill>
                <a:ea typeface="Calibri" panose="020F0502020204030204" pitchFamily="34" charset="0"/>
                <a:cs typeface="Calibri" panose="020F0502020204030204" pitchFamily="34" charset="0"/>
              </a:rPr>
              <a:t>Brent crude rose to around $71 per barrel on 29</a:t>
            </a:r>
            <a:r>
              <a:rPr lang="en-US" sz="1200" baseline="30000" dirty="0">
                <a:solidFill>
                  <a:schemeClr val="tx1"/>
                </a:solidFill>
                <a:ea typeface="Calibri" panose="020F0502020204030204" pitchFamily="34" charset="0"/>
                <a:cs typeface="Calibri" panose="020F0502020204030204" pitchFamily="34" charset="0"/>
              </a:rPr>
              <a:t>th</a:t>
            </a:r>
            <a:r>
              <a:rPr lang="en-US" sz="1200" dirty="0">
                <a:solidFill>
                  <a:schemeClr val="tx1"/>
                </a:solidFill>
                <a:ea typeface="Calibri" panose="020F0502020204030204" pitchFamily="34" charset="0"/>
                <a:cs typeface="Calibri" panose="020F0502020204030204" pitchFamily="34" charset="0"/>
              </a:rPr>
              <a:t> Jan-26; as US–Iran tensions increased geopolitical risk and supply concerns</a:t>
            </a:r>
          </a:p>
        </p:txBody>
      </p:sp>
      <p:grpSp>
        <p:nvGrpSpPr>
          <p:cNvPr id="2" name="Google Shape;262;p6">
            <a:extLst>
              <a:ext uri="{FF2B5EF4-FFF2-40B4-BE49-F238E27FC236}">
                <a16:creationId xmlns:a16="http://schemas.microsoft.com/office/drawing/2014/main" id="{5E2D6EA9-52B1-0539-8262-80A8DA98D857}"/>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14879D30-7331-21C3-2C2A-7A6B2C821EDD}"/>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9CA9236C-D854-E6D2-ADE0-D52FC2277256}"/>
                </a:ext>
              </a:extLst>
            </p:cNvPr>
            <p:cNvGrpSpPr/>
            <p:nvPr/>
          </p:nvGrpSpPr>
          <p:grpSpPr>
            <a:xfrm>
              <a:off x="3101100" y="4872600"/>
              <a:ext cx="2941800" cy="270900"/>
              <a:chOff x="3084200" y="4934525"/>
              <a:chExt cx="2941800" cy="270900"/>
            </a:xfrm>
          </p:grpSpPr>
          <p:sp>
            <p:nvSpPr>
              <p:cNvPr id="8" name="Google Shape;265;p6">
                <a:extLst>
                  <a:ext uri="{FF2B5EF4-FFF2-40B4-BE49-F238E27FC236}">
                    <a16:creationId xmlns:a16="http://schemas.microsoft.com/office/drawing/2014/main" id="{F48A6AAB-572F-F5EE-E58B-DC35B3DE9EB9}"/>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9" name="Google Shape;266;p6">
                <a:extLst>
                  <a:ext uri="{FF2B5EF4-FFF2-40B4-BE49-F238E27FC236}">
                    <a16:creationId xmlns:a16="http://schemas.microsoft.com/office/drawing/2014/main" id="{C52F550F-E249-9402-B6A4-502938260087}"/>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0" name="Picture 9">
            <a:extLst>
              <a:ext uri="{FF2B5EF4-FFF2-40B4-BE49-F238E27FC236}">
                <a16:creationId xmlns:a16="http://schemas.microsoft.com/office/drawing/2014/main" id="{B62E5F02-F4A8-DEA2-FA21-7F0C94FA722A}"/>
              </a:ext>
            </a:extLst>
          </p:cNvPr>
          <p:cNvPicPr>
            <a:picLocks noChangeAspect="1"/>
          </p:cNvPicPr>
          <p:nvPr/>
        </p:nvPicPr>
        <p:blipFill>
          <a:blip r:embed="rId4"/>
          <a:stretch>
            <a:fillRect/>
          </a:stretch>
        </p:blipFill>
        <p:spPr>
          <a:xfrm>
            <a:off x="7819053" y="116485"/>
            <a:ext cx="1190504" cy="566010"/>
          </a:xfrm>
          <a:prstGeom prst="rect">
            <a:avLst/>
          </a:prstGeom>
        </p:spPr>
      </p:pic>
      <p:pic>
        <p:nvPicPr>
          <p:cNvPr id="14" name="Picture 13">
            <a:extLst>
              <a:ext uri="{FF2B5EF4-FFF2-40B4-BE49-F238E27FC236}">
                <a16:creationId xmlns:a16="http://schemas.microsoft.com/office/drawing/2014/main" id="{6B78D910-01C3-12D6-359C-337628FBDCEB}"/>
              </a:ext>
            </a:extLst>
          </p:cNvPr>
          <p:cNvPicPr>
            <a:picLocks noChangeAspect="1"/>
          </p:cNvPicPr>
          <p:nvPr/>
        </p:nvPicPr>
        <p:blipFill>
          <a:blip r:embed="rId5"/>
          <a:stretch>
            <a:fillRect/>
          </a:stretch>
        </p:blipFill>
        <p:spPr>
          <a:xfrm>
            <a:off x="4347482" y="1428948"/>
            <a:ext cx="737474" cy="555969"/>
          </a:xfrm>
          <a:prstGeom prst="rect">
            <a:avLst/>
          </a:prstGeom>
          <a:ln>
            <a:solidFill>
              <a:schemeClr val="accent1">
                <a:lumMod val="50000"/>
              </a:schemeClr>
            </a:solidFill>
          </a:ln>
        </p:spPr>
      </p:pic>
    </p:spTree>
    <p:extLst>
      <p:ext uri="{BB962C8B-B14F-4D97-AF65-F5344CB8AC3E}">
        <p14:creationId xmlns:p14="http://schemas.microsoft.com/office/powerpoint/2010/main" val="14069912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pic>
        <p:nvPicPr>
          <p:cNvPr id="19" name="Picture 18">
            <a:extLst>
              <a:ext uri="{FF2B5EF4-FFF2-40B4-BE49-F238E27FC236}">
                <a16:creationId xmlns:a16="http://schemas.microsoft.com/office/drawing/2014/main" id="{AF2D3829-41B2-C4DA-5FD1-87D6B6983080}"/>
              </a:ext>
            </a:extLst>
          </p:cNvPr>
          <p:cNvPicPr>
            <a:picLocks noChangeAspect="1"/>
          </p:cNvPicPr>
          <p:nvPr/>
        </p:nvPicPr>
        <p:blipFill>
          <a:blip r:embed="rId3"/>
          <a:stretch>
            <a:fillRect/>
          </a:stretch>
        </p:blipFill>
        <p:spPr>
          <a:xfrm>
            <a:off x="4895898" y="2987991"/>
            <a:ext cx="3474720" cy="1469855"/>
          </a:xfrm>
          <a:prstGeom prst="rect">
            <a:avLst/>
          </a:prstGeom>
          <a:ln>
            <a:solidFill>
              <a:schemeClr val="tx1"/>
            </a:solidFill>
          </a:ln>
        </p:spPr>
      </p:pic>
      <p:pic>
        <p:nvPicPr>
          <p:cNvPr id="16" name="Picture 15">
            <a:extLst>
              <a:ext uri="{FF2B5EF4-FFF2-40B4-BE49-F238E27FC236}">
                <a16:creationId xmlns:a16="http://schemas.microsoft.com/office/drawing/2014/main" id="{89043314-FE3B-B186-FB12-7C4ECEB8B022}"/>
              </a:ext>
            </a:extLst>
          </p:cNvPr>
          <p:cNvPicPr>
            <a:picLocks noChangeAspect="1"/>
          </p:cNvPicPr>
          <p:nvPr/>
        </p:nvPicPr>
        <p:blipFill>
          <a:blip r:embed="rId4"/>
          <a:stretch>
            <a:fillRect/>
          </a:stretch>
        </p:blipFill>
        <p:spPr>
          <a:xfrm>
            <a:off x="866729" y="2979385"/>
            <a:ext cx="3474720" cy="1478461"/>
          </a:xfrm>
          <a:prstGeom prst="rect">
            <a:avLst/>
          </a:prstGeom>
          <a:ln>
            <a:solidFill>
              <a:schemeClr val="tx1"/>
            </a:solidFill>
          </a:ln>
        </p:spPr>
      </p:pic>
      <p:pic>
        <p:nvPicPr>
          <p:cNvPr id="12" name="Picture 11">
            <a:extLst>
              <a:ext uri="{FF2B5EF4-FFF2-40B4-BE49-F238E27FC236}">
                <a16:creationId xmlns:a16="http://schemas.microsoft.com/office/drawing/2014/main" id="{BF5C019D-A896-76EE-0F3B-BDDC3F2BC74F}"/>
              </a:ext>
            </a:extLst>
          </p:cNvPr>
          <p:cNvPicPr>
            <a:picLocks noChangeAspect="1"/>
          </p:cNvPicPr>
          <p:nvPr/>
        </p:nvPicPr>
        <p:blipFill>
          <a:blip r:embed="rId5"/>
          <a:stretch>
            <a:fillRect/>
          </a:stretch>
        </p:blipFill>
        <p:spPr>
          <a:xfrm>
            <a:off x="4870021" y="1257612"/>
            <a:ext cx="3474720" cy="1447452"/>
          </a:xfrm>
          <a:prstGeom prst="rect">
            <a:avLst/>
          </a:prstGeom>
          <a:ln>
            <a:solidFill>
              <a:schemeClr val="tx1"/>
            </a:solidFill>
          </a:ln>
        </p:spPr>
      </p:pic>
      <p:pic>
        <p:nvPicPr>
          <p:cNvPr id="6" name="Picture 5">
            <a:extLst>
              <a:ext uri="{FF2B5EF4-FFF2-40B4-BE49-F238E27FC236}">
                <a16:creationId xmlns:a16="http://schemas.microsoft.com/office/drawing/2014/main" id="{A5EB8FEC-141A-6A68-9BDC-6D2133D669F8}"/>
              </a:ext>
            </a:extLst>
          </p:cNvPr>
          <p:cNvPicPr>
            <a:picLocks noChangeAspect="1"/>
          </p:cNvPicPr>
          <p:nvPr/>
        </p:nvPicPr>
        <p:blipFill>
          <a:blip r:embed="rId6"/>
          <a:stretch>
            <a:fillRect/>
          </a:stretch>
        </p:blipFill>
        <p:spPr>
          <a:xfrm>
            <a:off x="886826" y="1257612"/>
            <a:ext cx="3474720" cy="1421105"/>
          </a:xfrm>
          <a:prstGeom prst="rect">
            <a:avLst/>
          </a:prstGeom>
          <a:ln>
            <a:solidFill>
              <a:schemeClr val="tx1"/>
            </a:solidFill>
          </a:ln>
        </p:spPr>
      </p:pic>
      <p:sp>
        <p:nvSpPr>
          <p:cNvPr id="301" name="Google Shape;301;p7"/>
          <p:cNvSpPr txBox="1">
            <a:spLocks noGrp="1"/>
          </p:cNvSpPr>
          <p:nvPr>
            <p:ph type="title"/>
          </p:nvPr>
        </p:nvSpPr>
        <p:spPr>
          <a:xfrm>
            <a:off x="719998" y="445025"/>
            <a:ext cx="6176988" cy="521208"/>
          </a:xfrm>
          <a:prstGeom prst="rect">
            <a:avLst/>
          </a:prstGeom>
          <a:solidFill>
            <a:srgbClr val="FECA08"/>
          </a:solidFill>
          <a:ln>
            <a:noFill/>
          </a:ln>
        </p:spPr>
        <p:txBody>
          <a:bodyPr spcFirstLastPara="1" wrap="square" lIns="91425" tIns="91425" rIns="91425" bIns="91425" anchor="ctr" anchorCtr="0">
            <a:noAutofit/>
          </a:bodyPr>
          <a:lstStyle/>
          <a:p>
            <a:pPr lvl="0"/>
            <a:r>
              <a:rPr lang="en-US" sz="2000" dirty="0">
                <a:latin typeface="+mn-lt"/>
              </a:rPr>
              <a:t>Global interest rate </a:t>
            </a:r>
            <a:endParaRPr lang="en-US" sz="2000" strike="sngStrike" dirty="0">
              <a:latin typeface="+mn-lt"/>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00D216D4-5037-4C2B-B9D1-877C81A688C4}"/>
              </a:ext>
            </a:extLst>
          </p:cNvPr>
          <p:cNvSpPr txBox="1"/>
          <p:nvPr/>
        </p:nvSpPr>
        <p:spPr>
          <a:xfrm>
            <a:off x="3676327" y="4667120"/>
            <a:ext cx="5376672" cy="215444"/>
          </a:xfrm>
          <a:prstGeom prst="rect">
            <a:avLst/>
          </a:prstGeom>
          <a:noFill/>
        </p:spPr>
        <p:txBody>
          <a:bodyPr wrap="square" rtlCol="0">
            <a:spAutoFit/>
          </a:bodyPr>
          <a:lstStyle/>
          <a:p>
            <a:pPr algn="r"/>
            <a:r>
              <a:rPr lang="en-IN" sz="800" dirty="0">
                <a:latin typeface="Calibri" panose="020F0502020204030204" pitchFamily="34" charset="0"/>
                <a:ea typeface="Calibri" panose="020F0502020204030204" pitchFamily="34" charset="0"/>
                <a:cs typeface="Calibri" panose="020F0502020204030204" pitchFamily="34" charset="0"/>
              </a:rPr>
              <a:t>Source: Trading Economics</a:t>
            </a:r>
          </a:p>
        </p:txBody>
      </p:sp>
      <p:sp>
        <p:nvSpPr>
          <p:cNvPr id="27" name="TextBox 26">
            <a:extLst>
              <a:ext uri="{FF2B5EF4-FFF2-40B4-BE49-F238E27FC236}">
                <a16:creationId xmlns:a16="http://schemas.microsoft.com/office/drawing/2014/main" id="{0D8054E3-F992-4297-88FD-1A681AC62156}"/>
              </a:ext>
            </a:extLst>
          </p:cNvPr>
          <p:cNvSpPr txBox="1"/>
          <p:nvPr/>
        </p:nvSpPr>
        <p:spPr>
          <a:xfrm>
            <a:off x="3230879" y="2987080"/>
            <a:ext cx="1724722" cy="253916"/>
          </a:xfrm>
          <a:prstGeom prst="rect">
            <a:avLst/>
          </a:prstGeom>
          <a:noFill/>
        </p:spPr>
        <p:txBody>
          <a:bodyPr wrap="square" rtlCol="0">
            <a:spAutoFit/>
          </a:bodyPr>
          <a:lstStyle/>
          <a:p>
            <a:r>
              <a:rPr lang="en-US" sz="1050" b="1" dirty="0">
                <a:solidFill>
                  <a:schemeClr val="tx1"/>
                </a:solidFill>
                <a:latin typeface="Calibri" panose="020F0502020204030204" pitchFamily="34" charset="0"/>
                <a:ea typeface="Calibri" panose="020F0502020204030204" pitchFamily="34" charset="0"/>
                <a:cs typeface="Calibri" panose="020F0502020204030204" pitchFamily="34" charset="0"/>
              </a:rPr>
              <a:t>EU  (Dec-25</a:t>
            </a:r>
            <a:r>
              <a:rPr lang="en-US" sz="1050" b="1" dirty="0">
                <a:solidFill>
                  <a:srgbClr val="333333"/>
                </a:solidFill>
                <a:latin typeface="Calibri" panose="020F0502020204030204" pitchFamily="34" charset="0"/>
                <a:ea typeface="Calibri" panose="020F0502020204030204" pitchFamily="34" charset="0"/>
                <a:cs typeface="Calibri" panose="020F0502020204030204" pitchFamily="34" charset="0"/>
              </a:rPr>
              <a:t>)</a:t>
            </a:r>
          </a:p>
        </p:txBody>
      </p:sp>
      <p:sp>
        <p:nvSpPr>
          <p:cNvPr id="28" name="TextBox 27">
            <a:extLst>
              <a:ext uri="{FF2B5EF4-FFF2-40B4-BE49-F238E27FC236}">
                <a16:creationId xmlns:a16="http://schemas.microsoft.com/office/drawing/2014/main" id="{9EEB858C-5D1D-4461-9F03-30C41ED8F14B}"/>
              </a:ext>
            </a:extLst>
          </p:cNvPr>
          <p:cNvSpPr txBox="1"/>
          <p:nvPr/>
        </p:nvSpPr>
        <p:spPr>
          <a:xfrm>
            <a:off x="2525774" y="1257612"/>
            <a:ext cx="2046201" cy="253916"/>
          </a:xfrm>
          <a:prstGeom prst="rect">
            <a:avLst/>
          </a:prstGeom>
          <a:noFill/>
        </p:spPr>
        <p:txBody>
          <a:bodyPr wrap="square" rtlCol="0">
            <a:spAutoFit/>
          </a:bodyPr>
          <a:lstStyle/>
          <a:p>
            <a:r>
              <a:rPr lang="en-US" sz="1050" b="1" dirty="0">
                <a:solidFill>
                  <a:schemeClr val="tx1"/>
                </a:solidFill>
                <a:latin typeface="+mn-lt"/>
                <a:ea typeface="Calibri" panose="020F0502020204030204" pitchFamily="34" charset="0"/>
                <a:cs typeface="Calibri" panose="020F0502020204030204" pitchFamily="34" charset="0"/>
              </a:rPr>
              <a:t>U.S.  </a:t>
            </a:r>
            <a:r>
              <a:rPr lang="en-US" sz="1050" b="1" dirty="0">
                <a:latin typeface="+mn-lt"/>
              </a:rPr>
              <a:t>(unchanged in Jan-26)</a:t>
            </a:r>
            <a:r>
              <a:rPr lang="en-US" sz="1050" b="1" dirty="0">
                <a:solidFill>
                  <a:schemeClr val="tx1"/>
                </a:solidFill>
                <a:latin typeface="+mn-lt"/>
                <a:ea typeface="Calibri" panose="020F0502020204030204" pitchFamily="34" charset="0"/>
                <a:cs typeface="Calibri" panose="020F0502020204030204" pitchFamily="34" charset="0"/>
              </a:rPr>
              <a:t> </a:t>
            </a:r>
            <a:endParaRPr lang="en-US" sz="1050" b="1" dirty="0">
              <a:latin typeface="+mn-lt"/>
              <a:ea typeface="Calibri" panose="020F0502020204030204" pitchFamily="34" charset="0"/>
              <a:cs typeface="Calibri" panose="020F0502020204030204" pitchFamily="34" charset="0"/>
            </a:endParaRPr>
          </a:p>
        </p:txBody>
      </p:sp>
      <p:sp>
        <p:nvSpPr>
          <p:cNvPr id="26" name="TextBox 25">
            <a:extLst>
              <a:ext uri="{FF2B5EF4-FFF2-40B4-BE49-F238E27FC236}">
                <a16:creationId xmlns:a16="http://schemas.microsoft.com/office/drawing/2014/main" id="{4F2B919B-7549-4791-BD51-7BD8FDC7F6AB}"/>
              </a:ext>
            </a:extLst>
          </p:cNvPr>
          <p:cNvSpPr txBox="1"/>
          <p:nvPr/>
        </p:nvSpPr>
        <p:spPr>
          <a:xfrm>
            <a:off x="7253825" y="1257612"/>
            <a:ext cx="1280575" cy="253916"/>
          </a:xfrm>
          <a:prstGeom prst="rect">
            <a:avLst/>
          </a:prstGeom>
          <a:noFill/>
        </p:spPr>
        <p:txBody>
          <a:bodyPr wrap="square" rtlCol="0">
            <a:spAutoFit/>
          </a:bodyPr>
          <a:lstStyle/>
          <a:p>
            <a:r>
              <a:rPr lang="en-US" sz="1050" b="1" dirty="0">
                <a:solidFill>
                  <a:schemeClr val="tx1"/>
                </a:solidFill>
                <a:latin typeface="+mn-lt"/>
                <a:ea typeface="Calibri" panose="020F0502020204030204" pitchFamily="34" charset="0"/>
                <a:cs typeface="Calibri" panose="020F0502020204030204" pitchFamily="34" charset="0"/>
              </a:rPr>
              <a:t>UK </a:t>
            </a:r>
            <a:r>
              <a:rPr lang="en-US" sz="1050" b="1" dirty="0">
                <a:latin typeface="+mn-lt"/>
              </a:rPr>
              <a:t>(Dec-25)</a:t>
            </a:r>
            <a:r>
              <a:rPr lang="en-US" sz="1050" b="1" dirty="0">
                <a:solidFill>
                  <a:schemeClr val="tx1"/>
                </a:solidFill>
                <a:latin typeface="+mn-lt"/>
                <a:ea typeface="Calibri" panose="020F0502020204030204" pitchFamily="34" charset="0"/>
                <a:cs typeface="Calibri" panose="020F0502020204030204" pitchFamily="34" charset="0"/>
              </a:rPr>
              <a:t> </a:t>
            </a:r>
            <a:endParaRPr lang="en-US" b="1" dirty="0">
              <a:latin typeface="+mn-lt"/>
              <a:ea typeface="Calibri" panose="020F0502020204030204" pitchFamily="34" charset="0"/>
              <a:cs typeface="Calibri" panose="020F0502020204030204" pitchFamily="34" charset="0"/>
            </a:endParaRPr>
          </a:p>
        </p:txBody>
      </p:sp>
      <p:sp>
        <p:nvSpPr>
          <p:cNvPr id="24" name="TextBox 23">
            <a:extLst>
              <a:ext uri="{FF2B5EF4-FFF2-40B4-BE49-F238E27FC236}">
                <a16:creationId xmlns:a16="http://schemas.microsoft.com/office/drawing/2014/main" id="{A4F1FC91-F756-4F7F-934C-E3E5EBF99D41}"/>
              </a:ext>
            </a:extLst>
          </p:cNvPr>
          <p:cNvSpPr txBox="1"/>
          <p:nvPr/>
        </p:nvSpPr>
        <p:spPr>
          <a:xfrm>
            <a:off x="4895898" y="3023929"/>
            <a:ext cx="1809701" cy="253916"/>
          </a:xfrm>
          <a:prstGeom prst="rect">
            <a:avLst/>
          </a:prstGeom>
          <a:noFill/>
        </p:spPr>
        <p:txBody>
          <a:bodyPr wrap="square" rtlCol="0">
            <a:spAutoFit/>
          </a:bodyPr>
          <a:lstStyle/>
          <a:p>
            <a:r>
              <a:rPr lang="en-US" sz="1050" b="1" dirty="0">
                <a:solidFill>
                  <a:schemeClr val="tx1"/>
                </a:solidFill>
                <a:latin typeface="+mn-lt"/>
                <a:ea typeface="Calibri" panose="020F0502020204030204" pitchFamily="34" charset="0"/>
                <a:cs typeface="Calibri" panose="020F0502020204030204" pitchFamily="34" charset="0"/>
              </a:rPr>
              <a:t>Japan </a:t>
            </a:r>
            <a:r>
              <a:rPr lang="en-US" sz="1050" b="1" dirty="0">
                <a:latin typeface="+mn-lt"/>
              </a:rPr>
              <a:t>(unchanged in Jan-26)</a:t>
            </a:r>
            <a:endParaRPr lang="en-US" sz="1050" b="1" dirty="0">
              <a:latin typeface="+mn-lt"/>
              <a:ea typeface="Calibri" panose="020F0502020204030204" pitchFamily="34" charset="0"/>
              <a:cs typeface="Calibri" panose="020F0502020204030204" pitchFamily="34" charset="0"/>
            </a:endParaRPr>
          </a:p>
        </p:txBody>
      </p:sp>
      <p:grpSp>
        <p:nvGrpSpPr>
          <p:cNvPr id="2" name="Google Shape;262;p6">
            <a:extLst>
              <a:ext uri="{FF2B5EF4-FFF2-40B4-BE49-F238E27FC236}">
                <a16:creationId xmlns:a16="http://schemas.microsoft.com/office/drawing/2014/main" id="{84EC2844-0F37-7D8C-89AA-4015986AE2E2}"/>
              </a:ext>
            </a:extLst>
          </p:cNvPr>
          <p:cNvGrpSpPr/>
          <p:nvPr/>
        </p:nvGrpSpPr>
        <p:grpSpPr>
          <a:xfrm>
            <a:off x="-25" y="4872600"/>
            <a:ext cx="9144000" cy="270900"/>
            <a:chOff x="-25" y="4872600"/>
            <a:chExt cx="9144000" cy="270900"/>
          </a:xfrm>
        </p:grpSpPr>
        <p:sp>
          <p:nvSpPr>
            <p:cNvPr id="4" name="Google Shape;263;p6">
              <a:extLst>
                <a:ext uri="{FF2B5EF4-FFF2-40B4-BE49-F238E27FC236}">
                  <a16:creationId xmlns:a16="http://schemas.microsoft.com/office/drawing/2014/main" id="{79B18A34-0322-021C-DF50-69759AE4F979}"/>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4B6D5EAE-B649-4BF7-19B6-1D59DB00B322}"/>
                </a:ext>
              </a:extLst>
            </p:cNvPr>
            <p:cNvGrpSpPr/>
            <p:nvPr/>
          </p:nvGrpSpPr>
          <p:grpSpPr>
            <a:xfrm>
              <a:off x="3101100" y="4872600"/>
              <a:ext cx="2941800" cy="270900"/>
              <a:chOff x="3084200" y="4934525"/>
              <a:chExt cx="2941800" cy="270900"/>
            </a:xfrm>
          </p:grpSpPr>
          <p:sp>
            <p:nvSpPr>
              <p:cNvPr id="7" name="Google Shape;265;p6">
                <a:extLst>
                  <a:ext uri="{FF2B5EF4-FFF2-40B4-BE49-F238E27FC236}">
                    <a16:creationId xmlns:a16="http://schemas.microsoft.com/office/drawing/2014/main" id="{C8BF563F-2F6F-9B3D-E7FB-8E713B51921A}"/>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9" name="Google Shape;266;p6">
                <a:extLst>
                  <a:ext uri="{FF2B5EF4-FFF2-40B4-BE49-F238E27FC236}">
                    <a16:creationId xmlns:a16="http://schemas.microsoft.com/office/drawing/2014/main" id="{37A98A3C-8824-FE6A-F0BD-9ADC73A61633}"/>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1" name="Picture 10">
            <a:extLst>
              <a:ext uri="{FF2B5EF4-FFF2-40B4-BE49-F238E27FC236}">
                <a16:creationId xmlns:a16="http://schemas.microsoft.com/office/drawing/2014/main" id="{D9DB6A53-A0D4-9B80-FEDF-68C44646BB2A}"/>
              </a:ext>
            </a:extLst>
          </p:cNvPr>
          <p:cNvPicPr>
            <a:picLocks noChangeAspect="1"/>
          </p:cNvPicPr>
          <p:nvPr/>
        </p:nvPicPr>
        <p:blipFill>
          <a:blip r:embed="rId7"/>
          <a:stretch>
            <a:fillRect/>
          </a:stretch>
        </p:blipFill>
        <p:spPr>
          <a:xfrm>
            <a:off x="7819053" y="116485"/>
            <a:ext cx="1190504" cy="566010"/>
          </a:xfrm>
          <a:prstGeom prst="rect">
            <a:avLst/>
          </a:prstGeom>
        </p:spPr>
      </p:pic>
    </p:spTree>
    <p:extLst>
      <p:ext uri="{BB962C8B-B14F-4D97-AF65-F5344CB8AC3E}">
        <p14:creationId xmlns:p14="http://schemas.microsoft.com/office/powerpoint/2010/main" val="2702957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pic>
        <p:nvPicPr>
          <p:cNvPr id="22" name="Picture 21">
            <a:extLst>
              <a:ext uri="{FF2B5EF4-FFF2-40B4-BE49-F238E27FC236}">
                <a16:creationId xmlns:a16="http://schemas.microsoft.com/office/drawing/2014/main" id="{6263ACCB-4162-1868-436D-B767B553C689}"/>
              </a:ext>
            </a:extLst>
          </p:cNvPr>
          <p:cNvPicPr>
            <a:picLocks noChangeAspect="1"/>
          </p:cNvPicPr>
          <p:nvPr/>
        </p:nvPicPr>
        <p:blipFill>
          <a:blip r:embed="rId3"/>
          <a:stretch>
            <a:fillRect/>
          </a:stretch>
        </p:blipFill>
        <p:spPr>
          <a:xfrm>
            <a:off x="4997106" y="3056942"/>
            <a:ext cx="3529581" cy="1554480"/>
          </a:xfrm>
          <a:prstGeom prst="rect">
            <a:avLst/>
          </a:prstGeom>
          <a:ln>
            <a:solidFill>
              <a:schemeClr val="tx1"/>
            </a:solidFill>
          </a:ln>
        </p:spPr>
      </p:pic>
      <p:pic>
        <p:nvPicPr>
          <p:cNvPr id="18" name="Picture 17">
            <a:extLst>
              <a:ext uri="{FF2B5EF4-FFF2-40B4-BE49-F238E27FC236}">
                <a16:creationId xmlns:a16="http://schemas.microsoft.com/office/drawing/2014/main" id="{6022DCAF-686F-0344-8DC5-2BD6056F1DA0}"/>
              </a:ext>
            </a:extLst>
          </p:cNvPr>
          <p:cNvPicPr>
            <a:picLocks noChangeAspect="1"/>
          </p:cNvPicPr>
          <p:nvPr/>
        </p:nvPicPr>
        <p:blipFill>
          <a:blip r:embed="rId4"/>
          <a:stretch>
            <a:fillRect/>
          </a:stretch>
        </p:blipFill>
        <p:spPr>
          <a:xfrm>
            <a:off x="824927" y="3037787"/>
            <a:ext cx="3502151" cy="1554480"/>
          </a:xfrm>
          <a:prstGeom prst="rect">
            <a:avLst/>
          </a:prstGeom>
          <a:ln>
            <a:solidFill>
              <a:schemeClr val="tx1"/>
            </a:solidFill>
          </a:ln>
        </p:spPr>
      </p:pic>
      <p:pic>
        <p:nvPicPr>
          <p:cNvPr id="14" name="Picture 13">
            <a:extLst>
              <a:ext uri="{FF2B5EF4-FFF2-40B4-BE49-F238E27FC236}">
                <a16:creationId xmlns:a16="http://schemas.microsoft.com/office/drawing/2014/main" id="{9162314F-4C53-ABD4-73B4-E4DEE01034BC}"/>
              </a:ext>
            </a:extLst>
          </p:cNvPr>
          <p:cNvPicPr>
            <a:picLocks noChangeAspect="1"/>
          </p:cNvPicPr>
          <p:nvPr/>
        </p:nvPicPr>
        <p:blipFill>
          <a:blip r:embed="rId5"/>
          <a:stretch>
            <a:fillRect/>
          </a:stretch>
        </p:blipFill>
        <p:spPr>
          <a:xfrm>
            <a:off x="5010821" y="1343745"/>
            <a:ext cx="3502151" cy="1401498"/>
          </a:xfrm>
          <a:prstGeom prst="rect">
            <a:avLst/>
          </a:prstGeom>
          <a:ln>
            <a:solidFill>
              <a:schemeClr val="tx1"/>
            </a:solidFill>
          </a:ln>
        </p:spPr>
      </p:pic>
      <p:pic>
        <p:nvPicPr>
          <p:cNvPr id="9" name="Picture 8">
            <a:extLst>
              <a:ext uri="{FF2B5EF4-FFF2-40B4-BE49-F238E27FC236}">
                <a16:creationId xmlns:a16="http://schemas.microsoft.com/office/drawing/2014/main" id="{49736B1D-6B37-49DC-C7AD-BFA54320C0E5}"/>
              </a:ext>
            </a:extLst>
          </p:cNvPr>
          <p:cNvPicPr>
            <a:picLocks noChangeAspect="1"/>
          </p:cNvPicPr>
          <p:nvPr/>
        </p:nvPicPr>
        <p:blipFill>
          <a:blip r:embed="rId6"/>
          <a:stretch>
            <a:fillRect/>
          </a:stretch>
        </p:blipFill>
        <p:spPr>
          <a:xfrm>
            <a:off x="824928" y="1344828"/>
            <a:ext cx="3502151" cy="1450936"/>
          </a:xfrm>
          <a:prstGeom prst="rect">
            <a:avLst/>
          </a:prstGeom>
          <a:ln>
            <a:solidFill>
              <a:schemeClr val="tx1"/>
            </a:solidFill>
          </a:ln>
        </p:spPr>
      </p:pic>
      <p:sp>
        <p:nvSpPr>
          <p:cNvPr id="301" name="Google Shape;301;p7"/>
          <p:cNvSpPr txBox="1">
            <a:spLocks noGrp="1"/>
          </p:cNvSpPr>
          <p:nvPr>
            <p:ph type="title"/>
          </p:nvPr>
        </p:nvSpPr>
        <p:spPr>
          <a:xfrm>
            <a:off x="719999" y="445025"/>
            <a:ext cx="5485819" cy="521208"/>
          </a:xfrm>
          <a:prstGeom prst="rect">
            <a:avLst/>
          </a:prstGeom>
          <a:solidFill>
            <a:srgbClr val="FECA08"/>
          </a:solidFill>
          <a:ln>
            <a:noFill/>
          </a:ln>
        </p:spPr>
        <p:txBody>
          <a:bodyPr spcFirstLastPara="1" wrap="square" lIns="91425" tIns="91425" rIns="91425" bIns="91425" anchor="ctr" anchorCtr="0">
            <a:noAutofit/>
          </a:bodyPr>
          <a:lstStyle/>
          <a:p>
            <a:pPr lvl="0"/>
            <a:r>
              <a:rPr lang="en-US" sz="2000" dirty="0">
                <a:latin typeface="+mn-lt"/>
              </a:rPr>
              <a:t>Global inflation trends remain mixed</a:t>
            </a:r>
            <a:endParaRPr sz="2000" dirty="0">
              <a:latin typeface="+mn-lt"/>
              <a:ea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18830DCD-9317-4CE2-A2C6-E836372D021F}"/>
              </a:ext>
            </a:extLst>
          </p:cNvPr>
          <p:cNvSpPr txBox="1"/>
          <p:nvPr/>
        </p:nvSpPr>
        <p:spPr>
          <a:xfrm>
            <a:off x="7832913" y="4673356"/>
            <a:ext cx="1636945" cy="215444"/>
          </a:xfrm>
          <a:prstGeom prst="rect">
            <a:avLst/>
          </a:prstGeom>
          <a:noFill/>
        </p:spPr>
        <p:txBody>
          <a:bodyPr wrap="square" rtlCol="0">
            <a:spAutoFit/>
          </a:bodyPr>
          <a:lstStyle/>
          <a:p>
            <a:r>
              <a:rPr lang="en-IN" sz="800" dirty="0">
                <a:latin typeface="Calibri" panose="020F0502020204030204" pitchFamily="34" charset="0"/>
                <a:ea typeface="Calibri" panose="020F0502020204030204" pitchFamily="34" charset="0"/>
                <a:cs typeface="Calibri" panose="020F0502020204030204" pitchFamily="34" charset="0"/>
              </a:rPr>
              <a:t>Source: Trading Economics</a:t>
            </a:r>
          </a:p>
        </p:txBody>
      </p:sp>
      <p:sp>
        <p:nvSpPr>
          <p:cNvPr id="4" name="TextBox 3">
            <a:extLst>
              <a:ext uri="{FF2B5EF4-FFF2-40B4-BE49-F238E27FC236}">
                <a16:creationId xmlns:a16="http://schemas.microsoft.com/office/drawing/2014/main" id="{89FBA75C-BF13-40EC-B7E1-FA0CF9447EE5}"/>
              </a:ext>
            </a:extLst>
          </p:cNvPr>
          <p:cNvSpPr txBox="1"/>
          <p:nvPr/>
        </p:nvSpPr>
        <p:spPr>
          <a:xfrm>
            <a:off x="842041" y="1329056"/>
            <a:ext cx="3485039" cy="261610"/>
          </a:xfrm>
          <a:prstGeom prst="rect">
            <a:avLst/>
          </a:prstGeom>
          <a:noFill/>
        </p:spPr>
        <p:txBody>
          <a:bodyPr wrap="square" rtlCol="0">
            <a:spAutoFit/>
          </a:bodyPr>
          <a:lstStyle/>
          <a:p>
            <a:r>
              <a:rPr lang="en-US" sz="1100" b="1" dirty="0">
                <a:latin typeface="+mn-lt"/>
                <a:ea typeface="Calibri" panose="020F0502020204030204" pitchFamily="34" charset="0"/>
                <a:cs typeface="Calibri" panose="020F0502020204030204" pitchFamily="34" charset="0"/>
              </a:rPr>
              <a:t>U.S</a:t>
            </a:r>
            <a:endParaRPr lang="en-US" sz="1100" b="1" dirty="0">
              <a:highlight>
                <a:srgbClr val="FFFF00"/>
              </a:highlight>
              <a:latin typeface="+mn-lt"/>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56909A2A-6FD0-4387-8BD8-CD503DD7CCA3}"/>
              </a:ext>
            </a:extLst>
          </p:cNvPr>
          <p:cNvSpPr txBox="1"/>
          <p:nvPr/>
        </p:nvSpPr>
        <p:spPr>
          <a:xfrm>
            <a:off x="4997106" y="1338249"/>
            <a:ext cx="2729065" cy="261610"/>
          </a:xfrm>
          <a:prstGeom prst="rect">
            <a:avLst/>
          </a:prstGeom>
          <a:noFill/>
        </p:spPr>
        <p:txBody>
          <a:bodyPr wrap="square" rtlCol="0">
            <a:spAutoFit/>
          </a:bodyPr>
          <a:lstStyle/>
          <a:p>
            <a:r>
              <a:rPr lang="en-IN" sz="1100" b="1" dirty="0">
                <a:latin typeface="+mn-lt"/>
                <a:ea typeface="Calibri" panose="020F0502020204030204" pitchFamily="34" charset="0"/>
                <a:cs typeface="Calibri" panose="020F0502020204030204" pitchFamily="34" charset="0"/>
              </a:rPr>
              <a:t>UK</a:t>
            </a:r>
            <a:endParaRPr lang="en-US" sz="1100" b="1" dirty="0">
              <a:highlight>
                <a:srgbClr val="FFFF00"/>
              </a:highlight>
              <a:latin typeface="+mn-lt"/>
              <a:ea typeface="Calibri" panose="020F0502020204030204" pitchFamily="34" charset="0"/>
              <a:cs typeface="Calibri" panose="020F0502020204030204" pitchFamily="34" charset="0"/>
            </a:endParaRPr>
          </a:p>
        </p:txBody>
      </p:sp>
      <p:sp>
        <p:nvSpPr>
          <p:cNvPr id="24" name="TextBox 23">
            <a:extLst>
              <a:ext uri="{FF2B5EF4-FFF2-40B4-BE49-F238E27FC236}">
                <a16:creationId xmlns:a16="http://schemas.microsoft.com/office/drawing/2014/main" id="{3950C81C-B04F-4C7E-B9D8-D5A51C4974A4}"/>
              </a:ext>
            </a:extLst>
          </p:cNvPr>
          <p:cNvSpPr txBox="1"/>
          <p:nvPr/>
        </p:nvSpPr>
        <p:spPr>
          <a:xfrm>
            <a:off x="5010822" y="3012620"/>
            <a:ext cx="3689693" cy="261610"/>
          </a:xfrm>
          <a:prstGeom prst="rect">
            <a:avLst/>
          </a:prstGeom>
          <a:noFill/>
        </p:spPr>
        <p:txBody>
          <a:bodyPr wrap="square" rtlCol="0">
            <a:spAutoFit/>
          </a:bodyPr>
          <a:lstStyle/>
          <a:p>
            <a:r>
              <a:rPr lang="en-IN" sz="1100" b="1" dirty="0">
                <a:latin typeface="+mn-lt"/>
                <a:ea typeface="Calibri" panose="020F0502020204030204" pitchFamily="34" charset="0"/>
                <a:cs typeface="Calibri" panose="020F0502020204030204" pitchFamily="34" charset="0"/>
              </a:rPr>
              <a:t>Japan</a:t>
            </a:r>
            <a:endParaRPr lang="en-IN" sz="1100" b="1" dirty="0">
              <a:highlight>
                <a:srgbClr val="FFFF00"/>
              </a:highlight>
              <a:latin typeface="+mn-lt"/>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D8CA2C49-8B6F-4E9E-8529-72FD22D79849}"/>
              </a:ext>
            </a:extLst>
          </p:cNvPr>
          <p:cNvSpPr txBox="1"/>
          <p:nvPr/>
        </p:nvSpPr>
        <p:spPr>
          <a:xfrm>
            <a:off x="824927" y="3084144"/>
            <a:ext cx="2041073" cy="261610"/>
          </a:xfrm>
          <a:prstGeom prst="rect">
            <a:avLst/>
          </a:prstGeom>
          <a:noFill/>
        </p:spPr>
        <p:txBody>
          <a:bodyPr wrap="square" rtlCol="0">
            <a:spAutoFit/>
          </a:bodyPr>
          <a:lstStyle/>
          <a:p>
            <a:r>
              <a:rPr lang="en-US" sz="1100" b="1" dirty="0">
                <a:latin typeface="+mn-lt"/>
                <a:ea typeface="Calibri" panose="020F0502020204030204" pitchFamily="34" charset="0"/>
                <a:cs typeface="Calibri" panose="020F0502020204030204" pitchFamily="34" charset="0"/>
              </a:rPr>
              <a:t>EU</a:t>
            </a:r>
            <a:r>
              <a:rPr lang="en-US" sz="1050" b="1" dirty="0">
                <a:latin typeface="+mn-lt"/>
                <a:ea typeface="Calibri" panose="020F0502020204030204" pitchFamily="34" charset="0"/>
                <a:cs typeface="Calibri" panose="020F0502020204030204" pitchFamily="34" charset="0"/>
              </a:rPr>
              <a:t> </a:t>
            </a:r>
          </a:p>
        </p:txBody>
      </p:sp>
      <p:grpSp>
        <p:nvGrpSpPr>
          <p:cNvPr id="2" name="Google Shape;262;p6">
            <a:extLst>
              <a:ext uri="{FF2B5EF4-FFF2-40B4-BE49-F238E27FC236}">
                <a16:creationId xmlns:a16="http://schemas.microsoft.com/office/drawing/2014/main" id="{40328464-C498-3EBB-5B1D-26DA36302E44}"/>
              </a:ext>
            </a:extLst>
          </p:cNvPr>
          <p:cNvGrpSpPr/>
          <p:nvPr/>
        </p:nvGrpSpPr>
        <p:grpSpPr>
          <a:xfrm>
            <a:off x="-25" y="4872600"/>
            <a:ext cx="9144000" cy="270900"/>
            <a:chOff x="-25" y="4872600"/>
            <a:chExt cx="9144000" cy="270900"/>
          </a:xfrm>
        </p:grpSpPr>
        <p:sp>
          <p:nvSpPr>
            <p:cNvPr id="5" name="Google Shape;263;p6">
              <a:extLst>
                <a:ext uri="{FF2B5EF4-FFF2-40B4-BE49-F238E27FC236}">
                  <a16:creationId xmlns:a16="http://schemas.microsoft.com/office/drawing/2014/main" id="{9731E2BA-1669-E3B5-2103-62D0437FC91A}"/>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6" name="Google Shape;264;p6">
              <a:extLst>
                <a:ext uri="{FF2B5EF4-FFF2-40B4-BE49-F238E27FC236}">
                  <a16:creationId xmlns:a16="http://schemas.microsoft.com/office/drawing/2014/main" id="{DACF81EC-7B0E-D866-2B5A-CE191D68F47D}"/>
                </a:ext>
              </a:extLst>
            </p:cNvPr>
            <p:cNvGrpSpPr/>
            <p:nvPr/>
          </p:nvGrpSpPr>
          <p:grpSpPr>
            <a:xfrm>
              <a:off x="3101100" y="4872600"/>
              <a:ext cx="2941800" cy="270900"/>
              <a:chOff x="3084200" y="4934525"/>
              <a:chExt cx="2941800" cy="270900"/>
            </a:xfrm>
          </p:grpSpPr>
          <p:sp>
            <p:nvSpPr>
              <p:cNvPr id="8" name="Google Shape;265;p6">
                <a:extLst>
                  <a:ext uri="{FF2B5EF4-FFF2-40B4-BE49-F238E27FC236}">
                    <a16:creationId xmlns:a16="http://schemas.microsoft.com/office/drawing/2014/main" id="{3B156E6A-6CB6-50AA-4578-BE4F14B05E60}"/>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11" name="Google Shape;266;p6">
                <a:extLst>
                  <a:ext uri="{FF2B5EF4-FFF2-40B4-BE49-F238E27FC236}">
                    <a16:creationId xmlns:a16="http://schemas.microsoft.com/office/drawing/2014/main" id="{56069E84-E520-6658-804F-1FA8FE913008}"/>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12" name="Picture 11">
            <a:extLst>
              <a:ext uri="{FF2B5EF4-FFF2-40B4-BE49-F238E27FC236}">
                <a16:creationId xmlns:a16="http://schemas.microsoft.com/office/drawing/2014/main" id="{E10EC708-19ED-8911-B1C7-4E616379CF20}"/>
              </a:ext>
            </a:extLst>
          </p:cNvPr>
          <p:cNvPicPr>
            <a:picLocks noChangeAspect="1"/>
          </p:cNvPicPr>
          <p:nvPr/>
        </p:nvPicPr>
        <p:blipFill>
          <a:blip r:embed="rId7"/>
          <a:stretch>
            <a:fillRect/>
          </a:stretch>
        </p:blipFill>
        <p:spPr>
          <a:xfrm>
            <a:off x="7819053" y="116485"/>
            <a:ext cx="1190504" cy="566010"/>
          </a:xfrm>
          <a:prstGeom prst="rect">
            <a:avLst/>
          </a:prstGeom>
        </p:spPr>
      </p:pic>
    </p:spTree>
    <p:extLst>
      <p:ext uri="{BB962C8B-B14F-4D97-AF65-F5344CB8AC3E}">
        <p14:creationId xmlns:p14="http://schemas.microsoft.com/office/powerpoint/2010/main" val="33689415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grpSp>
        <p:nvGrpSpPr>
          <p:cNvPr id="286" name="Google Shape;286;p5"/>
          <p:cNvGrpSpPr/>
          <p:nvPr/>
        </p:nvGrpSpPr>
        <p:grpSpPr>
          <a:xfrm>
            <a:off x="550455" y="175900"/>
            <a:ext cx="1955750" cy="4609200"/>
            <a:chOff x="463525" y="540450"/>
            <a:chExt cx="1697700" cy="4609200"/>
          </a:xfrm>
        </p:grpSpPr>
        <p:cxnSp>
          <p:nvCxnSpPr>
            <p:cNvPr id="287" name="Google Shape;287;p5"/>
            <p:cNvCxnSpPr/>
            <p:nvPr/>
          </p:nvCxnSpPr>
          <p:spPr>
            <a:xfrm>
              <a:off x="463525" y="542075"/>
              <a:ext cx="1697700" cy="0"/>
            </a:xfrm>
            <a:prstGeom prst="straightConnector1">
              <a:avLst/>
            </a:prstGeom>
            <a:noFill/>
            <a:ln w="9525" cap="flat" cmpd="sng">
              <a:solidFill>
                <a:schemeClr val="dk1"/>
              </a:solidFill>
              <a:prstDash val="solid"/>
              <a:round/>
              <a:headEnd type="none" w="sm" len="sm"/>
              <a:tailEnd type="none" w="sm" len="sm"/>
            </a:ln>
          </p:spPr>
        </p:cxnSp>
        <p:cxnSp>
          <p:nvCxnSpPr>
            <p:cNvPr id="288" name="Google Shape;288;p5"/>
            <p:cNvCxnSpPr/>
            <p:nvPr/>
          </p:nvCxnSpPr>
          <p:spPr>
            <a:xfrm>
              <a:off x="465800" y="540450"/>
              <a:ext cx="0" cy="4609200"/>
            </a:xfrm>
            <a:prstGeom prst="straightConnector1">
              <a:avLst/>
            </a:prstGeom>
            <a:noFill/>
            <a:ln w="9525" cap="flat" cmpd="sng">
              <a:solidFill>
                <a:schemeClr val="dk1"/>
              </a:solidFill>
              <a:prstDash val="solid"/>
              <a:round/>
              <a:headEnd type="none" w="sm" len="sm"/>
              <a:tailEnd type="none" w="sm" len="sm"/>
            </a:ln>
          </p:spPr>
        </p:cxnSp>
      </p:grpSp>
      <p:sp>
        <p:nvSpPr>
          <p:cNvPr id="289" name="Google Shape;289;p5"/>
          <p:cNvSpPr txBox="1">
            <a:spLocks noGrp="1"/>
          </p:cNvSpPr>
          <p:nvPr>
            <p:ph type="title"/>
          </p:nvPr>
        </p:nvSpPr>
        <p:spPr>
          <a:xfrm>
            <a:off x="2119775" y="1628170"/>
            <a:ext cx="4904400" cy="1600200"/>
          </a:xfrm>
          <a:prstGeom prst="rect">
            <a:avLst/>
          </a:prstGeom>
          <a:solidFill>
            <a:srgbClr val="FECA08"/>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600"/>
              <a:buNone/>
            </a:pPr>
            <a:r>
              <a:rPr lang="en" sz="4000" dirty="0">
                <a:latin typeface="Calibri" panose="020F0502020204030204" pitchFamily="34" charset="0"/>
                <a:ea typeface="Calibri" panose="020F0502020204030204" pitchFamily="34" charset="0"/>
                <a:cs typeface="Calibri" panose="020F0502020204030204" pitchFamily="34" charset="0"/>
              </a:rPr>
              <a:t>Domestic Update</a:t>
            </a:r>
            <a:endParaRPr sz="4000" dirty="0">
              <a:latin typeface="Calibri" panose="020F0502020204030204" pitchFamily="34" charset="0"/>
              <a:ea typeface="Calibri" panose="020F0502020204030204" pitchFamily="34" charset="0"/>
              <a:cs typeface="Calibri" panose="020F0502020204030204" pitchFamily="34" charset="0"/>
            </a:endParaRPr>
          </a:p>
        </p:txBody>
      </p:sp>
      <p:pic>
        <p:nvPicPr>
          <p:cNvPr id="7" name="Graphic 6" descr="Coins">
            <a:extLst>
              <a:ext uri="{FF2B5EF4-FFF2-40B4-BE49-F238E27FC236}">
                <a16:creationId xmlns:a16="http://schemas.microsoft.com/office/drawing/2014/main" id="{FC37BCE7-93FA-459E-85E2-D8E04FAA5AD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44694" y="1969281"/>
            <a:ext cx="996696" cy="996696"/>
          </a:xfrm>
          <a:prstGeom prst="rect">
            <a:avLst/>
          </a:prstGeom>
        </p:spPr>
      </p:pic>
      <p:grpSp>
        <p:nvGrpSpPr>
          <p:cNvPr id="2" name="Google Shape;262;p6">
            <a:extLst>
              <a:ext uri="{FF2B5EF4-FFF2-40B4-BE49-F238E27FC236}">
                <a16:creationId xmlns:a16="http://schemas.microsoft.com/office/drawing/2014/main" id="{924C2B21-4177-C5DD-7E82-6EA9E22FBB2D}"/>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015803C1-9F32-1F4F-49DA-95443E50A68E}"/>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4" name="Google Shape;264;p6">
              <a:extLst>
                <a:ext uri="{FF2B5EF4-FFF2-40B4-BE49-F238E27FC236}">
                  <a16:creationId xmlns:a16="http://schemas.microsoft.com/office/drawing/2014/main" id="{23D2C27F-79C1-5ADF-70AE-AB09448D2C7B}"/>
                </a:ext>
              </a:extLst>
            </p:cNvPr>
            <p:cNvGrpSpPr/>
            <p:nvPr/>
          </p:nvGrpSpPr>
          <p:grpSpPr>
            <a:xfrm>
              <a:off x="3101100" y="4872600"/>
              <a:ext cx="2941800" cy="270900"/>
              <a:chOff x="3084200" y="4934525"/>
              <a:chExt cx="2941800" cy="270900"/>
            </a:xfrm>
          </p:grpSpPr>
          <p:sp>
            <p:nvSpPr>
              <p:cNvPr id="5" name="Google Shape;265;p6">
                <a:extLst>
                  <a:ext uri="{FF2B5EF4-FFF2-40B4-BE49-F238E27FC236}">
                    <a16:creationId xmlns:a16="http://schemas.microsoft.com/office/drawing/2014/main" id="{2DDCD6FB-89DB-1E10-4678-5DE14E8FA489}"/>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6" name="Google Shape;266;p6">
                <a:extLst>
                  <a:ext uri="{FF2B5EF4-FFF2-40B4-BE49-F238E27FC236}">
                    <a16:creationId xmlns:a16="http://schemas.microsoft.com/office/drawing/2014/main" id="{02A24646-9187-1F55-7AE5-1A7854983FD0}"/>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8" name="Picture 7">
            <a:extLst>
              <a:ext uri="{FF2B5EF4-FFF2-40B4-BE49-F238E27FC236}">
                <a16:creationId xmlns:a16="http://schemas.microsoft.com/office/drawing/2014/main" id="{90C867DA-0387-C2AD-2623-59C70DB88C92}"/>
              </a:ext>
            </a:extLst>
          </p:cNvPr>
          <p:cNvPicPr>
            <a:picLocks noChangeAspect="1"/>
          </p:cNvPicPr>
          <p:nvPr/>
        </p:nvPicPr>
        <p:blipFill>
          <a:blip r:embed="rId5"/>
          <a:stretch>
            <a:fillRect/>
          </a:stretch>
        </p:blipFill>
        <p:spPr>
          <a:xfrm>
            <a:off x="7819053" y="116485"/>
            <a:ext cx="1190504" cy="566010"/>
          </a:xfrm>
          <a:prstGeom prst="rect">
            <a:avLst/>
          </a:prstGeom>
        </p:spPr>
      </p:pic>
    </p:spTree>
    <p:extLst>
      <p:ext uri="{BB962C8B-B14F-4D97-AF65-F5344CB8AC3E}">
        <p14:creationId xmlns:p14="http://schemas.microsoft.com/office/powerpoint/2010/main" val="31893279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98D87D47-EBE0-E070-414D-6EB4151AAE87}"/>
            </a:ext>
          </a:extLst>
        </p:cNvPr>
        <p:cNvGrpSpPr/>
        <p:nvPr/>
      </p:nvGrpSpPr>
      <p:grpSpPr>
        <a:xfrm>
          <a:off x="0" y="0"/>
          <a:ext cx="0" cy="0"/>
          <a:chOff x="0" y="0"/>
          <a:chExt cx="0" cy="0"/>
        </a:xfrm>
      </p:grpSpPr>
      <p:sp>
        <p:nvSpPr>
          <p:cNvPr id="301" name="Google Shape;301;p7">
            <a:extLst>
              <a:ext uri="{FF2B5EF4-FFF2-40B4-BE49-F238E27FC236}">
                <a16:creationId xmlns:a16="http://schemas.microsoft.com/office/drawing/2014/main" id="{A1FB2D1E-DB6E-6334-B1DA-CD4214088BD7}"/>
              </a:ext>
            </a:extLst>
          </p:cNvPr>
          <p:cNvSpPr txBox="1">
            <a:spLocks noGrp="1"/>
          </p:cNvSpPr>
          <p:nvPr>
            <p:ph type="title"/>
          </p:nvPr>
        </p:nvSpPr>
        <p:spPr>
          <a:xfrm>
            <a:off x="719999" y="445025"/>
            <a:ext cx="6299366" cy="521208"/>
          </a:xfrm>
          <a:prstGeom prst="rect">
            <a:avLst/>
          </a:prstGeom>
          <a:solidFill>
            <a:srgbClr val="FECA08"/>
          </a:solidFill>
          <a:ln>
            <a:noFill/>
          </a:ln>
        </p:spPr>
        <p:txBody>
          <a:bodyPr spcFirstLastPara="1" wrap="square" lIns="91425" tIns="91425" rIns="91425" bIns="91425" anchor="ctr" anchorCtr="0">
            <a:noAutofit/>
          </a:bodyPr>
          <a:lstStyle/>
          <a:p>
            <a:r>
              <a:rPr lang="en-US" sz="2000" dirty="0">
                <a:latin typeface="+mn-lt"/>
              </a:rPr>
              <a:t>GST collections stay firm</a:t>
            </a:r>
            <a:endParaRPr sz="2000" dirty="0">
              <a:latin typeface="+mn-lt"/>
              <a:ea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E60D0E5F-3128-B2D0-BDBA-52A569133E3B}"/>
              </a:ext>
            </a:extLst>
          </p:cNvPr>
          <p:cNvSpPr txBox="1"/>
          <p:nvPr/>
        </p:nvSpPr>
        <p:spPr>
          <a:xfrm>
            <a:off x="719999" y="4039971"/>
            <a:ext cx="7939377" cy="276999"/>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US" sz="1200" dirty="0">
                <a:solidFill>
                  <a:schemeClr val="tx1"/>
                </a:solidFill>
              </a:rPr>
              <a:t>              GST collections up 6.2% YoY to ~Rs 1.93L cr in Jan-26, led by consumption and strong import revenues </a:t>
            </a:r>
          </a:p>
        </p:txBody>
      </p:sp>
      <p:sp>
        <p:nvSpPr>
          <p:cNvPr id="29" name="TextBox 28">
            <a:extLst>
              <a:ext uri="{FF2B5EF4-FFF2-40B4-BE49-F238E27FC236}">
                <a16:creationId xmlns:a16="http://schemas.microsoft.com/office/drawing/2014/main" id="{38136BED-CC8D-84B7-0388-6A8D9BC1E435}"/>
              </a:ext>
            </a:extLst>
          </p:cNvPr>
          <p:cNvSpPr txBox="1"/>
          <p:nvPr/>
        </p:nvSpPr>
        <p:spPr>
          <a:xfrm>
            <a:off x="7795907" y="4585669"/>
            <a:ext cx="2696135" cy="215444"/>
          </a:xfrm>
          <a:prstGeom prst="rect">
            <a:avLst/>
          </a:prstGeom>
          <a:noFill/>
        </p:spPr>
        <p:txBody>
          <a:bodyPr wrap="square" rtlCol="0">
            <a:spAutoFit/>
          </a:bodyPr>
          <a:lstStyle/>
          <a:p>
            <a:r>
              <a:rPr lang="en-US" sz="800" dirty="0">
                <a:latin typeface="Calibri" panose="020F0502020204030204" pitchFamily="34" charset="0"/>
                <a:ea typeface="Calibri" panose="020F0502020204030204" pitchFamily="34" charset="0"/>
                <a:cs typeface="Calibri" panose="020F0502020204030204" pitchFamily="34" charset="0"/>
              </a:rPr>
              <a:t>Source: Gst.gov.in</a:t>
            </a:r>
          </a:p>
        </p:txBody>
      </p:sp>
      <p:grpSp>
        <p:nvGrpSpPr>
          <p:cNvPr id="2" name="Google Shape;262;p6">
            <a:extLst>
              <a:ext uri="{FF2B5EF4-FFF2-40B4-BE49-F238E27FC236}">
                <a16:creationId xmlns:a16="http://schemas.microsoft.com/office/drawing/2014/main" id="{52DF6E1D-CEE3-B858-5493-B7F40343303A}"/>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236AE5A1-A2B3-5736-F447-0547C5C1CC9A}"/>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4" name="Google Shape;264;p6">
              <a:extLst>
                <a:ext uri="{FF2B5EF4-FFF2-40B4-BE49-F238E27FC236}">
                  <a16:creationId xmlns:a16="http://schemas.microsoft.com/office/drawing/2014/main" id="{0F542AE9-1F6B-8373-EA4C-BA5EC1F2CA27}"/>
                </a:ext>
              </a:extLst>
            </p:cNvPr>
            <p:cNvGrpSpPr/>
            <p:nvPr/>
          </p:nvGrpSpPr>
          <p:grpSpPr>
            <a:xfrm>
              <a:off x="3101100" y="4872600"/>
              <a:ext cx="2941800" cy="270900"/>
              <a:chOff x="3084200" y="4934525"/>
              <a:chExt cx="2941800" cy="270900"/>
            </a:xfrm>
          </p:grpSpPr>
          <p:sp>
            <p:nvSpPr>
              <p:cNvPr id="5" name="Google Shape;265;p6">
                <a:extLst>
                  <a:ext uri="{FF2B5EF4-FFF2-40B4-BE49-F238E27FC236}">
                    <a16:creationId xmlns:a16="http://schemas.microsoft.com/office/drawing/2014/main" id="{3CF2D5AD-7ADE-94F6-A51C-E65078587B97}"/>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6" name="Google Shape;266;p6">
                <a:extLst>
                  <a:ext uri="{FF2B5EF4-FFF2-40B4-BE49-F238E27FC236}">
                    <a16:creationId xmlns:a16="http://schemas.microsoft.com/office/drawing/2014/main" id="{50118105-9552-9920-A0EA-17CDBF4894C1}"/>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7" name="Picture 6">
            <a:extLst>
              <a:ext uri="{FF2B5EF4-FFF2-40B4-BE49-F238E27FC236}">
                <a16:creationId xmlns:a16="http://schemas.microsoft.com/office/drawing/2014/main" id="{84405619-4716-C985-F1E2-A1F26EE82B24}"/>
              </a:ext>
            </a:extLst>
          </p:cNvPr>
          <p:cNvPicPr>
            <a:picLocks noChangeAspect="1"/>
          </p:cNvPicPr>
          <p:nvPr/>
        </p:nvPicPr>
        <p:blipFill>
          <a:blip r:embed="rId3"/>
          <a:stretch>
            <a:fillRect/>
          </a:stretch>
        </p:blipFill>
        <p:spPr>
          <a:xfrm>
            <a:off x="7819053" y="116485"/>
            <a:ext cx="1190504" cy="566010"/>
          </a:xfrm>
          <a:prstGeom prst="rect">
            <a:avLst/>
          </a:prstGeom>
        </p:spPr>
      </p:pic>
      <p:graphicFrame>
        <p:nvGraphicFramePr>
          <p:cNvPr id="8" name="Content Placeholder 3">
            <a:extLst>
              <a:ext uri="{FF2B5EF4-FFF2-40B4-BE49-F238E27FC236}">
                <a16:creationId xmlns:a16="http://schemas.microsoft.com/office/drawing/2014/main" id="{1EDC24B9-F2E1-7BB4-80C5-E48AB4896352}"/>
              </a:ext>
            </a:extLst>
          </p:cNvPr>
          <p:cNvGraphicFramePr>
            <a:graphicFrameLocks/>
          </p:cNvGraphicFramePr>
          <p:nvPr>
            <p:extLst>
              <p:ext uri="{D42A27DB-BD31-4B8C-83A1-F6EECF244321}">
                <p14:modId xmlns:p14="http://schemas.microsoft.com/office/powerpoint/2010/main" val="73627760"/>
              </p:ext>
            </p:extLst>
          </p:nvPr>
        </p:nvGraphicFramePr>
        <p:xfrm>
          <a:off x="768698" y="1185245"/>
          <a:ext cx="7890678" cy="262905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6122041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AE8966B4-688B-E075-14A9-497608EDF8F1}"/>
            </a:ext>
          </a:extLst>
        </p:cNvPr>
        <p:cNvGrpSpPr/>
        <p:nvPr/>
      </p:nvGrpSpPr>
      <p:grpSpPr>
        <a:xfrm>
          <a:off x="0" y="0"/>
          <a:ext cx="0" cy="0"/>
          <a:chOff x="0" y="0"/>
          <a:chExt cx="0" cy="0"/>
        </a:xfrm>
      </p:grpSpPr>
      <p:sp>
        <p:nvSpPr>
          <p:cNvPr id="301" name="Google Shape;301;p7">
            <a:extLst>
              <a:ext uri="{FF2B5EF4-FFF2-40B4-BE49-F238E27FC236}">
                <a16:creationId xmlns:a16="http://schemas.microsoft.com/office/drawing/2014/main" id="{1F0664CC-3590-2727-FD58-11427EEBF6C9}"/>
              </a:ext>
            </a:extLst>
          </p:cNvPr>
          <p:cNvSpPr txBox="1">
            <a:spLocks noGrp="1"/>
          </p:cNvSpPr>
          <p:nvPr>
            <p:ph type="title"/>
          </p:nvPr>
        </p:nvSpPr>
        <p:spPr>
          <a:xfrm>
            <a:off x="719999" y="445025"/>
            <a:ext cx="2971055" cy="521208"/>
          </a:xfrm>
          <a:prstGeom prst="rect">
            <a:avLst/>
          </a:prstGeom>
          <a:solidFill>
            <a:srgbClr val="FECA08"/>
          </a:solidFill>
          <a:ln>
            <a:noFill/>
          </a:ln>
        </p:spPr>
        <p:txBody>
          <a:bodyPr spcFirstLastPara="1" wrap="square" lIns="91425" tIns="91425" rIns="91425" bIns="91425" anchor="ctr" anchorCtr="0">
            <a:no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PMI : Service Strengthens </a:t>
            </a:r>
            <a:endParaRPr sz="2000" dirty="0">
              <a:latin typeface="Calibri" panose="020F0502020204030204" pitchFamily="34" charset="0"/>
              <a:ea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ADA92A46-0B9F-78A0-FB8A-EE0E56CC61C4}"/>
              </a:ext>
            </a:extLst>
          </p:cNvPr>
          <p:cNvSpPr txBox="1"/>
          <p:nvPr/>
        </p:nvSpPr>
        <p:spPr>
          <a:xfrm>
            <a:off x="582010" y="4109408"/>
            <a:ext cx="5452889" cy="573940"/>
          </a:xfrm>
          <a:prstGeom prst="rect">
            <a:avLst/>
          </a:prstGeom>
          <a:solidFill>
            <a:schemeClr val="bg1"/>
          </a:solidFill>
          <a:ln>
            <a:solidFill>
              <a:schemeClr val="tx1">
                <a:lumMod val="25000"/>
                <a:lumOff val="75000"/>
              </a:schemeClr>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marL="285744" indent="-285744" defTabSz="1219170">
              <a:lnSpc>
                <a:spcPct val="150000"/>
              </a:lnSpc>
              <a:buFont typeface="Wingdings" panose="05000000000000000000" pitchFamily="2" charset="2"/>
              <a:buChar char="q"/>
            </a:pPr>
            <a:r>
              <a:rPr lang="en-US" sz="1100" dirty="0">
                <a:solidFill>
                  <a:schemeClr val="tx1"/>
                </a:solidFill>
              </a:rPr>
              <a:t>India’s Manufacturing PMI rose to 55.4 in Jan-26, due to rise in manufacturing activity</a:t>
            </a:r>
          </a:p>
          <a:p>
            <a:pPr marL="285744" indent="-285744" defTabSz="1219170">
              <a:lnSpc>
                <a:spcPct val="150000"/>
              </a:lnSpc>
              <a:buFont typeface="Wingdings" panose="05000000000000000000" pitchFamily="2" charset="2"/>
              <a:buChar char="q"/>
            </a:pPr>
            <a:r>
              <a:rPr lang="en-US" sz="1100" dirty="0">
                <a:solidFill>
                  <a:schemeClr val="tx1"/>
                </a:solidFill>
              </a:rPr>
              <a:t>India’s Services PMI grew to 58.5 in Jan-26, on back of new orders </a:t>
            </a:r>
            <a:endParaRPr lang="en-US" sz="1100" dirty="0">
              <a:solidFill>
                <a:schemeClr val="tx1"/>
              </a:solidFill>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EC433CDF-44CD-0BCF-82F8-6C981688DB00}"/>
              </a:ext>
            </a:extLst>
          </p:cNvPr>
          <p:cNvSpPr txBox="1"/>
          <p:nvPr/>
        </p:nvSpPr>
        <p:spPr>
          <a:xfrm>
            <a:off x="6640874" y="4227101"/>
            <a:ext cx="2242943" cy="338554"/>
          </a:xfrm>
          <a:prstGeom prst="rect">
            <a:avLst/>
          </a:prstGeom>
          <a:noFill/>
        </p:spPr>
        <p:txBody>
          <a:bodyPr wrap="square" rtlCol="0">
            <a:spAutoFit/>
          </a:bodyPr>
          <a:lstStyle/>
          <a:p>
            <a:r>
              <a:rPr lang="en-US" sz="800" dirty="0">
                <a:solidFill>
                  <a:schemeClr val="tx1"/>
                </a:solidFill>
                <a:latin typeface="Calibri" panose="020F0502020204030204" pitchFamily="34" charset="0"/>
                <a:ea typeface="Calibri" panose="020F0502020204030204" pitchFamily="34" charset="0"/>
                <a:cs typeface="Calibri" panose="020F0502020204030204" pitchFamily="34" charset="0"/>
              </a:rPr>
              <a:t>Source: Trading Economics</a:t>
            </a:r>
          </a:p>
          <a:p>
            <a:r>
              <a:rPr lang="en-US" sz="800" dirty="0">
                <a:solidFill>
                  <a:schemeClr val="tx1"/>
                </a:solidFill>
                <a:latin typeface="Calibri" panose="020F0502020204030204" pitchFamily="34" charset="0"/>
                <a:ea typeface="Calibri" panose="020F0502020204030204" pitchFamily="34" charset="0"/>
                <a:cs typeface="Calibri" panose="020F0502020204030204" pitchFamily="34" charset="0"/>
              </a:rPr>
              <a:t>Data as on </a:t>
            </a:r>
            <a:r>
              <a:rPr lang="en-IN" sz="800" dirty="0">
                <a:solidFill>
                  <a:schemeClr val="tx1"/>
                </a:solidFill>
                <a:latin typeface="Calibri" panose="020F0502020204030204" pitchFamily="34" charset="0"/>
                <a:ea typeface="Calibri" panose="020F0502020204030204" pitchFamily="34" charset="0"/>
                <a:cs typeface="Calibri" panose="020F0502020204030204" pitchFamily="34" charset="0"/>
              </a:rPr>
              <a:t>Jan-26</a:t>
            </a:r>
            <a:r>
              <a:rPr lang="en-US" sz="800" dirty="0">
                <a:solidFill>
                  <a:schemeClr val="tx1"/>
                </a:solidFill>
                <a:latin typeface="Calibri" panose="020F0502020204030204" pitchFamily="34" charset="0"/>
                <a:ea typeface="Calibri" panose="020F0502020204030204" pitchFamily="34" charset="0"/>
                <a:cs typeface="Calibri" panose="020F0502020204030204" pitchFamily="34" charset="0"/>
              </a:rPr>
              <a:t> </a:t>
            </a:r>
            <a:endParaRPr lang="en-US" sz="800" dirty="0">
              <a:solidFill>
                <a:schemeClr val="tx1"/>
              </a:solidFill>
              <a:highlight>
                <a:srgbClr val="FF00FF"/>
              </a:highlight>
              <a:latin typeface="Calibri" panose="020F0502020204030204" pitchFamily="34" charset="0"/>
              <a:ea typeface="Calibri" panose="020F0502020204030204" pitchFamily="34" charset="0"/>
              <a:cs typeface="Calibri" panose="020F0502020204030204" pitchFamily="34" charset="0"/>
            </a:endParaRPr>
          </a:p>
        </p:txBody>
      </p:sp>
      <p:grpSp>
        <p:nvGrpSpPr>
          <p:cNvPr id="3" name="Google Shape;262;p6">
            <a:extLst>
              <a:ext uri="{FF2B5EF4-FFF2-40B4-BE49-F238E27FC236}">
                <a16:creationId xmlns:a16="http://schemas.microsoft.com/office/drawing/2014/main" id="{DDD708C4-7AA7-A26D-3F94-ED05CD3BB803}"/>
              </a:ext>
            </a:extLst>
          </p:cNvPr>
          <p:cNvGrpSpPr/>
          <p:nvPr/>
        </p:nvGrpSpPr>
        <p:grpSpPr>
          <a:xfrm>
            <a:off x="-25" y="4872600"/>
            <a:ext cx="9144000" cy="270900"/>
            <a:chOff x="-25" y="4872600"/>
            <a:chExt cx="9144000" cy="270900"/>
          </a:xfrm>
        </p:grpSpPr>
        <p:sp>
          <p:nvSpPr>
            <p:cNvPr id="4" name="Google Shape;263;p6">
              <a:extLst>
                <a:ext uri="{FF2B5EF4-FFF2-40B4-BE49-F238E27FC236}">
                  <a16:creationId xmlns:a16="http://schemas.microsoft.com/office/drawing/2014/main" id="{AB9DD285-9D3E-6A14-30F3-6A1431EFB093}"/>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1299F53A-7AC1-76EE-51A7-94CEC2CAB4CB}"/>
                </a:ext>
              </a:extLst>
            </p:cNvPr>
            <p:cNvGrpSpPr/>
            <p:nvPr/>
          </p:nvGrpSpPr>
          <p:grpSpPr>
            <a:xfrm>
              <a:off x="3101100" y="4872600"/>
              <a:ext cx="2941800" cy="270900"/>
              <a:chOff x="3084200" y="4934525"/>
              <a:chExt cx="2941800" cy="270900"/>
            </a:xfrm>
          </p:grpSpPr>
          <p:sp>
            <p:nvSpPr>
              <p:cNvPr id="6" name="Google Shape;265;p6">
                <a:extLst>
                  <a:ext uri="{FF2B5EF4-FFF2-40B4-BE49-F238E27FC236}">
                    <a16:creationId xmlns:a16="http://schemas.microsoft.com/office/drawing/2014/main" id="{E7A08B44-2581-B5DC-A734-027DE6C9263E}"/>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7" name="Google Shape;266;p6">
                <a:extLst>
                  <a:ext uri="{FF2B5EF4-FFF2-40B4-BE49-F238E27FC236}">
                    <a16:creationId xmlns:a16="http://schemas.microsoft.com/office/drawing/2014/main" id="{404A7A56-E127-B3FF-B1D7-CAA9B7960B96}"/>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8" name="Picture 7">
            <a:extLst>
              <a:ext uri="{FF2B5EF4-FFF2-40B4-BE49-F238E27FC236}">
                <a16:creationId xmlns:a16="http://schemas.microsoft.com/office/drawing/2014/main" id="{7D1FC4FF-E417-8612-8C61-23B093C245B5}"/>
              </a:ext>
            </a:extLst>
          </p:cNvPr>
          <p:cNvPicPr>
            <a:picLocks noChangeAspect="1"/>
          </p:cNvPicPr>
          <p:nvPr/>
        </p:nvPicPr>
        <p:blipFill>
          <a:blip r:embed="rId3"/>
          <a:stretch>
            <a:fillRect/>
          </a:stretch>
        </p:blipFill>
        <p:spPr>
          <a:xfrm>
            <a:off x="7819053" y="116485"/>
            <a:ext cx="1190504" cy="566010"/>
          </a:xfrm>
          <a:prstGeom prst="rect">
            <a:avLst/>
          </a:prstGeom>
        </p:spPr>
      </p:pic>
      <p:graphicFrame>
        <p:nvGraphicFramePr>
          <p:cNvPr id="10" name="Chart 9">
            <a:extLst>
              <a:ext uri="{FF2B5EF4-FFF2-40B4-BE49-F238E27FC236}">
                <a16:creationId xmlns:a16="http://schemas.microsoft.com/office/drawing/2014/main" id="{D14A91E1-8A63-AC94-B826-68AC0C1F8B69}"/>
              </a:ext>
            </a:extLst>
          </p:cNvPr>
          <p:cNvGraphicFramePr/>
          <p:nvPr>
            <p:extLst>
              <p:ext uri="{D42A27DB-BD31-4B8C-83A1-F6EECF244321}">
                <p14:modId xmlns:p14="http://schemas.microsoft.com/office/powerpoint/2010/main" val="193204737"/>
              </p:ext>
            </p:extLst>
          </p:nvPr>
        </p:nvGraphicFramePr>
        <p:xfrm>
          <a:off x="750323" y="1141955"/>
          <a:ext cx="7814013" cy="281495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1153967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7"/>
          <p:cNvSpPr txBox="1">
            <a:spLocks noGrp="1"/>
          </p:cNvSpPr>
          <p:nvPr>
            <p:ph type="title"/>
          </p:nvPr>
        </p:nvSpPr>
        <p:spPr>
          <a:xfrm>
            <a:off x="719999" y="445025"/>
            <a:ext cx="3448589" cy="521208"/>
          </a:xfrm>
          <a:prstGeom prst="rect">
            <a:avLst/>
          </a:prstGeom>
          <a:solidFill>
            <a:srgbClr val="FECA08"/>
          </a:solidFill>
          <a:ln>
            <a:noFill/>
          </a:ln>
        </p:spPr>
        <p:txBody>
          <a:bodyPr spcFirstLastPara="1" wrap="square" lIns="91425" tIns="91425" rIns="91425" bIns="91425" anchor="ctr" anchorCtr="0">
            <a:noAutofit/>
          </a:bodyPr>
          <a:lstStyle/>
          <a:p>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Outlook – Medium Term</a:t>
            </a:r>
            <a:endParaRPr sz="20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1" name="Diagram 10">
            <a:extLst>
              <a:ext uri="{FF2B5EF4-FFF2-40B4-BE49-F238E27FC236}">
                <a16:creationId xmlns:a16="http://schemas.microsoft.com/office/drawing/2014/main" id="{96EDC516-54F1-488D-9CFC-DB645FBB4FF6}"/>
              </a:ext>
            </a:extLst>
          </p:cNvPr>
          <p:cNvGraphicFramePr/>
          <p:nvPr>
            <p:extLst>
              <p:ext uri="{D42A27DB-BD31-4B8C-83A1-F6EECF244321}">
                <p14:modId xmlns:p14="http://schemas.microsoft.com/office/powerpoint/2010/main" val="2520867073"/>
              </p:ext>
            </p:extLst>
          </p:nvPr>
        </p:nvGraphicFramePr>
        <p:xfrm>
          <a:off x="292378" y="1092829"/>
          <a:ext cx="8027895" cy="35487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Down Arrow 2">
            <a:extLst>
              <a:ext uri="{FF2B5EF4-FFF2-40B4-BE49-F238E27FC236}">
                <a16:creationId xmlns:a16="http://schemas.microsoft.com/office/drawing/2014/main" id="{F0B0499F-96D5-427D-93F6-0DE8D47CAA81}"/>
              </a:ext>
            </a:extLst>
          </p:cNvPr>
          <p:cNvSpPr/>
          <p:nvPr/>
        </p:nvSpPr>
        <p:spPr>
          <a:xfrm>
            <a:off x="8438721" y="1348635"/>
            <a:ext cx="347361" cy="308367"/>
          </a:xfrm>
          <a:prstGeom prst="downArrow">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3" name="Left-Right Arrow 6">
            <a:extLst>
              <a:ext uri="{FF2B5EF4-FFF2-40B4-BE49-F238E27FC236}">
                <a16:creationId xmlns:a16="http://schemas.microsoft.com/office/drawing/2014/main" id="{9BB9C202-27EC-4527-B625-AAA2FCD1279D}"/>
              </a:ext>
            </a:extLst>
          </p:cNvPr>
          <p:cNvSpPr/>
          <p:nvPr/>
        </p:nvSpPr>
        <p:spPr>
          <a:xfrm>
            <a:off x="8403302" y="2761002"/>
            <a:ext cx="424553" cy="287880"/>
          </a:xfrm>
          <a:prstGeom prst="leftRightArrow">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4" name="Left-Right Arrow 7">
            <a:extLst>
              <a:ext uri="{FF2B5EF4-FFF2-40B4-BE49-F238E27FC236}">
                <a16:creationId xmlns:a16="http://schemas.microsoft.com/office/drawing/2014/main" id="{C2B4A3FD-5DE7-48D6-9163-7EC3D76EF456}"/>
              </a:ext>
            </a:extLst>
          </p:cNvPr>
          <p:cNvSpPr/>
          <p:nvPr/>
        </p:nvSpPr>
        <p:spPr>
          <a:xfrm>
            <a:off x="8403302" y="3491438"/>
            <a:ext cx="424553" cy="287880"/>
          </a:xfrm>
          <a:prstGeom prst="leftRightArrow">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6" name="Left-Right Arrow 8">
            <a:extLst>
              <a:ext uri="{FF2B5EF4-FFF2-40B4-BE49-F238E27FC236}">
                <a16:creationId xmlns:a16="http://schemas.microsoft.com/office/drawing/2014/main" id="{B6D75F66-93AD-4A90-8DCE-FE36FC9052FA}"/>
              </a:ext>
            </a:extLst>
          </p:cNvPr>
          <p:cNvSpPr/>
          <p:nvPr/>
        </p:nvSpPr>
        <p:spPr>
          <a:xfrm>
            <a:off x="8403302" y="4197733"/>
            <a:ext cx="424553" cy="287880"/>
          </a:xfrm>
          <a:prstGeom prst="leftRightArrow">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7" name="Left-Right Arrow 9">
            <a:extLst>
              <a:ext uri="{FF2B5EF4-FFF2-40B4-BE49-F238E27FC236}">
                <a16:creationId xmlns:a16="http://schemas.microsoft.com/office/drawing/2014/main" id="{06F6397A-0F4B-41F3-AE75-9723C0445003}"/>
              </a:ext>
            </a:extLst>
          </p:cNvPr>
          <p:cNvSpPr/>
          <p:nvPr/>
        </p:nvSpPr>
        <p:spPr>
          <a:xfrm>
            <a:off x="8396578" y="2011565"/>
            <a:ext cx="424553" cy="287880"/>
          </a:xfrm>
          <a:prstGeom prst="leftRightArrow">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7FA4A21F-1F8E-3CF0-6B12-975E6E9936E1}"/>
              </a:ext>
            </a:extLst>
          </p:cNvPr>
          <p:cNvSpPr txBox="1"/>
          <p:nvPr/>
        </p:nvSpPr>
        <p:spPr>
          <a:xfrm>
            <a:off x="5809269" y="4673281"/>
            <a:ext cx="3334731" cy="215444"/>
          </a:xfrm>
          <a:prstGeom prst="rect">
            <a:avLst/>
          </a:prstGeom>
          <a:noFill/>
        </p:spPr>
        <p:txBody>
          <a:bodyPr wrap="square" rtlCol="0">
            <a:spAutoFit/>
          </a:bodyPr>
          <a:lstStyle/>
          <a:p>
            <a:r>
              <a:rPr lang="en-US" sz="800" dirty="0">
                <a:solidFill>
                  <a:srgbClr val="333333"/>
                </a:solidFill>
                <a:latin typeface="Calibri" panose="020F0502020204030204" pitchFamily="34" charset="0"/>
                <a:ea typeface="Calibri" panose="020F0502020204030204" pitchFamily="34" charset="0"/>
                <a:cs typeface="Calibri" panose="020F0502020204030204" pitchFamily="34" charset="0"/>
              </a:rPr>
              <a:t>Source: Trading Economics, Investing.com, Money control, Federal reserve</a:t>
            </a:r>
            <a:endParaRPr lang="en-US" sz="800" dirty="0">
              <a:latin typeface="Calibri" panose="020F0502020204030204" pitchFamily="34" charset="0"/>
              <a:ea typeface="Calibri" panose="020F0502020204030204" pitchFamily="34" charset="0"/>
              <a:cs typeface="Calibri" panose="020F0502020204030204" pitchFamily="34" charset="0"/>
            </a:endParaRPr>
          </a:p>
        </p:txBody>
      </p:sp>
      <p:grpSp>
        <p:nvGrpSpPr>
          <p:cNvPr id="3" name="Google Shape;262;p6">
            <a:extLst>
              <a:ext uri="{FF2B5EF4-FFF2-40B4-BE49-F238E27FC236}">
                <a16:creationId xmlns:a16="http://schemas.microsoft.com/office/drawing/2014/main" id="{163FDCD3-794C-97AB-CADF-72429916C03B}"/>
              </a:ext>
            </a:extLst>
          </p:cNvPr>
          <p:cNvGrpSpPr/>
          <p:nvPr/>
        </p:nvGrpSpPr>
        <p:grpSpPr>
          <a:xfrm>
            <a:off x="-25" y="4872600"/>
            <a:ext cx="9144000" cy="270900"/>
            <a:chOff x="-25" y="4872600"/>
            <a:chExt cx="9144000" cy="270900"/>
          </a:xfrm>
        </p:grpSpPr>
        <p:sp>
          <p:nvSpPr>
            <p:cNvPr id="4" name="Google Shape;263;p6">
              <a:extLst>
                <a:ext uri="{FF2B5EF4-FFF2-40B4-BE49-F238E27FC236}">
                  <a16:creationId xmlns:a16="http://schemas.microsoft.com/office/drawing/2014/main" id="{BAEA0327-7D80-9177-A69E-AE2F60471DD3}"/>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893E2A88-C19E-AFA9-7668-83C8C04E6975}"/>
                </a:ext>
              </a:extLst>
            </p:cNvPr>
            <p:cNvGrpSpPr/>
            <p:nvPr/>
          </p:nvGrpSpPr>
          <p:grpSpPr>
            <a:xfrm>
              <a:off x="3101100" y="4872600"/>
              <a:ext cx="2941800" cy="270900"/>
              <a:chOff x="3084200" y="4934525"/>
              <a:chExt cx="2941800" cy="270900"/>
            </a:xfrm>
          </p:grpSpPr>
          <p:sp>
            <p:nvSpPr>
              <p:cNvPr id="6" name="Google Shape;265;p6">
                <a:extLst>
                  <a:ext uri="{FF2B5EF4-FFF2-40B4-BE49-F238E27FC236}">
                    <a16:creationId xmlns:a16="http://schemas.microsoft.com/office/drawing/2014/main" id="{1EC85C24-D284-0C04-22ED-E893714E48D6}"/>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7" name="Google Shape;266;p6">
                <a:extLst>
                  <a:ext uri="{FF2B5EF4-FFF2-40B4-BE49-F238E27FC236}">
                    <a16:creationId xmlns:a16="http://schemas.microsoft.com/office/drawing/2014/main" id="{6BC501F8-4AE6-0D61-B3A4-77D3291245F5}"/>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8" name="Picture 7">
            <a:extLst>
              <a:ext uri="{FF2B5EF4-FFF2-40B4-BE49-F238E27FC236}">
                <a16:creationId xmlns:a16="http://schemas.microsoft.com/office/drawing/2014/main" id="{3E846EEA-8795-90A4-3796-018C990AD23F}"/>
              </a:ext>
            </a:extLst>
          </p:cNvPr>
          <p:cNvPicPr>
            <a:picLocks noChangeAspect="1"/>
          </p:cNvPicPr>
          <p:nvPr/>
        </p:nvPicPr>
        <p:blipFill>
          <a:blip r:embed="rId8"/>
          <a:stretch>
            <a:fillRect/>
          </a:stretch>
        </p:blipFill>
        <p:spPr>
          <a:xfrm>
            <a:off x="7819053" y="116485"/>
            <a:ext cx="1190504" cy="566010"/>
          </a:xfrm>
          <a:prstGeom prst="rect">
            <a:avLst/>
          </a:prstGeom>
        </p:spPr>
      </p:pic>
    </p:spTree>
    <p:extLst>
      <p:ext uri="{BB962C8B-B14F-4D97-AF65-F5344CB8AC3E}">
        <p14:creationId xmlns:p14="http://schemas.microsoft.com/office/powerpoint/2010/main" val="7635380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CBD3D3AB-BC0D-4147-A428-30951BFA4E05}"/>
              </a:ext>
            </a:extLst>
          </p:cNvPr>
          <p:cNvSpPr/>
          <p:nvPr/>
        </p:nvSpPr>
        <p:spPr>
          <a:xfrm>
            <a:off x="719999" y="1157867"/>
            <a:ext cx="7952053" cy="325901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Despite strong Q3FY26 earnings, elevated commodity prices continue to pressure margins</a:t>
            </a:r>
          </a:p>
          <a:p>
            <a:pPr marL="171450" indent="-171450">
              <a:buFont typeface="Arial" panose="020B0604020202020204" pitchFamily="34" charset="0"/>
              <a:buChar char="•"/>
            </a:pPr>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India–US bilateral trade deal finalized, but uncertainty remains around details beyond tariff reductions</a:t>
            </a:r>
          </a:p>
          <a:p>
            <a:pPr marL="171450" indent="-171450">
              <a:buFont typeface="Arial" panose="020B0604020202020204" pitchFamily="34" charset="0"/>
              <a:buChar char="•"/>
            </a:pPr>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Broad based sell off amid falling global metal prices and a stronger USD</a:t>
            </a:r>
          </a:p>
          <a:p>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Geopolitical or trade tensions affecting energy, exports, and investor sentiments</a:t>
            </a:r>
          </a:p>
          <a:p>
            <a:pPr marL="171450" indent="-171450">
              <a:buFont typeface="Arial" panose="020B0604020202020204" pitchFamily="34" charset="0"/>
              <a:buChar char="•"/>
            </a:pPr>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Mixed FII flows in India, with higher flows into other emerging markets posing a risk</a:t>
            </a:r>
          </a:p>
          <a:p>
            <a:pPr marL="171450" indent="-171450">
              <a:buFont typeface="Arial" panose="020B0604020202020204" pitchFamily="34" charset="0"/>
              <a:buChar char="•"/>
            </a:pPr>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Geopolitical and trade tensions, along with commodity price volatility, remain key concerns</a:t>
            </a:r>
          </a:p>
          <a:p>
            <a:endParaRPr lang="en-US" sz="1200" dirty="0">
              <a:solidFill>
                <a:schemeClr val="tx1"/>
              </a:solidFill>
              <a:ea typeface="Calibri" panose="020F0502020204030204" pitchFamily="34" charset="0"/>
              <a:cs typeface="Calibri" panose="020F0502020204030204" pitchFamily="34" charset="0"/>
            </a:endParaRPr>
          </a:p>
          <a:p>
            <a:endParaRPr lang="en-US" sz="1200" dirty="0">
              <a:solidFill>
                <a:schemeClr val="tx1"/>
              </a:solidFill>
              <a:ea typeface="Calibri" panose="020F0502020204030204" pitchFamily="34" charset="0"/>
              <a:cs typeface="Calibri" panose="020F0502020204030204" pitchFamily="34" charset="0"/>
            </a:endParaRPr>
          </a:p>
          <a:p>
            <a:endParaRPr lang="en-US" sz="1200" dirty="0">
              <a:solidFill>
                <a:schemeClr val="tx1"/>
              </a:solidFill>
              <a:ea typeface="Calibri" panose="020F0502020204030204" pitchFamily="34" charset="0"/>
              <a:cs typeface="Calibri" panose="020F0502020204030204" pitchFamily="34" charset="0"/>
            </a:endParaRPr>
          </a:p>
          <a:p>
            <a:endParaRPr lang="en-US" sz="1200" dirty="0">
              <a:solidFill>
                <a:schemeClr val="tx1"/>
              </a:solidFill>
              <a:ea typeface="Calibri" panose="020F0502020204030204" pitchFamily="34" charset="0"/>
              <a:cs typeface="Calibri" panose="020F0502020204030204" pitchFamily="34" charset="0"/>
            </a:endParaRPr>
          </a:p>
        </p:txBody>
      </p:sp>
      <p:grpSp>
        <p:nvGrpSpPr>
          <p:cNvPr id="3" name="Google Shape;262;p6">
            <a:extLst>
              <a:ext uri="{FF2B5EF4-FFF2-40B4-BE49-F238E27FC236}">
                <a16:creationId xmlns:a16="http://schemas.microsoft.com/office/drawing/2014/main" id="{A9A6565E-1E40-C80E-4B77-ED61ABC2EB27}"/>
              </a:ext>
            </a:extLst>
          </p:cNvPr>
          <p:cNvGrpSpPr/>
          <p:nvPr/>
        </p:nvGrpSpPr>
        <p:grpSpPr>
          <a:xfrm>
            <a:off x="-25" y="4872600"/>
            <a:ext cx="9144000" cy="270900"/>
            <a:chOff x="-25" y="4872600"/>
            <a:chExt cx="9144000" cy="270900"/>
          </a:xfrm>
        </p:grpSpPr>
        <p:sp>
          <p:nvSpPr>
            <p:cNvPr id="4" name="Google Shape;263;p6">
              <a:extLst>
                <a:ext uri="{FF2B5EF4-FFF2-40B4-BE49-F238E27FC236}">
                  <a16:creationId xmlns:a16="http://schemas.microsoft.com/office/drawing/2014/main" id="{F747E186-2253-7CD2-4DFD-20BDDBE01EF1}"/>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5" name="Google Shape;264;p6">
              <a:extLst>
                <a:ext uri="{FF2B5EF4-FFF2-40B4-BE49-F238E27FC236}">
                  <a16:creationId xmlns:a16="http://schemas.microsoft.com/office/drawing/2014/main" id="{48BDFEDC-04D6-2E94-776E-180F8AE0C6CD}"/>
                </a:ext>
              </a:extLst>
            </p:cNvPr>
            <p:cNvGrpSpPr/>
            <p:nvPr/>
          </p:nvGrpSpPr>
          <p:grpSpPr>
            <a:xfrm>
              <a:off x="3101100" y="4872600"/>
              <a:ext cx="2941800" cy="270900"/>
              <a:chOff x="3084200" y="4934525"/>
              <a:chExt cx="2941800" cy="270900"/>
            </a:xfrm>
          </p:grpSpPr>
          <p:sp>
            <p:nvSpPr>
              <p:cNvPr id="6" name="Google Shape;265;p6">
                <a:extLst>
                  <a:ext uri="{FF2B5EF4-FFF2-40B4-BE49-F238E27FC236}">
                    <a16:creationId xmlns:a16="http://schemas.microsoft.com/office/drawing/2014/main" id="{9D5ACD7F-E5A0-7597-8120-CE1646513EC1}"/>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7" name="Google Shape;266;p6">
                <a:extLst>
                  <a:ext uri="{FF2B5EF4-FFF2-40B4-BE49-F238E27FC236}">
                    <a16:creationId xmlns:a16="http://schemas.microsoft.com/office/drawing/2014/main" id="{1F55750C-44DD-920A-F662-1CB5D7843A2A}"/>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8" name="Picture 7">
            <a:extLst>
              <a:ext uri="{FF2B5EF4-FFF2-40B4-BE49-F238E27FC236}">
                <a16:creationId xmlns:a16="http://schemas.microsoft.com/office/drawing/2014/main" id="{04874DCD-4EDD-0F82-3D55-7F0E0BD08265}"/>
              </a:ext>
            </a:extLst>
          </p:cNvPr>
          <p:cNvPicPr>
            <a:picLocks noChangeAspect="1"/>
          </p:cNvPicPr>
          <p:nvPr/>
        </p:nvPicPr>
        <p:blipFill>
          <a:blip r:embed="rId3"/>
          <a:stretch>
            <a:fillRect/>
          </a:stretch>
        </p:blipFill>
        <p:spPr>
          <a:xfrm>
            <a:off x="7819053" y="116485"/>
            <a:ext cx="1190504" cy="566010"/>
          </a:xfrm>
          <a:prstGeom prst="rect">
            <a:avLst/>
          </a:prstGeom>
        </p:spPr>
      </p:pic>
      <p:sp>
        <p:nvSpPr>
          <p:cNvPr id="10" name="Title 9">
            <a:extLst>
              <a:ext uri="{FF2B5EF4-FFF2-40B4-BE49-F238E27FC236}">
                <a16:creationId xmlns:a16="http://schemas.microsoft.com/office/drawing/2014/main" id="{D3FD31D1-0421-E655-4BC8-8CAE6CE6D273}"/>
              </a:ext>
            </a:extLst>
          </p:cNvPr>
          <p:cNvSpPr>
            <a:spLocks noGrp="1"/>
          </p:cNvSpPr>
          <p:nvPr>
            <p:ph type="title"/>
          </p:nvPr>
        </p:nvSpPr>
        <p:spPr/>
        <p:txBody>
          <a:bodyPr/>
          <a:lstStyle/>
          <a:p>
            <a:r>
              <a:rPr lang="en-US" sz="2000" dirty="0">
                <a:latin typeface="+mn-lt"/>
              </a:rPr>
              <a:t>Key Risks</a:t>
            </a:r>
          </a:p>
        </p:txBody>
      </p:sp>
    </p:spTree>
    <p:extLst>
      <p:ext uri="{BB962C8B-B14F-4D97-AF65-F5344CB8AC3E}">
        <p14:creationId xmlns:p14="http://schemas.microsoft.com/office/powerpoint/2010/main" val="14597534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7"/>
          <p:cNvSpPr txBox="1">
            <a:spLocks noGrp="1"/>
          </p:cNvSpPr>
          <p:nvPr>
            <p:ph type="title"/>
          </p:nvPr>
        </p:nvSpPr>
        <p:spPr>
          <a:xfrm>
            <a:off x="719999" y="432000"/>
            <a:ext cx="6037147" cy="521208"/>
          </a:xfrm>
          <a:prstGeom prst="rect">
            <a:avLst/>
          </a:prstGeom>
          <a:solidFill>
            <a:srgbClr val="FECA08"/>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500"/>
              <a:buNone/>
            </a:pPr>
            <a:r>
              <a:rPr lang="en-US" sz="2000" dirty="0">
                <a:latin typeface="Calibri" panose="020F0502020204030204" pitchFamily="34" charset="0"/>
                <a:ea typeface="Calibri" panose="020F0502020204030204" pitchFamily="34" charset="0"/>
                <a:cs typeface="Calibri" panose="020F0502020204030204" pitchFamily="34" charset="0"/>
              </a:rPr>
              <a:t>Disclaimer</a:t>
            </a:r>
          </a:p>
        </p:txBody>
      </p:sp>
      <p:sp>
        <p:nvSpPr>
          <p:cNvPr id="20" name="Content Placeholder 2">
            <a:extLst>
              <a:ext uri="{FF2B5EF4-FFF2-40B4-BE49-F238E27FC236}">
                <a16:creationId xmlns:a16="http://schemas.microsoft.com/office/drawing/2014/main" id="{446CA3D9-C2F5-9AC5-4D3B-216048E03B47}"/>
              </a:ext>
            </a:extLst>
          </p:cNvPr>
          <p:cNvSpPr txBox="1">
            <a:spLocks/>
          </p:cNvSpPr>
          <p:nvPr/>
        </p:nvSpPr>
        <p:spPr>
          <a:xfrm>
            <a:off x="541020" y="1109288"/>
            <a:ext cx="8290560" cy="3542830"/>
          </a:xfrm>
          <a:prstGeom prst="rect">
            <a:avLst/>
          </a:prstGeom>
          <a:solidFill>
            <a:srgbClr val="000000">
              <a:alpha val="0"/>
            </a:srgbClr>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Medium"/>
                <a:ea typeface="DM Sans Medium"/>
                <a:cs typeface="DM Sans Medium"/>
                <a:sym typeface="DM Sans Medium"/>
              </a:defRPr>
            </a:lvl1pPr>
            <a:lvl2pPr marL="914400" marR="0" lvl="1"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2pPr>
            <a:lvl3pPr marL="1371600" marR="0" lvl="2"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3pPr>
            <a:lvl4pPr marL="1828800" marR="0" lvl="3"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4pPr>
            <a:lvl5pPr marL="2286000" marR="0" lvl="4"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5pPr>
            <a:lvl6pPr marL="2743200" marR="0" lvl="5"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6pPr>
            <a:lvl7pPr marL="3200400" marR="0" lvl="6"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7pPr>
            <a:lvl8pPr marL="3657600" marR="0" lvl="7"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8pPr>
            <a:lvl9pPr marL="4114800" marR="0" lvl="8" indent="-317500" algn="ctr" rtl="0">
              <a:lnSpc>
                <a:spcPct val="100000"/>
              </a:lnSpc>
              <a:spcBef>
                <a:spcPts val="0"/>
              </a:spcBef>
              <a:spcAft>
                <a:spcPts val="0"/>
              </a:spcAft>
              <a:buClr>
                <a:schemeClr val="dk1"/>
              </a:buClr>
              <a:buSzPts val="1400"/>
              <a:buFont typeface="DM Sans"/>
              <a:buNone/>
              <a:defRPr sz="1400" b="0" i="0" u="none" strike="noStrike" cap="none">
                <a:solidFill>
                  <a:schemeClr val="dk1"/>
                </a:solidFill>
                <a:latin typeface="DM Sans"/>
                <a:ea typeface="DM Sans"/>
                <a:cs typeface="DM Sans"/>
                <a:sym typeface="DM Sans"/>
              </a:defRPr>
            </a:lvl9pPr>
          </a:lstStyle>
          <a:p>
            <a:pPr marL="0" indent="0" algn="just">
              <a:lnSpc>
                <a:spcPct val="170000"/>
              </a:lnSpc>
            </a:pPr>
            <a:r>
              <a:rPr lang="en-IN" sz="900" dirty="0">
                <a:latin typeface="Calibri" panose="020F0502020204030204" pitchFamily="34" charset="0"/>
                <a:ea typeface="Calibri" panose="020F0502020204030204" pitchFamily="34" charset="0"/>
                <a:cs typeface="Calibri" panose="020F0502020204030204" pitchFamily="34" charset="0"/>
              </a:rPr>
              <a:t>DISCLAIMER The views expressed herein are based on internal data, publicly available information and other sources believed to be reliable. Any calculations made are approximations, meant as guidelines only, which you must confirm before relying on them. This document has been prepared based on information, which is already available in publicly accessible media or developed through analysis of Shriram Mutual Fund. The recipient should note and understand that the information provided above may not contain all the material aspects relevant for making an investment decision and the security may or may not continue to form part of the scheme's portfolio in the future. Investors are advised to consult their investment advisor before making any investment decision in light of their risk appetite, investment goals, and horizon. The decision of the Investment Manager may not always be profitable; as such decisions are based on the prevailing market conditions and the understanding of the Investment Manager. Actual market movements may vary from the anticipated trends. Past performance may or may not be sustained in future. Sectors referred above are illustrative and not recommended by Shriram Mutual Fund (the Fund) / Shriram AMC. The Fund may or may not have any present or future positions in these sectors. Shriram AMC / the Fund is not guaranteeing / offering / communicating any indicative yield on investments made in the scheme(s). Neither Shriram AMC and the Fund nor any person connected with them, accepts any liability arising from the use of this document. The recipient(s) before acting on any information herein should make his/her/their own investigation and seek appropriate professional advice and shall alone be fully responsible / liable for any decision taken on the basis of information contained herein. Please refer to the Offer Documents/ Statement of Additional Information/ Key Information Memorandum of the Scheme before investing.</a:t>
            </a:r>
          </a:p>
          <a:p>
            <a:pPr marL="0" indent="0" algn="just"/>
            <a:endParaRPr lang="en-IN" sz="900" dirty="0">
              <a:latin typeface="Calibri" panose="020F0502020204030204" pitchFamily="34" charset="0"/>
              <a:ea typeface="Calibri" panose="020F0502020204030204" pitchFamily="34" charset="0"/>
              <a:cs typeface="Calibri" panose="020F0502020204030204" pitchFamily="34" charset="0"/>
            </a:endParaRPr>
          </a:p>
          <a:p>
            <a:pPr marL="0" indent="0" algn="just"/>
            <a:r>
              <a:rPr lang="en-IN" sz="900" b="1" i="1" dirty="0">
                <a:latin typeface="Calibri" panose="020F0502020204030204" pitchFamily="34" charset="0"/>
                <a:ea typeface="Calibri" panose="020F0502020204030204" pitchFamily="34" charset="0"/>
                <a:cs typeface="Calibri" panose="020F0502020204030204" pitchFamily="34" charset="0"/>
              </a:rPr>
              <a:t>MUTUAL FUND INVESTMENTS ARE SUBJECT TO MARKET RISKS, READ ALL SCHEME RELATED DOCUMENTS CAREFULLY.</a:t>
            </a:r>
          </a:p>
        </p:txBody>
      </p:sp>
      <p:grpSp>
        <p:nvGrpSpPr>
          <p:cNvPr id="2" name="Google Shape;262;p6">
            <a:extLst>
              <a:ext uri="{FF2B5EF4-FFF2-40B4-BE49-F238E27FC236}">
                <a16:creationId xmlns:a16="http://schemas.microsoft.com/office/drawing/2014/main" id="{68351EFC-8A98-53F2-88D8-F46F98F023FF}"/>
              </a:ext>
            </a:extLst>
          </p:cNvPr>
          <p:cNvGrpSpPr/>
          <p:nvPr/>
        </p:nvGrpSpPr>
        <p:grpSpPr>
          <a:xfrm>
            <a:off x="-25" y="4872600"/>
            <a:ext cx="9144000" cy="270900"/>
            <a:chOff x="-25" y="4872600"/>
            <a:chExt cx="9144000" cy="270900"/>
          </a:xfrm>
        </p:grpSpPr>
        <p:sp>
          <p:nvSpPr>
            <p:cNvPr id="3" name="Google Shape;263;p6">
              <a:extLst>
                <a:ext uri="{FF2B5EF4-FFF2-40B4-BE49-F238E27FC236}">
                  <a16:creationId xmlns:a16="http://schemas.microsoft.com/office/drawing/2014/main" id="{2C4800DD-C9E9-C66D-347F-02ACBB17F048}"/>
                </a:ext>
              </a:extLst>
            </p:cNvPr>
            <p:cNvSpPr/>
            <p:nvPr/>
          </p:nvSpPr>
          <p:spPr>
            <a:xfrm>
              <a:off x="-25" y="5020125"/>
              <a:ext cx="9144000" cy="123300"/>
            </a:xfrm>
            <a:prstGeom prst="rect">
              <a:avLst/>
            </a:prstGeom>
            <a:solidFill>
              <a:srgbClr val="232323"/>
            </a:solidFill>
            <a:ln w="9525" cap="flat" cmpd="sng">
              <a:solidFill>
                <a:srgbClr val="F0D93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grpSp>
          <p:nvGrpSpPr>
            <p:cNvPr id="4" name="Google Shape;264;p6">
              <a:extLst>
                <a:ext uri="{FF2B5EF4-FFF2-40B4-BE49-F238E27FC236}">
                  <a16:creationId xmlns:a16="http://schemas.microsoft.com/office/drawing/2014/main" id="{CAD5EC11-C395-4C9F-FE1E-249A7564B316}"/>
                </a:ext>
              </a:extLst>
            </p:cNvPr>
            <p:cNvGrpSpPr/>
            <p:nvPr/>
          </p:nvGrpSpPr>
          <p:grpSpPr>
            <a:xfrm>
              <a:off x="3101100" y="4872600"/>
              <a:ext cx="2941800" cy="270900"/>
              <a:chOff x="3084200" y="4934525"/>
              <a:chExt cx="2941800" cy="270900"/>
            </a:xfrm>
          </p:grpSpPr>
          <p:sp>
            <p:nvSpPr>
              <p:cNvPr id="5" name="Google Shape;265;p6">
                <a:extLst>
                  <a:ext uri="{FF2B5EF4-FFF2-40B4-BE49-F238E27FC236}">
                    <a16:creationId xmlns:a16="http://schemas.microsoft.com/office/drawing/2014/main" id="{3CC4205B-6FEB-225B-3E71-70CED726C795}"/>
                  </a:ext>
                </a:extLst>
              </p:cNvPr>
              <p:cNvSpPr/>
              <p:nvPr/>
            </p:nvSpPr>
            <p:spPr>
              <a:xfrm>
                <a:off x="3084200" y="4950725"/>
                <a:ext cx="2941800" cy="238500"/>
              </a:xfrm>
              <a:prstGeom prst="roundRect">
                <a:avLst>
                  <a:gd name="adj" fmla="val 16667"/>
                </a:avLst>
              </a:prstGeom>
              <a:solidFill>
                <a:srgbClr val="FECA0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6" name="Google Shape;266;p6">
                <a:extLst>
                  <a:ext uri="{FF2B5EF4-FFF2-40B4-BE49-F238E27FC236}">
                    <a16:creationId xmlns:a16="http://schemas.microsoft.com/office/drawing/2014/main" id="{D99498F4-1346-BD33-3A10-76ECF37F1845}"/>
                  </a:ext>
                </a:extLst>
              </p:cNvPr>
              <p:cNvSpPr txBox="1"/>
              <p:nvPr/>
            </p:nvSpPr>
            <p:spPr>
              <a:xfrm>
                <a:off x="3126000" y="4934525"/>
                <a:ext cx="2892000" cy="270900"/>
              </a:xfrm>
              <a:prstGeom prst="rect">
                <a:avLst/>
              </a:prstGeom>
              <a:noFill/>
              <a:ln>
                <a:noFill/>
              </a:ln>
            </p:spPr>
            <p:txBody>
              <a:bodyPr spcFirstLastPara="1" wrap="square" lIns="91425" tIns="91425" rIns="91425" bIns="91425" anchor="t" anchorCtr="0">
                <a:spAutoFit/>
              </a:bodyPr>
              <a:lstStyle/>
              <a:p>
                <a:pPr lvl="0" algn="ctr">
                  <a:lnSpc>
                    <a:spcPct val="70000"/>
                  </a:lnSpc>
                  <a:buSzPts val="800"/>
                </a:pPr>
                <a:r>
                  <a:rPr lang="en-US" sz="800" b="1" dirty="0">
                    <a:latin typeface="Calibri" panose="020F0502020204030204" pitchFamily="34" charset="0"/>
                    <a:ea typeface="Calibri" panose="020F0502020204030204" pitchFamily="34" charset="0"/>
                    <a:cs typeface="Calibri" panose="020F0502020204030204" pitchFamily="34" charset="0"/>
                    <a:sym typeface="Montserrat"/>
                  </a:rPr>
                  <a:t>www.shriramamc.in</a:t>
                </a:r>
                <a:endParaRPr lang="en-US" sz="800"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grpSp>
      <p:pic>
        <p:nvPicPr>
          <p:cNvPr id="7" name="Picture 6">
            <a:extLst>
              <a:ext uri="{FF2B5EF4-FFF2-40B4-BE49-F238E27FC236}">
                <a16:creationId xmlns:a16="http://schemas.microsoft.com/office/drawing/2014/main" id="{EF38F678-A471-680A-6C9B-52DD0001BC14}"/>
              </a:ext>
            </a:extLst>
          </p:cNvPr>
          <p:cNvPicPr>
            <a:picLocks noChangeAspect="1"/>
          </p:cNvPicPr>
          <p:nvPr/>
        </p:nvPicPr>
        <p:blipFill>
          <a:blip r:embed="rId3"/>
          <a:stretch>
            <a:fillRect/>
          </a:stretch>
        </p:blipFill>
        <p:spPr>
          <a:xfrm>
            <a:off x="7819053" y="116485"/>
            <a:ext cx="1190504" cy="56601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62E8CD-E4E0-9F68-9A0A-09849BCCFC39}"/>
              </a:ext>
            </a:extLst>
          </p:cNvPr>
          <p:cNvSpPr txBox="1"/>
          <p:nvPr/>
        </p:nvSpPr>
        <p:spPr>
          <a:xfrm>
            <a:off x="2617749" y="2306293"/>
            <a:ext cx="2892714" cy="646331"/>
          </a:xfrm>
          <a:prstGeom prst="rect">
            <a:avLst/>
          </a:prstGeom>
          <a:noFill/>
        </p:spPr>
        <p:txBody>
          <a:bodyPr wrap="square" rtlCol="0">
            <a:spAutoFit/>
          </a:bodyPr>
          <a:lstStyle/>
          <a:p>
            <a:pPr algn="ctr"/>
            <a:r>
              <a:rPr lang="en-US" sz="3600" b="1" dirty="0">
                <a:latin typeface="+mj-lt"/>
              </a:rPr>
              <a:t>Thank You</a:t>
            </a:r>
          </a:p>
        </p:txBody>
      </p:sp>
      <p:sp>
        <p:nvSpPr>
          <p:cNvPr id="3" name="Slide Number Placeholder 2"/>
          <p:cNvSpPr>
            <a:spLocks noGrp="1"/>
          </p:cNvSpPr>
          <p:nvPr>
            <p:ph type="sldNum" sz="quarter" idx="12"/>
          </p:nvPr>
        </p:nvSpPr>
        <p:spPr>
          <a:xfrm>
            <a:off x="8716457" y="6328122"/>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25430A5-9376-4D7E-A28C-CDCCC8918707}" type="slidenum">
              <a:rPr lang="en-US" smtClean="0"/>
              <a:pPr/>
              <a:t>22</a:t>
            </a:fld>
            <a:endParaRPr lang="en-US" dirty="0"/>
          </a:p>
        </p:txBody>
      </p:sp>
    </p:spTree>
    <p:extLst>
      <p:ext uri="{BB962C8B-B14F-4D97-AF65-F5344CB8AC3E}">
        <p14:creationId xmlns:p14="http://schemas.microsoft.com/office/powerpoint/2010/main" val="3093138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FSPANMODE" val="span"/>
</p:tagLst>
</file>

<file path=ppt/tags/tag2.xml><?xml version="1.0" encoding="utf-8"?>
<p:tagLst xmlns:a="http://schemas.openxmlformats.org/drawingml/2006/main" xmlns:r="http://schemas.openxmlformats.org/officeDocument/2006/relationships" xmlns:p="http://schemas.openxmlformats.org/presentationml/2006/main">
  <p:tag name="AFSPANMODE" val="span"/>
</p:tagLst>
</file>

<file path=ppt/tags/tag3.xml><?xml version="1.0" encoding="utf-8"?>
<p:tagLst xmlns:a="http://schemas.openxmlformats.org/drawingml/2006/main" xmlns:r="http://schemas.openxmlformats.org/officeDocument/2006/relationships" xmlns:p="http://schemas.openxmlformats.org/presentationml/2006/main">
  <p:tag name="AFSPANMODE" val="span"/>
</p:tagLst>
</file>

<file path=ppt/theme/theme1.xml><?xml version="1.0" encoding="utf-8"?>
<a:theme xmlns:a="http://schemas.openxmlformats.org/drawingml/2006/main" name="Monochrome Strong Yellow Theme for Marketing by Slidesgo">
  <a:themeElements>
    <a:clrScheme name="Simple Light">
      <a:dk1>
        <a:srgbClr val="191919"/>
      </a:dk1>
      <a:lt1>
        <a:srgbClr val="FFFFFF"/>
      </a:lt1>
      <a:dk2>
        <a:srgbClr val="FDD900"/>
      </a:dk2>
      <a:lt2>
        <a:srgbClr val="D9D9D9"/>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Retrospect</Template>
  <TotalTime>48878</TotalTime>
  <Words>2343</Words>
  <Application>Microsoft Office PowerPoint</Application>
  <PresentationFormat>On-screen Show (16:9)</PresentationFormat>
  <Paragraphs>304</Paragraphs>
  <Slides>22</Slides>
  <Notes>21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Arial</vt:lpstr>
      <vt:lpstr>DM Sans</vt:lpstr>
      <vt:lpstr>Montserrat</vt:lpstr>
      <vt:lpstr>Calibri</vt:lpstr>
      <vt:lpstr>Nunito Light</vt:lpstr>
      <vt:lpstr>Bebas Neue</vt:lpstr>
      <vt:lpstr>Wingdings</vt:lpstr>
      <vt:lpstr>DM Sans Medium</vt:lpstr>
      <vt:lpstr>Monochrome Strong Yellow Theme for Marketing by Slidesgo</vt:lpstr>
      <vt:lpstr>PowerPoint Presentation</vt:lpstr>
      <vt:lpstr>Market Overview  </vt:lpstr>
      <vt:lpstr>Indian markets underperformed in Jan-26</vt:lpstr>
      <vt:lpstr>India – Europe free trade agreement</vt:lpstr>
      <vt:lpstr>Gold &amp; silver correct over 1M period </vt:lpstr>
      <vt:lpstr>Global Markets (MSCI) – Geopolitical Impact</vt:lpstr>
      <vt:lpstr>Sector Indices performance – Jan-26</vt:lpstr>
      <vt:lpstr>Sectors update</vt:lpstr>
      <vt:lpstr>Sectors update </vt:lpstr>
      <vt:lpstr>Sectors update </vt:lpstr>
      <vt:lpstr>DIIs support amid FII selling -Jan-26 </vt:lpstr>
      <vt:lpstr>Global Update</vt:lpstr>
      <vt:lpstr>US-Iran tensions escalate global crude oil prices </vt:lpstr>
      <vt:lpstr>Global interest rate </vt:lpstr>
      <vt:lpstr>Global inflation trends remain mixed</vt:lpstr>
      <vt:lpstr>Domestic Update</vt:lpstr>
      <vt:lpstr>GST collections stay firm</vt:lpstr>
      <vt:lpstr>PMI : Service Strengthens </vt:lpstr>
      <vt:lpstr>Outlook – Medium Term</vt:lpstr>
      <vt:lpstr>Key Risks</vt:lpstr>
      <vt:lpstr>Disclaimer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Deepak Ramaraju</dc:creator>
  <cp:lastModifiedBy>Sheetal Keswani</cp:lastModifiedBy>
  <cp:revision>2220</cp:revision>
  <dcterms:modified xsi:type="dcterms:W3CDTF">2026-02-10T06:01:50Z</dcterms:modified>
</cp:coreProperties>
</file>