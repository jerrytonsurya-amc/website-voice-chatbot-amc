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551" r:id="rId3"/>
    <p:sldId id="508" r:id="rId4"/>
    <p:sldId id="566" r:id="rId5"/>
    <p:sldId id="584" r:id="rId6"/>
    <p:sldId id="588" r:id="rId7"/>
    <p:sldId id="585" r:id="rId8"/>
    <p:sldId id="592" r:id="rId9"/>
    <p:sldId id="593" r:id="rId10"/>
    <p:sldId id="594" r:id="rId11"/>
    <p:sldId id="581" r:id="rId12"/>
    <p:sldId id="550" r:id="rId13"/>
    <p:sldId id="586" r:id="rId14"/>
    <p:sldId id="582" r:id="rId15"/>
    <p:sldId id="583" r:id="rId16"/>
    <p:sldId id="590" r:id="rId17"/>
    <p:sldId id="558" r:id="rId18"/>
    <p:sldId id="497" r:id="rId19"/>
    <p:sldId id="450" r:id="rId20"/>
    <p:sldId id="573" r:id="rId21"/>
    <p:sldId id="452" r:id="rId22"/>
    <p:sldId id="455" r:id="rId23"/>
    <p:sldId id="260" r:id="rId24"/>
    <p:sldId id="503" r:id="rId25"/>
    <p:sldId id="502" r:id="rId26"/>
    <p:sldId id="461" r:id="rId27"/>
    <p:sldId id="589" r:id="rId28"/>
    <p:sldId id="580" r:id="rId29"/>
    <p:sldId id="496" r:id="rId30"/>
    <p:sldId id="559" r:id="rId31"/>
    <p:sldId id="552" r:id="rId32"/>
    <p:sldId id="261" r:id="rId33"/>
    <p:sldId id="298" r:id="rId34"/>
  </p:sldIdLst>
  <p:sldSz cx="9144000" cy="5143500" type="screen16x9"/>
  <p:notesSz cx="6858000" cy="9144000"/>
  <p:embeddedFontLst>
    <p:embeddedFont>
      <p:font typeface="Bebas Neue" panose="020B0606020202050201" pitchFamily="34" charset="0"/>
      <p:regular r:id="rId36"/>
    </p:embeddedFont>
    <p:embeddedFont>
      <p:font typeface="DM Sans" pitchFamily="2" charset="0"/>
      <p:regular r:id="rId37"/>
      <p:bold r:id="rId38"/>
      <p:italic r:id="rId39"/>
      <p:boldItalic r:id="rId40"/>
    </p:embeddedFont>
    <p:embeddedFont>
      <p:font typeface="DM Sans Medium" pitchFamily="2" charset="0"/>
      <p:regular r:id="rId41"/>
      <p:bold r:id="rId42"/>
      <p:italic r:id="rId43"/>
      <p:boldItalic r:id="rId44"/>
    </p:embeddedFont>
    <p:embeddedFont>
      <p:font typeface="Montserrat" panose="00000500000000000000" pitchFamily="2" charset="0"/>
      <p:regular r:id="rId45"/>
      <p:bold r:id="rId46"/>
      <p:italic r:id="rId47"/>
      <p:boldItalic r:id="rId48"/>
    </p:embeddedFont>
    <p:embeddedFont>
      <p:font typeface="Nunito Light" pitchFamily="2" charset="0"/>
      <p:regular r:id="rId49"/>
      <p: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gtpNPjNvlHWwJ9kNntkaGnj72nc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A26D13-1640-5731-07C0-2633E89926DF}" name="ajay bhanushali" initials="ab" userId="7b362fd27c767146" providerId="Windows Live"/>
  <p188:author id="{0EA99517-056F-B13A-5DBF-44FDDDC7429F}" name="Ajay Bhanushali" initials="AR" userId="S::ajay@shriramamc.in::cb6c4228-ba46-4e04-8e35-8344592da834" providerId="AD"/>
  <p188:author id="{953B9D5E-DB98-3C3D-ED2E-F6F0EB4CF391}" name="Sheetal Keswani" initials="SK" userId="093a91d09d0f67a5" providerId="Windows Live"/>
  <p188:author id="{E84E6873-F220-4674-57D1-0CDCF9F38013}" name="Gargi Bhattacharyya Banerjee" initials="GB" userId="e1c9d0a53214f6ac" providerId="Windows Live"/>
  <p188:author id="{E9E5827F-8045-D629-AFD7-1463DEBBDFF4}" name="Gargi" initials="G" userId="S::gargi@shriramamc.in::34837e9c-ce14-468e-9e73-8e1968613f58" providerId="AD"/>
  <p188:author id="{7FE69591-7E67-9B37-9C72-CF5BE52CD564}" name="Sheetal Keswani" initials="SK" userId="S::sheetal@shriramamc.in::bf30985f-1661-43ee-8fa6-db08001090d7" providerId="AD"/>
  <p188:author id="{C81E1A97-3728-CC8F-5A0E-CB0099683B7A}" name="Shibangi Choudhury" initials="SC" userId="S::shibangi.choudhury@shriramamc.in::381f474d-aeb1-47f1-ad8d-9ca6d716be72" providerId="AD"/>
  <p188:author id="{316931B9-E745-2BAE-02A8-76DFFA56C75B}" name="Ajay Ramesh Bhanushali" initials="ARB" userId="Ajay Ramesh Bhanushali" providerId="None"/>
  <p188:author id="{AA075AEC-8ACF-3BC0-D21D-763E3103F0B4}" name="ajay bhanushali" initials="ab" userId="a2a0343971f8c688"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eetal Keswani" initials="SK" lastIdx="1" clrIdx="0">
    <p:extLst>
      <p:ext uri="{19B8F6BF-5375-455C-9EA6-DF929625EA0E}">
        <p15:presenceInfo xmlns:p15="http://schemas.microsoft.com/office/powerpoint/2012/main" userId="Sheetal Keswani" providerId="None"/>
      </p:ext>
    </p:extLst>
  </p:cmAuthor>
  <p:cmAuthor id="2" name="Gargi Bhattacharyya Banerjee" initials="GB" lastIdx="7" clrIdx="1">
    <p:extLst>
      <p:ext uri="{19B8F6BF-5375-455C-9EA6-DF929625EA0E}">
        <p15:presenceInfo xmlns:p15="http://schemas.microsoft.com/office/powerpoint/2012/main" userId="e1c9d0a53214f6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999999"/>
    <a:srgbClr val="66CCFF"/>
    <a:srgbClr val="000000"/>
    <a:srgbClr val="66FFFF"/>
    <a:srgbClr val="CCCCFF"/>
    <a:srgbClr val="99CCFF"/>
    <a:srgbClr val="003300"/>
    <a:srgbClr val="FFCC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8A06C3-4186-4947-AB97-5CE784B852D7}">
  <a:tblStyle styleId="{C28A06C3-4186-4947-AB97-5CE784B852D7}" styleName="Table_0">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EFBFC67-1CD7-423C-8FB7-7E03140B58E8}"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87" Type="http://customschemas.google.com/relationships/presentationmetadata" Target="metadata"/><Relationship Id="rId5" Type="http://schemas.openxmlformats.org/officeDocument/2006/relationships/slide" Target="slides/slide4.xml"/><Relationship Id="rId90"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93"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287028663503824E-2"/>
          <c:y val="0.1681280439578737"/>
          <c:w val="0.91990572876723664"/>
          <c:h val="0.70357532364817055"/>
        </c:manualLayout>
      </c:layout>
      <c:barChart>
        <c:barDir val="col"/>
        <c:grouping val="clustered"/>
        <c:varyColors val="0"/>
        <c:ser>
          <c:idx val="0"/>
          <c:order val="0"/>
          <c:tx>
            <c:strRef>
              <c:f>Sheet1!$B$1</c:f>
              <c:strCache>
                <c:ptCount val="1"/>
                <c:pt idx="0">
                  <c:v>NIFTY 50</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Sheet1!$B$2:$B$5</c:f>
              <c:numCache>
                <c:formatCode>0.0%</c:formatCode>
                <c:ptCount val="4"/>
                <c:pt idx="0">
                  <c:v>-0.11308191662380629</c:v>
                </c:pt>
                <c:pt idx="1">
                  <c:v>-0.14536005143591935</c:v>
                </c:pt>
                <c:pt idx="2">
                  <c:v>-9.2628935724124339E-2</c:v>
                </c:pt>
                <c:pt idx="3">
                  <c:v>-5.0509474113867858E-2</c:v>
                </c:pt>
              </c:numCache>
            </c:numRef>
          </c:val>
          <c:extLst>
            <c:ext xmlns:c16="http://schemas.microsoft.com/office/drawing/2014/chart" uri="{C3380CC4-5D6E-409C-BE32-E72D297353CC}">
              <c16:uniqueId val="{00000000-856F-42EA-9694-51B0AD87DA68}"/>
            </c:ext>
          </c:extLst>
        </c:ser>
        <c:ser>
          <c:idx val="1"/>
          <c:order val="1"/>
          <c:tx>
            <c:strRef>
              <c:f>Sheet1!$C$1</c:f>
              <c:strCache>
                <c:ptCount val="1"/>
                <c:pt idx="0">
                  <c:v>NIFTY MIDCAP 50</c:v>
                </c:pt>
              </c:strCache>
            </c:strRef>
          </c:tx>
          <c:spPr>
            <a:solidFill>
              <a:srgbClr val="FFC000"/>
            </a:solidFill>
            <a:ln>
              <a:noFill/>
            </a:ln>
            <a:effectLst/>
          </c:spPr>
          <c:invertIfNegative val="0"/>
          <c:dLbls>
            <c:dLbl>
              <c:idx val="0"/>
              <c:layout>
                <c:manualLayout>
                  <c:x val="-3.5154770493896668E-3"/>
                  <c:y val="-7.97393376529031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6F-42EA-9694-51B0AD87DA68}"/>
                </c:ext>
              </c:extLst>
            </c:dLbl>
            <c:dLbl>
              <c:idx val="2"/>
              <c:layout>
                <c:manualLayout>
                  <c:x val="0"/>
                  <c:y val="-0.11439223495640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C3-41B2-AA16-2D43B794ECCD}"/>
                </c:ext>
              </c:extLst>
            </c:dLbl>
            <c:dLbl>
              <c:idx val="3"/>
              <c:layout>
                <c:manualLayout>
                  <c:x val="1.7327702603139396E-2"/>
                  <c:y val="-4.97357543288708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Sheet1!$C$2:$C$5</c:f>
              <c:numCache>
                <c:formatCode>0.0%</c:formatCode>
                <c:ptCount val="4"/>
                <c:pt idx="0">
                  <c:v>-0.10630397957722948</c:v>
                </c:pt>
                <c:pt idx="1">
                  <c:v>-0.13160388430542391</c:v>
                </c:pt>
                <c:pt idx="2">
                  <c:v>-6.0334014825592308E-2</c:v>
                </c:pt>
                <c:pt idx="3">
                  <c:v>2.8963163388638691E-2</c:v>
                </c:pt>
              </c:numCache>
            </c:numRef>
          </c:val>
          <c:extLst>
            <c:ext xmlns:c16="http://schemas.microsoft.com/office/drawing/2014/chart" uri="{C3380CC4-5D6E-409C-BE32-E72D297353CC}">
              <c16:uniqueId val="{00000002-856F-42EA-9694-51B0AD87DA68}"/>
            </c:ext>
          </c:extLst>
        </c:ser>
        <c:ser>
          <c:idx val="2"/>
          <c:order val="2"/>
          <c:tx>
            <c:strRef>
              <c:f>Sheet1!$D$1</c:f>
              <c:strCache>
                <c:ptCount val="1"/>
                <c:pt idx="0">
                  <c:v>NIFTY SMALLCAP 100</c:v>
                </c:pt>
              </c:strCache>
            </c:strRef>
          </c:tx>
          <c:spPr>
            <a:solidFill>
              <a:schemeClr val="tx1">
                <a:lumMod val="50000"/>
                <a:lumOff val="50000"/>
              </a:schemeClr>
            </a:solidFill>
            <a:ln>
              <a:noFill/>
            </a:ln>
            <a:effectLst/>
          </c:spPr>
          <c:invertIfNegative val="0"/>
          <c:dLbls>
            <c:dLbl>
              <c:idx val="1"/>
              <c:layout>
                <c:manualLayout>
                  <c:x val="0"/>
                  <c:y val="-7.46036314933062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Sheet1!$D$2:$D$5</c:f>
              <c:numCache>
                <c:formatCode>0.0%</c:formatCode>
                <c:ptCount val="4"/>
                <c:pt idx="0">
                  <c:v>-0.10190266349260746</c:v>
                </c:pt>
                <c:pt idx="1">
                  <c:v>-0.14170470166168481</c:v>
                </c:pt>
                <c:pt idx="2">
                  <c:v>-0.1343155257576405</c:v>
                </c:pt>
                <c:pt idx="3">
                  <c:v>-5.5412315090365816E-2</c:v>
                </c:pt>
              </c:numCache>
            </c:numRef>
          </c:val>
          <c:extLst>
            <c:ext xmlns:c16="http://schemas.microsoft.com/office/drawing/2014/chart" uri="{C3380CC4-5D6E-409C-BE32-E72D297353CC}">
              <c16:uniqueId val="{00000003-856F-42EA-9694-51B0AD87DA68}"/>
            </c:ext>
          </c:extLst>
        </c:ser>
        <c:ser>
          <c:idx val="3"/>
          <c:order val="3"/>
          <c:tx>
            <c:strRef>
              <c:f>Sheet1!$E$1</c:f>
              <c:strCache>
                <c:ptCount val="1"/>
                <c:pt idx="0">
                  <c:v>NIFTY NEXT 50</c:v>
                </c:pt>
              </c:strCache>
            </c:strRef>
          </c:tx>
          <c:spPr>
            <a:solidFill>
              <a:srgbClr val="FF9966"/>
            </a:solidFill>
            <a:ln>
              <a:noFill/>
            </a:ln>
            <a:effectLst/>
          </c:spPr>
          <c:invertIfNegative val="0"/>
          <c:dLbls>
            <c:dLbl>
              <c:idx val="1"/>
              <c:layout>
                <c:manualLayout>
                  <c:x val="-5.1983107809418193E-3"/>
                  <c:y val="1.49207262986612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C3-41B2-AA16-2D43B794ECCD}"/>
                </c:ext>
              </c:extLst>
            </c:dLbl>
            <c:dLbl>
              <c:idx val="2"/>
              <c:layout>
                <c:manualLayout>
                  <c:x val="2.1092999366379456E-2"/>
                  <c:y val="-1.05732006826790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6F-42EA-9694-51B0AD87DA68}"/>
                </c:ext>
              </c:extLst>
            </c:dLbl>
            <c:spPr>
              <a:noFill/>
              <a:ln>
                <a:noFill/>
              </a:ln>
              <a:effectLst/>
            </c:spPr>
            <c:txPr>
              <a:bodyPr rot="0" spcFirstLastPara="1" vertOverflow="ellipsis" vert="horz" wrap="square" anchor="ctr" anchorCtr="1"/>
              <a:lstStyle/>
              <a:p>
                <a:pPr algn="ct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Sheet1!$E$2:$E$5</c:f>
              <c:numCache>
                <c:formatCode>0.0%</c:formatCode>
                <c:ptCount val="4"/>
                <c:pt idx="0">
                  <c:v>-0.1342845953789148</c:v>
                </c:pt>
                <c:pt idx="1">
                  <c:v>-0.12996129143870416</c:v>
                </c:pt>
                <c:pt idx="2">
                  <c:v>-0.11047731488544121</c:v>
                </c:pt>
                <c:pt idx="3">
                  <c:v>-4.2723085122582494E-2</c:v>
                </c:pt>
              </c:numCache>
            </c:numRef>
          </c:val>
          <c:extLst>
            <c:ext xmlns:c16="http://schemas.microsoft.com/office/drawing/2014/chart" uri="{C3380CC4-5D6E-409C-BE32-E72D297353CC}">
              <c16:uniqueId val="{00000005-856F-42EA-9694-51B0AD87DA68}"/>
            </c:ext>
          </c:extLst>
        </c:ser>
        <c:dLbls>
          <c:showLegendKey val="0"/>
          <c:showVal val="0"/>
          <c:showCatName val="0"/>
          <c:showSerName val="0"/>
          <c:showPercent val="0"/>
          <c:showBubbleSize val="0"/>
        </c:dLbls>
        <c:gapWidth val="219"/>
        <c:axId val="602951328"/>
        <c:axId val="602952312"/>
      </c:barChart>
      <c:catAx>
        <c:axId val="6029513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02952312"/>
        <c:crosses val="autoZero"/>
        <c:auto val="1"/>
        <c:lblAlgn val="ctr"/>
        <c:lblOffset val="100"/>
        <c:noMultiLvlLbl val="0"/>
      </c:catAx>
      <c:valAx>
        <c:axId val="602952312"/>
        <c:scaling>
          <c:orientation val="minMax"/>
        </c:scaling>
        <c:delete val="1"/>
        <c:axPos val="l"/>
        <c:numFmt formatCode="0.0%" sourceLinked="1"/>
        <c:majorTickMark val="none"/>
        <c:minorTickMark val="none"/>
        <c:tickLblPos val="nextTo"/>
        <c:crossAx val="602951328"/>
        <c:crosses val="autoZero"/>
        <c:crossBetween val="between"/>
      </c:valAx>
      <c:spPr>
        <a:noFill/>
        <a:ln>
          <a:solidFill>
            <a:schemeClr val="bg1"/>
          </a:solid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solidFill>
      <a:round/>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sz="1200" dirty="0"/>
              <a:t>Global Equity Market  Returns (US$)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1623348362889675E-2"/>
          <c:y val="0.1181596478421145"/>
          <c:w val="0.89495408021435696"/>
          <c:h val="0.67852892185611924"/>
        </c:manualLayout>
      </c:layout>
      <c:barChart>
        <c:barDir val="col"/>
        <c:grouping val="clustered"/>
        <c:varyColors val="0"/>
        <c:ser>
          <c:idx val="0"/>
          <c:order val="0"/>
          <c:tx>
            <c:strRef>
              <c:f>Sheet1!$B$1</c:f>
              <c:strCache>
                <c:ptCount val="1"/>
                <c:pt idx="0">
                  <c:v>1M</c:v>
                </c:pt>
              </c:strCache>
            </c:strRef>
          </c:tx>
          <c:spPr>
            <a:solidFill>
              <a:schemeClr val="bg2"/>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Sheet1!$B$2:$B$15</c:f>
              <c:numCache>
                <c:formatCode>0%</c:formatCode>
                <c:ptCount val="14"/>
                <c:pt idx="0" formatCode="0.0%">
                  <c:v>-0.14956</c:v>
                </c:pt>
                <c:pt idx="1">
                  <c:v>-0.13095999999999999</c:v>
                </c:pt>
                <c:pt idx="2">
                  <c:v>-5.0139999999999997E-2</c:v>
                </c:pt>
                <c:pt idx="3">
                  <c:v>-2.0449999999999999E-2</c:v>
                </c:pt>
                <c:pt idx="4">
                  <c:v>-0.10679</c:v>
                </c:pt>
                <c:pt idx="5">
                  <c:v>-0.17543</c:v>
                </c:pt>
                <c:pt idx="6">
                  <c:v>-8.2750000000000004E-2</c:v>
                </c:pt>
                <c:pt idx="7">
                  <c:v>-0.12416000000000001</c:v>
                </c:pt>
                <c:pt idx="8">
                  <c:v>-5.4829999999999997E-2</c:v>
                </c:pt>
                <c:pt idx="9">
                  <c:v>-6.7949999999999997E-2</c:v>
                </c:pt>
                <c:pt idx="10">
                  <c:v>-0.11144</c:v>
                </c:pt>
                <c:pt idx="11">
                  <c:v>-7.2510000000000005E-2</c:v>
                </c:pt>
                <c:pt idx="12">
                  <c:v>-0.19433</c:v>
                </c:pt>
              </c:numCache>
            </c:numRef>
          </c:val>
          <c:extLst>
            <c:ext xmlns:c16="http://schemas.microsoft.com/office/drawing/2014/chart" uri="{C3380CC4-5D6E-409C-BE32-E72D297353CC}">
              <c16:uniqueId val="{00000000-A671-4713-9528-E5E7D7BE7E47}"/>
            </c:ext>
          </c:extLst>
        </c:ser>
        <c:ser>
          <c:idx val="1"/>
          <c:order val="1"/>
          <c:tx>
            <c:strRef>
              <c:f>Sheet1!$C$1</c:f>
              <c:strCache>
                <c:ptCount val="1"/>
                <c:pt idx="0">
                  <c:v>3M</c:v>
                </c:pt>
              </c:strCache>
            </c:strRef>
          </c:tx>
          <c:spPr>
            <a:solidFill>
              <a:schemeClr val="tx2">
                <a:lumMod val="75000"/>
              </a:schemeClr>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Sheet1!$C$2:$C$15</c:f>
              <c:numCache>
                <c:formatCode>0%</c:formatCode>
                <c:ptCount val="14"/>
                <c:pt idx="0" formatCode="0.0%">
                  <c:v>-0.18276999999999999</c:v>
                </c:pt>
                <c:pt idx="1">
                  <c:v>5.6699999999999997E-3</c:v>
                </c:pt>
                <c:pt idx="2">
                  <c:v>-4.7989999999999998E-2</c:v>
                </c:pt>
                <c:pt idx="3">
                  <c:v>0.18648000000000001</c:v>
                </c:pt>
                <c:pt idx="4">
                  <c:v>2.137E-2</c:v>
                </c:pt>
                <c:pt idx="5">
                  <c:v>-8.7900000000000006E-2</c:v>
                </c:pt>
                <c:pt idx="6">
                  <c:v>9.6399999999999993E-3</c:v>
                </c:pt>
                <c:pt idx="7">
                  <c:v>-8.6790000000000006E-2</c:v>
                </c:pt>
                <c:pt idx="8">
                  <c:v>-1.125E-2</c:v>
                </c:pt>
                <c:pt idx="9">
                  <c:v>-0.1026</c:v>
                </c:pt>
                <c:pt idx="10">
                  <c:v>-5.4850000000000003E-2</c:v>
                </c:pt>
                <c:pt idx="11">
                  <c:v>5.0110000000000002E-2</c:v>
                </c:pt>
                <c:pt idx="12">
                  <c:v>-4.4229999999999998E-2</c:v>
                </c:pt>
              </c:numCache>
            </c:numRef>
          </c:val>
          <c:extLst>
            <c:ext xmlns:c16="http://schemas.microsoft.com/office/drawing/2014/chart" uri="{C3380CC4-5D6E-409C-BE32-E72D297353CC}">
              <c16:uniqueId val="{00000001-A671-4713-9528-E5E7D7BE7E47}"/>
            </c:ext>
          </c:extLst>
        </c:ser>
        <c:ser>
          <c:idx val="2"/>
          <c:order val="2"/>
          <c:tx>
            <c:strRef>
              <c:f>Sheet1!$D$1</c:f>
              <c:strCache>
                <c:ptCount val="1"/>
                <c:pt idx="0">
                  <c:v>1 Yr</c:v>
                </c:pt>
              </c:strCache>
            </c:strRef>
          </c:tx>
          <c:spPr>
            <a:solidFill>
              <a:schemeClr val="tx1"/>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Sheet1!$D$2:$D$15</c:f>
              <c:numCache>
                <c:formatCode>0%</c:formatCode>
                <c:ptCount val="14"/>
                <c:pt idx="0" formatCode="0.0%">
                  <c:v>-0.13105</c:v>
                </c:pt>
                <c:pt idx="1">
                  <c:v>0.23533999999999999</c:v>
                </c:pt>
                <c:pt idx="2">
                  <c:v>0.16320000000000001</c:v>
                </c:pt>
                <c:pt idx="3">
                  <c:v>0.47631000000000001</c:v>
                </c:pt>
                <c:pt idx="4">
                  <c:v>0.17680000000000001</c:v>
                </c:pt>
                <c:pt idx="5">
                  <c:v>7.0239999999999997E-2</c:v>
                </c:pt>
                <c:pt idx="6">
                  <c:v>0.21310999999999999</c:v>
                </c:pt>
                <c:pt idx="7">
                  <c:v>5.8680000000000003E-2</c:v>
                </c:pt>
                <c:pt idx="8">
                  <c:v>0.14768999999999999</c:v>
                </c:pt>
                <c:pt idx="9">
                  <c:v>-3.6720000000000003E-2</c:v>
                </c:pt>
                <c:pt idx="10">
                  <c:v>7.4450000000000002E-2</c:v>
                </c:pt>
                <c:pt idx="11">
                  <c:v>0.30937999999999999</c:v>
                </c:pt>
                <c:pt idx="12">
                  <c:v>0.45767000000000002</c:v>
                </c:pt>
              </c:numCache>
            </c:numRef>
          </c:val>
          <c:extLst>
            <c:ext xmlns:c16="http://schemas.microsoft.com/office/drawing/2014/chart" uri="{C3380CC4-5D6E-409C-BE32-E72D297353CC}">
              <c16:uniqueId val="{00000002-A671-4713-9528-E5E7D7BE7E47}"/>
            </c:ext>
          </c:extLst>
        </c:ser>
        <c:ser>
          <c:idx val="3"/>
          <c:order val="3"/>
          <c:tx>
            <c:strRef>
              <c:f>Sheet1!$E$1</c:f>
              <c:strCache>
                <c:ptCount val="1"/>
                <c:pt idx="0">
                  <c:v>Column1</c:v>
                </c:pt>
              </c:strCache>
            </c:strRef>
          </c:tx>
          <c:spPr>
            <a:solidFill>
              <a:schemeClr val="accent4"/>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Sheet1!$E$2:$E$15</c:f>
            </c:numRef>
          </c:val>
          <c:extLst>
            <c:ext xmlns:c16="http://schemas.microsoft.com/office/drawing/2014/chart" uri="{C3380CC4-5D6E-409C-BE32-E72D297353CC}">
              <c16:uniqueId val="{00000003-A671-4713-9528-E5E7D7BE7E47}"/>
            </c:ext>
          </c:extLst>
        </c:ser>
        <c:ser>
          <c:idx val="4"/>
          <c:order val="4"/>
          <c:tx>
            <c:strRef>
              <c:f>Sheet1!$F$1</c:f>
              <c:strCache>
                <c:ptCount val="1"/>
                <c:pt idx="0">
                  <c:v>Column2</c:v>
                </c:pt>
              </c:strCache>
            </c:strRef>
          </c:tx>
          <c:spPr>
            <a:solidFill>
              <a:schemeClr val="accent5"/>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Sheet1!$F$2:$F$15</c:f>
            </c:numRef>
          </c:val>
          <c:extLst>
            <c:ext xmlns:c16="http://schemas.microsoft.com/office/drawing/2014/chart" uri="{C3380CC4-5D6E-409C-BE32-E72D297353CC}">
              <c16:uniqueId val="{00000004-A671-4713-9528-E5E7D7BE7E47}"/>
            </c:ext>
          </c:extLst>
        </c:ser>
        <c:ser>
          <c:idx val="5"/>
          <c:order val="5"/>
          <c:tx>
            <c:strRef>
              <c:f>Sheet1!$G$1</c:f>
              <c:strCache>
                <c:ptCount val="1"/>
                <c:pt idx="0">
                  <c:v>Column3</c:v>
                </c:pt>
              </c:strCache>
            </c:strRef>
          </c:tx>
          <c:spPr>
            <a:solidFill>
              <a:schemeClr val="accent6"/>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Sheet1!$G$2:$G$15</c:f>
            </c:numRef>
          </c:val>
          <c:extLst>
            <c:ext xmlns:c16="http://schemas.microsoft.com/office/drawing/2014/chart" uri="{C3380CC4-5D6E-409C-BE32-E72D297353CC}">
              <c16:uniqueId val="{00000005-A671-4713-9528-E5E7D7BE7E47}"/>
            </c:ext>
          </c:extLst>
        </c:ser>
        <c:dLbls>
          <c:showLegendKey val="0"/>
          <c:showVal val="0"/>
          <c:showCatName val="0"/>
          <c:showSerName val="0"/>
          <c:showPercent val="0"/>
          <c:showBubbleSize val="0"/>
        </c:dLbls>
        <c:gapWidth val="150"/>
        <c:axId val="146150304"/>
        <c:axId val="146152264"/>
      </c:barChart>
      <c:catAx>
        <c:axId val="1461503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2264"/>
        <c:crosses val="autoZero"/>
        <c:auto val="1"/>
        <c:lblAlgn val="ctr"/>
        <c:lblOffset val="100"/>
        <c:noMultiLvlLbl val="0"/>
      </c:catAx>
      <c:valAx>
        <c:axId val="14615226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0304"/>
        <c:crosses val="autoZero"/>
        <c:crossBetween val="between"/>
      </c:valAx>
      <c:spPr>
        <a:noFill/>
        <a:ln>
          <a:noFill/>
        </a:ln>
        <a:effectLst/>
      </c:spPr>
    </c:plotArea>
    <c:legend>
      <c:legendPos val="b"/>
      <c:layout>
        <c:manualLayout>
          <c:xMode val="edge"/>
          <c:yMode val="edge"/>
          <c:x val="6.2121020520126573E-2"/>
          <c:y val="2.0658309199496495E-2"/>
          <c:w val="0.2218538041754437"/>
          <c:h val="8.2883265579998214E-2"/>
        </c:manualLayout>
      </c:layout>
      <c:overlay val="0"/>
      <c:spPr>
        <a:noFill/>
        <a:ln>
          <a:noFill/>
        </a:ln>
        <a:effectLst/>
      </c:spPr>
      <c:txPr>
        <a:bodyPr rot="0" spcFirstLastPara="1" vertOverflow="ellipsis" vert="horz" wrap="square" anchor="ctr" anchorCtr="1"/>
        <a:lstStyle/>
        <a:p>
          <a:pPr algn="ct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100" b="1" dirty="0">
                <a:solidFill>
                  <a:schemeClr val="tx1"/>
                </a:solidFill>
              </a:rPr>
              <a:t>FII &amp; DII Flows (Rs. Cr</a:t>
            </a:r>
            <a:r>
              <a:rPr lang="en-US" sz="1100" dirty="0">
                <a:solidFill>
                  <a:schemeClr val="tx1"/>
                </a:solidFill>
              </a:rPr>
              <a:t>)</a:t>
            </a:r>
          </a:p>
        </c:rich>
      </c:tx>
      <c:layout>
        <c:manualLayout>
          <c:xMode val="edge"/>
          <c:yMode val="edge"/>
          <c:x val="0.36684473454873756"/>
          <c:y val="3.2429289375413346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41800910207325E-2"/>
          <c:y val="0.15615770854730116"/>
          <c:w val="0.96920302680054904"/>
          <c:h val="0.72542394157252088"/>
        </c:manualLayout>
      </c:layout>
      <c:barChart>
        <c:barDir val="col"/>
        <c:grouping val="clustered"/>
        <c:varyColors val="0"/>
        <c:ser>
          <c:idx val="0"/>
          <c:order val="0"/>
          <c:tx>
            <c:strRef>
              <c:f>Sheet1!$B$1</c:f>
              <c:strCache>
                <c:ptCount val="1"/>
                <c:pt idx="0">
                  <c:v>FII</c:v>
                </c:pt>
              </c:strCache>
            </c:strRef>
          </c:tx>
          <c:spPr>
            <a:solidFill>
              <a:srgbClr val="FFC000"/>
            </a:solidFill>
            <a:ln>
              <a:noFill/>
            </a:ln>
            <a:effectLst/>
          </c:spPr>
          <c:invertIfNegative val="0"/>
          <c:dLbls>
            <c:dLbl>
              <c:idx val="35"/>
              <c:layout>
                <c:manualLayout>
                  <c:x val="-4.5871559633027525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0C-4FBA-922A-4E1B570CD1F7}"/>
                </c:ext>
              </c:extLst>
            </c:dLbl>
            <c:dLbl>
              <c:idx val="39"/>
              <c:layout>
                <c:manualLayout>
                  <c:x val="-2.2935779816513763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0C-4FBA-922A-4E1B570CD1F7}"/>
                </c:ext>
              </c:extLst>
            </c:dLbl>
            <c:dLbl>
              <c:idx val="40"/>
              <c:layout>
                <c:manualLayout>
                  <c:x val="-1.1467889908256881E-2"/>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0C-4FBA-922A-4E1B570CD1F7}"/>
                </c:ext>
              </c:extLst>
            </c:dLbl>
            <c:dLbl>
              <c:idx val="41"/>
              <c:layout>
                <c:manualLayout>
                  <c:x val="-2.2935779816514604E-3"/>
                  <c:y val="0.1811594202898550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0C-4FBA-922A-4E1B570CD1F7}"/>
                </c:ext>
              </c:extLst>
            </c:dLbl>
            <c:dLbl>
              <c:idx val="45"/>
              <c:layout>
                <c:manualLayout>
                  <c:x val="-2.2935779816514604E-3"/>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0C-4FBA-922A-4E1B570CD1F7}"/>
                </c:ext>
              </c:extLst>
            </c:dLbl>
            <c:dLbl>
              <c:idx val="47"/>
              <c:tx>
                <c:rich>
                  <a:bodyPr/>
                  <a:lstStyle/>
                  <a:p>
                    <a:fld id="{40504B35-5486-4C85-87CC-9C0C09B4AD00}"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D9-4CD0-A52B-0347B6F41E17}"/>
                </c:ext>
              </c:extLst>
            </c:dLbl>
            <c:dLbl>
              <c:idx val="49"/>
              <c:layout>
                <c:manualLayout>
                  <c:x val="-1.2860372366148675E-16"/>
                  <c:y val="-7.99203091979428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03A-4730-8491-839B87CC183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Sheet1!$A$2:$A$52</c:f>
              <c:numCache>
                <c:formatCode>mmm\-yy</c:formatCode>
                <c:ptCount val="51"/>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pt idx="49">
                  <c:v>46079</c:v>
                </c:pt>
                <c:pt idx="50">
                  <c:v>46107</c:v>
                </c:pt>
              </c:numCache>
            </c:numRef>
          </c:cat>
          <c:val>
            <c:numRef>
              <c:f>Sheet1!$B$2:$B$52</c:f>
              <c:numCache>
                <c:formatCode>#,##0</c:formatCode>
                <c:ptCount val="51"/>
                <c:pt idx="0">
                  <c:v>-33937.839999999997</c:v>
                </c:pt>
                <c:pt idx="1">
                  <c:v>-37688.959999999992</c:v>
                </c:pt>
                <c:pt idx="2">
                  <c:v>-28311.540000000008</c:v>
                </c:pt>
                <c:pt idx="3">
                  <c:v>-29145.690000000002</c:v>
                </c:pt>
                <c:pt idx="4">
                  <c:v>-37663.39</c:v>
                </c:pt>
                <c:pt idx="5">
                  <c:v>-49468.93</c:v>
                </c:pt>
                <c:pt idx="6">
                  <c:v>6719.7500000000009</c:v>
                </c:pt>
                <c:pt idx="7">
                  <c:v>53993.919999999998</c:v>
                </c:pt>
                <c:pt idx="8">
                  <c:v>-13405.81</c:v>
                </c:pt>
                <c:pt idx="9">
                  <c:v>8430.6</c:v>
                </c:pt>
                <c:pt idx="10">
                  <c:v>38234.9</c:v>
                </c:pt>
                <c:pt idx="11">
                  <c:v>-1353.71</c:v>
                </c:pt>
                <c:pt idx="12">
                  <c:v>-30167.1</c:v>
                </c:pt>
                <c:pt idx="13">
                  <c:v>-5279.04</c:v>
                </c:pt>
                <c:pt idx="14">
                  <c:v>14944.47</c:v>
                </c:pt>
                <c:pt idx="15">
                  <c:v>15733.42</c:v>
                </c:pt>
                <c:pt idx="16">
                  <c:v>38765.42</c:v>
                </c:pt>
                <c:pt idx="17">
                  <c:v>53297.71</c:v>
                </c:pt>
                <c:pt idx="18">
                  <c:v>33994</c:v>
                </c:pt>
                <c:pt idx="19">
                  <c:v>17041</c:v>
                </c:pt>
                <c:pt idx="20">
                  <c:v>-18894</c:v>
                </c:pt>
                <c:pt idx="21">
                  <c:v>-19623</c:v>
                </c:pt>
                <c:pt idx="22">
                  <c:v>16651.03</c:v>
                </c:pt>
                <c:pt idx="23">
                  <c:v>58498</c:v>
                </c:pt>
                <c:pt idx="24">
                  <c:v>-26111</c:v>
                </c:pt>
                <c:pt idx="25">
                  <c:v>4000</c:v>
                </c:pt>
                <c:pt idx="26">
                  <c:v>35282</c:v>
                </c:pt>
                <c:pt idx="27">
                  <c:v>-9175.5</c:v>
                </c:pt>
                <c:pt idx="28">
                  <c:v>-27437.35</c:v>
                </c:pt>
                <c:pt idx="29">
                  <c:v>25940.25</c:v>
                </c:pt>
                <c:pt idx="30">
                  <c:v>27957.71</c:v>
                </c:pt>
                <c:pt idx="31">
                  <c:v>13434.26</c:v>
                </c:pt>
                <c:pt idx="32">
                  <c:v>49792.84</c:v>
                </c:pt>
                <c:pt idx="33">
                  <c:v>-91933.64</c:v>
                </c:pt>
                <c:pt idx="34">
                  <c:v>-18258.59</c:v>
                </c:pt>
                <c:pt idx="35">
                  <c:v>11086</c:v>
                </c:pt>
                <c:pt idx="36">
                  <c:v>-72677.210000000006</c:v>
                </c:pt>
                <c:pt idx="37">
                  <c:v>-46599.08</c:v>
                </c:pt>
                <c:pt idx="38">
                  <c:v>-3973</c:v>
                </c:pt>
                <c:pt idx="39">
                  <c:v>6363.48</c:v>
                </c:pt>
                <c:pt idx="40">
                  <c:v>16441.330000000002</c:v>
                </c:pt>
                <c:pt idx="41">
                  <c:v>20423.64</c:v>
                </c:pt>
                <c:pt idx="42">
                  <c:v>-24723</c:v>
                </c:pt>
                <c:pt idx="43">
                  <c:v>-37823.040000000001</c:v>
                </c:pt>
                <c:pt idx="44">
                  <c:v>-18927.89</c:v>
                </c:pt>
                <c:pt idx="45">
                  <c:v>11049.62</c:v>
                </c:pt>
                <c:pt idx="46">
                  <c:v>332.86</c:v>
                </c:pt>
                <c:pt idx="47">
                  <c:v>-23824.75</c:v>
                </c:pt>
                <c:pt idx="48">
                  <c:v>-29487.33</c:v>
                </c:pt>
                <c:pt idx="49">
                  <c:v>5662.24</c:v>
                </c:pt>
                <c:pt idx="50">
                  <c:v>-101652.75</c:v>
                </c:pt>
              </c:numCache>
            </c:numRef>
          </c:val>
          <c:extLst>
            <c:ext xmlns:c16="http://schemas.microsoft.com/office/drawing/2014/chart" uri="{C3380CC4-5D6E-409C-BE32-E72D297353CC}">
              <c16:uniqueId val="{00000005-5F0C-4FBA-922A-4E1B570CD1F7}"/>
            </c:ext>
          </c:extLst>
        </c:ser>
        <c:ser>
          <c:idx val="1"/>
          <c:order val="1"/>
          <c:tx>
            <c:strRef>
              <c:f>Sheet1!$C$1</c:f>
              <c:strCache>
                <c:ptCount val="1"/>
                <c:pt idx="0">
                  <c:v>DII</c:v>
                </c:pt>
              </c:strCache>
            </c:strRef>
          </c:tx>
          <c:spPr>
            <a:solidFill>
              <a:schemeClr val="tx1"/>
            </a:solidFill>
            <a:ln>
              <a:noFill/>
            </a:ln>
            <a:effectLst/>
          </c:spPr>
          <c:invertIfNegative val="0"/>
          <c:dLbls>
            <c:dLbl>
              <c:idx val="47"/>
              <c:tx>
                <c:rich>
                  <a:bodyPr/>
                  <a:lstStyle/>
                  <a:p>
                    <a:fld id="{D43CB1DD-2BD6-4A46-A507-48B8E50AA0FF}"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B1D9-4CD0-A52B-0347B6F41E17}"/>
                </c:ext>
              </c:extLst>
            </c:dLbl>
            <c:spPr>
              <a:noFill/>
              <a:ln>
                <a:noFill/>
              </a:ln>
              <a:effectLst/>
            </c:spPr>
            <c:txPr>
              <a:bodyPr rot="0" spcFirstLastPara="1" vertOverflow="ellipsis" vert="horz" wrap="square" lIns="38100" tIns="19050" rIns="38100" bIns="19050" anchor="ctr" anchorCtr="0">
                <a:spAutoFit/>
              </a:bodyPr>
              <a:lstStyle/>
              <a:p>
                <a:pPr algn="ctr">
                  <a:defRPr lang="en-US"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Sheet1!$A$2:$A$52</c:f>
              <c:numCache>
                <c:formatCode>mmm\-yy</c:formatCode>
                <c:ptCount val="51"/>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pt idx="49">
                  <c:v>46079</c:v>
                </c:pt>
                <c:pt idx="50">
                  <c:v>46107</c:v>
                </c:pt>
              </c:numCache>
            </c:numRef>
          </c:cat>
          <c:val>
            <c:numRef>
              <c:f>Sheet1!$C$2:$C$52</c:f>
              <c:numCache>
                <c:formatCode>#,##0</c:formatCode>
                <c:ptCount val="51"/>
                <c:pt idx="0">
                  <c:v>16487.72</c:v>
                </c:pt>
                <c:pt idx="1">
                  <c:v>28180.59</c:v>
                </c:pt>
                <c:pt idx="2">
                  <c:v>22219.86</c:v>
                </c:pt>
                <c:pt idx="3">
                  <c:v>22371.17</c:v>
                </c:pt>
                <c:pt idx="4">
                  <c:v>29413.870000000003</c:v>
                </c:pt>
                <c:pt idx="5">
                  <c:v>22050.810000000005</c:v>
                </c:pt>
                <c:pt idx="6">
                  <c:v>4712.38</c:v>
                </c:pt>
                <c:pt idx="7">
                  <c:v>-1120.7800000000002</c:v>
                </c:pt>
                <c:pt idx="8">
                  <c:v>18601.739999999998</c:v>
                </c:pt>
                <c:pt idx="9">
                  <c:v>6317.63</c:v>
                </c:pt>
                <c:pt idx="10">
                  <c:v>1688.11</c:v>
                </c:pt>
                <c:pt idx="11">
                  <c:v>14692.33</c:v>
                </c:pt>
                <c:pt idx="12">
                  <c:v>17957.759999999998</c:v>
                </c:pt>
                <c:pt idx="13">
                  <c:v>12824.67</c:v>
                </c:pt>
                <c:pt idx="14">
                  <c:v>20764.3</c:v>
                </c:pt>
                <c:pt idx="15">
                  <c:v>-5131.05</c:v>
                </c:pt>
                <c:pt idx="16">
                  <c:v>2186.5500000000002</c:v>
                </c:pt>
                <c:pt idx="17">
                  <c:v>5664</c:v>
                </c:pt>
                <c:pt idx="18">
                  <c:v>7707.46</c:v>
                </c:pt>
                <c:pt idx="19">
                  <c:v>25500.85</c:v>
                </c:pt>
                <c:pt idx="20">
                  <c:v>20506</c:v>
                </c:pt>
                <c:pt idx="21">
                  <c:v>16916</c:v>
                </c:pt>
                <c:pt idx="22">
                  <c:v>18024</c:v>
                </c:pt>
                <c:pt idx="23">
                  <c:v>21750</c:v>
                </c:pt>
                <c:pt idx="24">
                  <c:v>23010.63</c:v>
                </c:pt>
                <c:pt idx="25">
                  <c:v>21983.15</c:v>
                </c:pt>
                <c:pt idx="26">
                  <c:v>45004</c:v>
                </c:pt>
                <c:pt idx="27">
                  <c:v>30995.45</c:v>
                </c:pt>
                <c:pt idx="28">
                  <c:v>45166</c:v>
                </c:pt>
                <c:pt idx="29">
                  <c:v>29312.93</c:v>
                </c:pt>
                <c:pt idx="30">
                  <c:v>20601.34</c:v>
                </c:pt>
                <c:pt idx="31">
                  <c:v>35396.71</c:v>
                </c:pt>
                <c:pt idx="32">
                  <c:v>30383.06</c:v>
                </c:pt>
                <c:pt idx="33">
                  <c:v>89740.4</c:v>
                </c:pt>
                <c:pt idx="34">
                  <c:v>32154.89</c:v>
                </c:pt>
                <c:pt idx="35">
                  <c:v>29159.08</c:v>
                </c:pt>
                <c:pt idx="36">
                  <c:v>57990.42</c:v>
                </c:pt>
                <c:pt idx="37">
                  <c:v>47933.81</c:v>
                </c:pt>
                <c:pt idx="38">
                  <c:v>8053.44</c:v>
                </c:pt>
                <c:pt idx="39">
                  <c:v>19099.919999999998</c:v>
                </c:pt>
                <c:pt idx="40">
                  <c:v>56302.02</c:v>
                </c:pt>
                <c:pt idx="41">
                  <c:v>45518.96</c:v>
                </c:pt>
                <c:pt idx="42">
                  <c:v>47585.7</c:v>
                </c:pt>
                <c:pt idx="43">
                  <c:v>65693.66</c:v>
                </c:pt>
                <c:pt idx="44">
                  <c:v>44582.2</c:v>
                </c:pt>
                <c:pt idx="45">
                  <c:v>20195.560000000001</c:v>
                </c:pt>
                <c:pt idx="46">
                  <c:v>39950.76</c:v>
                </c:pt>
                <c:pt idx="47" formatCode="_(* #,##0_);_(* \(#,##0\);_(* &quot;-&quot;??_);_(@_)">
                  <c:v>32629.54</c:v>
                </c:pt>
                <c:pt idx="48">
                  <c:v>42354.85</c:v>
                </c:pt>
                <c:pt idx="49">
                  <c:v>11180</c:v>
                </c:pt>
                <c:pt idx="50">
                  <c:v>75461.05</c:v>
                </c:pt>
              </c:numCache>
            </c:numRef>
          </c:val>
          <c:extLst>
            <c:ext xmlns:c16="http://schemas.microsoft.com/office/drawing/2014/chart" uri="{C3380CC4-5D6E-409C-BE32-E72D297353CC}">
              <c16:uniqueId val="{00000006-5F0C-4FBA-922A-4E1B570CD1F7}"/>
            </c:ext>
          </c:extLst>
        </c:ser>
        <c:dLbls>
          <c:dLblPos val="outEnd"/>
          <c:showLegendKey val="0"/>
          <c:showVal val="1"/>
          <c:showCatName val="0"/>
          <c:showSerName val="0"/>
          <c:showPercent val="0"/>
          <c:showBubbleSize val="0"/>
        </c:dLbls>
        <c:gapWidth val="219"/>
        <c:overlap val="-27"/>
        <c:axId val="146154616"/>
        <c:axId val="146155400"/>
      </c:barChart>
      <c:dateAx>
        <c:axId val="146154616"/>
        <c:scaling>
          <c:orientation val="minMax"/>
          <c:max val="46082"/>
          <c:min val="45717"/>
        </c:scaling>
        <c:delete val="0"/>
        <c:axPos val="b"/>
        <c:numFmt formatCode="mmm\-yy"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5400"/>
        <c:crosses val="autoZero"/>
        <c:auto val="1"/>
        <c:lblOffset val="100"/>
        <c:baseTimeUnit val="months"/>
      </c:dateAx>
      <c:valAx>
        <c:axId val="146155400"/>
        <c:scaling>
          <c:orientation val="minMax"/>
        </c:scaling>
        <c:delete val="1"/>
        <c:axPos val="l"/>
        <c:numFmt formatCode="#,##0" sourceLinked="1"/>
        <c:majorTickMark val="none"/>
        <c:minorTickMark val="none"/>
        <c:tickLblPos val="nextTo"/>
        <c:crossAx val="146154616"/>
        <c:crosses val="autoZero"/>
        <c:crossBetween val="between"/>
      </c:valAx>
      <c:spPr>
        <a:noFill/>
        <a:ln>
          <a:noFill/>
        </a:ln>
        <a:effectLst/>
      </c:spPr>
    </c:plotArea>
    <c:legend>
      <c:legendPos val="b"/>
      <c:layout>
        <c:manualLayout>
          <c:xMode val="edge"/>
          <c:yMode val="edge"/>
          <c:x val="0.76643125423682712"/>
          <c:y val="3.7478497254917163E-2"/>
          <c:w val="9.4216932745792098E-2"/>
          <c:h val="0.11353132488873674"/>
        </c:manualLayout>
      </c:layout>
      <c:overlay val="0"/>
      <c:spPr>
        <a:noFill/>
        <a:ln>
          <a:noFill/>
        </a:ln>
        <a:effectLst/>
      </c:spPr>
      <c:txPr>
        <a:bodyPr rot="0" spcFirstLastPara="1" vertOverflow="ellipsis" vert="horz" wrap="square" anchor="ctr" anchorCtr="1"/>
        <a:lstStyle/>
        <a:p>
          <a:pPr algn="ctr" rtl="0">
            <a:defRPr sz="8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solidFill>
        <a:schemeClr val="tx1"/>
      </a:solidFill>
      <a:round/>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400" dirty="0"/>
              <a:t>Monthly GST Collection (Rs in crores)</a:t>
            </a:r>
          </a:p>
        </c:rich>
      </c:tx>
      <c:layout>
        <c:manualLayout>
          <c:xMode val="edge"/>
          <c:yMode val="edge"/>
          <c:x val="0.2742814350400557"/>
          <c:y val="2.495093687669884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3735806339254609E-2"/>
          <c:y val="9.3927809428643191E-2"/>
          <c:w val="0.95304057819575061"/>
          <c:h val="0.77577729497991998"/>
        </c:manualLayout>
      </c:layout>
      <c:barChart>
        <c:barDir val="col"/>
        <c:grouping val="clustered"/>
        <c:varyColors val="0"/>
        <c:ser>
          <c:idx val="0"/>
          <c:order val="0"/>
          <c:tx>
            <c:strRef>
              <c:f>Sheet1!$D$1</c:f>
              <c:strCache>
                <c:ptCount val="1"/>
                <c:pt idx="0">
                  <c:v>2024-25</c:v>
                </c:pt>
              </c:strCache>
            </c:strRef>
          </c:tx>
          <c:spPr>
            <a:solidFill>
              <a:schemeClr val="bg2"/>
            </a:solidFill>
            <a:ln>
              <a:noFill/>
            </a:ln>
            <a:effectLst/>
          </c:spPr>
          <c:invertIfNegative val="0"/>
          <c:dLbls>
            <c:dLbl>
              <c:idx val="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0-1BFF-4A55-92EF-66A276AE285D}"/>
                </c:ext>
              </c:extLst>
            </c:dLbl>
            <c:dLbl>
              <c:idx val="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1BFF-4A55-92EF-66A276AE285D}"/>
                </c:ext>
              </c:extLst>
            </c:dLbl>
            <c:dLbl>
              <c:idx val="2"/>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2-1BFF-4A55-92EF-66A276AE285D}"/>
                </c:ext>
              </c:extLst>
            </c:dLbl>
            <c:dLbl>
              <c:idx val="3"/>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3-1BFF-4A55-92EF-66A276AE285D}"/>
                </c:ext>
              </c:extLst>
            </c:dLbl>
            <c:dLbl>
              <c:idx val="4"/>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4-1BFF-4A55-92EF-66A276AE285D}"/>
                </c:ext>
              </c:extLst>
            </c:dLbl>
            <c:dLbl>
              <c:idx val="5"/>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5-1BFF-4A55-92EF-66A276AE285D}"/>
                </c:ext>
              </c:extLst>
            </c:dLbl>
            <c:dLbl>
              <c:idx val="6"/>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6-1BFF-4A55-92EF-66A276AE285D}"/>
                </c:ext>
              </c:extLst>
            </c:dLbl>
            <c:dLbl>
              <c:idx val="7"/>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7-1BFF-4A55-92EF-66A276AE285D}"/>
                </c:ext>
              </c:extLst>
            </c:dLbl>
            <c:dLbl>
              <c:idx val="8"/>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8-1BFF-4A55-92EF-66A276AE285D}"/>
                </c:ext>
              </c:extLst>
            </c:dLbl>
            <c:dLbl>
              <c:idx val="9"/>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9-1BFF-4A55-92EF-66A276AE285D}"/>
                </c:ext>
              </c:extLst>
            </c:dLbl>
            <c:dLbl>
              <c:idx val="1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A-1BFF-4A55-92EF-66A276AE285D}"/>
                </c:ext>
              </c:extLst>
            </c:dLbl>
            <c:dLbl>
              <c:idx val="1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B-1BFF-4A55-92EF-66A276AE285D}"/>
                </c:ext>
              </c:extLst>
            </c:dLbl>
            <c:numFmt formatCode="#,##0" sourceLinked="0"/>
            <c:spPr>
              <a:solidFill>
                <a:schemeClr val="bg2"/>
              </a:solid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Sheet1!$D$2:$D$13</c:f>
              <c:numCache>
                <c:formatCode>General</c:formatCode>
                <c:ptCount val="12"/>
                <c:pt idx="0">
                  <c:v>210267</c:v>
                </c:pt>
                <c:pt idx="1">
                  <c:v>172739</c:v>
                </c:pt>
                <c:pt idx="2">
                  <c:v>174000</c:v>
                </c:pt>
                <c:pt idx="3">
                  <c:v>182000</c:v>
                </c:pt>
                <c:pt idx="4">
                  <c:v>175000</c:v>
                </c:pt>
                <c:pt idx="5">
                  <c:v>173240</c:v>
                </c:pt>
                <c:pt idx="6">
                  <c:v>187346</c:v>
                </c:pt>
                <c:pt idx="7">
                  <c:v>169016</c:v>
                </c:pt>
                <c:pt idx="8">
                  <c:v>176857</c:v>
                </c:pt>
                <c:pt idx="9">
                  <c:v>182094</c:v>
                </c:pt>
                <c:pt idx="10">
                  <c:v>169779</c:v>
                </c:pt>
                <c:pt idx="11">
                  <c:v>183845</c:v>
                </c:pt>
              </c:numCache>
            </c:numRef>
          </c:val>
          <c:extLst>
            <c:ext xmlns:c16="http://schemas.microsoft.com/office/drawing/2014/chart" uri="{C3380CC4-5D6E-409C-BE32-E72D297353CC}">
              <c16:uniqueId val="{0000000C-1BFF-4A55-92EF-66A276AE285D}"/>
            </c:ext>
          </c:extLst>
        </c:ser>
        <c:ser>
          <c:idx val="1"/>
          <c:order val="1"/>
          <c:tx>
            <c:strRef>
              <c:f>Sheet1!$E$1</c:f>
              <c:strCache>
                <c:ptCount val="1"/>
                <c:pt idx="0">
                  <c:v>2025-26</c:v>
                </c:pt>
              </c:strCache>
            </c:strRef>
          </c:tx>
          <c:spPr>
            <a:solidFill>
              <a:schemeClr val="bg1">
                <a:lumMod val="75000"/>
              </a:schemeClr>
            </a:solidFill>
            <a:ln>
              <a:noFill/>
            </a:ln>
            <a:effectLst/>
          </c:spPr>
          <c:invertIfNegative val="0"/>
          <c:dLbls>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Sheet1!$E$2:$E$13</c:f>
              <c:numCache>
                <c:formatCode>General</c:formatCode>
                <c:ptCount val="12"/>
                <c:pt idx="0">
                  <c:v>236716</c:v>
                </c:pt>
                <c:pt idx="1">
                  <c:v>201050</c:v>
                </c:pt>
                <c:pt idx="2">
                  <c:v>184597</c:v>
                </c:pt>
                <c:pt idx="3">
                  <c:v>195735</c:v>
                </c:pt>
                <c:pt idx="4">
                  <c:v>186315</c:v>
                </c:pt>
                <c:pt idx="5">
                  <c:v>189017</c:v>
                </c:pt>
                <c:pt idx="6">
                  <c:v>195936</c:v>
                </c:pt>
                <c:pt idx="7">
                  <c:v>170276</c:v>
                </c:pt>
                <c:pt idx="8">
                  <c:v>174550</c:v>
                </c:pt>
                <c:pt idx="9">
                  <c:v>193384</c:v>
                </c:pt>
                <c:pt idx="10">
                  <c:v>183609</c:v>
                </c:pt>
                <c:pt idx="11">
                  <c:v>200064</c:v>
                </c:pt>
              </c:numCache>
            </c:numRef>
          </c:val>
          <c:extLst>
            <c:ext xmlns:c16="http://schemas.microsoft.com/office/drawing/2014/chart" uri="{C3380CC4-5D6E-409C-BE32-E72D297353CC}">
              <c16:uniqueId val="{0000000D-1BFF-4A55-92EF-66A276AE285D}"/>
            </c:ext>
          </c:extLst>
        </c:ser>
        <c:dLbls>
          <c:showLegendKey val="0"/>
          <c:showVal val="0"/>
          <c:showCatName val="0"/>
          <c:showSerName val="0"/>
          <c:showPercent val="0"/>
          <c:showBubbleSize val="0"/>
        </c:dLbls>
        <c:gapWidth val="219"/>
        <c:overlap val="-27"/>
        <c:axId val="203214392"/>
        <c:axId val="203211648"/>
      </c:barChart>
      <c:dateAx>
        <c:axId val="203214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1648"/>
        <c:crosses val="autoZero"/>
        <c:auto val="0"/>
        <c:lblOffset val="100"/>
        <c:baseTimeUnit val="days"/>
      </c:dateAx>
      <c:valAx>
        <c:axId val="203211648"/>
        <c:scaling>
          <c:orientation val="minMax"/>
          <c:min val="80000"/>
        </c:scaling>
        <c:delete val="1"/>
        <c:axPos val="l"/>
        <c:numFmt formatCode="#,##0" sourceLinked="0"/>
        <c:majorTickMark val="none"/>
        <c:minorTickMark val="none"/>
        <c:tickLblPos val="nextTo"/>
        <c:crossAx val="203214392"/>
        <c:crosses val="autoZero"/>
        <c:crossBetween val="between"/>
        <c:majorUnit val="20000"/>
      </c:valAx>
      <c:spPr>
        <a:noFill/>
        <a:ln>
          <a:noFill/>
        </a:ln>
        <a:effectLst/>
      </c:spPr>
    </c:plotArea>
    <c:legend>
      <c:legendPos val="b"/>
      <c:layout>
        <c:manualLayout>
          <c:xMode val="edge"/>
          <c:yMode val="edge"/>
          <c:x val="0.22887791710205505"/>
          <c:y val="0.17273929550402556"/>
          <c:w val="0.17453450344136162"/>
          <c:h val="8.6325426631487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mpd="dbl">
      <a:solidFill>
        <a:schemeClr val="tx1"/>
      </a:solidFill>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296594976230517E-2"/>
          <c:y val="0.17944856706514523"/>
          <c:w val="0.96707811978301039"/>
          <c:h val="0.65522421834507594"/>
        </c:manualLayout>
      </c:layout>
      <c:barChart>
        <c:barDir val="col"/>
        <c:grouping val="clustered"/>
        <c:varyColors val="0"/>
        <c:ser>
          <c:idx val="0"/>
          <c:order val="0"/>
          <c:tx>
            <c:strRef>
              <c:f>Sheet1!$B$1</c:f>
              <c:strCache>
                <c:ptCount val="1"/>
                <c:pt idx="0">
                  <c:v> Manufacturing PMI </c:v>
                </c:pt>
              </c:strCache>
            </c:strRef>
          </c:tx>
          <c:spPr>
            <a:solidFill>
              <a:srgbClr val="FFC000"/>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Sheet1!$A$42:$A$55</c:f>
              <c:numCache>
                <c:formatCode>d\-mmm</c:formatCode>
                <c:ptCount val="14"/>
                <c:pt idx="0">
                  <c:v>45713</c:v>
                </c:pt>
                <c:pt idx="1">
                  <c:v>45741</c:v>
                </c:pt>
                <c:pt idx="2">
                  <c:v>45772</c:v>
                </c:pt>
                <c:pt idx="3">
                  <c:v>45808</c:v>
                </c:pt>
                <c:pt idx="4">
                  <c:v>45833</c:v>
                </c:pt>
                <c:pt idx="5">
                  <c:v>45863</c:v>
                </c:pt>
                <c:pt idx="6">
                  <c:v>45894</c:v>
                </c:pt>
                <c:pt idx="7">
                  <c:v>45925</c:v>
                </c:pt>
                <c:pt idx="8">
                  <c:v>45955</c:v>
                </c:pt>
                <c:pt idx="9">
                  <c:v>45986</c:v>
                </c:pt>
                <c:pt idx="10">
                  <c:v>46016</c:v>
                </c:pt>
                <c:pt idx="11">
                  <c:v>46048</c:v>
                </c:pt>
                <c:pt idx="12">
                  <c:v>46079</c:v>
                </c:pt>
                <c:pt idx="13">
                  <c:v>46107</c:v>
                </c:pt>
              </c:numCache>
            </c:numRef>
          </c:cat>
          <c:val>
            <c:numRef>
              <c:f>Sheet1!$B$42:$B$55</c:f>
              <c:numCache>
                <c:formatCode>_(* #,##0.00_);_(* \(#,##0.00\);_(* "-"??_);_(@_)</c:formatCode>
                <c:ptCount val="14"/>
                <c:pt idx="0">
                  <c:v>56.3</c:v>
                </c:pt>
                <c:pt idx="1">
                  <c:v>58.1</c:v>
                </c:pt>
                <c:pt idx="2">
                  <c:v>58.2</c:v>
                </c:pt>
                <c:pt idx="3">
                  <c:v>57.6</c:v>
                </c:pt>
                <c:pt idx="4">
                  <c:v>58.4</c:v>
                </c:pt>
                <c:pt idx="5">
                  <c:v>59.1</c:v>
                </c:pt>
                <c:pt idx="6">
                  <c:v>59.3</c:v>
                </c:pt>
                <c:pt idx="7">
                  <c:v>57.7</c:v>
                </c:pt>
                <c:pt idx="8">
                  <c:v>59.2</c:v>
                </c:pt>
                <c:pt idx="9">
                  <c:v>56.6</c:v>
                </c:pt>
                <c:pt idx="10" formatCode="0.00">
                  <c:v>55</c:v>
                </c:pt>
                <c:pt idx="11">
                  <c:v>55.4</c:v>
                </c:pt>
                <c:pt idx="12">
                  <c:v>56.9</c:v>
                </c:pt>
                <c:pt idx="13">
                  <c:v>53.9</c:v>
                </c:pt>
              </c:numCache>
            </c:numRef>
          </c:val>
          <c:extLst>
            <c:ext xmlns:c16="http://schemas.microsoft.com/office/drawing/2014/chart" uri="{C3380CC4-5D6E-409C-BE32-E72D297353CC}">
              <c16:uniqueId val="{00000000-CF1E-48AF-92E3-027FA3092AED}"/>
            </c:ext>
          </c:extLst>
        </c:ser>
        <c:ser>
          <c:idx val="1"/>
          <c:order val="1"/>
          <c:tx>
            <c:strRef>
              <c:f>Sheet1!$C$1</c:f>
              <c:strCache>
                <c:ptCount val="1"/>
                <c:pt idx="0">
                  <c:v>Service PMI</c:v>
                </c:pt>
              </c:strCache>
            </c:strRef>
          </c:tx>
          <c:spPr>
            <a:solidFill>
              <a:schemeClr val="bg1">
                <a:lumMod val="75000"/>
              </a:schemeClr>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Sheet1!$A$42:$A$55</c:f>
              <c:numCache>
                <c:formatCode>d\-mmm</c:formatCode>
                <c:ptCount val="14"/>
                <c:pt idx="0">
                  <c:v>45713</c:v>
                </c:pt>
                <c:pt idx="1">
                  <c:v>45741</c:v>
                </c:pt>
                <c:pt idx="2">
                  <c:v>45772</c:v>
                </c:pt>
                <c:pt idx="3">
                  <c:v>45808</c:v>
                </c:pt>
                <c:pt idx="4">
                  <c:v>45833</c:v>
                </c:pt>
                <c:pt idx="5">
                  <c:v>45863</c:v>
                </c:pt>
                <c:pt idx="6">
                  <c:v>45894</c:v>
                </c:pt>
                <c:pt idx="7">
                  <c:v>45925</c:v>
                </c:pt>
                <c:pt idx="8">
                  <c:v>45955</c:v>
                </c:pt>
                <c:pt idx="9">
                  <c:v>45986</c:v>
                </c:pt>
                <c:pt idx="10">
                  <c:v>46016</c:v>
                </c:pt>
                <c:pt idx="11">
                  <c:v>46048</c:v>
                </c:pt>
                <c:pt idx="12">
                  <c:v>46079</c:v>
                </c:pt>
                <c:pt idx="13">
                  <c:v>46107</c:v>
                </c:pt>
              </c:numCache>
            </c:numRef>
          </c:cat>
          <c:val>
            <c:numRef>
              <c:f>Sheet1!$C$42:$C$55</c:f>
              <c:numCache>
                <c:formatCode>General</c:formatCode>
                <c:ptCount val="14"/>
                <c:pt idx="0">
                  <c:v>58.8</c:v>
                </c:pt>
                <c:pt idx="1">
                  <c:v>58.5</c:v>
                </c:pt>
                <c:pt idx="2">
                  <c:v>58.7</c:v>
                </c:pt>
                <c:pt idx="3">
                  <c:v>58.8</c:v>
                </c:pt>
                <c:pt idx="4">
                  <c:v>60.4</c:v>
                </c:pt>
                <c:pt idx="5">
                  <c:v>60.5</c:v>
                </c:pt>
                <c:pt idx="6">
                  <c:v>62.5</c:v>
                </c:pt>
                <c:pt idx="7">
                  <c:v>61.6</c:v>
                </c:pt>
                <c:pt idx="8">
                  <c:v>58.9</c:v>
                </c:pt>
                <c:pt idx="9">
                  <c:v>59.8</c:v>
                </c:pt>
                <c:pt idx="10">
                  <c:v>58</c:v>
                </c:pt>
                <c:pt idx="11">
                  <c:v>58.5</c:v>
                </c:pt>
                <c:pt idx="12">
                  <c:v>58.1</c:v>
                </c:pt>
                <c:pt idx="13">
                  <c:v>57.5</c:v>
                </c:pt>
              </c:numCache>
            </c:numRef>
          </c:val>
          <c:extLst>
            <c:ext xmlns:c16="http://schemas.microsoft.com/office/drawing/2014/chart" uri="{C3380CC4-5D6E-409C-BE32-E72D297353CC}">
              <c16:uniqueId val="{00000001-CF1E-48AF-92E3-027FA3092AED}"/>
            </c:ext>
          </c:extLst>
        </c:ser>
        <c:dLbls>
          <c:showLegendKey val="0"/>
          <c:showVal val="0"/>
          <c:showCatName val="0"/>
          <c:showSerName val="0"/>
          <c:showPercent val="0"/>
          <c:showBubbleSize val="0"/>
        </c:dLbls>
        <c:gapWidth val="219"/>
        <c:overlap val="-27"/>
        <c:axId val="203217136"/>
        <c:axId val="203212432"/>
      </c:barChart>
      <c:dateAx>
        <c:axId val="203217136"/>
        <c:scaling>
          <c:orientation val="minMax"/>
          <c:max val="46082"/>
          <c:min val="45717"/>
        </c:scaling>
        <c:delete val="0"/>
        <c:axPos val="b"/>
        <c:numFmt formatCode="[$-409]mmm\-yy;@" sourceLinked="0"/>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2432"/>
        <c:crosses val="autoZero"/>
        <c:auto val="0"/>
        <c:lblOffset val="100"/>
        <c:baseTimeUnit val="months"/>
      </c:dateAx>
      <c:valAx>
        <c:axId val="203212432"/>
        <c:scaling>
          <c:orientation val="minMax"/>
          <c:min val="52"/>
        </c:scaling>
        <c:delete val="1"/>
        <c:axPos val="l"/>
        <c:numFmt formatCode="_(* #,##0.00_);_(* \(#,##0.00\);_(* &quot;-&quot;??_);_(@_)" sourceLinked="1"/>
        <c:majorTickMark val="none"/>
        <c:minorTickMark val="none"/>
        <c:tickLblPos val="nextTo"/>
        <c:crossAx val="203217136"/>
        <c:crosses val="autoZero"/>
        <c:crossBetween val="between"/>
        <c:majorUnit val="2"/>
      </c:valAx>
      <c:spPr>
        <a:noFill/>
        <a:ln w="25400">
          <a:noFill/>
        </a:ln>
        <a:effectLst/>
      </c:spPr>
    </c:plotArea>
    <c:legend>
      <c:legendPos val="b"/>
      <c:layout>
        <c:manualLayout>
          <c:xMode val="edge"/>
          <c:yMode val="edge"/>
          <c:x val="4.5653878487276638E-2"/>
          <c:y val="6.1388149090732126E-2"/>
          <c:w val="0.55895911579490887"/>
          <c:h val="8.3449682621843241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c:spPr>
  <c:txPr>
    <a:bodyPr/>
    <a:lstStyle/>
    <a:p>
      <a:pPr>
        <a:defRPr sz="8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FCD27F-1CE5-415B-ACB8-0A5C3E5B93E9}"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1FEC35B1-9147-47A1-AE7C-5D954D60E25C}">
      <dgm:prSet phldrT="[Text]" custT="1"/>
      <dgm:spPr>
        <a:solidFill>
          <a:schemeClr val="tx1"/>
        </a:solidFill>
      </dgm:spPr>
      <dgm:t>
        <a:bodyPr/>
        <a:lstStyle/>
        <a:p>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gm:t>
    </dgm:pt>
    <dgm:pt modelId="{C194B499-7B44-4BB8-9674-0A378851F704}" type="par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89DDF03F-6DC8-44F2-A41E-D5051ED2D1F0}" type="sib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34FB794-0F17-4C4B-81BB-90443F14226D}">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RBI injected liquidity via VRR and OMOs to offset tightness in Mar-26</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F840171C-A443-49D1-B18C-66D07CEEA250}" type="par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6CD333-F840-4315-85E8-A037F6A3D70D}" type="sib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0EDAEE4-A668-40C2-BF09-4F51903BAEB4}">
      <dgm:prSet phldrT="[Text]" custT="1"/>
      <dgm:spPr>
        <a:solidFill>
          <a:schemeClr val="bg1">
            <a:lumMod val="65000"/>
          </a:schemeClr>
        </a:solidFill>
      </dgm:spPr>
      <dgm:t>
        <a:bodyPr/>
        <a:lstStyle/>
        <a:p>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gm:t>
    </dgm:pt>
    <dgm:pt modelId="{7E2FEA2E-459E-4BD9-AE5E-EC0FA97608AB}" type="par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9B8F70-38D1-4902-98F6-A0812896ADBB}" type="sib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F7A8909-3B6D-4AF0-A11E-BF3EF9252D33}">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rates unchanged in Apr-26, maintains neutral stance </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413A9B4A-07E4-4BED-86E3-5CA7DE2FC5D3}" type="par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38BC8B9C-F25B-4F6D-BE48-06AA3ED6E461}" type="sib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5C782F8-4FB3-417E-BC74-3E9D60A4761B}">
      <dgm:prSet custT="1"/>
      <dgm:spPr>
        <a:solidFill>
          <a:schemeClr val="bg2"/>
        </a:solidFill>
      </dgm:spPr>
      <dgm: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gm:t>
    </dgm:pt>
    <dgm:pt modelId="{221DA5EF-100B-4195-8DAE-0E661E511B4B}" type="par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8CAC1E-B0A7-4EBD-AEC8-B5B6756A06DD}" type="sib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526C50-E77A-41BB-9582-FBDC4D52C0EA}">
      <dgm:prSet custT="1"/>
      <dgm:spPr>
        <a:solidFill>
          <a:schemeClr val="tx1"/>
        </a:solidFill>
      </dgm:spPr>
      <dgm: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gm:t>
    </dgm:pt>
    <dgm:pt modelId="{4CA67D3B-F473-4C68-A8A9-649E9DC992EC}" type="par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B36EA36-BB44-4925-82BE-B12F6B93545F}" type="sib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101AD256-0ECE-481B-8C26-C90B1EA79969}">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rose to  ~7% in Mar-26, pressured by soaring crude prices, weaker INR</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50A19A1D-28E4-439C-B218-27E77AFBD8B6}" type="par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7BE84C1-E328-4377-82C3-23E24A9BD9B9}" type="sib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418DA415-3471-48A2-8BB7-5F5F0F2305B3}">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Domestic equities remain volatile amid high valuations and escalating  Middle east tensions</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E66C7AC-D8AF-45BF-8BFF-3A645BABF5F2}" type="par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F8CC799-E71F-4DC5-A1BF-6B46F8BABD0F}" type="sib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C8DD43CC-58EE-41C8-B9DC-43860610FFB0}">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Mar-26, amid geopolitical risk</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B367E7FB-2D03-4BDD-84D9-5D181866B3C2}" type="parTrans" cxnId="{CBBC056E-BD75-490B-9B78-63BFA9D74F98}">
      <dgm:prSet/>
      <dgm:spPr/>
      <dgm:t>
        <a:bodyPr/>
        <a:lstStyle/>
        <a:p>
          <a:endParaRPr lang="en-US"/>
        </a:p>
      </dgm:t>
    </dgm:pt>
    <dgm:pt modelId="{1932BAC4-500F-48F0-8A1A-521F13F83BA2}" type="sibTrans" cxnId="{CBBC056E-BD75-490B-9B78-63BFA9D74F98}">
      <dgm:prSet/>
      <dgm:spPr/>
      <dgm:t>
        <a:bodyPr/>
        <a:lstStyle/>
        <a:p>
          <a:endParaRPr lang="en-US"/>
        </a:p>
      </dgm:t>
    </dgm:pt>
    <dgm:pt modelId="{FDB5D91C-9737-42AC-93AF-78FD4F0979B2}">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rose to ~4.5% in Mar-26, on sticky inflation and  higher  for longer interest rates ex</a:t>
          </a:r>
          <a:endParaRPr lang="en-US" sz="100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gm:t>
    </dgm:pt>
    <dgm:pt modelId="{3CABFE0E-7BF9-4C08-999A-8D000203BFFB}" type="parTrans" cxnId="{9E5B6502-E895-45D7-9FDE-D41071FFF2F9}">
      <dgm:prSet/>
      <dgm:spPr/>
      <dgm:t>
        <a:bodyPr/>
        <a:lstStyle/>
        <a:p>
          <a:endParaRPr lang="en-US"/>
        </a:p>
      </dgm:t>
    </dgm:pt>
    <dgm:pt modelId="{2556701D-BD34-4DF2-A176-953412D0E784}" type="sibTrans" cxnId="{9E5B6502-E895-45D7-9FDE-D41071FFF2F9}">
      <dgm:prSet/>
      <dgm:spPr/>
      <dgm:t>
        <a:bodyPr/>
        <a:lstStyle/>
        <a:p>
          <a:endParaRPr lang="en-US"/>
        </a:p>
      </dgm:t>
    </dgm:pt>
    <dgm:pt modelId="{23ECF797-B6B9-45AB-B19E-121073D0C222}">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Global markets remain unsettled amid rising Middle East and global trade uncertainty </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7C951EE-8E5B-494B-8D61-B15CDAF09585}" type="parTrans" cxnId="{3BE6F7C3-40A6-4FA7-AB1A-7B8206C38A1D}">
      <dgm:prSet/>
      <dgm:spPr/>
      <dgm:t>
        <a:bodyPr/>
        <a:lstStyle/>
        <a:p>
          <a:endParaRPr lang="en-US"/>
        </a:p>
      </dgm:t>
    </dgm:pt>
    <dgm:pt modelId="{3F3BBC79-0D69-4284-B7CB-14955A8361EC}" type="sibTrans" cxnId="{3BE6F7C3-40A6-4FA7-AB1A-7B8206C38A1D}">
      <dgm:prSet/>
      <dgm:spPr/>
      <dgm:t>
        <a:bodyPr/>
        <a:lstStyle/>
        <a:p>
          <a:endParaRPr lang="en-US"/>
        </a:p>
      </dgm:t>
    </dgm:pt>
    <dgm:pt modelId="{92CD2999-9042-4C8A-BF20-45F774828A05}">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Liquidity to remain sufficient amid rupee volatility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4162EF96-F262-4970-9194-B2D00D05B177}" type="sibTrans" cxnId="{6455739A-7081-4C10-9BC3-1F03E164FAFA}">
      <dgm:prSet/>
      <dgm:spPr/>
      <dgm:t>
        <a:bodyPr/>
        <a:lstStyle/>
        <a:p>
          <a:endParaRPr lang="en-US"/>
        </a:p>
      </dgm:t>
    </dgm:pt>
    <dgm:pt modelId="{2C04C16F-AAC4-4D07-A10A-3CCF05AD6139}" type="parTrans" cxnId="{6455739A-7081-4C10-9BC3-1F03E164FAFA}">
      <dgm:prSet/>
      <dgm:spPr/>
      <dgm:t>
        <a:bodyPr/>
        <a:lstStyle/>
        <a:p>
          <a:endParaRPr lang="en-US"/>
        </a:p>
      </dgm:t>
    </dgm:pt>
    <dgm:pt modelId="{E09C8E44-E9BA-4C00-BE50-7957EADE6D1A}">
      <dgm:prSet phldrT="[Text]" custT="1"/>
      <dgm:spPr>
        <a:solidFill>
          <a:schemeClr val="bg2"/>
        </a:solidFill>
      </dgm:spPr>
      <dgm:t>
        <a:bodyPr/>
        <a:lstStyle/>
        <a:p>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gm:t>
    </dgm:pt>
    <dgm:pt modelId="{41CCB44C-74E2-454F-BA07-D26BA7B68AC6}" type="sib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EF4EFFDF-1140-4B20-8AB2-F5D9DEF30092}" type="par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6914C3C6-9ADF-456D-9144-C11F06ECD3C3}">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India’s CPI rose to 3.21% (Feb-26), </a:t>
          </a:r>
          <a:r>
            <a:rPr lang="en-IN" sz="1000" dirty="0"/>
            <a:t>with core inflation remaining elevated, signalling persistent price pressures</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5C9325E3-CCCD-4D85-85D0-78F9A872D55B}" type="sib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7500A90-FF1D-497E-8BD3-14E10465EDDE}" type="par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C35EF413-0834-483B-9E3F-D35D11BDD597}">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US headline CPI  remains to 2.4% (Feb-26), led by cooling energy and goods prices</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6B7623E8-1C43-45EB-B3AB-02FBD79F4E8D}" type="sibTrans" cxnId="{9397BF4F-31B4-43DF-AED1-36216013D386}">
      <dgm:prSet/>
      <dgm:spPr/>
      <dgm:t>
        <a:bodyPr/>
        <a:lstStyle/>
        <a:p>
          <a:endParaRPr lang="en-US"/>
        </a:p>
      </dgm:t>
    </dgm:pt>
    <dgm:pt modelId="{8B135719-9701-4816-BBE8-779163697469}" type="parTrans" cxnId="{9397BF4F-31B4-43DF-AED1-36216013D386}">
      <dgm:prSet/>
      <dgm:spPr/>
      <dgm:t>
        <a:bodyPr/>
        <a:lstStyle/>
        <a:p>
          <a:endParaRPr lang="en-US"/>
        </a:p>
      </dgm:t>
    </dgm:pt>
    <dgm:pt modelId="{CFBEF807-85A7-47E8-8450-E7C94BF1F6F8}" type="pres">
      <dgm:prSet presAssocID="{19FCD27F-1CE5-415B-ACB8-0A5C3E5B93E9}" presName="Name0" presStyleCnt="0">
        <dgm:presLayoutVars>
          <dgm:dir/>
          <dgm:animLvl val="lvl"/>
          <dgm:resizeHandles val="exact"/>
        </dgm:presLayoutVars>
      </dgm:prSet>
      <dgm:spPr/>
    </dgm:pt>
    <dgm:pt modelId="{F8A7EED5-AD1C-4606-8F84-72642D631DFF}" type="pres">
      <dgm:prSet presAssocID="{E09C8E44-E9BA-4C00-BE50-7957EADE6D1A}" presName="linNode" presStyleCnt="0"/>
      <dgm:spPr/>
    </dgm:pt>
    <dgm:pt modelId="{BA6CE1E8-E35B-494E-8F9E-6082FFA7C39D}" type="pres">
      <dgm:prSet presAssocID="{E09C8E44-E9BA-4C00-BE50-7957EADE6D1A}" presName="parentText" presStyleLbl="node1" presStyleIdx="0" presStyleCnt="5" custScaleX="55317" custLinFactNeighborX="25" custLinFactNeighborY="-164">
        <dgm:presLayoutVars>
          <dgm:chMax val="1"/>
          <dgm:bulletEnabled val="1"/>
        </dgm:presLayoutVars>
      </dgm:prSet>
      <dgm:spPr/>
    </dgm:pt>
    <dgm:pt modelId="{DA931B39-482F-49D3-A948-4D0006D84345}" type="pres">
      <dgm:prSet presAssocID="{E09C8E44-E9BA-4C00-BE50-7957EADE6D1A}" presName="descendantText" presStyleLbl="alignAccFollowNode1" presStyleIdx="0" presStyleCnt="5" custScaleX="115334" custScaleY="112639">
        <dgm:presLayoutVars>
          <dgm:bulletEnabled val="1"/>
        </dgm:presLayoutVars>
      </dgm:prSet>
      <dgm:spPr/>
    </dgm:pt>
    <dgm:pt modelId="{09776274-6F27-403F-A851-FC0A8ECC41B3}" type="pres">
      <dgm:prSet presAssocID="{41CCB44C-74E2-454F-BA07-D26BA7B68AC6}" presName="sp" presStyleCnt="0"/>
      <dgm:spPr/>
    </dgm:pt>
    <dgm:pt modelId="{113E90EC-AFB2-446E-BCA0-004AE742C32F}" type="pres">
      <dgm:prSet presAssocID="{1FEC35B1-9147-47A1-AE7C-5D954D60E25C}" presName="linNode" presStyleCnt="0"/>
      <dgm:spPr/>
    </dgm:pt>
    <dgm:pt modelId="{4F5C1862-7C91-408E-BE9B-595AADD59ADD}" type="pres">
      <dgm:prSet presAssocID="{1FEC35B1-9147-47A1-AE7C-5D954D60E25C}" presName="parentText" presStyleLbl="node1" presStyleIdx="1" presStyleCnt="5" custScaleX="55317">
        <dgm:presLayoutVars>
          <dgm:chMax val="1"/>
          <dgm:bulletEnabled val="1"/>
        </dgm:presLayoutVars>
      </dgm:prSet>
      <dgm:spPr/>
    </dgm:pt>
    <dgm:pt modelId="{64EC0D4D-8F17-4312-8EC3-540AE7D77BD6}" type="pres">
      <dgm:prSet presAssocID="{1FEC35B1-9147-47A1-AE7C-5D954D60E25C}" presName="descendantText" presStyleLbl="alignAccFollowNode1" presStyleIdx="1" presStyleCnt="5" custScaleX="116220" custLinFactNeighborX="-1685" custLinFactNeighborY="-4396">
        <dgm:presLayoutVars>
          <dgm:bulletEnabled val="1"/>
        </dgm:presLayoutVars>
      </dgm:prSet>
      <dgm:spPr/>
    </dgm:pt>
    <dgm:pt modelId="{5F9FC963-5747-4B47-9207-83F05AF7323F}" type="pres">
      <dgm:prSet presAssocID="{89DDF03F-6DC8-44F2-A41E-D5051ED2D1F0}" presName="sp" presStyleCnt="0"/>
      <dgm:spPr/>
    </dgm:pt>
    <dgm:pt modelId="{7809419F-1694-4AE7-917F-B6313D7C4593}" type="pres">
      <dgm:prSet presAssocID="{A0EDAEE4-A668-40C2-BF09-4F51903BAEB4}" presName="linNode" presStyleCnt="0"/>
      <dgm:spPr/>
    </dgm:pt>
    <dgm:pt modelId="{A615328F-6E27-4EC6-BADB-D1A6A25A2B11}" type="pres">
      <dgm:prSet presAssocID="{A0EDAEE4-A668-40C2-BF09-4F51903BAEB4}" presName="parentText" presStyleLbl="node1" presStyleIdx="2" presStyleCnt="5" custScaleX="55317">
        <dgm:presLayoutVars>
          <dgm:chMax val="1"/>
          <dgm:bulletEnabled val="1"/>
        </dgm:presLayoutVars>
      </dgm:prSet>
      <dgm:spPr/>
    </dgm:pt>
    <dgm:pt modelId="{B0712708-6A42-4CBC-82DB-22D2FAD3BAE7}" type="pres">
      <dgm:prSet presAssocID="{A0EDAEE4-A668-40C2-BF09-4F51903BAEB4}" presName="descendantText" presStyleLbl="alignAccFollowNode1" presStyleIdx="2" presStyleCnt="5" custScaleX="114095">
        <dgm:presLayoutVars>
          <dgm:bulletEnabled val="1"/>
        </dgm:presLayoutVars>
      </dgm:prSet>
      <dgm:spPr/>
    </dgm:pt>
    <dgm:pt modelId="{2967583E-B15F-4665-A712-427240234858}" type="pres">
      <dgm:prSet presAssocID="{5A9B8F70-38D1-4902-98F6-A0812896ADBB}" presName="sp" presStyleCnt="0"/>
      <dgm:spPr/>
    </dgm:pt>
    <dgm:pt modelId="{0B19905A-1920-48B2-8A47-3A5CF3FF61C7}" type="pres">
      <dgm:prSet presAssocID="{95C782F8-4FB3-417E-BC74-3E9D60A4761B}" presName="linNode" presStyleCnt="0"/>
      <dgm:spPr/>
    </dgm:pt>
    <dgm:pt modelId="{69934606-21FB-4815-BC2B-3CE0D88084C6}" type="pres">
      <dgm:prSet presAssocID="{95C782F8-4FB3-417E-BC74-3E9D60A4761B}" presName="parentText" presStyleLbl="node1" presStyleIdx="3" presStyleCnt="5" custScaleX="55317">
        <dgm:presLayoutVars>
          <dgm:chMax val="1"/>
          <dgm:bulletEnabled val="1"/>
        </dgm:presLayoutVars>
      </dgm:prSet>
      <dgm:spPr/>
    </dgm:pt>
    <dgm:pt modelId="{7DA2FAD3-01FF-4501-8613-AA9FC08459C5}" type="pres">
      <dgm:prSet presAssocID="{95C782F8-4FB3-417E-BC74-3E9D60A4761B}" presName="descendantText" presStyleLbl="alignAccFollowNode1" presStyleIdx="3" presStyleCnt="5" custScaleX="114634">
        <dgm:presLayoutVars>
          <dgm:bulletEnabled val="1"/>
        </dgm:presLayoutVars>
      </dgm:prSet>
      <dgm:spPr/>
    </dgm:pt>
    <dgm:pt modelId="{9145F7A9-126A-4417-B19C-C3F4459D5FAB}" type="pres">
      <dgm:prSet presAssocID="{F38CAC1E-B0A7-4EBD-AEC8-B5B6756A06DD}" presName="sp" presStyleCnt="0"/>
      <dgm:spPr/>
    </dgm:pt>
    <dgm:pt modelId="{A69D04E3-9316-4250-A433-02A69865D502}" type="pres">
      <dgm:prSet presAssocID="{5A526C50-E77A-41BB-9582-FBDC4D52C0EA}" presName="linNode" presStyleCnt="0"/>
      <dgm:spPr/>
    </dgm:pt>
    <dgm:pt modelId="{BAE5F833-757C-48F1-840C-6B26D323D812}" type="pres">
      <dgm:prSet presAssocID="{5A526C50-E77A-41BB-9582-FBDC4D52C0EA}" presName="parentText" presStyleLbl="node1" presStyleIdx="4" presStyleCnt="5" custScaleX="55317">
        <dgm:presLayoutVars>
          <dgm:chMax val="1"/>
          <dgm:bulletEnabled val="1"/>
        </dgm:presLayoutVars>
      </dgm:prSet>
      <dgm:spPr/>
    </dgm:pt>
    <dgm:pt modelId="{76D6997D-CD2E-455F-A2A9-723E10F80EB0}" type="pres">
      <dgm:prSet presAssocID="{5A526C50-E77A-41BB-9582-FBDC4D52C0EA}" presName="descendantText" presStyleLbl="alignAccFollowNode1" presStyleIdx="4" presStyleCnt="5" custScaleX="113935" custScaleY="139525">
        <dgm:presLayoutVars>
          <dgm:bulletEnabled val="1"/>
        </dgm:presLayoutVars>
      </dgm:prSet>
      <dgm:spPr/>
    </dgm:pt>
  </dgm:ptLst>
  <dgm:cxnLst>
    <dgm:cxn modelId="{9E5B6502-E895-45D7-9FDE-D41071FFF2F9}" srcId="{95C782F8-4FB3-417E-BC74-3E9D60A4761B}" destId="{FDB5D91C-9737-42AC-93AF-78FD4F0979B2}" srcOrd="1" destOrd="0" parTransId="{3CABFE0E-7BF9-4C08-999A-8D000203BFFB}" sibTransId="{2556701D-BD34-4DF2-A176-953412D0E784}"/>
    <dgm:cxn modelId="{DA5E7905-EA77-42C1-AC09-7E66CFF62780}" type="presOf" srcId="{95C782F8-4FB3-417E-BC74-3E9D60A4761B}" destId="{69934606-21FB-4815-BC2B-3CE0D88084C6}" srcOrd="0" destOrd="0" presId="urn:microsoft.com/office/officeart/2005/8/layout/vList5"/>
    <dgm:cxn modelId="{2A90BD05-4399-45F9-B96B-3B2B5C6DC6D4}" type="presOf" srcId="{23ECF797-B6B9-45AB-B19E-121073D0C222}" destId="{76D6997D-CD2E-455F-A2A9-723E10F80EB0}" srcOrd="0" destOrd="1" presId="urn:microsoft.com/office/officeart/2005/8/layout/vList5"/>
    <dgm:cxn modelId="{67274D08-BCBB-4651-A1BF-713EF9BEF183}" srcId="{19FCD27F-1CE5-415B-ACB8-0A5C3E5B93E9}" destId="{1FEC35B1-9147-47A1-AE7C-5D954D60E25C}" srcOrd="1" destOrd="0" parTransId="{C194B499-7B44-4BB8-9674-0A378851F704}" sibTransId="{89DDF03F-6DC8-44F2-A41E-D5051ED2D1F0}"/>
    <dgm:cxn modelId="{EF039814-1778-4C2D-ADAE-2E3F068216A7}" type="presOf" srcId="{418DA415-3471-48A2-8BB7-5F5F0F2305B3}" destId="{76D6997D-CD2E-455F-A2A9-723E10F80EB0}" srcOrd="0" destOrd="0" presId="urn:microsoft.com/office/officeart/2005/8/layout/vList5"/>
    <dgm:cxn modelId="{5E132F2D-8925-494E-8F89-03B33D8A7208}" srcId="{5A526C50-E77A-41BB-9582-FBDC4D52C0EA}" destId="{418DA415-3471-48A2-8BB7-5F5F0F2305B3}" srcOrd="0" destOrd="0" parTransId="{AE66C7AC-D8AF-45BF-8BFF-3A645BABF5F2}" sibTransId="{AF8CC799-E71F-4DC5-A1BF-6B46F8BABD0F}"/>
    <dgm:cxn modelId="{BEADEF3B-E5A9-4B02-AE4F-8D7A46E7DA2D}" type="presOf" srcId="{C8DD43CC-58EE-41C8-B9DC-43860610FFB0}" destId="{B0712708-6A42-4CBC-82DB-22D2FAD3BAE7}" srcOrd="0" destOrd="1" presId="urn:microsoft.com/office/officeart/2005/8/layout/vList5"/>
    <dgm:cxn modelId="{43D4904C-1CD1-4E77-A947-B36B1C508DEC}" type="presOf" srcId="{19FCD27F-1CE5-415B-ACB8-0A5C3E5B93E9}" destId="{CFBEF807-85A7-47E8-8450-E7C94BF1F6F8}" srcOrd="0" destOrd="0" presId="urn:microsoft.com/office/officeart/2005/8/layout/vList5"/>
    <dgm:cxn modelId="{CBBC056E-BD75-490B-9B78-63BFA9D74F98}" srcId="{A0EDAEE4-A668-40C2-BF09-4F51903BAEB4}" destId="{C8DD43CC-58EE-41C8-B9DC-43860610FFB0}" srcOrd="1" destOrd="0" parTransId="{B367E7FB-2D03-4BDD-84D9-5D181866B3C2}" sibTransId="{1932BAC4-500F-48F0-8A1A-521F13F83BA2}"/>
    <dgm:cxn modelId="{EA74136E-9C3D-4355-AC3F-78AF7E575D06}" srcId="{95C782F8-4FB3-417E-BC74-3E9D60A4761B}" destId="{101AD256-0ECE-481B-8C26-C90B1EA79969}" srcOrd="0" destOrd="0" parTransId="{50A19A1D-28E4-439C-B218-27E77AFBD8B6}" sibTransId="{57BE84C1-E328-4377-82C3-23E24A9BD9B9}"/>
    <dgm:cxn modelId="{9397BF4F-31B4-43DF-AED1-36216013D386}" srcId="{E09C8E44-E9BA-4C00-BE50-7957EADE6D1A}" destId="{C35EF413-0834-483B-9E3F-D35D11BDD597}" srcOrd="1" destOrd="0" parTransId="{8B135719-9701-4816-BBE8-779163697469}" sibTransId="{6B7623E8-1C43-45EB-B3AB-02FBD79F4E8D}"/>
    <dgm:cxn modelId="{F14BE675-AEE7-47DA-BB09-DBCC8F0249B0}" type="presOf" srcId="{5A526C50-E77A-41BB-9582-FBDC4D52C0EA}" destId="{BAE5F833-757C-48F1-840C-6B26D323D812}" srcOrd="0" destOrd="0" presId="urn:microsoft.com/office/officeart/2005/8/layout/vList5"/>
    <dgm:cxn modelId="{90340757-3B7D-45EB-85AD-96C6053FB371}" srcId="{19FCD27F-1CE5-415B-ACB8-0A5C3E5B93E9}" destId="{95C782F8-4FB3-417E-BC74-3E9D60A4761B}" srcOrd="3" destOrd="0" parTransId="{221DA5EF-100B-4195-8DAE-0E661E511B4B}" sibTransId="{F38CAC1E-B0A7-4EBD-AEC8-B5B6756A06DD}"/>
    <dgm:cxn modelId="{EDC8707A-1C00-4499-96FA-226E509653F2}" type="presOf" srcId="{FDB5D91C-9737-42AC-93AF-78FD4F0979B2}" destId="{7DA2FAD3-01FF-4501-8613-AA9FC08459C5}" srcOrd="0" destOrd="1" presId="urn:microsoft.com/office/officeart/2005/8/layout/vList5"/>
    <dgm:cxn modelId="{CD7D0A85-E078-4080-8A69-00302D4C21DE}" srcId="{E09C8E44-E9BA-4C00-BE50-7957EADE6D1A}" destId="{6914C3C6-9ADF-456D-9144-C11F06ECD3C3}" srcOrd="0" destOrd="0" parTransId="{F7500A90-FF1D-497E-8BD3-14E10465EDDE}" sibTransId="{5C9325E3-CCCD-4D85-85D0-78F9A872D55B}"/>
    <dgm:cxn modelId="{21BDCE92-F92F-4D31-8326-A2BF69C4D057}" srcId="{A0EDAEE4-A668-40C2-BF09-4F51903BAEB4}" destId="{9F7A8909-3B6D-4AF0-A11E-BF3EF9252D33}" srcOrd="0" destOrd="0" parTransId="{413A9B4A-07E4-4BED-86E3-5CA7DE2FC5D3}" sibTransId="{38BC8B9C-F25B-4F6D-BE48-06AA3ED6E461}"/>
    <dgm:cxn modelId="{6455739A-7081-4C10-9BC3-1F03E164FAFA}" srcId="{1FEC35B1-9147-47A1-AE7C-5D954D60E25C}" destId="{92CD2999-9042-4C8A-BF20-45F774828A05}" srcOrd="1" destOrd="0" parTransId="{2C04C16F-AAC4-4D07-A10A-3CCF05AD6139}" sibTransId="{4162EF96-F262-4970-9194-B2D00D05B177}"/>
    <dgm:cxn modelId="{C39286AB-DE45-448C-890B-E1ED66D5159D}" srcId="{19FCD27F-1CE5-415B-ACB8-0A5C3E5B93E9}" destId="{A0EDAEE4-A668-40C2-BF09-4F51903BAEB4}" srcOrd="2" destOrd="0" parTransId="{7E2FEA2E-459E-4BD9-AE5E-EC0FA97608AB}" sibTransId="{5A9B8F70-38D1-4902-98F6-A0812896ADBB}"/>
    <dgm:cxn modelId="{8FFA08B1-E424-45E3-AA90-1237D79FAA91}" type="presOf" srcId="{101AD256-0ECE-481B-8C26-C90B1EA79969}" destId="{7DA2FAD3-01FF-4501-8613-AA9FC08459C5}" srcOrd="0" destOrd="0" presId="urn:microsoft.com/office/officeart/2005/8/layout/vList5"/>
    <dgm:cxn modelId="{F1BBAABA-DAC3-4AD0-BF89-55C261FF6A50}" type="presOf" srcId="{A0EDAEE4-A668-40C2-BF09-4F51903BAEB4}" destId="{A615328F-6E27-4EC6-BADB-D1A6A25A2B11}" srcOrd="0" destOrd="0" presId="urn:microsoft.com/office/officeart/2005/8/layout/vList5"/>
    <dgm:cxn modelId="{BE806CBD-8E6B-4240-8A6A-BA253475A6ED}" type="presOf" srcId="{1FEC35B1-9147-47A1-AE7C-5D954D60E25C}" destId="{4F5C1862-7C91-408E-BE9B-595AADD59ADD}" srcOrd="0" destOrd="0" presId="urn:microsoft.com/office/officeart/2005/8/layout/vList5"/>
    <dgm:cxn modelId="{3BE6F7C3-40A6-4FA7-AB1A-7B8206C38A1D}" srcId="{5A526C50-E77A-41BB-9582-FBDC4D52C0EA}" destId="{23ECF797-B6B9-45AB-B19E-121073D0C222}" srcOrd="1" destOrd="0" parTransId="{A7C951EE-8E5B-494B-8D61-B15CDAF09585}" sibTransId="{3F3BBC79-0D69-4284-B7CB-14955A8361EC}"/>
    <dgm:cxn modelId="{D2D76CCA-6826-47AA-ADD8-FC41683E0B61}" type="presOf" srcId="{92CD2999-9042-4C8A-BF20-45F774828A05}" destId="{64EC0D4D-8F17-4312-8EC3-540AE7D77BD6}" srcOrd="0" destOrd="1" presId="urn:microsoft.com/office/officeart/2005/8/layout/vList5"/>
    <dgm:cxn modelId="{6B15F3CB-1075-4E94-B70B-BA594A8401EC}" type="presOf" srcId="{C35EF413-0834-483B-9E3F-D35D11BDD597}" destId="{DA931B39-482F-49D3-A948-4D0006D84345}" srcOrd="0" destOrd="1" presId="urn:microsoft.com/office/officeart/2005/8/layout/vList5"/>
    <dgm:cxn modelId="{97FA1CCF-EA89-43EB-B756-3A9F6715F1F8}" type="presOf" srcId="{6914C3C6-9ADF-456D-9144-C11F06ECD3C3}" destId="{DA931B39-482F-49D3-A948-4D0006D84345}" srcOrd="0" destOrd="0" presId="urn:microsoft.com/office/officeart/2005/8/layout/vList5"/>
    <dgm:cxn modelId="{650171D2-CCBD-453D-BB5B-31EC244064BB}" srcId="{1FEC35B1-9147-47A1-AE7C-5D954D60E25C}" destId="{A34FB794-0F17-4C4B-81BB-90443F14226D}" srcOrd="0" destOrd="0" parTransId="{F840171C-A443-49D1-B18C-66D07CEEA250}" sibTransId="{F36CD333-F840-4315-85E8-A037F6A3D70D}"/>
    <dgm:cxn modelId="{EA6C78E0-E107-4C9A-A1F7-6CD910F9EEE2}" srcId="{19FCD27F-1CE5-415B-ACB8-0A5C3E5B93E9}" destId="{5A526C50-E77A-41BB-9582-FBDC4D52C0EA}" srcOrd="4" destOrd="0" parTransId="{4CA67D3B-F473-4C68-A8A9-649E9DC992EC}" sibTransId="{FB36EA36-BB44-4925-82BE-B12F6B93545F}"/>
    <dgm:cxn modelId="{8619D4EF-E090-4715-AD99-2C45E8DB2F0D}" srcId="{19FCD27F-1CE5-415B-ACB8-0A5C3E5B93E9}" destId="{E09C8E44-E9BA-4C00-BE50-7957EADE6D1A}" srcOrd="0" destOrd="0" parTransId="{EF4EFFDF-1140-4B20-8AB2-F5D9DEF30092}" sibTransId="{41CCB44C-74E2-454F-BA07-D26BA7B68AC6}"/>
    <dgm:cxn modelId="{50C2D6F0-D6E4-4FCB-9FB6-14FC9424E78A}" type="presOf" srcId="{9F7A8909-3B6D-4AF0-A11E-BF3EF9252D33}" destId="{B0712708-6A42-4CBC-82DB-22D2FAD3BAE7}" srcOrd="0" destOrd="0" presId="urn:microsoft.com/office/officeart/2005/8/layout/vList5"/>
    <dgm:cxn modelId="{5D3F21F4-0D11-40DC-9806-47DB3E164FF8}" type="presOf" srcId="{A34FB794-0F17-4C4B-81BB-90443F14226D}" destId="{64EC0D4D-8F17-4312-8EC3-540AE7D77BD6}" srcOrd="0" destOrd="0" presId="urn:microsoft.com/office/officeart/2005/8/layout/vList5"/>
    <dgm:cxn modelId="{062329F4-6DCC-4A1E-AFE4-9DFAAC417935}" type="presOf" srcId="{E09C8E44-E9BA-4C00-BE50-7957EADE6D1A}" destId="{BA6CE1E8-E35B-494E-8F9E-6082FFA7C39D}" srcOrd="0" destOrd="0" presId="urn:microsoft.com/office/officeart/2005/8/layout/vList5"/>
    <dgm:cxn modelId="{0FDA2A53-993F-4425-A253-BD24ED960D04}" type="presParOf" srcId="{CFBEF807-85A7-47E8-8450-E7C94BF1F6F8}" destId="{F8A7EED5-AD1C-4606-8F84-72642D631DFF}" srcOrd="0" destOrd="0" presId="urn:microsoft.com/office/officeart/2005/8/layout/vList5"/>
    <dgm:cxn modelId="{0353443C-FF75-478E-8016-FAEA0B8D7A1E}" type="presParOf" srcId="{F8A7EED5-AD1C-4606-8F84-72642D631DFF}" destId="{BA6CE1E8-E35B-494E-8F9E-6082FFA7C39D}" srcOrd="0" destOrd="0" presId="urn:microsoft.com/office/officeart/2005/8/layout/vList5"/>
    <dgm:cxn modelId="{DE3B830E-B02F-4CD0-BD70-48547672D814}" type="presParOf" srcId="{F8A7EED5-AD1C-4606-8F84-72642D631DFF}" destId="{DA931B39-482F-49D3-A948-4D0006D84345}" srcOrd="1" destOrd="0" presId="urn:microsoft.com/office/officeart/2005/8/layout/vList5"/>
    <dgm:cxn modelId="{92033485-F18A-407B-96A0-1BCD5AC10F7E}" type="presParOf" srcId="{CFBEF807-85A7-47E8-8450-E7C94BF1F6F8}" destId="{09776274-6F27-403F-A851-FC0A8ECC41B3}" srcOrd="1" destOrd="0" presId="urn:microsoft.com/office/officeart/2005/8/layout/vList5"/>
    <dgm:cxn modelId="{0495EA29-7DD2-46F1-BD51-CC55431BEB8A}" type="presParOf" srcId="{CFBEF807-85A7-47E8-8450-E7C94BF1F6F8}" destId="{113E90EC-AFB2-446E-BCA0-004AE742C32F}" srcOrd="2" destOrd="0" presId="urn:microsoft.com/office/officeart/2005/8/layout/vList5"/>
    <dgm:cxn modelId="{A57F7D96-A92A-4570-8A48-5F166DEC9703}" type="presParOf" srcId="{113E90EC-AFB2-446E-BCA0-004AE742C32F}" destId="{4F5C1862-7C91-408E-BE9B-595AADD59ADD}" srcOrd="0" destOrd="0" presId="urn:microsoft.com/office/officeart/2005/8/layout/vList5"/>
    <dgm:cxn modelId="{29C4161F-2A3C-499A-B404-F32269AF3C97}" type="presParOf" srcId="{113E90EC-AFB2-446E-BCA0-004AE742C32F}" destId="{64EC0D4D-8F17-4312-8EC3-540AE7D77BD6}" srcOrd="1" destOrd="0" presId="urn:microsoft.com/office/officeart/2005/8/layout/vList5"/>
    <dgm:cxn modelId="{2109AC77-8AF1-4E2E-98D8-48DFB296A3F1}" type="presParOf" srcId="{CFBEF807-85A7-47E8-8450-E7C94BF1F6F8}" destId="{5F9FC963-5747-4B47-9207-83F05AF7323F}" srcOrd="3" destOrd="0" presId="urn:microsoft.com/office/officeart/2005/8/layout/vList5"/>
    <dgm:cxn modelId="{7533EF07-E5C5-495E-A239-AED740080C4D}" type="presParOf" srcId="{CFBEF807-85A7-47E8-8450-E7C94BF1F6F8}" destId="{7809419F-1694-4AE7-917F-B6313D7C4593}" srcOrd="4" destOrd="0" presId="urn:microsoft.com/office/officeart/2005/8/layout/vList5"/>
    <dgm:cxn modelId="{C825EBCB-7857-4B4F-AD22-36FA3B2EFB08}" type="presParOf" srcId="{7809419F-1694-4AE7-917F-B6313D7C4593}" destId="{A615328F-6E27-4EC6-BADB-D1A6A25A2B11}" srcOrd="0" destOrd="0" presId="urn:microsoft.com/office/officeart/2005/8/layout/vList5"/>
    <dgm:cxn modelId="{735883B3-5178-42AE-A156-CDB906F3324F}" type="presParOf" srcId="{7809419F-1694-4AE7-917F-B6313D7C4593}" destId="{B0712708-6A42-4CBC-82DB-22D2FAD3BAE7}" srcOrd="1" destOrd="0" presId="urn:microsoft.com/office/officeart/2005/8/layout/vList5"/>
    <dgm:cxn modelId="{D7A0658D-9B72-4D50-BEC4-5F9B6945D53B}" type="presParOf" srcId="{CFBEF807-85A7-47E8-8450-E7C94BF1F6F8}" destId="{2967583E-B15F-4665-A712-427240234858}" srcOrd="5" destOrd="0" presId="urn:microsoft.com/office/officeart/2005/8/layout/vList5"/>
    <dgm:cxn modelId="{6909188A-F93E-426E-80CD-AF15867C00E9}" type="presParOf" srcId="{CFBEF807-85A7-47E8-8450-E7C94BF1F6F8}" destId="{0B19905A-1920-48B2-8A47-3A5CF3FF61C7}" srcOrd="6" destOrd="0" presId="urn:microsoft.com/office/officeart/2005/8/layout/vList5"/>
    <dgm:cxn modelId="{F4FE2360-5BEE-4AB0-A86F-50512B152E88}" type="presParOf" srcId="{0B19905A-1920-48B2-8A47-3A5CF3FF61C7}" destId="{69934606-21FB-4815-BC2B-3CE0D88084C6}" srcOrd="0" destOrd="0" presId="urn:microsoft.com/office/officeart/2005/8/layout/vList5"/>
    <dgm:cxn modelId="{84C6BB7D-46C7-4597-BB4A-09B54D3B7505}" type="presParOf" srcId="{0B19905A-1920-48B2-8A47-3A5CF3FF61C7}" destId="{7DA2FAD3-01FF-4501-8613-AA9FC08459C5}" srcOrd="1" destOrd="0" presId="urn:microsoft.com/office/officeart/2005/8/layout/vList5"/>
    <dgm:cxn modelId="{F5EB5167-2C6E-4BB2-B72C-225195E54B24}" type="presParOf" srcId="{CFBEF807-85A7-47E8-8450-E7C94BF1F6F8}" destId="{9145F7A9-126A-4417-B19C-C3F4459D5FAB}" srcOrd="7" destOrd="0" presId="urn:microsoft.com/office/officeart/2005/8/layout/vList5"/>
    <dgm:cxn modelId="{EBF870F2-51C2-438E-BC27-829C96E02310}" type="presParOf" srcId="{CFBEF807-85A7-47E8-8450-E7C94BF1F6F8}" destId="{A69D04E3-9316-4250-A433-02A69865D502}" srcOrd="8" destOrd="0" presId="urn:microsoft.com/office/officeart/2005/8/layout/vList5"/>
    <dgm:cxn modelId="{BD5780C0-70E9-4C7A-BFD1-6668ACA1F36D}" type="presParOf" srcId="{A69D04E3-9316-4250-A433-02A69865D502}" destId="{BAE5F833-757C-48F1-840C-6B26D323D812}" srcOrd="0" destOrd="0" presId="urn:microsoft.com/office/officeart/2005/8/layout/vList5"/>
    <dgm:cxn modelId="{1D2F44DB-F234-4126-B8E1-44E5B6E69FEE}" type="presParOf" srcId="{A69D04E3-9316-4250-A433-02A69865D502}" destId="{76D6997D-CD2E-455F-A2A9-723E10F80EB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31B39-482F-49D3-A948-4D0006D84345}">
      <dsp:nvSpPr>
        <dsp:cNvPr id="0" name=""/>
        <dsp:cNvSpPr/>
      </dsp:nvSpPr>
      <dsp:spPr>
        <a:xfrm rot="5400000">
          <a:off x="4489952" y="-2628189"/>
          <a:ext cx="601153" cy="5925691"/>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India’s CPI rose to 3.21% (Feb-26), </a:t>
          </a:r>
          <a:r>
            <a:rPr lang="en-IN" sz="1000" kern="1200" dirty="0"/>
            <a:t>with core inflation remaining elevated, signalling persistent price pressures</a:t>
          </a:r>
          <a:endParaRPr lang="en-US" sz="1000" kern="1200" dirty="0">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US headline CPI  remains to 2.4% (Feb-26), led by cooling energy and goods prices</a:t>
          </a:r>
          <a:endParaRPr lang="en-US" sz="10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827683" y="63426"/>
        <a:ext cx="5896345" cy="542461"/>
      </dsp:txXfrm>
    </dsp:sp>
    <dsp:sp modelId="{BA6CE1E8-E35B-494E-8F9E-6082FFA7C39D}">
      <dsp:nvSpPr>
        <dsp:cNvPr id="0" name=""/>
        <dsp:cNvSpPr/>
      </dsp:nvSpPr>
      <dsp:spPr>
        <a:xfrm>
          <a:off x="230283" y="0"/>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sp:txBody>
      <dsp:txXfrm>
        <a:off x="262849" y="32566"/>
        <a:ext cx="1533552" cy="601991"/>
      </dsp:txXfrm>
    </dsp:sp>
    <dsp:sp modelId="{64EC0D4D-8F17-4312-8EC3-540AE7D77BD6}">
      <dsp:nvSpPr>
        <dsp:cNvPr id="0" name=""/>
        <dsp:cNvSpPr/>
      </dsp:nvSpPr>
      <dsp:spPr>
        <a:xfrm rot="5400000">
          <a:off x="4497743" y="-1973931"/>
          <a:ext cx="533698" cy="5971212"/>
        </a:xfrm>
        <a:prstGeom prst="round2SameRect">
          <a:avLst/>
        </a:prstGeom>
        <a:solidFill>
          <a:schemeClr val="bg1">
            <a:alpha val="9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RBI injected liquidity via VRR and OMOs to offset tightness in Mar-26</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Liquidity to remain sufficient amid rupee volatility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778987" y="770878"/>
        <a:ext cx="5945159" cy="481592"/>
      </dsp:txXfrm>
    </dsp:sp>
    <dsp:sp modelId="{4F5C1862-7C91-408E-BE9B-595AADD59ADD}">
      <dsp:nvSpPr>
        <dsp:cNvPr id="0" name=""/>
        <dsp:cNvSpPr/>
      </dsp:nvSpPr>
      <dsp:spPr>
        <a:xfrm>
          <a:off x="228998" y="701574"/>
          <a:ext cx="1598684"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sp:txBody>
      <dsp:txXfrm>
        <a:off x="261564" y="734140"/>
        <a:ext cx="1533552" cy="601991"/>
      </dsp:txXfrm>
    </dsp:sp>
    <dsp:sp modelId="{B0712708-6A42-4CBC-82DB-22D2FAD3BAE7}">
      <dsp:nvSpPr>
        <dsp:cNvPr id="0" name=""/>
        <dsp:cNvSpPr/>
      </dsp:nvSpPr>
      <dsp:spPr>
        <a:xfrm rot="5400000">
          <a:off x="4491850" y="-1195400"/>
          <a:ext cx="533698" cy="5862033"/>
        </a:xfrm>
        <a:prstGeom prst="round2SameRect">
          <a:avLst/>
        </a:prstGeom>
        <a:noFill/>
        <a:ln w="25400" cap="flat" cmpd="sng" algn="ctr">
          <a:solidFill>
            <a:schemeClr val="bg1">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rates unchanged in Apr-26, maintains neutral stance </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Mar-26, amid geopolitical risk</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sp:txBody>
      <dsp:txXfrm rot="-5400000">
        <a:off x="1827683" y="1494820"/>
        <a:ext cx="5835980" cy="481592"/>
      </dsp:txXfrm>
    </dsp:sp>
    <dsp:sp modelId="{A615328F-6E27-4EC6-BADB-D1A6A25A2B11}">
      <dsp:nvSpPr>
        <dsp:cNvPr id="0" name=""/>
        <dsp:cNvSpPr/>
      </dsp:nvSpPr>
      <dsp:spPr>
        <a:xfrm>
          <a:off x="228998" y="1402053"/>
          <a:ext cx="1598684" cy="667123"/>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sp:txBody>
      <dsp:txXfrm>
        <a:off x="261564" y="1434619"/>
        <a:ext cx="1533552" cy="601991"/>
      </dsp:txXfrm>
    </dsp:sp>
    <dsp:sp modelId="{7DA2FAD3-01FF-4501-8613-AA9FC08459C5}">
      <dsp:nvSpPr>
        <dsp:cNvPr id="0" name=""/>
        <dsp:cNvSpPr/>
      </dsp:nvSpPr>
      <dsp:spPr>
        <a:xfrm rot="5400000">
          <a:off x="4505697" y="-508767"/>
          <a:ext cx="533698" cy="5889726"/>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rose to  ~7% in Mar-26, pressured by soaring crude prices, weaker INR</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rose to ~4.5% in Mar-26, on sticky inflation and  higher  for longer interest rates ex</a:t>
          </a:r>
          <a:endParaRPr lang="en-US" sz="100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sp:txBody>
      <dsp:txXfrm rot="-5400000">
        <a:off x="1827684" y="2195299"/>
        <a:ext cx="5863673" cy="481592"/>
      </dsp:txXfrm>
    </dsp:sp>
    <dsp:sp modelId="{69934606-21FB-4815-BC2B-3CE0D88084C6}">
      <dsp:nvSpPr>
        <dsp:cNvPr id="0" name=""/>
        <dsp:cNvSpPr/>
      </dsp:nvSpPr>
      <dsp:spPr>
        <a:xfrm>
          <a:off x="228998" y="2102533"/>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sp:txBody>
      <dsp:txXfrm>
        <a:off x="261564" y="2135099"/>
        <a:ext cx="1533552" cy="601991"/>
      </dsp:txXfrm>
    </dsp:sp>
    <dsp:sp modelId="{76D6997D-CD2E-455F-A2A9-723E10F80EB0}">
      <dsp:nvSpPr>
        <dsp:cNvPr id="0" name=""/>
        <dsp:cNvSpPr/>
      </dsp:nvSpPr>
      <dsp:spPr>
        <a:xfrm rot="5400000">
          <a:off x="4377848" y="251287"/>
          <a:ext cx="744643" cy="5848095"/>
        </a:xfrm>
        <a:prstGeom prst="round2SameRect">
          <a:avLst/>
        </a:prstGeom>
        <a:noFill/>
        <a:ln w="2540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Domestic equities remain volatile amid high valuations and escalating  Middle east tensions</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Global markets remain unsettled amid rising Middle East and global trade uncertainty </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826122" y="2839363"/>
        <a:ext cx="5811745" cy="671943"/>
      </dsp:txXfrm>
    </dsp:sp>
    <dsp:sp modelId="{BAE5F833-757C-48F1-840C-6B26D323D812}">
      <dsp:nvSpPr>
        <dsp:cNvPr id="0" name=""/>
        <dsp:cNvSpPr/>
      </dsp:nvSpPr>
      <dsp:spPr>
        <a:xfrm>
          <a:off x="228998" y="2841773"/>
          <a:ext cx="1597123"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sp:txBody>
      <dsp:txXfrm>
        <a:off x="261564" y="2874339"/>
        <a:ext cx="1531991" cy="60199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36" name="Google Shape;2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27576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944486FB-18BC-95BC-6959-C2FCD6030687}"/>
            </a:ext>
          </a:extLst>
        </p:cNvPr>
        <p:cNvGrpSpPr/>
        <p:nvPr/>
      </p:nvGrpSpPr>
      <p:grpSpPr>
        <a:xfrm>
          <a:off x="0" y="0"/>
          <a:ext cx="0" cy="0"/>
          <a:chOff x="0" y="0"/>
          <a:chExt cx="0" cy="0"/>
        </a:xfrm>
      </p:grpSpPr>
      <p:sp>
        <p:nvSpPr>
          <p:cNvPr id="257" name="Google Shape;257;p6:notes">
            <a:extLst>
              <a:ext uri="{FF2B5EF4-FFF2-40B4-BE49-F238E27FC236}">
                <a16:creationId xmlns:a16="http://schemas.microsoft.com/office/drawing/2014/main" id="{EE50A503-563D-B21C-287F-F0B9D10FB6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58" name="Google Shape;258;p6:notes">
            <a:extLst>
              <a:ext uri="{FF2B5EF4-FFF2-40B4-BE49-F238E27FC236}">
                <a16:creationId xmlns:a16="http://schemas.microsoft.com/office/drawing/2014/main" id="{5D5147BF-B239-A080-60C9-FEB0F9E604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72991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01402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E999232-F989-E455-BB08-AD0A3BB4CFA3}"/>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C4875169-ADB3-E2AD-9FD1-A6963F254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DA401285-800A-E962-EDF2-B77411C71B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38614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C4D7933-2A02-97B4-E954-424B79B150A4}"/>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494A438E-D312-E6F1-27CF-0AF6676307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274026E6-5B4F-0070-A2C6-0B0004BB60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92975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DDDA2DD-7BDD-0E4A-EDA6-0133084D478E}"/>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D7F2FC94-B537-0F59-89E1-DBD4A5144F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42645D6-0556-10DE-1D05-A2170EDFFE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47775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492D5BF-FE06-7551-2B9D-608B4D56776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D79E8A44-83B9-F3E9-400B-6541770B56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34BD0696-B4E5-BAD5-CAAF-2DE56E6203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403625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C5009C9-2D2C-AD04-5FD2-1D74BCDEBFC1}"/>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148E32F7-B415-131A-BBE0-A31E74C244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0DA1335-C889-7F2E-A65F-50040C98EA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78418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C26E317-376E-7A16-ABAF-F06297814469}"/>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721C16E7-7FD3-7E43-7902-0B3F7497DE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48748D00-137A-5EA5-0D58-8CAFE7674F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46250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323262E-DFBD-4D51-E1E9-1BF0DF14FC4A}"/>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6F9CE6EA-51F4-8325-2354-5FB1362F6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6E6A256-E8E1-F55F-B1E8-13A7E0BC4B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17827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7429EF4-4624-FBF7-089B-247A1C82E35B}"/>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8D7C3C3C-AA14-ACC8-D861-A03AFA47B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BF3D071-9002-BAE7-D00A-B2181AD98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05737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1F080B7-0A4B-AD88-8308-1C74D4A44769}"/>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D58EE447-D8DE-11B5-49FC-D3F9533181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5385EB2F-5984-887F-2AD5-3DFAC8F86D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54804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7ADC907-AD6D-1BAC-E623-BFB493BDD9F4}"/>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E0C2CBFC-F919-919E-10B7-1D17C0CAE7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CD026BE-4C3C-C74E-4D56-51F30243D7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14577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2574191-DEEF-3C98-4DFD-9D41186AFF6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E5074905-D395-45D2-557E-5FDB635781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02B272C9-B568-9118-0FE9-43B91CC4EA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99685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0A2A580-ECEC-1ED1-3BC8-419A7E776A6A}"/>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94AB5C5-A542-33DA-DC62-794B9D5056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24528B2-7B9F-BDB0-75CB-529DD16370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088665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F319673-5060-2773-4A4E-C964D5B45C60}"/>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C8281D88-C4D9-082D-CCC9-7359717F41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707E7D45-FAC0-78F3-6CCF-00FB4981F3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26007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EAD8F2F-77AE-A8F9-2F8F-0D6659FA0AFE}"/>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5990F977-A8E8-EC4D-12D0-F67C453B01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F61A841E-0DBE-CF3A-C1A8-3A61EEFCD5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97130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5852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06057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99808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61382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82338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00287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63857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C8447F5-514F-3C51-0950-D6002A5FEC87}"/>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87A69EEB-E4C8-CE4C-DBFC-A0413CAA51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750E8E0C-9AA0-A9AD-5F2D-5FCD7A0F33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02070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EBF171B-1EDD-7AF1-D755-D01941CCBB31}"/>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F6CA85C-4362-28CD-AF43-3B4721483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316C112-10F4-4C37-2893-114BDD1877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39064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B76E18A-1211-B46B-F9A1-C280C1021C4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3B453ED-C382-41B9-17F4-12EE13618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6EA8461-A04A-3416-CF5C-4EDEAD5602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408039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57236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39668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58"/>
          <p:cNvSpPr>
            <a:spLocks noGrp="1"/>
          </p:cNvSpPr>
          <p:nvPr>
            <p:ph type="pic" idx="2"/>
          </p:nvPr>
        </p:nvSpPr>
        <p:spPr>
          <a:xfrm>
            <a:off x="3330125" y="0"/>
            <a:ext cx="5814000" cy="4422300"/>
          </a:xfrm>
          <a:prstGeom prst="rect">
            <a:avLst/>
          </a:prstGeom>
          <a:noFill/>
          <a:ln>
            <a:noFill/>
          </a:ln>
        </p:spPr>
        <p:txBody>
          <a:bodyPr/>
          <a:lstStyle/>
          <a:p>
            <a:endParaRPr lang="en-US" dirty="0"/>
          </a:p>
        </p:txBody>
      </p:sp>
      <p:sp>
        <p:nvSpPr>
          <p:cNvPr id="10" name="Google Shape;10;p58"/>
          <p:cNvSpPr txBox="1">
            <a:spLocks noGrp="1"/>
          </p:cNvSpPr>
          <p:nvPr>
            <p:ph type="ctrTitle"/>
          </p:nvPr>
        </p:nvSpPr>
        <p:spPr>
          <a:xfrm>
            <a:off x="713225" y="1799800"/>
            <a:ext cx="5814000" cy="22014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191919"/>
              </a:buClr>
              <a:buSzPts val="5200"/>
              <a:buNone/>
              <a:defRPr sz="96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58"/>
          <p:cNvSpPr txBox="1">
            <a:spLocks noGrp="1"/>
          </p:cNvSpPr>
          <p:nvPr>
            <p:ph type="subTitle" idx="1"/>
          </p:nvPr>
        </p:nvSpPr>
        <p:spPr>
          <a:xfrm>
            <a:off x="713225" y="4198100"/>
            <a:ext cx="5814000" cy="4059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9"/>
        <p:cNvGrpSpPr/>
        <p:nvPr/>
      </p:nvGrpSpPr>
      <p:grpSpPr>
        <a:xfrm>
          <a:off x="0" y="0"/>
          <a:ext cx="0" cy="0"/>
          <a:chOff x="0" y="0"/>
          <a:chExt cx="0" cy="0"/>
        </a:xfrm>
      </p:grpSpPr>
      <p:grpSp>
        <p:nvGrpSpPr>
          <p:cNvPr id="20" name="Google Shape;20;p60"/>
          <p:cNvGrpSpPr/>
          <p:nvPr/>
        </p:nvGrpSpPr>
        <p:grpSpPr>
          <a:xfrm>
            <a:off x="-94975" y="704675"/>
            <a:ext cx="8809210" cy="4167775"/>
            <a:chOff x="-94975" y="704675"/>
            <a:chExt cx="8809210" cy="4167775"/>
          </a:xfrm>
        </p:grpSpPr>
        <p:cxnSp>
          <p:nvCxnSpPr>
            <p:cNvPr id="21" name="Google Shape;21;p60"/>
            <p:cNvCxnSpPr/>
            <p:nvPr/>
          </p:nvCxnSpPr>
          <p:spPr>
            <a:xfrm rot="10800000">
              <a:off x="6247635" y="704675"/>
              <a:ext cx="2466600" cy="0"/>
            </a:xfrm>
            <a:prstGeom prst="straightConnector1">
              <a:avLst/>
            </a:prstGeom>
            <a:noFill/>
            <a:ln w="9525" cap="flat" cmpd="sng">
              <a:solidFill>
                <a:schemeClr val="dk1"/>
              </a:solidFill>
              <a:prstDash val="solid"/>
              <a:round/>
              <a:headEnd type="none" w="sm" len="sm"/>
              <a:tailEnd type="none" w="sm" len="sm"/>
            </a:ln>
          </p:spPr>
        </p:cxnSp>
        <p:cxnSp>
          <p:nvCxnSpPr>
            <p:cNvPr id="22" name="Google Shape;22;p6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 name="Google Shape;23;p6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24" name="Google Shape;24;p60"/>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5" name="Google Shape;25;p60"/>
          <p:cNvSpPr txBox="1">
            <a:spLocks noGrp="1"/>
          </p:cNvSpPr>
          <p:nvPr>
            <p:ph type="subTitle" idx="1"/>
          </p:nvPr>
        </p:nvSpPr>
        <p:spPr>
          <a:xfrm>
            <a:off x="720000"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6" name="Google Shape;26;p60"/>
          <p:cNvSpPr txBox="1">
            <a:spLocks noGrp="1"/>
          </p:cNvSpPr>
          <p:nvPr>
            <p:ph type="subTitle" idx="2"/>
          </p:nvPr>
        </p:nvSpPr>
        <p:spPr>
          <a:xfrm>
            <a:off x="3419269"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7" name="Google Shape;27;p60"/>
          <p:cNvSpPr txBox="1">
            <a:spLocks noGrp="1"/>
          </p:cNvSpPr>
          <p:nvPr>
            <p:ph type="subTitle" idx="3"/>
          </p:nvPr>
        </p:nvSpPr>
        <p:spPr>
          <a:xfrm>
            <a:off x="720000"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8" name="Google Shape;28;p60"/>
          <p:cNvSpPr txBox="1">
            <a:spLocks noGrp="1"/>
          </p:cNvSpPr>
          <p:nvPr>
            <p:ph type="subTitle" idx="4"/>
          </p:nvPr>
        </p:nvSpPr>
        <p:spPr>
          <a:xfrm>
            <a:off x="3419269"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9" name="Google Shape;29;p60"/>
          <p:cNvSpPr txBox="1">
            <a:spLocks noGrp="1"/>
          </p:cNvSpPr>
          <p:nvPr>
            <p:ph type="subTitle" idx="5"/>
          </p:nvPr>
        </p:nvSpPr>
        <p:spPr>
          <a:xfrm>
            <a:off x="6118545"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0" name="Google Shape;30;p60"/>
          <p:cNvSpPr txBox="1">
            <a:spLocks noGrp="1"/>
          </p:cNvSpPr>
          <p:nvPr>
            <p:ph type="subTitle" idx="6"/>
          </p:nvPr>
        </p:nvSpPr>
        <p:spPr>
          <a:xfrm>
            <a:off x="6118545"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1" name="Google Shape;31;p60"/>
          <p:cNvSpPr txBox="1">
            <a:spLocks noGrp="1"/>
          </p:cNvSpPr>
          <p:nvPr>
            <p:ph type="title" idx="7"/>
          </p:nvPr>
        </p:nvSpPr>
        <p:spPr>
          <a:xfrm>
            <a:off x="720000"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2" name="Google Shape;32;p60"/>
          <p:cNvSpPr txBox="1">
            <a:spLocks noGrp="1"/>
          </p:cNvSpPr>
          <p:nvPr>
            <p:ph type="title" idx="8"/>
          </p:nvPr>
        </p:nvSpPr>
        <p:spPr>
          <a:xfrm>
            <a:off x="720000"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3" name="Google Shape;33;p60"/>
          <p:cNvSpPr txBox="1">
            <a:spLocks noGrp="1"/>
          </p:cNvSpPr>
          <p:nvPr>
            <p:ph type="title" idx="9"/>
          </p:nvPr>
        </p:nvSpPr>
        <p:spPr>
          <a:xfrm>
            <a:off x="3419269"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4" name="Google Shape;34;p60"/>
          <p:cNvSpPr txBox="1">
            <a:spLocks noGrp="1"/>
          </p:cNvSpPr>
          <p:nvPr>
            <p:ph type="title" idx="13"/>
          </p:nvPr>
        </p:nvSpPr>
        <p:spPr>
          <a:xfrm>
            <a:off x="3419269"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60"/>
          <p:cNvSpPr txBox="1">
            <a:spLocks noGrp="1"/>
          </p:cNvSpPr>
          <p:nvPr>
            <p:ph type="title" idx="14"/>
          </p:nvPr>
        </p:nvSpPr>
        <p:spPr>
          <a:xfrm>
            <a:off x="6118545"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0"/>
          <p:cNvSpPr txBox="1">
            <a:spLocks noGrp="1"/>
          </p:cNvSpPr>
          <p:nvPr>
            <p:ph type="title" idx="15"/>
          </p:nvPr>
        </p:nvSpPr>
        <p:spPr>
          <a:xfrm>
            <a:off x="6118545"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7" name="Google Shape;37;p60"/>
          <p:cNvSpPr txBox="1">
            <a:spLocks noGrp="1"/>
          </p:cNvSpPr>
          <p:nvPr>
            <p:ph type="subTitle" idx="16"/>
          </p:nvPr>
        </p:nvSpPr>
        <p:spPr>
          <a:xfrm>
            <a:off x="720000"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 name="Google Shape;38;p60"/>
          <p:cNvSpPr txBox="1">
            <a:spLocks noGrp="1"/>
          </p:cNvSpPr>
          <p:nvPr>
            <p:ph type="subTitle" idx="17"/>
          </p:nvPr>
        </p:nvSpPr>
        <p:spPr>
          <a:xfrm>
            <a:off x="3419271"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 name="Google Shape;39;p60"/>
          <p:cNvSpPr txBox="1">
            <a:spLocks noGrp="1"/>
          </p:cNvSpPr>
          <p:nvPr>
            <p:ph type="subTitle" idx="18"/>
          </p:nvPr>
        </p:nvSpPr>
        <p:spPr>
          <a:xfrm>
            <a:off x="6118549"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 name="Google Shape;40;p60"/>
          <p:cNvSpPr txBox="1">
            <a:spLocks noGrp="1"/>
          </p:cNvSpPr>
          <p:nvPr>
            <p:ph type="subTitle" idx="19"/>
          </p:nvPr>
        </p:nvSpPr>
        <p:spPr>
          <a:xfrm>
            <a:off x="720000"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1" name="Google Shape;41;p60"/>
          <p:cNvSpPr txBox="1">
            <a:spLocks noGrp="1"/>
          </p:cNvSpPr>
          <p:nvPr>
            <p:ph type="subTitle" idx="20"/>
          </p:nvPr>
        </p:nvSpPr>
        <p:spPr>
          <a:xfrm>
            <a:off x="3419271"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2" name="Google Shape;42;p60"/>
          <p:cNvSpPr txBox="1">
            <a:spLocks noGrp="1"/>
          </p:cNvSpPr>
          <p:nvPr>
            <p:ph type="subTitle" idx="21"/>
          </p:nvPr>
        </p:nvSpPr>
        <p:spPr>
          <a:xfrm>
            <a:off x="6118549"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62"/>
          <p:cNvSpPr>
            <a:spLocks noGrp="1"/>
          </p:cNvSpPr>
          <p:nvPr>
            <p:ph type="pic" idx="2"/>
          </p:nvPr>
        </p:nvSpPr>
        <p:spPr>
          <a:xfrm>
            <a:off x="2295650" y="0"/>
            <a:ext cx="6982800" cy="4605300"/>
          </a:xfrm>
          <a:prstGeom prst="rect">
            <a:avLst/>
          </a:prstGeom>
          <a:noFill/>
          <a:ln>
            <a:noFill/>
          </a:ln>
        </p:spPr>
        <p:txBody>
          <a:bodyPr/>
          <a:lstStyle/>
          <a:p>
            <a:endParaRPr lang="en-US" dirty="0"/>
          </a:p>
        </p:txBody>
      </p:sp>
      <p:sp>
        <p:nvSpPr>
          <p:cNvPr id="49" name="Google Shape;49;p62"/>
          <p:cNvSpPr txBox="1">
            <a:spLocks noGrp="1"/>
          </p:cNvSpPr>
          <p:nvPr>
            <p:ph type="title"/>
          </p:nvPr>
        </p:nvSpPr>
        <p:spPr>
          <a:xfrm>
            <a:off x="1990325" y="2029125"/>
            <a:ext cx="4904400" cy="16002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41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0" name="Google Shape;50;p62"/>
          <p:cNvSpPr txBox="1">
            <a:spLocks noGrp="1"/>
          </p:cNvSpPr>
          <p:nvPr>
            <p:ph type="title" idx="3"/>
          </p:nvPr>
        </p:nvSpPr>
        <p:spPr>
          <a:xfrm>
            <a:off x="713225" y="2029113"/>
            <a:ext cx="1162800" cy="16002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1" name="Google Shape;51;p62"/>
          <p:cNvSpPr txBox="1">
            <a:spLocks noGrp="1"/>
          </p:cNvSpPr>
          <p:nvPr>
            <p:ph type="subTitle" idx="1"/>
          </p:nvPr>
        </p:nvSpPr>
        <p:spPr>
          <a:xfrm>
            <a:off x="1990325" y="3838100"/>
            <a:ext cx="4904400" cy="3750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52"/>
        <p:cNvGrpSpPr/>
        <p:nvPr/>
      </p:nvGrpSpPr>
      <p:grpSpPr>
        <a:xfrm>
          <a:off x="0" y="0"/>
          <a:ext cx="0" cy="0"/>
          <a:chOff x="0" y="0"/>
          <a:chExt cx="0" cy="0"/>
        </a:xfrm>
      </p:grpSpPr>
      <p:grpSp>
        <p:nvGrpSpPr>
          <p:cNvPr id="53" name="Google Shape;53;p63"/>
          <p:cNvGrpSpPr/>
          <p:nvPr/>
        </p:nvGrpSpPr>
        <p:grpSpPr>
          <a:xfrm>
            <a:off x="362225" y="730725"/>
            <a:ext cx="8809210" cy="4141500"/>
            <a:chOff x="362225" y="730725"/>
            <a:chExt cx="8809210" cy="4141500"/>
          </a:xfrm>
        </p:grpSpPr>
        <p:cxnSp>
          <p:nvCxnSpPr>
            <p:cNvPr id="54" name="Google Shape;54;p63"/>
            <p:cNvCxnSpPr/>
            <p:nvPr/>
          </p:nvCxnSpPr>
          <p:spPr>
            <a:xfrm>
              <a:off x="362225" y="731375"/>
              <a:ext cx="2466600" cy="0"/>
            </a:xfrm>
            <a:prstGeom prst="straightConnector1">
              <a:avLst/>
            </a:prstGeom>
            <a:noFill/>
            <a:ln w="9525" cap="flat" cmpd="sng">
              <a:solidFill>
                <a:schemeClr val="dk1"/>
              </a:solidFill>
              <a:prstDash val="solid"/>
              <a:round/>
              <a:headEnd type="none" w="sm" len="sm"/>
              <a:tailEnd type="none" w="sm" len="sm"/>
            </a:ln>
          </p:spPr>
        </p:cxnSp>
        <p:cxnSp>
          <p:nvCxnSpPr>
            <p:cNvPr id="55" name="Google Shape;55;p63"/>
            <p:cNvCxnSpPr/>
            <p:nvPr/>
          </p:nvCxnSpPr>
          <p:spPr>
            <a:xfrm>
              <a:off x="366400" y="730725"/>
              <a:ext cx="0" cy="4141500"/>
            </a:xfrm>
            <a:prstGeom prst="straightConnector1">
              <a:avLst/>
            </a:prstGeom>
            <a:noFill/>
            <a:ln w="9525" cap="flat" cmpd="sng">
              <a:solidFill>
                <a:schemeClr val="dk1"/>
              </a:solidFill>
              <a:prstDash val="solid"/>
              <a:round/>
              <a:headEnd type="none" w="sm" len="sm"/>
              <a:tailEnd type="none" w="sm" len="sm"/>
            </a:ln>
          </p:spPr>
        </p:cxnSp>
        <p:cxnSp>
          <p:nvCxnSpPr>
            <p:cNvPr id="56" name="Google Shape;56;p6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57" name="Google Shape;57;p63"/>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8" name="Google Shape;58;p63"/>
          <p:cNvSpPr txBox="1">
            <a:spLocks noGrp="1"/>
          </p:cNvSpPr>
          <p:nvPr>
            <p:ph type="subTitle" idx="1"/>
          </p:nvPr>
        </p:nvSpPr>
        <p:spPr>
          <a:xfrm>
            <a:off x="4811363"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63"/>
          <p:cNvSpPr txBox="1">
            <a:spLocks noGrp="1"/>
          </p:cNvSpPr>
          <p:nvPr>
            <p:ph type="subTitle" idx="2"/>
          </p:nvPr>
        </p:nvSpPr>
        <p:spPr>
          <a:xfrm>
            <a:off x="896725"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
        <p:cNvGrpSpPr/>
        <p:nvPr/>
      </p:nvGrpSpPr>
      <p:grpSpPr>
        <a:xfrm>
          <a:off x="0" y="0"/>
          <a:ext cx="0" cy="0"/>
          <a:chOff x="0" y="0"/>
          <a:chExt cx="0" cy="0"/>
        </a:xfrm>
      </p:grpSpPr>
      <p:sp>
        <p:nvSpPr>
          <p:cNvPr id="61" name="Google Shape;61;p64"/>
          <p:cNvSpPr txBox="1">
            <a:spLocks noGrp="1"/>
          </p:cNvSpPr>
          <p:nvPr>
            <p:ph type="title"/>
          </p:nvPr>
        </p:nvSpPr>
        <p:spPr>
          <a:xfrm>
            <a:off x="720000" y="445025"/>
            <a:ext cx="77109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62" name="Google Shape;62;p64"/>
          <p:cNvSpPr txBox="1">
            <a:spLocks noGrp="1"/>
          </p:cNvSpPr>
          <p:nvPr>
            <p:ph type="subTitle" idx="1"/>
          </p:nvPr>
        </p:nvSpPr>
        <p:spPr>
          <a:xfrm>
            <a:off x="720000" y="1788597"/>
            <a:ext cx="4028100" cy="2127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FDD900"/>
              </a:buClr>
              <a:buSzPts val="1400"/>
              <a:buFont typeface="Nunito Light"/>
              <a:buChar char="●"/>
              <a:defRPr sz="1600">
                <a:latin typeface="DM Sans Medium"/>
                <a:ea typeface="DM Sans Medium"/>
                <a:cs typeface="DM Sans Medium"/>
                <a:sym typeface="DM Sans Medium"/>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a:endParaRPr/>
          </a:p>
        </p:txBody>
      </p:sp>
      <p:sp>
        <p:nvSpPr>
          <p:cNvPr id="63" name="Google Shape;63;p64"/>
          <p:cNvSpPr>
            <a:spLocks noGrp="1"/>
          </p:cNvSpPr>
          <p:nvPr>
            <p:ph type="pic" idx="2"/>
          </p:nvPr>
        </p:nvSpPr>
        <p:spPr>
          <a:xfrm>
            <a:off x="5008500" y="1345975"/>
            <a:ext cx="4135500" cy="3013200"/>
          </a:xfrm>
          <a:prstGeom prst="rect">
            <a:avLst/>
          </a:prstGeom>
          <a:noFill/>
          <a:ln>
            <a:noFill/>
          </a:ln>
        </p:spPr>
        <p:txBody>
          <a:bodyPr/>
          <a:lstStyle/>
          <a:p>
            <a:endParaRPr lang="en-US" dirty="0"/>
          </a:p>
        </p:txBody>
      </p:sp>
      <p:grpSp>
        <p:nvGrpSpPr>
          <p:cNvPr id="64" name="Google Shape;64;p64"/>
          <p:cNvGrpSpPr/>
          <p:nvPr/>
        </p:nvGrpSpPr>
        <p:grpSpPr>
          <a:xfrm>
            <a:off x="362235" y="727975"/>
            <a:ext cx="8809200" cy="4144225"/>
            <a:chOff x="362235" y="727975"/>
            <a:chExt cx="8809200" cy="4144225"/>
          </a:xfrm>
        </p:grpSpPr>
        <p:cxnSp>
          <p:nvCxnSpPr>
            <p:cNvPr id="65" name="Google Shape;65;p6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grpSp>
          <p:nvGrpSpPr>
            <p:cNvPr id="66" name="Google Shape;66;p64"/>
            <p:cNvGrpSpPr/>
            <p:nvPr/>
          </p:nvGrpSpPr>
          <p:grpSpPr>
            <a:xfrm>
              <a:off x="362235" y="731375"/>
              <a:ext cx="8809200" cy="4140825"/>
              <a:chOff x="362235" y="731375"/>
              <a:chExt cx="8809200" cy="4140825"/>
            </a:xfrm>
          </p:grpSpPr>
          <p:cxnSp>
            <p:nvCxnSpPr>
              <p:cNvPr id="67" name="Google Shape;67;p6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68" name="Google Shape;68;p6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6"/>
        <p:cNvGrpSpPr/>
        <p:nvPr/>
      </p:nvGrpSpPr>
      <p:grpSpPr>
        <a:xfrm>
          <a:off x="0" y="0"/>
          <a:ext cx="0" cy="0"/>
          <a:chOff x="0" y="0"/>
          <a:chExt cx="0" cy="0"/>
        </a:xfrm>
      </p:grpSpPr>
      <p:sp>
        <p:nvSpPr>
          <p:cNvPr id="127" name="Google Shape;127;p70"/>
          <p:cNvSpPr>
            <a:spLocks noGrp="1"/>
          </p:cNvSpPr>
          <p:nvPr>
            <p:ph type="pic" idx="2"/>
          </p:nvPr>
        </p:nvSpPr>
        <p:spPr>
          <a:xfrm>
            <a:off x="2723600" y="-29900"/>
            <a:ext cx="6420300" cy="4383000"/>
          </a:xfrm>
          <a:prstGeom prst="rect">
            <a:avLst/>
          </a:prstGeom>
          <a:noFill/>
          <a:ln>
            <a:noFill/>
          </a:ln>
        </p:spPr>
        <p:txBody>
          <a:bodyPr/>
          <a:lstStyle/>
          <a:p>
            <a:endParaRPr lang="en-US" dirty="0"/>
          </a:p>
        </p:txBody>
      </p:sp>
      <p:sp>
        <p:nvSpPr>
          <p:cNvPr id="128" name="Google Shape;128;p70"/>
          <p:cNvSpPr txBox="1">
            <a:spLocks noGrp="1"/>
          </p:cNvSpPr>
          <p:nvPr>
            <p:ph type="title"/>
          </p:nvPr>
        </p:nvSpPr>
        <p:spPr>
          <a:xfrm>
            <a:off x="713225" y="4056500"/>
            <a:ext cx="4712400" cy="5475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2400">
                <a:solidFill>
                  <a:schemeClr val="lt1"/>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29" name="Google Shape;129;p70"/>
          <p:cNvSpPr txBox="1">
            <a:spLocks noGrp="1"/>
          </p:cNvSpPr>
          <p:nvPr>
            <p:ph type="subTitle" idx="1"/>
          </p:nvPr>
        </p:nvSpPr>
        <p:spPr>
          <a:xfrm>
            <a:off x="713305" y="2339100"/>
            <a:ext cx="4712400" cy="1622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2400">
                <a:latin typeface="DM Sans Medium"/>
                <a:ea typeface="DM Sans Medium"/>
                <a:cs typeface="DM Sans Medium"/>
                <a:sym typeface="DM Sans Medium"/>
              </a:defRPr>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71"/>
          <p:cNvSpPr>
            <a:spLocks noGrp="1"/>
          </p:cNvSpPr>
          <p:nvPr>
            <p:ph type="pic" idx="2"/>
          </p:nvPr>
        </p:nvSpPr>
        <p:spPr>
          <a:xfrm>
            <a:off x="-9450" y="-16175"/>
            <a:ext cx="9162900" cy="5211600"/>
          </a:xfrm>
          <a:prstGeom prst="rect">
            <a:avLst/>
          </a:prstGeom>
          <a:noFill/>
          <a:ln>
            <a:noFill/>
          </a:ln>
        </p:spPr>
        <p:txBody>
          <a:bodyPr/>
          <a:lstStyle/>
          <a:p>
            <a:endParaRPr lang="en-US" dirty="0"/>
          </a:p>
        </p:txBody>
      </p:sp>
      <p:sp>
        <p:nvSpPr>
          <p:cNvPr id="132" name="Google Shape;132;p71"/>
          <p:cNvSpPr txBox="1">
            <a:spLocks noGrp="1"/>
          </p:cNvSpPr>
          <p:nvPr>
            <p:ph type="title"/>
          </p:nvPr>
        </p:nvSpPr>
        <p:spPr>
          <a:xfrm>
            <a:off x="713225" y="3846850"/>
            <a:ext cx="7717500" cy="624300"/>
          </a:xfrm>
          <a:prstGeom prst="rect">
            <a:avLst/>
          </a:prstGeom>
          <a:solidFill>
            <a:schemeClr val="dk2"/>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67"/>
        <p:cNvGrpSpPr/>
        <p:nvPr/>
      </p:nvGrpSpPr>
      <p:grpSpPr>
        <a:xfrm>
          <a:off x="0" y="0"/>
          <a:ext cx="0" cy="0"/>
          <a:chOff x="0" y="0"/>
          <a:chExt cx="0" cy="0"/>
        </a:xfrm>
      </p:grpSpPr>
      <p:grpSp>
        <p:nvGrpSpPr>
          <p:cNvPr id="168" name="Google Shape;168;p77"/>
          <p:cNvGrpSpPr/>
          <p:nvPr/>
        </p:nvGrpSpPr>
        <p:grpSpPr>
          <a:xfrm>
            <a:off x="-51975" y="2068075"/>
            <a:ext cx="8862300" cy="2617200"/>
            <a:chOff x="-51975" y="2068075"/>
            <a:chExt cx="8862300" cy="2617200"/>
          </a:xfrm>
        </p:grpSpPr>
        <p:cxnSp>
          <p:nvCxnSpPr>
            <p:cNvPr id="169" name="Google Shape;169;p77"/>
            <p:cNvCxnSpPr/>
            <p:nvPr/>
          </p:nvCxnSpPr>
          <p:spPr>
            <a:xfrm rot="10800000">
              <a:off x="-51975" y="4682975"/>
              <a:ext cx="8862300" cy="0"/>
            </a:xfrm>
            <a:prstGeom prst="straightConnector1">
              <a:avLst/>
            </a:prstGeom>
            <a:noFill/>
            <a:ln w="9525" cap="flat" cmpd="sng">
              <a:solidFill>
                <a:schemeClr val="dk1"/>
              </a:solidFill>
              <a:prstDash val="solid"/>
              <a:round/>
              <a:headEnd type="none" w="sm" len="sm"/>
              <a:tailEnd type="none" w="sm" len="sm"/>
            </a:ln>
          </p:spPr>
        </p:cxnSp>
        <p:cxnSp>
          <p:nvCxnSpPr>
            <p:cNvPr id="170" name="Google Shape;170;p77"/>
            <p:cNvCxnSpPr/>
            <p:nvPr/>
          </p:nvCxnSpPr>
          <p:spPr>
            <a:xfrm rot="10800000">
              <a:off x="7827000" y="2071300"/>
              <a:ext cx="979800" cy="0"/>
            </a:xfrm>
            <a:prstGeom prst="straightConnector1">
              <a:avLst/>
            </a:prstGeom>
            <a:noFill/>
            <a:ln w="9525" cap="flat" cmpd="sng">
              <a:solidFill>
                <a:schemeClr val="dk1"/>
              </a:solidFill>
              <a:prstDash val="solid"/>
              <a:round/>
              <a:headEnd type="none" w="sm" len="sm"/>
              <a:tailEnd type="none" w="sm" len="sm"/>
            </a:ln>
          </p:spPr>
        </p:cxnSp>
        <p:cxnSp>
          <p:nvCxnSpPr>
            <p:cNvPr id="171" name="Google Shape;171;p77"/>
            <p:cNvCxnSpPr/>
            <p:nvPr/>
          </p:nvCxnSpPr>
          <p:spPr>
            <a:xfrm rot="10800000">
              <a:off x="8806573" y="2068075"/>
              <a:ext cx="0" cy="2617200"/>
            </a:xfrm>
            <a:prstGeom prst="straightConnector1">
              <a:avLst/>
            </a:prstGeom>
            <a:noFill/>
            <a:ln w="9525" cap="flat" cmpd="sng">
              <a:solidFill>
                <a:schemeClr val="dk1"/>
              </a:solidFill>
              <a:prstDash val="solid"/>
              <a:round/>
              <a:headEnd type="none" w="sm" len="sm"/>
              <a:tailEnd type="none" w="sm" len="sm"/>
            </a:ln>
          </p:spPr>
        </p:cxnSp>
      </p:grpSp>
      <p:sp>
        <p:nvSpPr>
          <p:cNvPr id="172" name="Google Shape;172;p77"/>
          <p:cNvSpPr txBox="1">
            <a:spLocks noGrp="1"/>
          </p:cNvSpPr>
          <p:nvPr>
            <p:ph type="title"/>
          </p:nvPr>
        </p:nvSpPr>
        <p:spPr>
          <a:xfrm>
            <a:off x="5196575" y="1456600"/>
            <a:ext cx="2923800" cy="1229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73" name="Google Shape;173;p77"/>
          <p:cNvSpPr txBox="1">
            <a:spLocks noGrp="1"/>
          </p:cNvSpPr>
          <p:nvPr>
            <p:ph type="subTitle" idx="1"/>
          </p:nvPr>
        </p:nvSpPr>
        <p:spPr>
          <a:xfrm>
            <a:off x="5196575" y="2765525"/>
            <a:ext cx="2923800" cy="1080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74"/>
        <p:cNvGrpSpPr/>
        <p:nvPr/>
      </p:nvGrpSpPr>
      <p:grpSpPr>
        <a:xfrm>
          <a:off x="0" y="0"/>
          <a:ext cx="0" cy="0"/>
          <a:chOff x="0" y="0"/>
          <a:chExt cx="0" cy="0"/>
        </a:xfrm>
      </p:grpSpPr>
      <p:grpSp>
        <p:nvGrpSpPr>
          <p:cNvPr id="175" name="Google Shape;175;p78"/>
          <p:cNvGrpSpPr/>
          <p:nvPr/>
        </p:nvGrpSpPr>
        <p:grpSpPr>
          <a:xfrm>
            <a:off x="320525" y="2079400"/>
            <a:ext cx="8862425" cy="2605875"/>
            <a:chOff x="320525" y="2079400"/>
            <a:chExt cx="8862425" cy="2605875"/>
          </a:xfrm>
        </p:grpSpPr>
        <p:cxnSp>
          <p:nvCxnSpPr>
            <p:cNvPr id="176" name="Google Shape;176;p78"/>
            <p:cNvCxnSpPr/>
            <p:nvPr/>
          </p:nvCxnSpPr>
          <p:spPr>
            <a:xfrm>
              <a:off x="326950" y="4682975"/>
              <a:ext cx="8856000" cy="0"/>
            </a:xfrm>
            <a:prstGeom prst="straightConnector1">
              <a:avLst/>
            </a:prstGeom>
            <a:noFill/>
            <a:ln w="9525" cap="flat" cmpd="sng">
              <a:solidFill>
                <a:schemeClr val="dk1"/>
              </a:solidFill>
              <a:prstDash val="solid"/>
              <a:round/>
              <a:headEnd type="none" w="sm" len="sm"/>
              <a:tailEnd type="none" w="sm" len="sm"/>
            </a:ln>
          </p:spPr>
        </p:cxnSp>
        <p:cxnSp>
          <p:nvCxnSpPr>
            <p:cNvPr id="177" name="Google Shape;177;p78"/>
            <p:cNvCxnSpPr/>
            <p:nvPr/>
          </p:nvCxnSpPr>
          <p:spPr>
            <a:xfrm>
              <a:off x="320525" y="2079400"/>
              <a:ext cx="1161600" cy="0"/>
            </a:xfrm>
            <a:prstGeom prst="straightConnector1">
              <a:avLst/>
            </a:prstGeom>
            <a:noFill/>
            <a:ln w="9525" cap="flat" cmpd="sng">
              <a:solidFill>
                <a:schemeClr val="dk1"/>
              </a:solidFill>
              <a:prstDash val="solid"/>
              <a:round/>
              <a:headEnd type="none" w="sm" len="sm"/>
              <a:tailEnd type="none" w="sm" len="sm"/>
            </a:ln>
          </p:spPr>
        </p:cxnSp>
        <p:cxnSp>
          <p:nvCxnSpPr>
            <p:cNvPr id="178" name="Google Shape;178;p78"/>
            <p:cNvCxnSpPr/>
            <p:nvPr/>
          </p:nvCxnSpPr>
          <p:spPr>
            <a:xfrm rot="10800000">
              <a:off x="324525" y="2081875"/>
              <a:ext cx="0" cy="2603400"/>
            </a:xfrm>
            <a:prstGeom prst="straightConnector1">
              <a:avLst/>
            </a:prstGeom>
            <a:noFill/>
            <a:ln w="9525" cap="flat" cmpd="sng">
              <a:solidFill>
                <a:schemeClr val="dk1"/>
              </a:solidFill>
              <a:prstDash val="solid"/>
              <a:round/>
              <a:headEnd type="none" w="sm" len="sm"/>
              <a:tailEnd type="none" w="sm" len="sm"/>
            </a:ln>
          </p:spPr>
        </p:cxnSp>
      </p:grpSp>
      <p:sp>
        <p:nvSpPr>
          <p:cNvPr id="179" name="Google Shape;179;p78"/>
          <p:cNvSpPr txBox="1">
            <a:spLocks noGrp="1"/>
          </p:cNvSpPr>
          <p:nvPr>
            <p:ph type="title"/>
          </p:nvPr>
        </p:nvSpPr>
        <p:spPr>
          <a:xfrm>
            <a:off x="921950" y="1364088"/>
            <a:ext cx="2914500" cy="12837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80" name="Google Shape;180;p78"/>
          <p:cNvSpPr txBox="1">
            <a:spLocks noGrp="1"/>
          </p:cNvSpPr>
          <p:nvPr>
            <p:ph type="subTitle" idx="1"/>
          </p:nvPr>
        </p:nvSpPr>
        <p:spPr>
          <a:xfrm>
            <a:off x="921950" y="2747713"/>
            <a:ext cx="2914500" cy="1031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03"/>
        <p:cNvGrpSpPr/>
        <p:nvPr/>
      </p:nvGrpSpPr>
      <p:grpSpPr>
        <a:xfrm>
          <a:off x="0" y="0"/>
          <a:ext cx="0" cy="0"/>
          <a:chOff x="0" y="0"/>
          <a:chExt cx="0" cy="0"/>
        </a:xfrm>
      </p:grpSpPr>
      <p:sp>
        <p:nvSpPr>
          <p:cNvPr id="204" name="Google Shape;204;p82"/>
          <p:cNvSpPr>
            <a:spLocks noGrp="1"/>
          </p:cNvSpPr>
          <p:nvPr>
            <p:ph type="pic" idx="2"/>
          </p:nvPr>
        </p:nvSpPr>
        <p:spPr>
          <a:xfrm>
            <a:off x="3579400" y="0"/>
            <a:ext cx="5620800" cy="3671700"/>
          </a:xfrm>
          <a:prstGeom prst="rect">
            <a:avLst/>
          </a:prstGeom>
          <a:noFill/>
          <a:ln>
            <a:noFill/>
          </a:ln>
        </p:spPr>
        <p:txBody>
          <a:bodyPr/>
          <a:lstStyle/>
          <a:p>
            <a:endParaRPr lang="en-US" dirty="0"/>
          </a:p>
        </p:txBody>
      </p:sp>
      <p:sp>
        <p:nvSpPr>
          <p:cNvPr id="205" name="Google Shape;205;p82"/>
          <p:cNvSpPr txBox="1"/>
          <p:nvPr/>
        </p:nvSpPr>
        <p:spPr>
          <a:xfrm>
            <a:off x="3397075" y="3805800"/>
            <a:ext cx="5033700" cy="556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100"/>
              <a:buFont typeface="Arial"/>
              <a:buNone/>
            </a:pPr>
            <a:r>
              <a:rPr lang="en" sz="1100" b="0" i="0" u="none" strike="noStrike" cap="none">
                <a:solidFill>
                  <a:schemeClr val="dk1"/>
                </a:solidFill>
                <a:latin typeface="DM Sans Medium"/>
                <a:ea typeface="DM Sans Medium"/>
                <a:cs typeface="DM Sans Medium"/>
                <a:sym typeface="DM Sans Medium"/>
              </a:rPr>
              <a:t>CREDITS: This presentation template was created by </a:t>
            </a:r>
            <a:r>
              <a:rPr lang="en" sz="1100" b="1" i="0" u="none" strike="noStrike" cap="none">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100" b="1" i="0" u="none" strike="noStrike" cap="none">
                <a:solidFill>
                  <a:schemeClr val="dk1"/>
                </a:solidFill>
                <a:latin typeface="DM Sans"/>
                <a:ea typeface="DM Sans"/>
                <a:cs typeface="DM Sans"/>
                <a:sym typeface="DM Sans"/>
              </a:rPr>
              <a:t>,</a:t>
            </a:r>
            <a:r>
              <a:rPr lang="en" sz="1100" b="0" i="0" u="none" strike="noStrike" cap="none">
                <a:solidFill>
                  <a:schemeClr val="dk1"/>
                </a:solidFill>
                <a:latin typeface="DM Sans Medium"/>
                <a:ea typeface="DM Sans Medium"/>
                <a:cs typeface="DM Sans Medium"/>
                <a:sym typeface="DM Sans Medium"/>
              </a:rPr>
              <a:t> and includes icons by </a:t>
            </a:r>
            <a:r>
              <a:rPr lang="en" sz="1100" b="1" i="0" u="none" strike="noStrike" cap="none">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100" b="0" i="0" u="none" strike="noStrike" cap="none">
                <a:solidFill>
                  <a:schemeClr val="dk1"/>
                </a:solidFill>
                <a:latin typeface="DM Sans Medium"/>
                <a:ea typeface="DM Sans Medium"/>
                <a:cs typeface="DM Sans Medium"/>
                <a:sym typeface="DM Sans Medium"/>
              </a:rPr>
              <a:t>, and infographics &amp; images by </a:t>
            </a:r>
            <a:r>
              <a:rPr lang="en" sz="1100" b="1" i="0" u="none" strike="noStrike" cap="none">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100" b="1" i="0" u="sng" strike="noStrike" cap="none">
                <a:solidFill>
                  <a:schemeClr val="dk1"/>
                </a:solidFill>
                <a:latin typeface="DM Sans"/>
                <a:ea typeface="DM Sans"/>
                <a:cs typeface="DM Sans"/>
                <a:sym typeface="DM Sans"/>
              </a:rPr>
              <a:t> </a:t>
            </a:r>
            <a:endParaRPr sz="1100" b="1" i="0" u="sng" strike="noStrike" cap="none" dirty="0">
              <a:solidFill>
                <a:schemeClr val="dk1"/>
              </a:solidFill>
              <a:latin typeface="DM Sans"/>
              <a:ea typeface="DM Sans"/>
              <a:cs typeface="DM Sans"/>
              <a:sym typeface="DM Sans"/>
            </a:endParaRPr>
          </a:p>
        </p:txBody>
      </p:sp>
      <p:sp>
        <p:nvSpPr>
          <p:cNvPr id="206" name="Google Shape;206;p82"/>
          <p:cNvSpPr txBox="1">
            <a:spLocks noGrp="1"/>
          </p:cNvSpPr>
          <p:nvPr>
            <p:ph type="title"/>
          </p:nvPr>
        </p:nvSpPr>
        <p:spPr>
          <a:xfrm>
            <a:off x="713284" y="1396063"/>
            <a:ext cx="4077000" cy="1058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71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7" name="Google Shape;207;p82"/>
          <p:cNvSpPr txBox="1">
            <a:spLocks noGrp="1"/>
          </p:cNvSpPr>
          <p:nvPr>
            <p:ph type="subTitle" idx="1"/>
          </p:nvPr>
        </p:nvSpPr>
        <p:spPr>
          <a:xfrm>
            <a:off x="713250" y="2608412"/>
            <a:ext cx="4077000" cy="11748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208"/>
        <p:cNvGrpSpPr/>
        <p:nvPr/>
      </p:nvGrpSpPr>
      <p:grpSpPr>
        <a:xfrm>
          <a:off x="0" y="0"/>
          <a:ext cx="0" cy="0"/>
          <a:chOff x="0" y="0"/>
          <a:chExt cx="0" cy="0"/>
        </a:xfrm>
      </p:grpSpPr>
      <p:sp>
        <p:nvSpPr>
          <p:cNvPr id="209" name="Google Shape;209;p83"/>
          <p:cNvSpPr txBox="1">
            <a:spLocks noGrp="1"/>
          </p:cNvSpPr>
          <p:nvPr>
            <p:ph type="title"/>
          </p:nvPr>
        </p:nvSpPr>
        <p:spPr>
          <a:xfrm>
            <a:off x="722376"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10" name="Google Shape;210;p83"/>
          <p:cNvSpPr txBox="1">
            <a:spLocks noGrp="1"/>
          </p:cNvSpPr>
          <p:nvPr>
            <p:ph type="subTitle" idx="1"/>
          </p:nvPr>
        </p:nvSpPr>
        <p:spPr>
          <a:xfrm>
            <a:off x="713225" y="1353325"/>
            <a:ext cx="7247700" cy="316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grpSp>
        <p:nvGrpSpPr>
          <p:cNvPr id="211" name="Google Shape;211;p83"/>
          <p:cNvGrpSpPr/>
          <p:nvPr/>
        </p:nvGrpSpPr>
        <p:grpSpPr>
          <a:xfrm>
            <a:off x="362235" y="727975"/>
            <a:ext cx="8809200" cy="4144225"/>
            <a:chOff x="362235" y="727975"/>
            <a:chExt cx="8809200" cy="4144225"/>
          </a:xfrm>
        </p:grpSpPr>
        <p:cxnSp>
          <p:nvCxnSpPr>
            <p:cNvPr id="212" name="Google Shape;212;p83"/>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3" name="Google Shape;213;p8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4" name="Google Shape;214;p83"/>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215"/>
        <p:cNvGrpSpPr/>
        <p:nvPr/>
      </p:nvGrpSpPr>
      <p:grpSpPr>
        <a:xfrm>
          <a:off x="0" y="0"/>
          <a:ext cx="0" cy="0"/>
          <a:chOff x="0" y="0"/>
          <a:chExt cx="0" cy="0"/>
        </a:xfrm>
      </p:grpSpPr>
      <p:grpSp>
        <p:nvGrpSpPr>
          <p:cNvPr id="216" name="Google Shape;216;p84"/>
          <p:cNvGrpSpPr/>
          <p:nvPr/>
        </p:nvGrpSpPr>
        <p:grpSpPr>
          <a:xfrm>
            <a:off x="362235" y="727975"/>
            <a:ext cx="8809200" cy="4144225"/>
            <a:chOff x="362235" y="727975"/>
            <a:chExt cx="8809200" cy="4144225"/>
          </a:xfrm>
        </p:grpSpPr>
        <p:cxnSp>
          <p:nvCxnSpPr>
            <p:cNvPr id="217" name="Google Shape;217;p8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8" name="Google Shape;218;p8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9" name="Google Shape;219;p8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
        <p:nvSpPr>
          <p:cNvPr id="220" name="Google Shape;220;p84"/>
          <p:cNvSpPr txBox="1">
            <a:spLocks noGrp="1"/>
          </p:cNvSpPr>
          <p:nvPr>
            <p:ph type="title"/>
          </p:nvPr>
        </p:nvSpPr>
        <p:spPr>
          <a:xfrm>
            <a:off x="731520"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21" name="Google Shape;221;p84"/>
          <p:cNvSpPr txBox="1">
            <a:spLocks noGrp="1"/>
          </p:cNvSpPr>
          <p:nvPr>
            <p:ph type="subTitle" idx="1"/>
          </p:nvPr>
        </p:nvSpPr>
        <p:spPr>
          <a:xfrm>
            <a:off x="4544625" y="1722525"/>
            <a:ext cx="38862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sp>
        <p:nvSpPr>
          <p:cNvPr id="222" name="Google Shape;222;p84"/>
          <p:cNvSpPr txBox="1">
            <a:spLocks noGrp="1"/>
          </p:cNvSpPr>
          <p:nvPr>
            <p:ph type="subTitle" idx="2"/>
          </p:nvPr>
        </p:nvSpPr>
        <p:spPr>
          <a:xfrm>
            <a:off x="713150" y="1722525"/>
            <a:ext cx="39246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004E-C463-B146-52C9-89735495264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5250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4"/>
        <p:cNvGrpSpPr/>
        <p:nvPr/>
      </p:nvGrpSpPr>
      <p:grpSpPr>
        <a:xfrm>
          <a:off x="0" y="0"/>
          <a:ext cx="0" cy="0"/>
          <a:chOff x="0" y="0"/>
          <a:chExt cx="0" cy="0"/>
        </a:xfrm>
      </p:grpSpPr>
      <p:grpSp>
        <p:nvGrpSpPr>
          <p:cNvPr id="225" name="Google Shape;225;p89"/>
          <p:cNvGrpSpPr/>
          <p:nvPr/>
        </p:nvGrpSpPr>
        <p:grpSpPr>
          <a:xfrm>
            <a:off x="362235" y="727975"/>
            <a:ext cx="8809200" cy="4144225"/>
            <a:chOff x="362235" y="727975"/>
            <a:chExt cx="8809200" cy="4144225"/>
          </a:xfrm>
        </p:grpSpPr>
        <p:cxnSp>
          <p:nvCxnSpPr>
            <p:cNvPr id="226" name="Google Shape;226;p89"/>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27" name="Google Shape;227;p89"/>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28" name="Google Shape;228;p89"/>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9"/>
        <p:cNvGrpSpPr/>
        <p:nvPr/>
      </p:nvGrpSpPr>
      <p:grpSpPr>
        <a:xfrm>
          <a:off x="0" y="0"/>
          <a:ext cx="0" cy="0"/>
          <a:chOff x="0" y="0"/>
          <a:chExt cx="0" cy="0"/>
        </a:xfrm>
      </p:grpSpPr>
      <p:grpSp>
        <p:nvGrpSpPr>
          <p:cNvPr id="230" name="Google Shape;230;p90"/>
          <p:cNvGrpSpPr/>
          <p:nvPr/>
        </p:nvGrpSpPr>
        <p:grpSpPr>
          <a:xfrm>
            <a:off x="-94975" y="704675"/>
            <a:ext cx="8809210" cy="4167775"/>
            <a:chOff x="-94975" y="704675"/>
            <a:chExt cx="8809210" cy="4167775"/>
          </a:xfrm>
        </p:grpSpPr>
        <p:cxnSp>
          <p:nvCxnSpPr>
            <p:cNvPr id="231" name="Google Shape;231;p90"/>
            <p:cNvCxnSpPr/>
            <p:nvPr/>
          </p:nvCxnSpPr>
          <p:spPr>
            <a:xfrm rot="10800000">
              <a:off x="8439135" y="704675"/>
              <a:ext cx="275100" cy="0"/>
            </a:xfrm>
            <a:prstGeom prst="straightConnector1">
              <a:avLst/>
            </a:prstGeom>
            <a:noFill/>
            <a:ln w="9525" cap="flat" cmpd="sng">
              <a:solidFill>
                <a:schemeClr val="dk1"/>
              </a:solidFill>
              <a:prstDash val="solid"/>
              <a:round/>
              <a:headEnd type="none" w="sm" len="sm"/>
              <a:tailEnd type="none" w="sm" len="sm"/>
            </a:ln>
          </p:spPr>
        </p:cxnSp>
        <p:cxnSp>
          <p:nvCxnSpPr>
            <p:cNvPr id="232" name="Google Shape;232;p9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3" name="Google Shape;233;p9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9pPr>
          </a:lstStyle>
          <a:p>
            <a:endParaRPr/>
          </a:p>
        </p:txBody>
      </p:sp>
      <p:sp>
        <p:nvSpPr>
          <p:cNvPr id="7" name="Google Shape;7;p5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61" r:id="rId6"/>
    <p:sldLayoutId id="2147483662" r:id="rId7"/>
    <p:sldLayoutId id="2147483668" r:id="rId8"/>
    <p:sldLayoutId id="2147483669" r:id="rId9"/>
    <p:sldLayoutId id="2147483673" r:id="rId10"/>
    <p:sldLayoutId id="2147483674" r:id="rId11"/>
    <p:sldLayoutId id="2147483675" r:id="rId12"/>
    <p:sldLayoutId id="2147483679" r:id="rId13"/>
    <p:sldLayoutId id="2147483676" r:id="rId14"/>
    <p:sldLayoutId id="2147483677" r:id="rId15"/>
    <p:sldLayoutId id="214748367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3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1"/>
          <p:cNvGrpSpPr/>
          <p:nvPr/>
        </p:nvGrpSpPr>
        <p:grpSpPr>
          <a:xfrm>
            <a:off x="384044" y="411300"/>
            <a:ext cx="8385633" cy="4320925"/>
            <a:chOff x="1565825" y="551275"/>
            <a:chExt cx="7758010" cy="4320925"/>
          </a:xfrm>
        </p:grpSpPr>
        <p:cxnSp>
          <p:nvCxnSpPr>
            <p:cNvPr id="239" name="Google Shape;239;p1"/>
            <p:cNvCxnSpPr>
              <a:cxnSpLocks/>
            </p:cNvCxnSpPr>
            <p:nvPr/>
          </p:nvCxnSpPr>
          <p:spPr>
            <a:xfrm>
              <a:off x="1565825" y="551275"/>
              <a:ext cx="838999" cy="13"/>
            </a:xfrm>
            <a:prstGeom prst="straightConnector1">
              <a:avLst/>
            </a:prstGeom>
            <a:noFill/>
            <a:ln w="9525" cap="flat" cmpd="sng">
              <a:solidFill>
                <a:schemeClr val="dk1"/>
              </a:solidFill>
              <a:prstDash val="solid"/>
              <a:round/>
              <a:headEnd type="none" w="sm" len="sm"/>
              <a:tailEnd type="none" w="sm" len="sm"/>
            </a:ln>
          </p:spPr>
        </p:cxnSp>
        <p:cxnSp>
          <p:nvCxnSpPr>
            <p:cNvPr id="240" name="Google Shape;240;p1"/>
            <p:cNvCxnSpPr/>
            <p:nvPr/>
          </p:nvCxnSpPr>
          <p:spPr>
            <a:xfrm>
              <a:off x="1570000" y="551288"/>
              <a:ext cx="0" cy="4320900"/>
            </a:xfrm>
            <a:prstGeom prst="straightConnector1">
              <a:avLst/>
            </a:prstGeom>
            <a:noFill/>
            <a:ln w="9525" cap="flat" cmpd="sng">
              <a:solidFill>
                <a:schemeClr val="dk1"/>
              </a:solidFill>
              <a:prstDash val="solid"/>
              <a:round/>
              <a:headEnd type="none" w="sm" len="sm"/>
              <a:tailEnd type="none" w="sm" len="sm"/>
            </a:ln>
          </p:spPr>
        </p:cxnSp>
        <p:cxnSp>
          <p:nvCxnSpPr>
            <p:cNvPr id="241" name="Google Shape;241;p1"/>
            <p:cNvCxnSpPr/>
            <p:nvPr/>
          </p:nvCxnSpPr>
          <p:spPr>
            <a:xfrm>
              <a:off x="1565835" y="4872200"/>
              <a:ext cx="7758000" cy="0"/>
            </a:xfrm>
            <a:prstGeom prst="straightConnector1">
              <a:avLst/>
            </a:prstGeom>
            <a:noFill/>
            <a:ln w="9525" cap="flat" cmpd="sng">
              <a:solidFill>
                <a:schemeClr val="dk1"/>
              </a:solidFill>
              <a:prstDash val="solid"/>
              <a:round/>
              <a:headEnd type="none" w="sm" len="sm"/>
              <a:tailEnd type="none" w="sm" len="sm"/>
            </a:ln>
          </p:spPr>
        </p:cxnSp>
      </p:grpSp>
      <p:cxnSp>
        <p:nvCxnSpPr>
          <p:cNvPr id="243" name="Google Shape;243;p1"/>
          <p:cNvCxnSpPr/>
          <p:nvPr/>
        </p:nvCxnSpPr>
        <p:spPr>
          <a:xfrm>
            <a:off x="4101654" y="1548000"/>
            <a:ext cx="0" cy="2047500"/>
          </a:xfrm>
          <a:prstGeom prst="straightConnector1">
            <a:avLst/>
          </a:prstGeom>
          <a:noFill/>
          <a:ln w="19050" cap="flat" cmpd="sng">
            <a:solidFill>
              <a:srgbClr val="595959"/>
            </a:solidFill>
            <a:prstDash val="solid"/>
            <a:miter lim="800000"/>
            <a:headEnd type="none" w="sm" len="sm"/>
            <a:tailEnd type="none" w="sm" len="sm"/>
          </a:ln>
        </p:spPr>
      </p:cxnSp>
      <p:sp>
        <p:nvSpPr>
          <p:cNvPr id="244" name="Google Shape;244;p1"/>
          <p:cNvSpPr txBox="1"/>
          <p:nvPr/>
        </p:nvSpPr>
        <p:spPr>
          <a:xfrm>
            <a:off x="4357330" y="2082461"/>
            <a:ext cx="3457421" cy="839988"/>
          </a:xfrm>
          <a:prstGeom prst="rect">
            <a:avLst/>
          </a:prstGeom>
          <a:noFill/>
          <a:ln>
            <a:noFill/>
          </a:ln>
        </p:spPr>
        <p:txBody>
          <a:bodyPr spcFirstLastPara="1" wrap="square" lIns="91200" tIns="45600" rIns="91200" bIns="45600" anchor="t" anchorCtr="0">
            <a:spAutoFit/>
          </a:bodyPr>
          <a:lstStyle/>
          <a:p>
            <a:pPr marL="0" marR="0" lvl="0" indent="0" algn="l" rtl="0">
              <a:lnSpc>
                <a:spcPct val="90000"/>
              </a:lnSpc>
              <a:spcBef>
                <a:spcPts val="0"/>
              </a:spcBef>
              <a:spcAft>
                <a:spcPts val="0"/>
              </a:spcAft>
              <a:buClr>
                <a:srgbClr val="7F4900"/>
              </a:buClr>
              <a:buSzPts val="4000"/>
              <a:buFont typeface="Arial"/>
              <a:buNone/>
            </a:pPr>
            <a:r>
              <a:rPr lang="en" sz="2400" b="1" i="0" u="none" strike="noStrike" cap="none" dirty="0">
                <a:solidFill>
                  <a:srgbClr val="7F4900"/>
                </a:solidFill>
                <a:latin typeface="Calibri" panose="020F0502020204030204" pitchFamily="34" charset="0"/>
                <a:ea typeface="Calibri" panose="020F0502020204030204" pitchFamily="34" charset="0"/>
                <a:cs typeface="Calibri" panose="020F0502020204030204" pitchFamily="34" charset="0"/>
                <a:sym typeface="Montserrat"/>
              </a:rPr>
              <a:t>Monthly Market Mantra</a:t>
            </a:r>
          </a:p>
          <a:p>
            <a:pPr marL="0" marR="0" lvl="0" indent="0" algn="l" rtl="0">
              <a:lnSpc>
                <a:spcPct val="150000"/>
              </a:lnSpc>
              <a:spcBef>
                <a:spcPts val="0"/>
              </a:spcBef>
              <a:spcAft>
                <a:spcPts val="0"/>
              </a:spcAft>
              <a:buClr>
                <a:srgbClr val="7F4900"/>
              </a:buClr>
              <a:buSzPts val="4000"/>
              <a:buFont typeface="Arial"/>
              <a:buNone/>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April,</a:t>
            </a:r>
            <a:r>
              <a:rPr lang="en"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2026</a:t>
            </a:r>
            <a:endParaRPr sz="2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pic>
        <p:nvPicPr>
          <p:cNvPr id="7" name="Picture 6">
            <a:extLst>
              <a:ext uri="{FF2B5EF4-FFF2-40B4-BE49-F238E27FC236}">
                <a16:creationId xmlns:a16="http://schemas.microsoft.com/office/drawing/2014/main" id="{58A88408-A669-4097-EF41-D1DE335DFE34}"/>
              </a:ext>
            </a:extLst>
          </p:cNvPr>
          <p:cNvPicPr>
            <a:picLocks noChangeAspect="1"/>
          </p:cNvPicPr>
          <p:nvPr/>
        </p:nvPicPr>
        <p:blipFill>
          <a:blip r:embed="rId3"/>
          <a:stretch>
            <a:fillRect/>
          </a:stretch>
        </p:blipFill>
        <p:spPr>
          <a:xfrm>
            <a:off x="801906" y="1774754"/>
            <a:ext cx="2886400" cy="1372302"/>
          </a:xfrm>
          <a:prstGeom prst="rect">
            <a:avLst/>
          </a:prstGeom>
        </p:spPr>
      </p:pic>
      <p:pic>
        <p:nvPicPr>
          <p:cNvPr id="9" name="Picture 8">
            <a:extLst>
              <a:ext uri="{FF2B5EF4-FFF2-40B4-BE49-F238E27FC236}">
                <a16:creationId xmlns:a16="http://schemas.microsoft.com/office/drawing/2014/main" id="{4896CCE2-B457-545A-DC10-5E2A3E2B9067}"/>
              </a:ext>
            </a:extLst>
          </p:cNvPr>
          <p:cNvPicPr>
            <a:picLocks noChangeAspect="1"/>
          </p:cNvPicPr>
          <p:nvPr/>
        </p:nvPicPr>
        <p:blipFill>
          <a:blip r:embed="rId3"/>
          <a:stretch>
            <a:fillRect/>
          </a:stretch>
        </p:blipFill>
        <p:spPr>
          <a:xfrm>
            <a:off x="7819053" y="116485"/>
            <a:ext cx="1190504" cy="566010"/>
          </a:xfrm>
          <a:prstGeom prst="rect">
            <a:avLst/>
          </a:prstGeom>
        </p:spPr>
      </p:pic>
      <p:sp>
        <p:nvSpPr>
          <p:cNvPr id="2" name="Google Shape;244;p1">
            <a:extLst>
              <a:ext uri="{FF2B5EF4-FFF2-40B4-BE49-F238E27FC236}">
                <a16:creationId xmlns:a16="http://schemas.microsoft.com/office/drawing/2014/main" id="{C67C7DA0-2F52-AC8A-32DC-A951E550BEC3}"/>
              </a:ext>
            </a:extLst>
          </p:cNvPr>
          <p:cNvSpPr txBox="1"/>
          <p:nvPr/>
        </p:nvSpPr>
        <p:spPr>
          <a:xfrm>
            <a:off x="6479383" y="4492292"/>
            <a:ext cx="2434096" cy="230590"/>
          </a:xfrm>
          <a:prstGeom prst="rect">
            <a:avLst/>
          </a:prstGeom>
          <a:noFill/>
          <a:ln>
            <a:noFill/>
          </a:ln>
        </p:spPr>
        <p:txBody>
          <a:bodyPr spcFirstLastPara="1" wrap="square" lIns="91200" tIns="45600" rIns="91200" bIns="45600" anchor="t" anchorCtr="0">
            <a:spAutoFit/>
          </a:bodyPr>
          <a:lstStyle/>
          <a:p>
            <a:pPr marL="0" marR="0" lvl="0" indent="0" rtl="0">
              <a:lnSpc>
                <a:spcPct val="90000"/>
              </a:lnSpc>
              <a:spcBef>
                <a:spcPts val="0"/>
              </a:spcBef>
              <a:spcAft>
                <a:spcPts val="0"/>
              </a:spcAft>
              <a:buClr>
                <a:srgbClr val="7F4900"/>
              </a:buClr>
              <a:buSzPts val="4000"/>
              <a:buFont typeface="Arial"/>
              <a:buNone/>
            </a:pP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Monthly Market Update </a:t>
            </a:r>
            <a:r>
              <a:rPr lang="en-US"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March</a:t>
            </a:r>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a:t>
            </a:r>
            <a:r>
              <a:rPr lang="en"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a:t>
            </a: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2026</a:t>
            </a:r>
            <a:endParaRPr sz="1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Market Overview  </a:t>
            </a:r>
          </a:p>
        </p:txBody>
      </p:sp>
      <p:grpSp>
        <p:nvGrpSpPr>
          <p:cNvPr id="303" name="Google Shape;303;p7"/>
          <p:cNvGrpSpPr/>
          <p:nvPr/>
        </p:nvGrpSpPr>
        <p:grpSpPr>
          <a:xfrm>
            <a:off x="-25" y="4872600"/>
            <a:ext cx="9144000" cy="281585"/>
            <a:chOff x="-25" y="4872600"/>
            <a:chExt cx="9144000" cy="28158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81585"/>
              <a:chOff x="3084200" y="4934525"/>
              <a:chExt cx="2941800" cy="281585"/>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81585"/>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 name="Group 2">
            <a:extLst>
              <a:ext uri="{FF2B5EF4-FFF2-40B4-BE49-F238E27FC236}">
                <a16:creationId xmlns:a16="http://schemas.microsoft.com/office/drawing/2014/main" id="{F26486A1-9941-91F5-95E6-6A05CED0F9F3}"/>
              </a:ext>
            </a:extLst>
          </p:cNvPr>
          <p:cNvGrpSpPr/>
          <p:nvPr/>
        </p:nvGrpSpPr>
        <p:grpSpPr>
          <a:xfrm>
            <a:off x="732267" y="1065914"/>
            <a:ext cx="8127196" cy="3414126"/>
            <a:chOff x="1378555" y="651509"/>
            <a:chExt cx="6203903" cy="3597870"/>
          </a:xfrm>
        </p:grpSpPr>
        <p:sp>
          <p:nvSpPr>
            <p:cNvPr id="4" name="Freeform: Shape 3">
              <a:extLst>
                <a:ext uri="{FF2B5EF4-FFF2-40B4-BE49-F238E27FC236}">
                  <a16:creationId xmlns:a16="http://schemas.microsoft.com/office/drawing/2014/main" id="{F8707A78-3CBD-A393-D0C0-50BB01646FAA}"/>
                </a:ext>
              </a:extLst>
            </p:cNvPr>
            <p:cNvSpPr/>
            <p:nvPr/>
          </p:nvSpPr>
          <p:spPr>
            <a:xfrm>
              <a:off x="1378555" y="670510"/>
              <a:ext cx="2966675" cy="1567257"/>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6" name="Freeform: Shape 5">
              <a:extLst>
                <a:ext uri="{FF2B5EF4-FFF2-40B4-BE49-F238E27FC236}">
                  <a16:creationId xmlns:a16="http://schemas.microsoft.com/office/drawing/2014/main" id="{3D92FB1A-D8B0-E020-2A40-F4642D0266C6}"/>
                </a:ext>
              </a:extLst>
            </p:cNvPr>
            <p:cNvSpPr/>
            <p:nvPr/>
          </p:nvSpPr>
          <p:spPr>
            <a:xfrm>
              <a:off x="4601963" y="651509"/>
              <a:ext cx="2980495" cy="1567866"/>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7" name="Freeform: Shape 6">
              <a:extLst>
                <a:ext uri="{FF2B5EF4-FFF2-40B4-BE49-F238E27FC236}">
                  <a16:creationId xmlns:a16="http://schemas.microsoft.com/office/drawing/2014/main" id="{5DEBFF31-8295-B9DE-B194-970F9A1C81FE}"/>
                </a:ext>
              </a:extLst>
            </p:cNvPr>
            <p:cNvSpPr/>
            <p:nvPr/>
          </p:nvSpPr>
          <p:spPr>
            <a:xfrm>
              <a:off x="1378555" y="2502945"/>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8" name="Freeform: Shape 7">
              <a:extLst>
                <a:ext uri="{FF2B5EF4-FFF2-40B4-BE49-F238E27FC236}">
                  <a16:creationId xmlns:a16="http://schemas.microsoft.com/office/drawing/2014/main" id="{DABD1A88-54D9-6462-D3F4-865B1A159A49}"/>
                </a:ext>
              </a:extLst>
            </p:cNvPr>
            <p:cNvSpPr/>
            <p:nvPr/>
          </p:nvSpPr>
          <p:spPr>
            <a:xfrm>
              <a:off x="4588849" y="2508330"/>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grpSp>
      <p:sp>
        <p:nvSpPr>
          <p:cNvPr id="9" name="TextBox 8">
            <a:extLst>
              <a:ext uri="{FF2B5EF4-FFF2-40B4-BE49-F238E27FC236}">
                <a16:creationId xmlns:a16="http://schemas.microsoft.com/office/drawing/2014/main" id="{E14FFC10-0386-0CD1-9B88-EF967B5C1276}"/>
              </a:ext>
            </a:extLst>
          </p:cNvPr>
          <p:cNvSpPr txBox="1"/>
          <p:nvPr/>
        </p:nvSpPr>
        <p:spPr>
          <a:xfrm>
            <a:off x="719999" y="1117313"/>
            <a:ext cx="3904488" cy="1384995"/>
          </a:xfrm>
          <a:prstGeom prst="rect">
            <a:avLst/>
          </a:prstGeom>
          <a:noFill/>
        </p:spPr>
        <p:txBody>
          <a:bodyPr wrap="square">
            <a:spAutoFit/>
          </a:bodyPr>
          <a:lstStyle/>
          <a:p>
            <a:pPr marL="0" indent="0" algn="just"/>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India</a:t>
            </a:r>
          </a:p>
          <a:p>
            <a:pPr marL="0" indent="0" algn="just"/>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gn="just"/>
            <a:r>
              <a:rPr lang="en-US" sz="1000" dirty="0">
                <a:solidFill>
                  <a:schemeClr val="tx1"/>
                </a:solidFill>
                <a:latin typeface="+mj-lt"/>
                <a:ea typeface="Calibri" panose="020F0502020204030204" pitchFamily="34" charset="0"/>
                <a:cs typeface="Calibri" panose="020F0502020204030204" pitchFamily="34" charset="0"/>
              </a:rPr>
              <a:t>RBI keeps repo rate unchanged in Apr-26, maintains neutral stance </a:t>
            </a:r>
          </a:p>
          <a:p>
            <a:pPr marL="0" indent="0" algn="just"/>
            <a:endParaRPr lang="en-US" sz="1000" dirty="0">
              <a:solidFill>
                <a:schemeClr val="tx1"/>
              </a:solidFill>
              <a:latin typeface="+mj-lt"/>
              <a:ea typeface="Calibri" panose="020F0502020204030204" pitchFamily="34" charset="0"/>
              <a:cs typeface="Calibri" panose="020F0502020204030204" pitchFamily="34" charset="0"/>
            </a:endParaRPr>
          </a:p>
          <a:p>
            <a:pPr marL="0" indent="0" algn="just"/>
            <a:r>
              <a:rPr lang="en-US" sz="1000" dirty="0">
                <a:latin typeface="+mj-lt"/>
              </a:rPr>
              <a:t>RBI’s $100mn NOP cap unwinds $15–40bn arb, lifting INR</a:t>
            </a:r>
          </a:p>
          <a:p>
            <a:pPr marL="0" indent="0" algn="just"/>
            <a:endParaRPr lang="en-US" sz="1000" dirty="0">
              <a:latin typeface="+mj-lt"/>
            </a:endParaRPr>
          </a:p>
          <a:p>
            <a:pPr algn="just"/>
            <a:r>
              <a:rPr lang="en-US" sz="1000" dirty="0">
                <a:latin typeface="+mj-lt"/>
              </a:rPr>
              <a:t>India’s ~85% crude import dependence risks widening CAD ($13.2bn, 1.3% GDP) amid Middle East tensions</a:t>
            </a:r>
          </a:p>
        </p:txBody>
      </p:sp>
      <p:sp>
        <p:nvSpPr>
          <p:cNvPr id="10" name="TextBox 9">
            <a:extLst>
              <a:ext uri="{FF2B5EF4-FFF2-40B4-BE49-F238E27FC236}">
                <a16:creationId xmlns:a16="http://schemas.microsoft.com/office/drawing/2014/main" id="{20B278AE-3837-4396-8693-A4E67E5DDA1B}"/>
              </a:ext>
            </a:extLst>
          </p:cNvPr>
          <p:cNvSpPr txBox="1"/>
          <p:nvPr/>
        </p:nvSpPr>
        <p:spPr>
          <a:xfrm>
            <a:off x="4960811" y="1265832"/>
            <a:ext cx="3904488" cy="1231106"/>
          </a:xfrm>
          <a:prstGeom prst="rect">
            <a:avLst/>
          </a:prstGeom>
          <a:noFill/>
        </p:spPr>
        <p:txBody>
          <a:bodyPr wrap="square" anchor="ctr">
            <a:spAutoFit/>
          </a:bodyPr>
          <a:lstStyle/>
          <a:p>
            <a:r>
              <a:rPr lang="en-US" sz="1200" b="1" dirty="0">
                <a:latin typeface="+mn-lt"/>
                <a:ea typeface="Calibri" panose="020F0502020204030204" pitchFamily="34" charset="0"/>
                <a:cs typeface="Calibri" panose="020F0502020204030204" pitchFamily="34" charset="0"/>
              </a:rPr>
              <a:t>Other International Market</a:t>
            </a:r>
          </a:p>
          <a:p>
            <a:endParaRPr lang="en-US" sz="1200" b="1" dirty="0">
              <a:latin typeface="+mn-lt"/>
              <a:ea typeface="Calibri" panose="020F0502020204030204" pitchFamily="34" charset="0"/>
              <a:cs typeface="Calibri" panose="020F0502020204030204" pitchFamily="34" charset="0"/>
            </a:endParaRPr>
          </a:p>
          <a:p>
            <a:r>
              <a:rPr lang="en-US" sz="1000" dirty="0">
                <a:latin typeface="+mn-lt"/>
                <a:ea typeface="Calibri" panose="020F0502020204030204" pitchFamily="34" charset="0"/>
                <a:cs typeface="Calibri" panose="020F0502020204030204" pitchFamily="34" charset="0"/>
              </a:rPr>
              <a:t>US President Trump proposes 100% tariffs on pharma imports </a:t>
            </a:r>
          </a:p>
          <a:p>
            <a:endParaRPr lang="en-US" sz="1000" dirty="0">
              <a:solidFill>
                <a:srgbClr val="FF0000"/>
              </a:solidFill>
              <a:latin typeface="+mn-lt"/>
            </a:endParaRPr>
          </a:p>
          <a:p>
            <a:pPr algn="just"/>
            <a:r>
              <a:rPr lang="en-US" sz="1000" dirty="0">
                <a:solidFill>
                  <a:schemeClr val="tx1"/>
                </a:solidFill>
                <a:latin typeface="+mn-lt"/>
              </a:rPr>
              <a:t>ECB and BOJ hold rates amid inflation and geopolitical risks</a:t>
            </a:r>
          </a:p>
          <a:p>
            <a:pPr algn="just"/>
            <a:endParaRPr lang="en-US" sz="1000" dirty="0">
              <a:solidFill>
                <a:schemeClr val="tx1"/>
              </a:solidFill>
              <a:latin typeface="+mn-lt"/>
            </a:endParaRPr>
          </a:p>
          <a:p>
            <a:pPr algn="just"/>
            <a:r>
              <a:rPr lang="en-US" sz="1000" dirty="0">
                <a:latin typeface="+mn-lt"/>
                <a:cs typeface="Arial" panose="020B0604020202020204" pitchFamily="34" charset="0"/>
              </a:rPr>
              <a:t>Energy shocks emerging as key macro risk across South Asia economies</a:t>
            </a:r>
          </a:p>
        </p:txBody>
      </p:sp>
      <p:sp>
        <p:nvSpPr>
          <p:cNvPr id="11" name="TextBox 10">
            <a:extLst>
              <a:ext uri="{FF2B5EF4-FFF2-40B4-BE49-F238E27FC236}">
                <a16:creationId xmlns:a16="http://schemas.microsoft.com/office/drawing/2014/main" id="{456DDE92-5350-52CB-5EEB-D7D1387EA61D}"/>
              </a:ext>
            </a:extLst>
          </p:cNvPr>
          <p:cNvSpPr txBox="1"/>
          <p:nvPr/>
        </p:nvSpPr>
        <p:spPr>
          <a:xfrm>
            <a:off x="752820" y="2824946"/>
            <a:ext cx="3883935" cy="1810496"/>
          </a:xfrm>
          <a:prstGeom prst="rect">
            <a:avLst/>
          </a:prstGeom>
          <a:noFill/>
        </p:spPr>
        <p:txBody>
          <a:bodyPr wrap="square">
            <a:spAutoFit/>
          </a:bodyPr>
          <a:lstStyle/>
          <a:p>
            <a:pPr algn="just">
              <a:lnSpc>
                <a:spcPct val="110000"/>
              </a:lnSpc>
              <a:buFont typeface="Arial"/>
              <a:buNone/>
            </a:pPr>
            <a:r>
              <a:rPr lang="en-US" sz="1200" b="1" dirty="0">
                <a:latin typeface="+mn-lt"/>
                <a:ea typeface="Calibri" panose="020F0502020204030204" pitchFamily="34" charset="0"/>
                <a:cs typeface="Calibri" panose="020F0502020204030204" pitchFamily="34" charset="0"/>
              </a:rPr>
              <a:t>U.S.</a:t>
            </a:r>
          </a:p>
          <a:p>
            <a:pPr algn="just">
              <a:lnSpc>
                <a:spcPct val="110000"/>
              </a:lnSpc>
            </a:pPr>
            <a:endParaRPr lang="en-US" sz="1000" dirty="0">
              <a:solidFill>
                <a:schemeClr val="tx1"/>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rPr>
              <a:t>US Fed keeps rate holds interest rates, signals delayed cuts amid inflation and geopolitical risks</a:t>
            </a:r>
          </a:p>
          <a:p>
            <a:pPr algn="just">
              <a:lnSpc>
                <a:spcPct val="110000"/>
              </a:lnSpc>
            </a:pPr>
            <a:endParaRPr lang="en-US" sz="1000" dirty="0">
              <a:solidFill>
                <a:srgbClr val="FF0000"/>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cs typeface="Arial" panose="020B0604020202020204" pitchFamily="34" charset="0"/>
              </a:rPr>
              <a:t>US unemployment rate holds steady at 4.3% in Mar-26 </a:t>
            </a:r>
          </a:p>
          <a:p>
            <a:pPr algn="just">
              <a:lnSpc>
                <a:spcPct val="110000"/>
              </a:lnSpc>
            </a:pPr>
            <a:endParaRPr lang="en-US" sz="1000" dirty="0">
              <a:solidFill>
                <a:schemeClr val="tx1"/>
              </a:solidFill>
              <a:latin typeface="+mn-lt"/>
              <a:cs typeface="Arial" panose="020B0604020202020204" pitchFamily="34" charset="0"/>
            </a:endParaRPr>
          </a:p>
          <a:p>
            <a:pPr algn="just">
              <a:lnSpc>
                <a:spcPct val="110000"/>
              </a:lnSpc>
            </a:pPr>
            <a:r>
              <a:rPr lang="en-US" sz="1000" dirty="0">
                <a:solidFill>
                  <a:schemeClr val="tx1"/>
                </a:solidFill>
                <a:latin typeface="+mn-lt"/>
                <a:cs typeface="Arial" panose="020B0604020202020204" pitchFamily="34" charset="0"/>
              </a:rPr>
              <a:t>US 10-year Treasury note rose to around 4.37% in Mar-26 amid escalations in US – Iran war </a:t>
            </a:r>
          </a:p>
          <a:p>
            <a:pPr algn="just">
              <a:lnSpc>
                <a:spcPct val="110000"/>
              </a:lnSpc>
            </a:pPr>
            <a:endParaRPr lang="en-US" sz="1000" dirty="0">
              <a:solidFill>
                <a:schemeClr val="tx1"/>
              </a:solidFill>
              <a:latin typeface="+mn-lt"/>
              <a:cs typeface="Arial" panose="020B0604020202020204" pitchFamily="34" charset="0"/>
            </a:endParaRPr>
          </a:p>
        </p:txBody>
      </p:sp>
      <p:sp>
        <p:nvSpPr>
          <p:cNvPr id="12" name="TextBox 11">
            <a:extLst>
              <a:ext uri="{FF2B5EF4-FFF2-40B4-BE49-F238E27FC236}">
                <a16:creationId xmlns:a16="http://schemas.microsoft.com/office/drawing/2014/main" id="{9B7319D2-C40D-5463-218E-8EE87F5E2E56}"/>
              </a:ext>
            </a:extLst>
          </p:cNvPr>
          <p:cNvSpPr txBox="1"/>
          <p:nvPr/>
        </p:nvSpPr>
        <p:spPr>
          <a:xfrm>
            <a:off x="4937795" y="2867880"/>
            <a:ext cx="3921668" cy="1338828"/>
          </a:xfrm>
          <a:prstGeom prst="rect">
            <a:avLst/>
          </a:prstGeom>
          <a:noFill/>
        </p:spPr>
        <p:txBody>
          <a:bodyPr wrap="square">
            <a:spAutoFit/>
          </a:bodyPr>
          <a:lstStyle/>
          <a:p>
            <a:pPr marL="0" indent="0"/>
            <a:r>
              <a:rPr lang="en-US" sz="1200" b="1" dirty="0">
                <a:latin typeface="Calibri" panose="020F0502020204030204" pitchFamily="34" charset="0"/>
                <a:ea typeface="Calibri" panose="020F0502020204030204" pitchFamily="34" charset="0"/>
                <a:cs typeface="Calibri" panose="020F0502020204030204" pitchFamily="34" charset="0"/>
              </a:rPr>
              <a:t>International </a:t>
            </a:r>
          </a:p>
          <a:p>
            <a:endParaRPr lang="en-US" sz="900" dirty="0">
              <a:latin typeface="+mn-lt"/>
            </a:endParaRPr>
          </a:p>
          <a:p>
            <a:r>
              <a:rPr lang="en-US" sz="1000" dirty="0">
                <a:latin typeface="+mn-lt"/>
              </a:rPr>
              <a:t>Gold eases to  ~ $4,600 / oz amid escalating West Asia tensions</a:t>
            </a:r>
          </a:p>
          <a:p>
            <a:endParaRPr lang="en-US" sz="1000" dirty="0">
              <a:latin typeface="+mn-lt"/>
            </a:endParaRPr>
          </a:p>
          <a:p>
            <a:r>
              <a:rPr lang="en-US" sz="1000" dirty="0">
                <a:latin typeface="+mn-lt"/>
              </a:rPr>
              <a:t>Brent crude ~$ 100/</a:t>
            </a:r>
            <a:r>
              <a:rPr lang="en-US" sz="1000" dirty="0" err="1">
                <a:latin typeface="+mn-lt"/>
              </a:rPr>
              <a:t>bbl</a:t>
            </a:r>
            <a:r>
              <a:rPr lang="en-US" sz="1000" dirty="0">
                <a:latin typeface="+mn-lt"/>
              </a:rPr>
              <a:t> reflects tight supply and elevated global risk </a:t>
            </a:r>
          </a:p>
          <a:p>
            <a:endParaRPr lang="en-US" sz="1000" dirty="0">
              <a:latin typeface="+mn-lt"/>
            </a:endParaRPr>
          </a:p>
          <a:p>
            <a:r>
              <a:rPr lang="en-US" sz="1000" dirty="0">
                <a:solidFill>
                  <a:schemeClr val="tx1"/>
                </a:solidFill>
                <a:latin typeface="+mn-lt"/>
              </a:rPr>
              <a:t>Global markets remain cautious amid rising commodity prices and geopolitical  uncertainty</a:t>
            </a:r>
          </a:p>
        </p:txBody>
      </p:sp>
      <p:sp>
        <p:nvSpPr>
          <p:cNvPr id="2" name="TextBox 1">
            <a:extLst>
              <a:ext uri="{FF2B5EF4-FFF2-40B4-BE49-F238E27FC236}">
                <a16:creationId xmlns:a16="http://schemas.microsoft.com/office/drawing/2014/main" id="{BFBD31A5-6529-E59F-27A7-3145111AE894}"/>
              </a:ext>
            </a:extLst>
          </p:cNvPr>
          <p:cNvSpPr txBox="1"/>
          <p:nvPr/>
        </p:nvSpPr>
        <p:spPr>
          <a:xfrm>
            <a:off x="6117557" y="4550246"/>
            <a:ext cx="2892000" cy="338554"/>
          </a:xfrm>
          <a:prstGeom prst="rect">
            <a:avLst/>
          </a:prstGeom>
          <a:noFill/>
        </p:spPr>
        <p:txBody>
          <a:bodyPr wrap="square" rtlCol="0">
            <a:spAutoFit/>
          </a:bodyPr>
          <a:lstStyle/>
          <a:p>
            <a:pPr algn="r"/>
            <a:r>
              <a:rPr lang="en-US" sz="800" i="1" dirty="0">
                <a:latin typeface="Calibri" panose="020F0502020204030204" pitchFamily="34" charset="0"/>
                <a:ea typeface="Calibri" panose="020F0502020204030204" pitchFamily="34" charset="0"/>
                <a:cs typeface="Calibri" panose="020F0502020204030204" pitchFamily="34" charset="0"/>
              </a:rPr>
              <a:t>Source: Moneycontrol, Bloomberg, CNBC, Trading economics</a:t>
            </a:r>
          </a:p>
          <a:p>
            <a:pPr algn="r"/>
            <a:r>
              <a:rPr lang="en-US" sz="800" i="1" dirty="0">
                <a:latin typeface="Calibri" panose="020F0502020204030204" pitchFamily="34" charset="0"/>
                <a:ea typeface="Calibri" panose="020F0502020204030204" pitchFamily="34" charset="0"/>
                <a:cs typeface="Calibri" panose="020F0502020204030204" pitchFamily="34" charset="0"/>
              </a:rPr>
              <a:t>As </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on 8</a:t>
            </a:r>
            <a:r>
              <a:rPr lang="en-US" sz="800" i="1" baseline="30000" dirty="0">
                <a:solidFill>
                  <a:schemeClr val="tx1"/>
                </a:solidFill>
                <a:latin typeface="Calibri" panose="020F0502020204030204" pitchFamily="34" charset="0"/>
                <a:ea typeface="Calibri" panose="020F0502020204030204" pitchFamily="34" charset="0"/>
                <a:cs typeface="Calibri" panose="020F0502020204030204" pitchFamily="34" charset="0"/>
              </a:rPr>
              <a:t>th</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April 2026</a:t>
            </a:r>
          </a:p>
        </p:txBody>
      </p:sp>
      <p:pic>
        <p:nvPicPr>
          <p:cNvPr id="13" name="Picture 12">
            <a:extLst>
              <a:ext uri="{FF2B5EF4-FFF2-40B4-BE49-F238E27FC236}">
                <a16:creationId xmlns:a16="http://schemas.microsoft.com/office/drawing/2014/main" id="{E3185110-CF42-3EBE-3A37-B1860F270B12}"/>
              </a:ext>
            </a:extLst>
          </p:cNvPr>
          <p:cNvPicPr>
            <a:picLocks noChangeAspect="1"/>
          </p:cNvPicPr>
          <p:nvPr/>
        </p:nvPicPr>
        <p:blipFill>
          <a:blip r:embed="rId3"/>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46941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F4B54B36-D814-67AC-9769-FF0DC0EDDDA3}"/>
            </a:ext>
          </a:extLst>
        </p:cNvPr>
        <p:cNvGrpSpPr/>
        <p:nvPr/>
      </p:nvGrpSpPr>
      <p:grpSpPr>
        <a:xfrm>
          <a:off x="0" y="0"/>
          <a:ext cx="0" cy="0"/>
          <a:chOff x="0" y="0"/>
          <a:chExt cx="0" cy="0"/>
        </a:xfrm>
      </p:grpSpPr>
      <p:sp>
        <p:nvSpPr>
          <p:cNvPr id="260" name="Google Shape;260;p6">
            <a:extLst>
              <a:ext uri="{FF2B5EF4-FFF2-40B4-BE49-F238E27FC236}">
                <a16:creationId xmlns:a16="http://schemas.microsoft.com/office/drawing/2014/main" id="{E0B32E16-E79B-429D-CF04-4866835A9BDC}"/>
              </a:ext>
            </a:extLst>
          </p:cNvPr>
          <p:cNvSpPr txBox="1">
            <a:spLocks noGrp="1"/>
          </p:cNvSpPr>
          <p:nvPr>
            <p:ph type="title"/>
          </p:nvPr>
        </p:nvSpPr>
        <p:spPr>
          <a:xfrm>
            <a:off x="682569" y="394620"/>
            <a:ext cx="6983695" cy="521208"/>
          </a:xfrm>
          <a:prstGeom prst="rect">
            <a:avLst/>
          </a:prstGeom>
          <a:solidFill>
            <a:srgbClr val="FECA08"/>
          </a:solidFill>
          <a:ln>
            <a:noFill/>
          </a:ln>
        </p:spPr>
        <p:txBody>
          <a:bodyPr spcFirstLastPara="1" wrap="square" lIns="91425" tIns="91425" rIns="91425" bIns="91425" anchor="t" anchorCtr="0">
            <a:noAutofit/>
          </a:bodyPr>
          <a:lstStyle/>
          <a:p>
            <a:pPr lvl="0"/>
            <a:r>
              <a:rPr lang="en-US" sz="2000" dirty="0">
                <a:latin typeface="+mn-lt"/>
              </a:rPr>
              <a:t>Indian</a:t>
            </a:r>
            <a:r>
              <a:rPr lang="en-US" sz="2000" i="1" dirty="0">
                <a:latin typeface="+mn-lt"/>
              </a:rPr>
              <a:t> </a:t>
            </a:r>
            <a:r>
              <a:rPr lang="en-US" sz="2000" dirty="0">
                <a:latin typeface="+mn-lt"/>
              </a:rPr>
              <a:t>markets see sharp correction in Mar-26</a:t>
            </a:r>
            <a:endParaRPr sz="2000" dirty="0">
              <a:latin typeface="+mn-lt"/>
              <a:ea typeface="Calibri" panose="020F0502020204030204" pitchFamily="34" charset="0"/>
              <a:cs typeface="Calibri" panose="020F0502020204030204" pitchFamily="34" charset="0"/>
            </a:endParaRPr>
          </a:p>
        </p:txBody>
      </p:sp>
      <p:grpSp>
        <p:nvGrpSpPr>
          <p:cNvPr id="262" name="Google Shape;262;p6">
            <a:extLst>
              <a:ext uri="{FF2B5EF4-FFF2-40B4-BE49-F238E27FC236}">
                <a16:creationId xmlns:a16="http://schemas.microsoft.com/office/drawing/2014/main" id="{413DE8B0-606F-84AB-B13D-C5A22E45A252}"/>
              </a:ext>
            </a:extLst>
          </p:cNvPr>
          <p:cNvGrpSpPr/>
          <p:nvPr/>
        </p:nvGrpSpPr>
        <p:grpSpPr>
          <a:xfrm>
            <a:off x="-25" y="4872600"/>
            <a:ext cx="9144000" cy="270900"/>
            <a:chOff x="-25" y="4872600"/>
            <a:chExt cx="9144000" cy="270900"/>
          </a:xfrm>
        </p:grpSpPr>
        <p:sp>
          <p:nvSpPr>
            <p:cNvPr id="263" name="Google Shape;263;p6">
              <a:extLst>
                <a:ext uri="{FF2B5EF4-FFF2-40B4-BE49-F238E27FC236}">
                  <a16:creationId xmlns:a16="http://schemas.microsoft.com/office/drawing/2014/main" id="{8C817BF0-00F4-4F91-88CE-4793837F3D24}"/>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264" name="Google Shape;264;p6">
              <a:extLst>
                <a:ext uri="{FF2B5EF4-FFF2-40B4-BE49-F238E27FC236}">
                  <a16:creationId xmlns:a16="http://schemas.microsoft.com/office/drawing/2014/main" id="{718FBEA7-FF20-1AE9-DE9F-A04561DC7DC2}"/>
                </a:ext>
              </a:extLst>
            </p:cNvPr>
            <p:cNvGrpSpPr/>
            <p:nvPr/>
          </p:nvGrpSpPr>
          <p:grpSpPr>
            <a:xfrm>
              <a:off x="3101100" y="4872600"/>
              <a:ext cx="2941800" cy="270900"/>
              <a:chOff x="3084200" y="4934525"/>
              <a:chExt cx="2941800" cy="270900"/>
            </a:xfrm>
          </p:grpSpPr>
          <p:sp>
            <p:nvSpPr>
              <p:cNvPr id="265" name="Google Shape;265;p6">
                <a:extLst>
                  <a:ext uri="{FF2B5EF4-FFF2-40B4-BE49-F238E27FC236}">
                    <a16:creationId xmlns:a16="http://schemas.microsoft.com/office/drawing/2014/main" id="{1DC3F893-F79F-3CE0-CEB9-EB4AD8D12FD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266" name="Google Shape;266;p6">
                <a:extLst>
                  <a:ext uri="{FF2B5EF4-FFF2-40B4-BE49-F238E27FC236}">
                    <a16:creationId xmlns:a16="http://schemas.microsoft.com/office/drawing/2014/main" id="{AA1D54D3-4A57-FE4C-FA16-70330DBFCED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36" name="TextBox 35">
            <a:extLst>
              <a:ext uri="{FF2B5EF4-FFF2-40B4-BE49-F238E27FC236}">
                <a16:creationId xmlns:a16="http://schemas.microsoft.com/office/drawing/2014/main" id="{CA1D1660-BE2C-EF5E-EC48-38FE65EE7DD3}"/>
              </a:ext>
            </a:extLst>
          </p:cNvPr>
          <p:cNvSpPr txBox="1"/>
          <p:nvPr/>
        </p:nvSpPr>
        <p:spPr>
          <a:xfrm>
            <a:off x="6470189" y="4557313"/>
            <a:ext cx="2673786"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March, 2026</a:t>
            </a:r>
          </a:p>
        </p:txBody>
      </p:sp>
      <p:cxnSp>
        <p:nvCxnSpPr>
          <p:cNvPr id="39" name="Straight Arrow Connector 38">
            <a:extLst>
              <a:ext uri="{FF2B5EF4-FFF2-40B4-BE49-F238E27FC236}">
                <a16:creationId xmlns:a16="http://schemas.microsoft.com/office/drawing/2014/main" id="{F45315C4-82F9-6939-3FAC-6B5E71C41E97}"/>
              </a:ext>
            </a:extLst>
          </p:cNvPr>
          <p:cNvCxnSpPr>
            <a:cxnSpLocks/>
          </p:cNvCxnSpPr>
          <p:nvPr/>
        </p:nvCxnSpPr>
        <p:spPr>
          <a:xfrm flipV="1">
            <a:off x="3988137" y="3593743"/>
            <a:ext cx="0" cy="11899"/>
          </a:xfrm>
          <a:prstGeom prst="straightConnector1">
            <a:avLst/>
          </a:prstGeom>
          <a:noFill/>
          <a:ln w="6350" cap="flat" cmpd="sng" algn="ctr">
            <a:solidFill>
              <a:srgbClr val="FF9900"/>
            </a:solidFill>
            <a:prstDash val="solid"/>
            <a:miter lim="800000"/>
            <a:tailEnd type="triangle"/>
          </a:ln>
          <a:effectLst/>
        </p:spPr>
      </p:cxnSp>
      <p:cxnSp>
        <p:nvCxnSpPr>
          <p:cNvPr id="42" name="Straight Arrow Connector 41">
            <a:extLst>
              <a:ext uri="{FF2B5EF4-FFF2-40B4-BE49-F238E27FC236}">
                <a16:creationId xmlns:a16="http://schemas.microsoft.com/office/drawing/2014/main" id="{810BB7C4-824C-FBBF-24CD-CEC5E0E22932}"/>
              </a:ext>
            </a:extLst>
          </p:cNvPr>
          <p:cNvCxnSpPr>
            <a:cxnSpLocks/>
          </p:cNvCxnSpPr>
          <p:nvPr/>
        </p:nvCxnSpPr>
        <p:spPr>
          <a:xfrm flipV="1">
            <a:off x="10916494" y="3523406"/>
            <a:ext cx="0" cy="11899"/>
          </a:xfrm>
          <a:prstGeom prst="straightConnector1">
            <a:avLst/>
          </a:prstGeom>
          <a:noFill/>
          <a:ln w="6350" cap="flat" cmpd="sng" algn="ctr">
            <a:solidFill>
              <a:srgbClr val="FF9900"/>
            </a:solidFill>
            <a:prstDash val="solid"/>
            <a:miter lim="800000"/>
            <a:tailEnd type="triangle"/>
          </a:ln>
          <a:effectLst/>
        </p:spPr>
      </p:cxnSp>
      <p:sp>
        <p:nvSpPr>
          <p:cNvPr id="23" name="TextBox 22">
            <a:extLst>
              <a:ext uri="{FF2B5EF4-FFF2-40B4-BE49-F238E27FC236}">
                <a16:creationId xmlns:a16="http://schemas.microsoft.com/office/drawing/2014/main" id="{7F130CB4-49D3-659F-04F3-74728FC77290}"/>
              </a:ext>
            </a:extLst>
          </p:cNvPr>
          <p:cNvSpPr txBox="1"/>
          <p:nvPr/>
        </p:nvSpPr>
        <p:spPr>
          <a:xfrm>
            <a:off x="682569" y="3902968"/>
            <a:ext cx="7329305" cy="461665"/>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buFont typeface="Wingdings" panose="05000000000000000000" pitchFamily="2" charset="2"/>
              <a:buChar char="q"/>
            </a:pPr>
            <a:r>
              <a:rPr lang="en-US" sz="1200" dirty="0">
                <a:solidFill>
                  <a:schemeClr val="tx1"/>
                </a:solidFill>
              </a:rPr>
              <a:t>All indices in red in 1M period</a:t>
            </a:r>
          </a:p>
          <a:p>
            <a:pPr marL="171450" indent="-171450">
              <a:buFont typeface="Wingdings" panose="05000000000000000000" pitchFamily="2" charset="2"/>
              <a:buChar char="q"/>
            </a:pPr>
            <a:r>
              <a:rPr lang="en-US" sz="1200" dirty="0">
                <a:solidFill>
                  <a:schemeClr val="tx1"/>
                </a:solidFill>
              </a:rPr>
              <a:t>Broad based correction across indices over 3M &amp; 6M period  </a:t>
            </a:r>
          </a:p>
        </p:txBody>
      </p:sp>
      <p:sp>
        <p:nvSpPr>
          <p:cNvPr id="2" name="TextBox 1">
            <a:extLst>
              <a:ext uri="{FF2B5EF4-FFF2-40B4-BE49-F238E27FC236}">
                <a16:creationId xmlns:a16="http://schemas.microsoft.com/office/drawing/2014/main" id="{49022C33-E01B-D4DE-077C-B56D31DF0B78}"/>
              </a:ext>
            </a:extLst>
          </p:cNvPr>
          <p:cNvSpPr txBox="1"/>
          <p:nvPr/>
        </p:nvSpPr>
        <p:spPr>
          <a:xfrm>
            <a:off x="682569" y="455147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3" name="Picture 2">
            <a:extLst>
              <a:ext uri="{FF2B5EF4-FFF2-40B4-BE49-F238E27FC236}">
                <a16:creationId xmlns:a16="http://schemas.microsoft.com/office/drawing/2014/main" id="{71309D57-4824-485D-58C3-6352111D390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4" name="Chart 3">
            <a:extLst>
              <a:ext uri="{FF2B5EF4-FFF2-40B4-BE49-F238E27FC236}">
                <a16:creationId xmlns:a16="http://schemas.microsoft.com/office/drawing/2014/main" id="{3E05E245-B646-F070-3C18-3F5B14051407}"/>
              </a:ext>
            </a:extLst>
          </p:cNvPr>
          <p:cNvGraphicFramePr/>
          <p:nvPr>
            <p:extLst>
              <p:ext uri="{D42A27DB-BD31-4B8C-83A1-F6EECF244321}">
                <p14:modId xmlns:p14="http://schemas.microsoft.com/office/powerpoint/2010/main" val="3366451145"/>
              </p:ext>
            </p:extLst>
          </p:nvPr>
        </p:nvGraphicFramePr>
        <p:xfrm>
          <a:off x="682569" y="1155646"/>
          <a:ext cx="7628805" cy="25534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2916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Global Markets (MSCI) – Geopolitical Impact</a:t>
            </a:r>
          </a:p>
        </p:txBody>
      </p:sp>
      <p:grpSp>
        <p:nvGrpSpPr>
          <p:cNvPr id="303" name="Google Shape;303;p7"/>
          <p:cNvGrpSpPr/>
          <p:nvPr/>
        </p:nvGrpSpPr>
        <p:grpSpPr>
          <a:xfrm>
            <a:off x="-25" y="4872600"/>
            <a:ext cx="9144000" cy="270825"/>
            <a:chOff x="-25" y="4872600"/>
            <a:chExt cx="9144000" cy="27082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70813"/>
              <a:chOff x="3084200" y="4934525"/>
              <a:chExt cx="2941800" cy="270813"/>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70813"/>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Rectangle: Rounded Corners 4">
            <a:extLst>
              <a:ext uri="{FF2B5EF4-FFF2-40B4-BE49-F238E27FC236}">
                <a16:creationId xmlns:a16="http://schemas.microsoft.com/office/drawing/2014/main" id="{0AA96379-4720-470F-88B3-AD2818B808BC}"/>
              </a:ext>
            </a:extLst>
          </p:cNvPr>
          <p:cNvSpPr/>
          <p:nvPr/>
        </p:nvSpPr>
        <p:spPr>
          <a:xfrm>
            <a:off x="6831219" y="1273373"/>
            <a:ext cx="2155631" cy="2976645"/>
          </a:xfrm>
          <a:prstGeom prst="round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ea typeface="Calibri" panose="020F0502020204030204" pitchFamily="34" charset="0"/>
                <a:cs typeface="Calibri" panose="020F0502020204030204" pitchFamily="34" charset="0"/>
              </a:rPr>
              <a:t>Global markets came under significant pressure as escalating Middle East tensions sent oil prices sharply higher, undermining investor confidence and triggering a broad-based selloff across equities in Mar-26</a:t>
            </a:r>
          </a:p>
        </p:txBody>
      </p:sp>
      <p:sp>
        <p:nvSpPr>
          <p:cNvPr id="15" name="TextBox 14">
            <a:extLst>
              <a:ext uri="{FF2B5EF4-FFF2-40B4-BE49-F238E27FC236}">
                <a16:creationId xmlns:a16="http://schemas.microsoft.com/office/drawing/2014/main" id="{447CB0E5-BA9F-45F0-81D3-DB9AE1142DBF}"/>
              </a:ext>
            </a:extLst>
          </p:cNvPr>
          <p:cNvSpPr txBox="1"/>
          <p:nvPr/>
        </p:nvSpPr>
        <p:spPr>
          <a:xfrm>
            <a:off x="5278244" y="4457477"/>
            <a:ext cx="3708606"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Data Source: MSCI.com </a:t>
            </a:r>
          </a:p>
          <a:p>
            <a:pPr algn="r"/>
            <a:r>
              <a:rPr lang="en-US" sz="800" i="1" dirty="0">
                <a:latin typeface="Calibri" panose="020F0502020204030204" pitchFamily="34" charset="0"/>
                <a:ea typeface="Calibri" panose="020F0502020204030204" pitchFamily="34" charset="0"/>
                <a:cs typeface="Calibri" panose="020F0502020204030204" pitchFamily="34" charset="0"/>
              </a:rPr>
              <a:t>India data as on 30</a:t>
            </a:r>
            <a:r>
              <a:rPr lang="en-US" sz="800" i="1" baseline="30000" dirty="0">
                <a:latin typeface="Calibri" panose="020F0502020204030204" pitchFamily="34" charset="0"/>
                <a:ea typeface="Calibri" panose="020F0502020204030204" pitchFamily="34" charset="0"/>
                <a:cs typeface="Calibri" panose="020F0502020204030204" pitchFamily="34" charset="0"/>
              </a:rPr>
              <a:t>th</a:t>
            </a:r>
            <a:r>
              <a:rPr lang="en-US" sz="800" i="1" dirty="0">
                <a:latin typeface="Calibri" panose="020F0502020204030204" pitchFamily="34" charset="0"/>
                <a:ea typeface="Calibri" panose="020F0502020204030204" pitchFamily="34" charset="0"/>
                <a:cs typeface="Calibri" panose="020F0502020204030204" pitchFamily="34" charset="0"/>
              </a:rPr>
              <a:t> March 26, Rest of  the world data as on 31</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st </a:t>
            </a:r>
            <a:r>
              <a:rPr lang="en-US" sz="800" i="1" kern="1200" dirty="0">
                <a:latin typeface="Calibri" panose="020F0502020204030204" pitchFamily="34" charset="0"/>
                <a:ea typeface="Calibri" panose="020F0502020204030204" pitchFamily="34" charset="0"/>
                <a:cs typeface="Calibri" panose="020F0502020204030204" pitchFamily="34" charset="0"/>
              </a:rPr>
              <a:t>March 2026</a:t>
            </a:r>
            <a:endParaRPr lang="en-US" sz="800" i="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41831E-D521-8F5E-75B5-D6D398F7667E}"/>
              </a:ext>
            </a:extLst>
          </p:cNvPr>
          <p:cNvSpPr txBox="1"/>
          <p:nvPr/>
        </p:nvSpPr>
        <p:spPr>
          <a:xfrm>
            <a:off x="568269" y="4453587"/>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4" name="Picture 3">
            <a:extLst>
              <a:ext uri="{FF2B5EF4-FFF2-40B4-BE49-F238E27FC236}">
                <a16:creationId xmlns:a16="http://schemas.microsoft.com/office/drawing/2014/main" id="{12AE9FA2-0C1B-4FE7-AD48-1ABE2A13A02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6" name="Chart 5">
            <a:extLst>
              <a:ext uri="{FF2B5EF4-FFF2-40B4-BE49-F238E27FC236}">
                <a16:creationId xmlns:a16="http://schemas.microsoft.com/office/drawing/2014/main" id="{A8C7CE5C-034F-EF99-9D59-34D688AEFDEF}"/>
              </a:ext>
            </a:extLst>
          </p:cNvPr>
          <p:cNvGraphicFramePr/>
          <p:nvPr>
            <p:extLst>
              <p:ext uri="{D42A27DB-BD31-4B8C-83A1-F6EECF244321}">
                <p14:modId xmlns:p14="http://schemas.microsoft.com/office/powerpoint/2010/main" val="420820363"/>
              </p:ext>
            </p:extLst>
          </p:nvPr>
        </p:nvGraphicFramePr>
        <p:xfrm>
          <a:off x="720000" y="1273373"/>
          <a:ext cx="6037146" cy="297664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7000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584D7B2-5E41-FC84-5A17-E6E7EB4706B5}"/>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77B9B018-5167-FFB1-42D1-430256D91E8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Energy prices continue to rise in Mar-26…… </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FC65FB65-6BBE-CEDF-6FBA-CA8543658BD0}"/>
              </a:ext>
            </a:extLst>
          </p:cNvPr>
          <p:cNvSpPr txBox="1"/>
          <p:nvPr/>
        </p:nvSpPr>
        <p:spPr>
          <a:xfrm>
            <a:off x="6946449" y="4427135"/>
            <a:ext cx="2159177" cy="461665"/>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Apollo global  management research</a:t>
            </a:r>
          </a:p>
          <a:p>
            <a:pPr algn="just"/>
            <a:r>
              <a:rPr lang="en-US" sz="800" dirty="0">
                <a:latin typeface="+mn-lt"/>
                <a:ea typeface="Calibri" panose="020F0502020204030204" pitchFamily="34" charset="0"/>
                <a:cs typeface="Calibri" panose="020F0502020204030204" pitchFamily="34" charset="0"/>
              </a:rPr>
              <a:t>Brent Crude &amp; Jet fuel data as on 31st March,2026</a:t>
            </a:r>
            <a:endParaRPr lang="en-IN" sz="8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E9223E0-316B-5FD1-3DB2-5F4F34F7C9DE}"/>
              </a:ext>
            </a:extLst>
          </p:cNvPr>
          <p:cNvSpPr txBox="1"/>
          <p:nvPr/>
        </p:nvSpPr>
        <p:spPr>
          <a:xfrm>
            <a:off x="1091107" y="3909240"/>
            <a:ext cx="5516496"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Brent Crude &amp; WTI prices &gt; $105/ </a:t>
            </a:r>
            <a:r>
              <a:rPr lang="en-US" dirty="0" err="1">
                <a:solidFill>
                  <a:schemeClr val="tx1"/>
                </a:solidFill>
              </a:rPr>
              <a:t>bbl</a:t>
            </a:r>
            <a:r>
              <a:rPr lang="en-US" dirty="0">
                <a:solidFill>
                  <a:schemeClr val="tx1"/>
                </a:solidFill>
              </a:rPr>
              <a:t> levels </a:t>
            </a:r>
          </a:p>
          <a:p>
            <a:pPr marL="285750" indent="-285750">
              <a:lnSpc>
                <a:spcPct val="150000"/>
              </a:lnSpc>
              <a:buFont typeface="Wingdings" panose="05000000000000000000" pitchFamily="2" charset="2"/>
              <a:buChar char="q"/>
            </a:pPr>
            <a:r>
              <a:rPr lang="en-US" dirty="0">
                <a:solidFill>
                  <a:schemeClr val="tx1"/>
                </a:solidFill>
              </a:rPr>
              <a:t>Jet fuel prices spike &gt;$200/</a:t>
            </a:r>
            <a:r>
              <a:rPr lang="en-US" dirty="0" err="1">
                <a:solidFill>
                  <a:schemeClr val="tx1"/>
                </a:solidFill>
              </a:rPr>
              <a:t>bbl</a:t>
            </a:r>
            <a:r>
              <a:rPr lang="en-US">
                <a:solidFill>
                  <a:schemeClr val="tx1"/>
                </a:solidFill>
              </a:rPr>
              <a:t> levels </a:t>
            </a:r>
            <a:endParaRPr lang="en-US" dirty="0">
              <a:solidFill>
                <a:schemeClr val="tx1"/>
              </a:solidFill>
            </a:endParaRPr>
          </a:p>
        </p:txBody>
      </p:sp>
      <p:grpSp>
        <p:nvGrpSpPr>
          <p:cNvPr id="2" name="Google Shape;262;p6">
            <a:extLst>
              <a:ext uri="{FF2B5EF4-FFF2-40B4-BE49-F238E27FC236}">
                <a16:creationId xmlns:a16="http://schemas.microsoft.com/office/drawing/2014/main" id="{52E6B51D-D39C-5AA9-2453-AEFB18BCA0EC}"/>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56962404-7E5E-937B-CC2D-D1EDE524B8F0}"/>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4213DC4-27B8-A8B6-27CF-E7031178F8D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DAECAAB5-3866-026F-6773-DB05D63E335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1D6DF961-C1A1-CE05-0B41-F9AB22CAFB9F}"/>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98A893B1-0E00-38BE-8DB5-C8D6AEF2E4E9}"/>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7E1BB860-B77B-09A3-32EB-33537DFF274C}"/>
              </a:ext>
            </a:extLst>
          </p:cNvPr>
          <p:cNvPicPr>
            <a:picLocks noChangeAspect="1"/>
          </p:cNvPicPr>
          <p:nvPr/>
        </p:nvPicPr>
        <p:blipFill>
          <a:blip r:embed="rId4"/>
          <a:stretch>
            <a:fillRect/>
          </a:stretch>
        </p:blipFill>
        <p:spPr>
          <a:xfrm>
            <a:off x="678180" y="1228761"/>
            <a:ext cx="3756659" cy="2274851"/>
          </a:xfrm>
          <a:prstGeom prst="rect">
            <a:avLst/>
          </a:prstGeom>
          <a:ln>
            <a:solidFill>
              <a:schemeClr val="tx1"/>
            </a:solidFill>
          </a:ln>
        </p:spPr>
      </p:pic>
      <p:pic>
        <p:nvPicPr>
          <p:cNvPr id="13" name="Picture 12">
            <a:extLst>
              <a:ext uri="{FF2B5EF4-FFF2-40B4-BE49-F238E27FC236}">
                <a16:creationId xmlns:a16="http://schemas.microsoft.com/office/drawing/2014/main" id="{18EE306B-1E5E-21DE-37C0-9A4C18C63535}"/>
              </a:ext>
            </a:extLst>
          </p:cNvPr>
          <p:cNvPicPr>
            <a:picLocks noChangeAspect="1"/>
          </p:cNvPicPr>
          <p:nvPr/>
        </p:nvPicPr>
        <p:blipFill>
          <a:blip r:embed="rId5"/>
          <a:stretch>
            <a:fillRect/>
          </a:stretch>
        </p:blipFill>
        <p:spPr>
          <a:xfrm>
            <a:off x="4795354" y="1242520"/>
            <a:ext cx="3815245" cy="2261092"/>
          </a:xfrm>
          <a:prstGeom prst="rect">
            <a:avLst/>
          </a:prstGeom>
          <a:ln>
            <a:solidFill>
              <a:schemeClr val="tx1"/>
            </a:solidFill>
          </a:ln>
        </p:spPr>
      </p:pic>
    </p:spTree>
    <p:extLst>
      <p:ext uri="{BB962C8B-B14F-4D97-AF65-F5344CB8AC3E}">
        <p14:creationId xmlns:p14="http://schemas.microsoft.com/office/powerpoint/2010/main" val="41293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3F10C8C-C4D7-2829-7616-4C8EC0EB09B5}"/>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DB3761CA-E401-FEB2-CEA4-F401216A5816}"/>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…..LNG and Natural gas prices elevate in Mar-26 </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7CE20F74-98D9-4E72-FC4A-4FA0A331B2EB}"/>
              </a:ext>
            </a:extLst>
          </p:cNvPr>
          <p:cNvSpPr txBox="1"/>
          <p:nvPr/>
        </p:nvSpPr>
        <p:spPr>
          <a:xfrm>
            <a:off x="6946449" y="4427135"/>
            <a:ext cx="2159177" cy="461665"/>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Apollo global  management research</a:t>
            </a:r>
          </a:p>
          <a:p>
            <a:pPr algn="just"/>
            <a:r>
              <a:rPr lang="en-US" sz="800" dirty="0">
                <a:latin typeface="+mn-lt"/>
                <a:ea typeface="Calibri" panose="020F0502020204030204" pitchFamily="34" charset="0"/>
                <a:cs typeface="Calibri" panose="020F0502020204030204" pitchFamily="34" charset="0"/>
              </a:rPr>
              <a:t>LNG &amp; natural gas prices data as on 31st March,2026</a:t>
            </a:r>
            <a:endParaRPr lang="en-IN" sz="8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64234AB-2294-F9B5-B0C6-5EF515FCD5BD}"/>
              </a:ext>
            </a:extLst>
          </p:cNvPr>
          <p:cNvSpPr txBox="1"/>
          <p:nvPr/>
        </p:nvSpPr>
        <p:spPr>
          <a:xfrm>
            <a:off x="631370" y="3759729"/>
            <a:ext cx="6112329"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Aisa LNG prices have sharply surged from $10.75/MMBtu to &gt;$20/MMBtu</a:t>
            </a:r>
          </a:p>
          <a:p>
            <a:pPr marL="285750" indent="-285750">
              <a:lnSpc>
                <a:spcPct val="150000"/>
              </a:lnSpc>
              <a:buFont typeface="Wingdings" panose="05000000000000000000" pitchFamily="2" charset="2"/>
              <a:buChar char="q"/>
            </a:pPr>
            <a:r>
              <a:rPr lang="en-US" dirty="0">
                <a:solidFill>
                  <a:schemeClr val="tx1"/>
                </a:solidFill>
              </a:rPr>
              <a:t>Natural gas futures in contango, trading above $2.75/MMBtu</a:t>
            </a:r>
          </a:p>
        </p:txBody>
      </p:sp>
      <p:grpSp>
        <p:nvGrpSpPr>
          <p:cNvPr id="2" name="Google Shape;262;p6">
            <a:extLst>
              <a:ext uri="{FF2B5EF4-FFF2-40B4-BE49-F238E27FC236}">
                <a16:creationId xmlns:a16="http://schemas.microsoft.com/office/drawing/2014/main" id="{15DBF9E2-56B2-39A6-235B-83D7F992A442}"/>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43820FC6-970D-AC7D-6478-79AA03EA367D}"/>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617B40E-3120-7B59-B620-8ECFCE5905AB}"/>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F057D83A-4539-DD64-3A98-9160548D3F4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CC2A40E1-EF47-3840-F7C6-A785F21672B4}"/>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0B9E1929-54A6-F1E5-73A2-E8DDB00F4255}"/>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11" name="Picture 10">
            <a:extLst>
              <a:ext uri="{FF2B5EF4-FFF2-40B4-BE49-F238E27FC236}">
                <a16:creationId xmlns:a16="http://schemas.microsoft.com/office/drawing/2014/main" id="{E5AD4E97-9215-5240-6DCA-BB3C7E1F5929}"/>
              </a:ext>
            </a:extLst>
          </p:cNvPr>
          <p:cNvPicPr>
            <a:picLocks noChangeAspect="1"/>
          </p:cNvPicPr>
          <p:nvPr/>
        </p:nvPicPr>
        <p:blipFill>
          <a:blip r:embed="rId4"/>
          <a:stretch>
            <a:fillRect/>
          </a:stretch>
        </p:blipFill>
        <p:spPr>
          <a:xfrm>
            <a:off x="631371" y="1240535"/>
            <a:ext cx="3815245" cy="2261092"/>
          </a:xfrm>
          <a:prstGeom prst="rect">
            <a:avLst/>
          </a:prstGeom>
          <a:ln>
            <a:solidFill>
              <a:schemeClr val="tx1"/>
            </a:solidFill>
          </a:ln>
        </p:spPr>
      </p:pic>
      <p:pic>
        <p:nvPicPr>
          <p:cNvPr id="14" name="Picture 13">
            <a:extLst>
              <a:ext uri="{FF2B5EF4-FFF2-40B4-BE49-F238E27FC236}">
                <a16:creationId xmlns:a16="http://schemas.microsoft.com/office/drawing/2014/main" id="{EED5491B-FEFD-2DB5-A5E3-4E83A0196314}"/>
              </a:ext>
            </a:extLst>
          </p:cNvPr>
          <p:cNvPicPr>
            <a:picLocks noChangeAspect="1"/>
          </p:cNvPicPr>
          <p:nvPr/>
        </p:nvPicPr>
        <p:blipFill>
          <a:blip r:embed="rId5"/>
          <a:stretch>
            <a:fillRect/>
          </a:stretch>
        </p:blipFill>
        <p:spPr>
          <a:xfrm>
            <a:off x="4773584" y="1224335"/>
            <a:ext cx="3815245" cy="2277292"/>
          </a:xfrm>
          <a:prstGeom prst="rect">
            <a:avLst/>
          </a:prstGeom>
        </p:spPr>
      </p:pic>
    </p:spTree>
    <p:extLst>
      <p:ext uri="{BB962C8B-B14F-4D97-AF65-F5344CB8AC3E}">
        <p14:creationId xmlns:p14="http://schemas.microsoft.com/office/powerpoint/2010/main" val="1831698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2FABF7F-A008-FC7E-987E-F60C9839B3ED}"/>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97ADD445-A1F1-E5DA-3A3B-BC3B6E8DAB2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Global oil production leader</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C6F5D335-0DC5-8FCB-250D-BAD467293250}"/>
              </a:ext>
            </a:extLst>
          </p:cNvPr>
          <p:cNvSpPr txBox="1"/>
          <p:nvPr/>
        </p:nvSpPr>
        <p:spPr>
          <a:xfrm>
            <a:off x="7202201" y="4421964"/>
            <a:ext cx="1807356" cy="338554"/>
          </a:xfrm>
          <a:prstGeom prst="rect">
            <a:avLst/>
          </a:prstGeom>
          <a:noFill/>
        </p:spPr>
        <p:txBody>
          <a:bodyPr wrap="square" rtlCol="0">
            <a:spAutoFit/>
          </a:bodyPr>
          <a:lstStyle/>
          <a:p>
            <a:pPr algn="just"/>
            <a:r>
              <a:rPr lang="en-IN" sz="800" dirty="0">
                <a:latin typeface="+mj-lt"/>
                <a:ea typeface="Calibri" panose="020F0502020204030204" pitchFamily="34" charset="0"/>
                <a:cs typeface="Calibri" panose="020F0502020204030204" pitchFamily="34" charset="0"/>
              </a:rPr>
              <a:t>Source: </a:t>
            </a:r>
            <a:r>
              <a:rPr lang="en-US" sz="800" dirty="0">
                <a:latin typeface="+mj-lt"/>
              </a:rPr>
              <a:t>Apollo global management research </a:t>
            </a:r>
            <a:endParaRPr lang="en-IN" sz="800" dirty="0">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EDBB0EA-29AD-D90A-AF7A-2BD44C04441E}"/>
              </a:ext>
            </a:extLst>
          </p:cNvPr>
          <p:cNvSpPr txBox="1"/>
          <p:nvPr/>
        </p:nvSpPr>
        <p:spPr>
          <a:xfrm>
            <a:off x="1309352" y="4060186"/>
            <a:ext cx="5516496" cy="38209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US, Saudi Arabia &amp; Russia are the largest oil producers globally </a:t>
            </a:r>
          </a:p>
        </p:txBody>
      </p:sp>
      <p:grpSp>
        <p:nvGrpSpPr>
          <p:cNvPr id="2" name="Google Shape;262;p6">
            <a:extLst>
              <a:ext uri="{FF2B5EF4-FFF2-40B4-BE49-F238E27FC236}">
                <a16:creationId xmlns:a16="http://schemas.microsoft.com/office/drawing/2014/main" id="{7BD11FAC-D675-B06B-E46D-312CC8720424}"/>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D5382AC4-3D32-6D8E-DE54-971A856F94C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72D26229-013F-8468-B421-9BB762FC53D6}"/>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95A6DF94-808C-3C7D-CE93-C6DB221499ED}"/>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06A995F4-CCCF-4764-9120-8CA84FD492DE}"/>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84771F46-2103-688F-D103-4D75607645EF}"/>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E9ADA32B-15DA-B1A9-A544-A2855C9652D4}"/>
              </a:ext>
            </a:extLst>
          </p:cNvPr>
          <p:cNvPicPr>
            <a:picLocks noChangeAspect="1"/>
          </p:cNvPicPr>
          <p:nvPr/>
        </p:nvPicPr>
        <p:blipFill>
          <a:blip r:embed="rId4"/>
          <a:stretch>
            <a:fillRect/>
          </a:stretch>
        </p:blipFill>
        <p:spPr>
          <a:xfrm>
            <a:off x="608511" y="1180718"/>
            <a:ext cx="7275135" cy="2619672"/>
          </a:xfrm>
          <a:prstGeom prst="rect">
            <a:avLst/>
          </a:prstGeom>
          <a:solidFill>
            <a:schemeClr val="tx1"/>
          </a:solidFill>
          <a:ln>
            <a:solidFill>
              <a:schemeClr val="tx1"/>
            </a:solidFill>
          </a:ln>
        </p:spPr>
      </p:pic>
    </p:spTree>
    <p:extLst>
      <p:ext uri="{BB962C8B-B14F-4D97-AF65-F5344CB8AC3E}">
        <p14:creationId xmlns:p14="http://schemas.microsoft.com/office/powerpoint/2010/main" val="3001072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720CB0E-7764-09A7-485C-03C298279F3A}"/>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873ED6EC-496D-90DE-7FF4-90DC3A3607C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Hormuz plays a vital role </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AEABF94B-1A05-DCE8-E4A3-4C364ABA626B}"/>
              </a:ext>
            </a:extLst>
          </p:cNvPr>
          <p:cNvSpPr txBox="1"/>
          <p:nvPr/>
        </p:nvSpPr>
        <p:spPr>
          <a:xfrm>
            <a:off x="7219266" y="4529198"/>
            <a:ext cx="1807356" cy="33855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Apollo global management research </a:t>
            </a:r>
          </a:p>
        </p:txBody>
      </p:sp>
      <p:sp>
        <p:nvSpPr>
          <p:cNvPr id="6" name="TextBox 5">
            <a:extLst>
              <a:ext uri="{FF2B5EF4-FFF2-40B4-BE49-F238E27FC236}">
                <a16:creationId xmlns:a16="http://schemas.microsoft.com/office/drawing/2014/main" id="{17EF32D5-261F-0F45-B1B9-3D3258574C90}"/>
              </a:ext>
            </a:extLst>
          </p:cNvPr>
          <p:cNvSpPr txBox="1"/>
          <p:nvPr/>
        </p:nvSpPr>
        <p:spPr>
          <a:xfrm>
            <a:off x="1063488" y="4147031"/>
            <a:ext cx="6357669" cy="38209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Hormuz carries ~20% of global oil flows, underscoring its strategic significance</a:t>
            </a:r>
          </a:p>
        </p:txBody>
      </p:sp>
      <p:grpSp>
        <p:nvGrpSpPr>
          <p:cNvPr id="2" name="Google Shape;262;p6">
            <a:extLst>
              <a:ext uri="{FF2B5EF4-FFF2-40B4-BE49-F238E27FC236}">
                <a16:creationId xmlns:a16="http://schemas.microsoft.com/office/drawing/2014/main" id="{6FC0F7DD-FA9E-B6E7-2D40-F171482CA7E5}"/>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BB7D6862-7015-AE0C-FFD2-E5B30C9EDA09}"/>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F4A991A-8AB5-2979-795E-8AC85E30F3D4}"/>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6BF5052D-75BF-991A-47E5-5657E3665ED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7EF585C9-F3F9-9AF9-37A8-18D1C3A935A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CCDFB428-1DBA-C428-8932-1B765CD31970}"/>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3B248B0B-82A0-BEB1-15B2-190EF65EFC93}"/>
              </a:ext>
            </a:extLst>
          </p:cNvPr>
          <p:cNvPicPr>
            <a:picLocks noChangeAspect="1"/>
          </p:cNvPicPr>
          <p:nvPr/>
        </p:nvPicPr>
        <p:blipFill>
          <a:blip r:embed="rId4"/>
          <a:stretch>
            <a:fillRect/>
          </a:stretch>
        </p:blipFill>
        <p:spPr>
          <a:xfrm>
            <a:off x="735570" y="1156715"/>
            <a:ext cx="7295910" cy="2898263"/>
          </a:xfrm>
          <a:prstGeom prst="rect">
            <a:avLst/>
          </a:prstGeom>
          <a:ln>
            <a:solidFill>
              <a:schemeClr val="tx1"/>
            </a:solidFill>
          </a:ln>
        </p:spPr>
      </p:pic>
    </p:spTree>
    <p:extLst>
      <p:ext uri="{BB962C8B-B14F-4D97-AF65-F5344CB8AC3E}">
        <p14:creationId xmlns:p14="http://schemas.microsoft.com/office/powerpoint/2010/main" val="3350039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E3305DF-597F-8198-0274-DD2EDA00DBED}"/>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A66332F4-8CFB-9C0B-5E41-77E40186A647}"/>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US energy resilience through supply strength</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86D3945C-AD55-DF5C-07CA-9D852617E3E0}"/>
              </a:ext>
            </a:extLst>
          </p:cNvPr>
          <p:cNvSpPr txBox="1"/>
          <p:nvPr/>
        </p:nvSpPr>
        <p:spPr>
          <a:xfrm>
            <a:off x="7202201" y="4582148"/>
            <a:ext cx="1807356" cy="338554"/>
          </a:xfrm>
          <a:prstGeom prst="rect">
            <a:avLst/>
          </a:prstGeom>
          <a:noFill/>
        </p:spPr>
        <p:txBody>
          <a:bodyPr wrap="square" rtlCol="0">
            <a:spAutoFit/>
          </a:bodyPr>
          <a:lstStyle/>
          <a:p>
            <a:pPr algn="just"/>
            <a:r>
              <a:rPr lang="en-IN" sz="800" dirty="0">
                <a:ea typeface="Calibri" panose="020F0502020204030204" pitchFamily="34" charset="0"/>
                <a:cs typeface="Calibri" panose="020F0502020204030204" pitchFamily="34" charset="0"/>
              </a:rPr>
              <a:t>Source: </a:t>
            </a:r>
            <a:r>
              <a:rPr lang="en-US" sz="800" dirty="0"/>
              <a:t>Apollo global management research </a:t>
            </a:r>
            <a:endParaRPr lang="en-IN" sz="800" dirty="0">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5BCF87C7-54B5-C2A5-4013-395B9E319647}"/>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84ADBE93-D2CC-D5E6-5CAC-9FA18ADF7C0C}"/>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C67A8217-A482-C8B4-C389-A3E4376FFFFB}"/>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28E61997-C0B3-D642-78DF-648CC6BAFD1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2FB95DF0-5558-5C61-73B8-98514908A721}"/>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E30CB6CE-0852-48DD-FF3A-F6107946347A}"/>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594460D5-EDE5-1746-339E-A0CD25971B68}"/>
              </a:ext>
            </a:extLst>
          </p:cNvPr>
          <p:cNvPicPr>
            <a:picLocks noChangeAspect="1"/>
          </p:cNvPicPr>
          <p:nvPr/>
        </p:nvPicPr>
        <p:blipFill>
          <a:blip r:embed="rId4"/>
          <a:stretch>
            <a:fillRect/>
          </a:stretch>
        </p:blipFill>
        <p:spPr>
          <a:xfrm>
            <a:off x="691403" y="1183232"/>
            <a:ext cx="3689168" cy="2161948"/>
          </a:xfrm>
          <a:prstGeom prst="rect">
            <a:avLst/>
          </a:prstGeom>
          <a:ln>
            <a:solidFill>
              <a:schemeClr val="tx1"/>
            </a:solidFill>
          </a:ln>
        </p:spPr>
      </p:pic>
      <p:pic>
        <p:nvPicPr>
          <p:cNvPr id="12" name="Picture 11">
            <a:extLst>
              <a:ext uri="{FF2B5EF4-FFF2-40B4-BE49-F238E27FC236}">
                <a16:creationId xmlns:a16="http://schemas.microsoft.com/office/drawing/2014/main" id="{3BD03F92-2B3A-CC12-CF6D-F75DBEB99D76}"/>
              </a:ext>
            </a:extLst>
          </p:cNvPr>
          <p:cNvPicPr>
            <a:picLocks noChangeAspect="1"/>
          </p:cNvPicPr>
          <p:nvPr/>
        </p:nvPicPr>
        <p:blipFill>
          <a:blip r:embed="rId5"/>
          <a:stretch>
            <a:fillRect/>
          </a:stretch>
        </p:blipFill>
        <p:spPr>
          <a:xfrm>
            <a:off x="4847251" y="1161830"/>
            <a:ext cx="3870032" cy="2204752"/>
          </a:xfrm>
          <a:prstGeom prst="rect">
            <a:avLst/>
          </a:prstGeom>
          <a:ln>
            <a:solidFill>
              <a:schemeClr val="tx1"/>
            </a:solidFill>
          </a:ln>
        </p:spPr>
      </p:pic>
      <p:sp>
        <p:nvSpPr>
          <p:cNvPr id="18" name="TextBox 17">
            <a:extLst>
              <a:ext uri="{FF2B5EF4-FFF2-40B4-BE49-F238E27FC236}">
                <a16:creationId xmlns:a16="http://schemas.microsoft.com/office/drawing/2014/main" id="{20B843B3-5F45-C710-C77A-FF0DAFD9249A}"/>
              </a:ext>
            </a:extLst>
          </p:cNvPr>
          <p:cNvSpPr txBox="1"/>
          <p:nvPr/>
        </p:nvSpPr>
        <p:spPr>
          <a:xfrm>
            <a:off x="3627216" y="3764361"/>
            <a:ext cx="3086244"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US oil production highest in CY2025</a:t>
            </a:r>
          </a:p>
          <a:p>
            <a:pPr marL="285750" indent="-285750">
              <a:lnSpc>
                <a:spcPct val="150000"/>
              </a:lnSpc>
              <a:buFont typeface="Wingdings" panose="05000000000000000000" pitchFamily="2" charset="2"/>
              <a:buChar char="q"/>
            </a:pPr>
            <a:r>
              <a:rPr lang="en-US" dirty="0">
                <a:solidFill>
                  <a:schemeClr val="tx1"/>
                </a:solidFill>
              </a:rPr>
              <a:t>US is the key exporter of LNG</a:t>
            </a:r>
          </a:p>
        </p:txBody>
      </p:sp>
    </p:spTree>
    <p:extLst>
      <p:ext uri="{BB962C8B-B14F-4D97-AF65-F5344CB8AC3E}">
        <p14:creationId xmlns:p14="http://schemas.microsoft.com/office/powerpoint/2010/main" val="185801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6395963-CDE0-181F-8599-AE470CEA6C44}"/>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935C2E9E-0776-371E-B930-EC0CF80D04D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US energy support weakening?</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BEB74B57-F931-EE22-92AE-81DD554F6303}"/>
              </a:ext>
            </a:extLst>
          </p:cNvPr>
          <p:cNvSpPr txBox="1"/>
          <p:nvPr/>
        </p:nvSpPr>
        <p:spPr>
          <a:xfrm>
            <a:off x="7202201" y="4582148"/>
            <a:ext cx="1807356" cy="338554"/>
          </a:xfrm>
          <a:prstGeom prst="rect">
            <a:avLst/>
          </a:prstGeom>
          <a:noFill/>
        </p:spPr>
        <p:txBody>
          <a:bodyPr wrap="square" rtlCol="0">
            <a:spAutoFit/>
          </a:bodyPr>
          <a:lstStyle/>
          <a:p>
            <a:pPr algn="just"/>
            <a:r>
              <a:rPr lang="en-IN" sz="800" dirty="0">
                <a:ea typeface="Calibri" panose="020F0502020204030204" pitchFamily="34" charset="0"/>
                <a:cs typeface="Calibri" panose="020F0502020204030204" pitchFamily="34" charset="0"/>
              </a:rPr>
              <a:t>Source: </a:t>
            </a:r>
            <a:r>
              <a:rPr lang="en-US" sz="800" dirty="0"/>
              <a:t>Apollo global management research </a:t>
            </a:r>
            <a:endParaRPr lang="en-IN" sz="800" dirty="0">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3CD0DE35-E035-561D-E216-6062D1A84F1B}"/>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9D401068-B785-4006-C813-42E5400E091E}"/>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E72F4F8A-6D00-9FD9-3A77-65E3293D1B14}"/>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A9D93AA5-7FBB-D7F9-C376-8A5A69C146B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834F334A-9C4C-F437-BC0E-7A8241BD098B}"/>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0E9EE15F-2EEF-D5B9-23E5-393399869CF3}"/>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15" name="Picture 14">
            <a:extLst>
              <a:ext uri="{FF2B5EF4-FFF2-40B4-BE49-F238E27FC236}">
                <a16:creationId xmlns:a16="http://schemas.microsoft.com/office/drawing/2014/main" id="{AECC188C-FD63-1E21-268C-BA8E7956DF74}"/>
              </a:ext>
            </a:extLst>
          </p:cNvPr>
          <p:cNvPicPr>
            <a:picLocks noChangeAspect="1"/>
          </p:cNvPicPr>
          <p:nvPr/>
        </p:nvPicPr>
        <p:blipFill>
          <a:blip r:embed="rId4"/>
          <a:srcRect t="4640"/>
          <a:stretch>
            <a:fillRect/>
          </a:stretch>
        </p:blipFill>
        <p:spPr>
          <a:xfrm>
            <a:off x="631371" y="1338547"/>
            <a:ext cx="3796777" cy="2160613"/>
          </a:xfrm>
          <a:prstGeom prst="rect">
            <a:avLst/>
          </a:prstGeom>
          <a:ln>
            <a:solidFill>
              <a:schemeClr val="tx1"/>
            </a:solidFill>
          </a:ln>
        </p:spPr>
      </p:pic>
      <p:pic>
        <p:nvPicPr>
          <p:cNvPr id="17" name="Picture 16">
            <a:extLst>
              <a:ext uri="{FF2B5EF4-FFF2-40B4-BE49-F238E27FC236}">
                <a16:creationId xmlns:a16="http://schemas.microsoft.com/office/drawing/2014/main" id="{0C65F510-CF00-BC57-B1DA-332A9C5ACA63}"/>
              </a:ext>
            </a:extLst>
          </p:cNvPr>
          <p:cNvPicPr>
            <a:picLocks noChangeAspect="1"/>
          </p:cNvPicPr>
          <p:nvPr/>
        </p:nvPicPr>
        <p:blipFill>
          <a:blip r:embed="rId5"/>
          <a:stretch>
            <a:fillRect/>
          </a:stretch>
        </p:blipFill>
        <p:spPr>
          <a:xfrm>
            <a:off x="4807100" y="1330980"/>
            <a:ext cx="3705529" cy="2160613"/>
          </a:xfrm>
          <a:prstGeom prst="rect">
            <a:avLst/>
          </a:prstGeom>
          <a:ln>
            <a:solidFill>
              <a:schemeClr val="tx1"/>
            </a:solidFill>
          </a:ln>
        </p:spPr>
      </p:pic>
      <p:sp>
        <p:nvSpPr>
          <p:cNvPr id="11" name="TextBox 10">
            <a:extLst>
              <a:ext uri="{FF2B5EF4-FFF2-40B4-BE49-F238E27FC236}">
                <a16:creationId xmlns:a16="http://schemas.microsoft.com/office/drawing/2014/main" id="{C3AE3D0D-14D9-6C46-3788-790D55B79356}"/>
              </a:ext>
            </a:extLst>
          </p:cNvPr>
          <p:cNvSpPr txBox="1"/>
          <p:nvPr/>
        </p:nvSpPr>
        <p:spPr>
          <a:xfrm>
            <a:off x="986637" y="3818972"/>
            <a:ext cx="3086244" cy="38209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             US oil rig count has fallen </a:t>
            </a:r>
          </a:p>
        </p:txBody>
      </p:sp>
      <p:sp>
        <p:nvSpPr>
          <p:cNvPr id="13" name="TextBox 12">
            <a:extLst>
              <a:ext uri="{FF2B5EF4-FFF2-40B4-BE49-F238E27FC236}">
                <a16:creationId xmlns:a16="http://schemas.microsoft.com/office/drawing/2014/main" id="{87528DDB-15A0-8FD4-7BB9-86739E46CB02}"/>
              </a:ext>
            </a:extLst>
          </p:cNvPr>
          <p:cNvSpPr txBox="1"/>
          <p:nvPr/>
        </p:nvSpPr>
        <p:spPr>
          <a:xfrm>
            <a:off x="5185401" y="3856188"/>
            <a:ext cx="3086244" cy="38209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      US SPR inventory at low levels </a:t>
            </a:r>
          </a:p>
        </p:txBody>
      </p:sp>
    </p:spTree>
    <p:extLst>
      <p:ext uri="{BB962C8B-B14F-4D97-AF65-F5344CB8AC3E}">
        <p14:creationId xmlns:p14="http://schemas.microsoft.com/office/powerpoint/2010/main" val="613977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94BC463-F05C-8767-83B9-C18BAE31FADE}"/>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4D48D9ED-921D-6EA5-EB6B-CC71F167873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US equity markets vulnerable? </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1279F9D-8A3E-B062-0799-FB1B6EB5CEE8}"/>
              </a:ext>
            </a:extLst>
          </p:cNvPr>
          <p:cNvSpPr txBox="1"/>
          <p:nvPr/>
        </p:nvSpPr>
        <p:spPr>
          <a:xfrm>
            <a:off x="714834" y="3893035"/>
            <a:ext cx="6942039"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sz="1200" dirty="0">
                <a:solidFill>
                  <a:schemeClr val="tx1"/>
                </a:solidFill>
              </a:rPr>
              <a:t>S&amp;P 500 is currently trading at valuations higher than during previous conflict periods in 1990 and 2022</a:t>
            </a:r>
          </a:p>
          <a:p>
            <a:pPr marL="171450" indent="-171450">
              <a:lnSpc>
                <a:spcPct val="150000"/>
              </a:lnSpc>
              <a:buFont typeface="Wingdings" panose="05000000000000000000" pitchFamily="2" charset="2"/>
              <a:buChar char="q"/>
            </a:pPr>
            <a:r>
              <a:rPr lang="en-US" sz="1200" dirty="0">
                <a:solidFill>
                  <a:schemeClr val="tx1"/>
                </a:solidFill>
              </a:rPr>
              <a:t>S&amp;P 500 remains resilient so far, correcting ~4% despite a sharp ~47% rise in oil prices</a:t>
            </a:r>
          </a:p>
        </p:txBody>
      </p:sp>
      <p:grpSp>
        <p:nvGrpSpPr>
          <p:cNvPr id="2" name="Google Shape;262;p6">
            <a:extLst>
              <a:ext uri="{FF2B5EF4-FFF2-40B4-BE49-F238E27FC236}">
                <a16:creationId xmlns:a16="http://schemas.microsoft.com/office/drawing/2014/main" id="{EB61E887-B653-6F1E-467C-17DD0296B3E1}"/>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6EEFCED2-7955-212E-EC4B-BA11BAA92882}"/>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248C409B-6780-1B41-3496-3115CB7D924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D55171D4-5934-246F-5C8E-84A78D45E5A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EF8B8034-032D-755E-1E3C-470696D4C42C}"/>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A6FCA60E-A707-C3B1-4E9E-676315FC4B42}"/>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9C0D108D-2D1C-ECB5-7FC1-1F8B4957AF30}"/>
              </a:ext>
            </a:extLst>
          </p:cNvPr>
          <p:cNvSpPr txBox="1"/>
          <p:nvPr/>
        </p:nvSpPr>
        <p:spPr>
          <a:xfrm>
            <a:off x="6911340" y="4628665"/>
            <a:ext cx="2232635"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err="1">
                <a:latin typeface="+mn-lt"/>
              </a:rPr>
              <a:t>Nuvama</a:t>
            </a:r>
            <a:r>
              <a:rPr lang="en-US" sz="800" dirty="0">
                <a:latin typeface="+mn-lt"/>
              </a:rPr>
              <a:t> research, data as on 23</a:t>
            </a:r>
            <a:r>
              <a:rPr lang="en-US" sz="800" baseline="30000" dirty="0">
                <a:latin typeface="+mn-lt"/>
              </a:rPr>
              <a:t>rd</a:t>
            </a:r>
            <a:r>
              <a:rPr lang="en-US" sz="800" dirty="0">
                <a:latin typeface="+mn-lt"/>
              </a:rPr>
              <a:t> Mar-26</a:t>
            </a:r>
          </a:p>
        </p:txBody>
      </p:sp>
      <p:pic>
        <p:nvPicPr>
          <p:cNvPr id="11" name="Picture 10">
            <a:extLst>
              <a:ext uri="{FF2B5EF4-FFF2-40B4-BE49-F238E27FC236}">
                <a16:creationId xmlns:a16="http://schemas.microsoft.com/office/drawing/2014/main" id="{52DF6E8E-5044-B5EA-38DC-D7617C605169}"/>
              </a:ext>
            </a:extLst>
          </p:cNvPr>
          <p:cNvPicPr>
            <a:picLocks noChangeAspect="1"/>
          </p:cNvPicPr>
          <p:nvPr/>
        </p:nvPicPr>
        <p:blipFill>
          <a:blip r:embed="rId4"/>
          <a:stretch>
            <a:fillRect/>
          </a:stretch>
        </p:blipFill>
        <p:spPr>
          <a:xfrm>
            <a:off x="643611" y="1275115"/>
            <a:ext cx="4164609" cy="2480093"/>
          </a:xfrm>
          <a:prstGeom prst="rect">
            <a:avLst/>
          </a:prstGeom>
          <a:ln>
            <a:solidFill>
              <a:schemeClr val="tx1"/>
            </a:solidFill>
          </a:ln>
        </p:spPr>
      </p:pic>
      <p:pic>
        <p:nvPicPr>
          <p:cNvPr id="14" name="Picture 13">
            <a:extLst>
              <a:ext uri="{FF2B5EF4-FFF2-40B4-BE49-F238E27FC236}">
                <a16:creationId xmlns:a16="http://schemas.microsoft.com/office/drawing/2014/main" id="{E6958903-0CF7-C7D9-4FD4-63582B22936C}"/>
              </a:ext>
            </a:extLst>
          </p:cNvPr>
          <p:cNvPicPr>
            <a:picLocks noChangeAspect="1"/>
          </p:cNvPicPr>
          <p:nvPr/>
        </p:nvPicPr>
        <p:blipFill>
          <a:blip r:embed="rId5"/>
          <a:stretch>
            <a:fillRect/>
          </a:stretch>
        </p:blipFill>
        <p:spPr>
          <a:xfrm>
            <a:off x="5010150" y="1286273"/>
            <a:ext cx="3802380" cy="2468935"/>
          </a:xfrm>
          <a:prstGeom prst="rect">
            <a:avLst/>
          </a:prstGeom>
          <a:ln>
            <a:solidFill>
              <a:schemeClr val="tx1"/>
            </a:solidFill>
          </a:ln>
        </p:spPr>
      </p:pic>
      <p:sp>
        <p:nvSpPr>
          <p:cNvPr id="16" name="TextBox 15">
            <a:extLst>
              <a:ext uri="{FF2B5EF4-FFF2-40B4-BE49-F238E27FC236}">
                <a16:creationId xmlns:a16="http://schemas.microsoft.com/office/drawing/2014/main" id="{E71AC69A-DA3B-E19F-5AFA-49982FB22231}"/>
              </a:ext>
            </a:extLst>
          </p:cNvPr>
          <p:cNvSpPr txBox="1"/>
          <p:nvPr/>
        </p:nvSpPr>
        <p:spPr>
          <a:xfrm>
            <a:off x="5562599" y="1273318"/>
            <a:ext cx="1835193" cy="246221"/>
          </a:xfrm>
          <a:prstGeom prst="rect">
            <a:avLst/>
          </a:prstGeom>
          <a:noFill/>
        </p:spPr>
        <p:txBody>
          <a:bodyPr wrap="square" rtlCol="0">
            <a:spAutoFit/>
          </a:bodyPr>
          <a:lstStyle/>
          <a:p>
            <a:r>
              <a:rPr lang="en-US" sz="1000" b="1" dirty="0">
                <a:latin typeface="+mj-lt"/>
              </a:rPr>
              <a:t>S&amp;P 500 Index &amp; Oil prices</a:t>
            </a:r>
          </a:p>
        </p:txBody>
      </p:sp>
      <p:sp>
        <p:nvSpPr>
          <p:cNvPr id="18" name="TextBox 17">
            <a:extLst>
              <a:ext uri="{FF2B5EF4-FFF2-40B4-BE49-F238E27FC236}">
                <a16:creationId xmlns:a16="http://schemas.microsoft.com/office/drawing/2014/main" id="{5DB271F4-F1E8-FA9C-01A6-5045BC5E250C}"/>
              </a:ext>
            </a:extLst>
          </p:cNvPr>
          <p:cNvSpPr txBox="1"/>
          <p:nvPr/>
        </p:nvSpPr>
        <p:spPr>
          <a:xfrm>
            <a:off x="1051559" y="1370177"/>
            <a:ext cx="944881" cy="246221"/>
          </a:xfrm>
          <a:prstGeom prst="rect">
            <a:avLst/>
          </a:prstGeom>
          <a:noFill/>
        </p:spPr>
        <p:txBody>
          <a:bodyPr wrap="square" rtlCol="0">
            <a:spAutoFit/>
          </a:bodyPr>
          <a:lstStyle/>
          <a:p>
            <a:r>
              <a:rPr lang="en-US" sz="1000" b="1" dirty="0">
                <a:latin typeface="+mj-lt"/>
              </a:rPr>
              <a:t>S&amp;P 500 P/E</a:t>
            </a:r>
          </a:p>
        </p:txBody>
      </p:sp>
    </p:spTree>
    <p:extLst>
      <p:ext uri="{BB962C8B-B14F-4D97-AF65-F5344CB8AC3E}">
        <p14:creationId xmlns:p14="http://schemas.microsoft.com/office/powerpoint/2010/main" val="612810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43FA56-3EC3-5F26-510E-277BA938C136}"/>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87388122-676B-4BBA-1DE6-D9125CA53E4E}"/>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High US debt limits military spending ?</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647231B-DD99-A965-E8D2-F2FADFE91E4D}"/>
              </a:ext>
            </a:extLst>
          </p:cNvPr>
          <p:cNvSpPr txBox="1"/>
          <p:nvPr/>
        </p:nvSpPr>
        <p:spPr>
          <a:xfrm>
            <a:off x="7336619" y="4520943"/>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a:t>
            </a:r>
            <a:r>
              <a:rPr lang="en-US" sz="800" dirty="0">
                <a:latin typeface="+mn-lt"/>
                <a:ea typeface="Calibri" panose="020F0502020204030204" pitchFamily="34" charset="0"/>
                <a:cs typeface="Calibri" panose="020F0502020204030204" pitchFamily="34" charset="0"/>
              </a:rPr>
              <a:t>: </a:t>
            </a:r>
            <a:r>
              <a:rPr lang="en-US" sz="800" dirty="0" err="1">
                <a:latin typeface="+mn-lt"/>
                <a:ea typeface="Calibri" panose="020F0502020204030204" pitchFamily="34" charset="0"/>
                <a:cs typeface="Calibri" panose="020F0502020204030204" pitchFamily="34" charset="0"/>
              </a:rPr>
              <a:t>Nuvama</a:t>
            </a:r>
            <a:r>
              <a:rPr lang="en-US" sz="800" dirty="0">
                <a:latin typeface="+mn-lt"/>
                <a:ea typeface="Calibri" panose="020F0502020204030204" pitchFamily="34" charset="0"/>
                <a:cs typeface="Calibri" panose="020F0502020204030204" pitchFamily="34" charset="0"/>
              </a:rPr>
              <a:t> Research</a:t>
            </a:r>
            <a:endParaRPr lang="en-US" sz="800" dirty="0">
              <a:latin typeface="+mn-lt"/>
            </a:endParaRPr>
          </a:p>
        </p:txBody>
      </p:sp>
      <p:sp>
        <p:nvSpPr>
          <p:cNvPr id="6" name="TextBox 5">
            <a:extLst>
              <a:ext uri="{FF2B5EF4-FFF2-40B4-BE49-F238E27FC236}">
                <a16:creationId xmlns:a16="http://schemas.microsoft.com/office/drawing/2014/main" id="{DBDBCE0D-4000-B259-19CF-9BFCD47C3178}"/>
              </a:ext>
            </a:extLst>
          </p:cNvPr>
          <p:cNvSpPr txBox="1"/>
          <p:nvPr/>
        </p:nvSpPr>
        <p:spPr>
          <a:xfrm>
            <a:off x="1533472" y="3715101"/>
            <a:ext cx="5516496"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US debt &amp; interest costs near record highs, limiting fiscal flexibility</a:t>
            </a:r>
          </a:p>
          <a:p>
            <a:pPr marL="285750" indent="-285750">
              <a:lnSpc>
                <a:spcPct val="150000"/>
              </a:lnSpc>
              <a:buFont typeface="Wingdings" panose="05000000000000000000" pitchFamily="2" charset="2"/>
              <a:buChar char="q"/>
            </a:pPr>
            <a:r>
              <a:rPr lang="en-US" dirty="0">
                <a:solidFill>
                  <a:schemeClr val="tx1"/>
                </a:solidFill>
              </a:rPr>
              <a:t>Limited external funding restricts capacity for prolonged conflicts </a:t>
            </a:r>
          </a:p>
        </p:txBody>
      </p:sp>
      <p:grpSp>
        <p:nvGrpSpPr>
          <p:cNvPr id="2" name="Google Shape;262;p6">
            <a:extLst>
              <a:ext uri="{FF2B5EF4-FFF2-40B4-BE49-F238E27FC236}">
                <a16:creationId xmlns:a16="http://schemas.microsoft.com/office/drawing/2014/main" id="{5B56BC42-9932-4D03-3E15-17FBD61FD981}"/>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02171DE-246C-80F0-DD5E-80B7D9F1D0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DB304AE2-0A38-E7B6-5BA2-0EC7AE4F02E4}"/>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4C62877C-1E93-0AC3-C4BD-ABEA1249AD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D90AA9AA-7A8B-90E5-B518-4FF7C6D7311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10B6BC46-6056-6C0E-26C0-64CFD42793BE}"/>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23" name="Picture 22">
            <a:extLst>
              <a:ext uri="{FF2B5EF4-FFF2-40B4-BE49-F238E27FC236}">
                <a16:creationId xmlns:a16="http://schemas.microsoft.com/office/drawing/2014/main" id="{2E8B8575-6E1B-ED69-FD2F-0AF13FC4B06A}"/>
              </a:ext>
            </a:extLst>
          </p:cNvPr>
          <p:cNvPicPr>
            <a:picLocks noChangeAspect="1"/>
          </p:cNvPicPr>
          <p:nvPr/>
        </p:nvPicPr>
        <p:blipFill>
          <a:blip r:embed="rId4"/>
          <a:stretch>
            <a:fillRect/>
          </a:stretch>
        </p:blipFill>
        <p:spPr>
          <a:xfrm>
            <a:off x="646412" y="1218409"/>
            <a:ext cx="4023360" cy="2163998"/>
          </a:xfrm>
          <a:prstGeom prst="rect">
            <a:avLst/>
          </a:prstGeom>
          <a:ln>
            <a:solidFill>
              <a:schemeClr val="tx1"/>
            </a:solidFill>
          </a:ln>
        </p:spPr>
      </p:pic>
      <p:pic>
        <p:nvPicPr>
          <p:cNvPr id="25" name="Picture 24">
            <a:extLst>
              <a:ext uri="{FF2B5EF4-FFF2-40B4-BE49-F238E27FC236}">
                <a16:creationId xmlns:a16="http://schemas.microsoft.com/office/drawing/2014/main" id="{6D0E7D0B-A53C-CCB3-B477-4AA2F25DE09C}"/>
              </a:ext>
            </a:extLst>
          </p:cNvPr>
          <p:cNvPicPr>
            <a:picLocks noChangeAspect="1"/>
          </p:cNvPicPr>
          <p:nvPr/>
        </p:nvPicPr>
        <p:blipFill>
          <a:blip r:embed="rId5"/>
          <a:stretch>
            <a:fillRect/>
          </a:stretch>
        </p:blipFill>
        <p:spPr>
          <a:xfrm>
            <a:off x="4848307" y="1218409"/>
            <a:ext cx="4023360" cy="2163999"/>
          </a:xfrm>
          <a:prstGeom prst="rect">
            <a:avLst/>
          </a:prstGeom>
          <a:ln>
            <a:solidFill>
              <a:schemeClr val="tx1"/>
            </a:solidFill>
          </a:ln>
        </p:spPr>
      </p:pic>
    </p:spTree>
    <p:extLst>
      <p:ext uri="{BB962C8B-B14F-4D97-AF65-F5344CB8AC3E}">
        <p14:creationId xmlns:p14="http://schemas.microsoft.com/office/powerpoint/2010/main" val="131011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E02B7ED-3286-A2E7-B03F-9B8802C5BEF9}"/>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E731B93B-A6A8-1535-0FC5-C0A3B4D13198}"/>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Global bond markets unlike past cycles</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0251A711-AC21-D2D3-BA40-27B01FAB1E59}"/>
              </a:ext>
            </a:extLst>
          </p:cNvPr>
          <p:cNvSpPr txBox="1"/>
          <p:nvPr/>
        </p:nvSpPr>
        <p:spPr>
          <a:xfrm>
            <a:off x="7336619" y="4520943"/>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a:t>
            </a:r>
            <a:r>
              <a:rPr lang="en-US" sz="800" dirty="0">
                <a:latin typeface="+mn-lt"/>
                <a:ea typeface="Calibri" panose="020F0502020204030204" pitchFamily="34" charset="0"/>
                <a:cs typeface="Calibri" panose="020F0502020204030204" pitchFamily="34" charset="0"/>
              </a:rPr>
              <a:t>: </a:t>
            </a:r>
            <a:r>
              <a:rPr lang="en-US" sz="800" dirty="0" err="1">
                <a:latin typeface="+mn-lt"/>
                <a:ea typeface="Calibri" panose="020F0502020204030204" pitchFamily="34" charset="0"/>
                <a:cs typeface="Calibri" panose="020F0502020204030204" pitchFamily="34" charset="0"/>
              </a:rPr>
              <a:t>Nuvama</a:t>
            </a:r>
            <a:r>
              <a:rPr lang="en-US" sz="800" dirty="0">
                <a:latin typeface="+mn-lt"/>
                <a:ea typeface="Calibri" panose="020F0502020204030204" pitchFamily="34" charset="0"/>
                <a:cs typeface="Calibri" panose="020F0502020204030204" pitchFamily="34" charset="0"/>
              </a:rPr>
              <a:t> Research</a:t>
            </a:r>
            <a:endParaRPr lang="en-US" sz="800" dirty="0">
              <a:latin typeface="+mn-lt"/>
            </a:endParaRPr>
          </a:p>
        </p:txBody>
      </p:sp>
      <p:sp>
        <p:nvSpPr>
          <p:cNvPr id="6" name="TextBox 5">
            <a:extLst>
              <a:ext uri="{FF2B5EF4-FFF2-40B4-BE49-F238E27FC236}">
                <a16:creationId xmlns:a16="http://schemas.microsoft.com/office/drawing/2014/main" id="{D25A660F-298E-8FCF-88FA-FCEA1AE3D478}"/>
              </a:ext>
            </a:extLst>
          </p:cNvPr>
          <p:cNvSpPr txBox="1"/>
          <p:nvPr/>
        </p:nvSpPr>
        <p:spPr>
          <a:xfrm>
            <a:off x="656814" y="3777830"/>
            <a:ext cx="6376446"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50" indent="-285750">
              <a:lnSpc>
                <a:spcPct val="150000"/>
              </a:lnSpc>
              <a:buFont typeface="Wingdings" panose="05000000000000000000" pitchFamily="2" charset="2"/>
              <a:buChar char="q"/>
            </a:pPr>
            <a:r>
              <a:rPr lang="en-US" dirty="0">
                <a:solidFill>
                  <a:schemeClr val="tx1"/>
                </a:solidFill>
              </a:rPr>
              <a:t>G7 bonds volatile amid high debt and shrinking safe-haven demand</a:t>
            </a:r>
          </a:p>
          <a:p>
            <a:pPr marL="285750" indent="-285750">
              <a:lnSpc>
                <a:spcPct val="150000"/>
              </a:lnSpc>
              <a:buFont typeface="Wingdings" panose="05000000000000000000" pitchFamily="2" charset="2"/>
              <a:buChar char="q"/>
            </a:pPr>
            <a:r>
              <a:rPr lang="en-US" dirty="0">
                <a:solidFill>
                  <a:schemeClr val="tx1"/>
                </a:solidFill>
              </a:rPr>
              <a:t>Yields stay elevated despite rate cuts, energy and inflation risks add pressure</a:t>
            </a:r>
          </a:p>
        </p:txBody>
      </p:sp>
      <p:grpSp>
        <p:nvGrpSpPr>
          <p:cNvPr id="2" name="Google Shape;262;p6">
            <a:extLst>
              <a:ext uri="{FF2B5EF4-FFF2-40B4-BE49-F238E27FC236}">
                <a16:creationId xmlns:a16="http://schemas.microsoft.com/office/drawing/2014/main" id="{38A27CA4-0AA2-D37F-0923-4AA1D90AC255}"/>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60B2E84B-8948-5DFA-8D3B-96208711C749}"/>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F1E76DCE-A523-CF20-85E0-BB9752FA7EDA}"/>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C6808367-FF72-89B4-733C-B6E883F2BFC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5E3635F7-2679-2FFC-49FF-FC25F18181BB}"/>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FD396D1B-9DD9-0FB8-D622-616143731AEE}"/>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FE0DCF61-B40A-4680-C5C6-2E409396E430}"/>
              </a:ext>
            </a:extLst>
          </p:cNvPr>
          <p:cNvPicPr>
            <a:picLocks noChangeAspect="1"/>
          </p:cNvPicPr>
          <p:nvPr/>
        </p:nvPicPr>
        <p:blipFill>
          <a:blip r:embed="rId4"/>
          <a:stretch>
            <a:fillRect/>
          </a:stretch>
        </p:blipFill>
        <p:spPr>
          <a:xfrm>
            <a:off x="656814" y="1249970"/>
            <a:ext cx="3673929" cy="2217129"/>
          </a:xfrm>
          <a:prstGeom prst="rect">
            <a:avLst/>
          </a:prstGeom>
          <a:ln>
            <a:solidFill>
              <a:schemeClr val="tx1"/>
            </a:solidFill>
          </a:ln>
        </p:spPr>
      </p:pic>
      <p:sp>
        <p:nvSpPr>
          <p:cNvPr id="11" name="TextBox 10">
            <a:extLst>
              <a:ext uri="{FF2B5EF4-FFF2-40B4-BE49-F238E27FC236}">
                <a16:creationId xmlns:a16="http://schemas.microsoft.com/office/drawing/2014/main" id="{3BAC42A6-B44C-9921-6BC8-C2C4B8C3F4B1}"/>
              </a:ext>
            </a:extLst>
          </p:cNvPr>
          <p:cNvSpPr txBox="1"/>
          <p:nvPr/>
        </p:nvSpPr>
        <p:spPr>
          <a:xfrm>
            <a:off x="1882140" y="1257516"/>
            <a:ext cx="1120140" cy="261610"/>
          </a:xfrm>
          <a:prstGeom prst="rect">
            <a:avLst/>
          </a:prstGeom>
          <a:noFill/>
        </p:spPr>
        <p:txBody>
          <a:bodyPr wrap="square" rtlCol="0">
            <a:spAutoFit/>
          </a:bodyPr>
          <a:lstStyle/>
          <a:p>
            <a:r>
              <a:rPr lang="en-US" sz="1100" b="1" dirty="0">
                <a:latin typeface="+mj-lt"/>
              </a:rPr>
              <a:t>Global rate cuts </a:t>
            </a:r>
          </a:p>
        </p:txBody>
      </p:sp>
      <p:pic>
        <p:nvPicPr>
          <p:cNvPr id="13" name="Picture 12">
            <a:extLst>
              <a:ext uri="{FF2B5EF4-FFF2-40B4-BE49-F238E27FC236}">
                <a16:creationId xmlns:a16="http://schemas.microsoft.com/office/drawing/2014/main" id="{FAC25F8D-445A-7DE8-95A8-09DCD51CDA70}"/>
              </a:ext>
            </a:extLst>
          </p:cNvPr>
          <p:cNvPicPr>
            <a:picLocks noChangeAspect="1"/>
          </p:cNvPicPr>
          <p:nvPr/>
        </p:nvPicPr>
        <p:blipFill>
          <a:blip r:embed="rId5"/>
          <a:stretch>
            <a:fillRect/>
          </a:stretch>
        </p:blipFill>
        <p:spPr>
          <a:xfrm>
            <a:off x="4813258" y="1249970"/>
            <a:ext cx="3604738" cy="2217129"/>
          </a:xfrm>
          <a:prstGeom prst="rect">
            <a:avLst/>
          </a:prstGeom>
          <a:ln>
            <a:solidFill>
              <a:schemeClr val="tx1"/>
            </a:solidFill>
          </a:ln>
        </p:spPr>
      </p:pic>
      <p:sp>
        <p:nvSpPr>
          <p:cNvPr id="14" name="TextBox 13">
            <a:extLst>
              <a:ext uri="{FF2B5EF4-FFF2-40B4-BE49-F238E27FC236}">
                <a16:creationId xmlns:a16="http://schemas.microsoft.com/office/drawing/2014/main" id="{82ABAE39-2898-2898-AF50-DD372C6F3F36}"/>
              </a:ext>
            </a:extLst>
          </p:cNvPr>
          <p:cNvSpPr txBox="1"/>
          <p:nvPr/>
        </p:nvSpPr>
        <p:spPr>
          <a:xfrm>
            <a:off x="5632111" y="1276964"/>
            <a:ext cx="1538309" cy="261610"/>
          </a:xfrm>
          <a:prstGeom prst="rect">
            <a:avLst/>
          </a:prstGeom>
          <a:noFill/>
        </p:spPr>
        <p:txBody>
          <a:bodyPr wrap="square" rtlCol="0">
            <a:spAutoFit/>
          </a:bodyPr>
          <a:lstStyle/>
          <a:p>
            <a:r>
              <a:rPr lang="en-US" sz="1100" b="1" dirty="0">
                <a:latin typeface="+mj-lt"/>
              </a:rPr>
              <a:t>Yields remain elevated </a:t>
            </a:r>
          </a:p>
        </p:txBody>
      </p:sp>
    </p:spTree>
    <p:extLst>
      <p:ext uri="{BB962C8B-B14F-4D97-AF65-F5344CB8AC3E}">
        <p14:creationId xmlns:p14="http://schemas.microsoft.com/office/powerpoint/2010/main" val="3443440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9570945-1413-F9B1-BA44-017632043F5C}"/>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6744CACB-D13D-FFB3-9A46-6000EA132522}"/>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India more exposed to supply shocks</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7A6828B-0012-F876-BC7B-EE4D2655516A}"/>
              </a:ext>
            </a:extLst>
          </p:cNvPr>
          <p:cNvSpPr txBox="1"/>
          <p:nvPr/>
        </p:nvSpPr>
        <p:spPr>
          <a:xfrm>
            <a:off x="4994010" y="3631376"/>
            <a:ext cx="3682531"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Margins in Indian equities compress in supply-led oil shocks, while demand-led increases are better absorbed</a:t>
            </a:r>
          </a:p>
        </p:txBody>
      </p:sp>
      <p:grpSp>
        <p:nvGrpSpPr>
          <p:cNvPr id="2" name="Google Shape;262;p6">
            <a:extLst>
              <a:ext uri="{FF2B5EF4-FFF2-40B4-BE49-F238E27FC236}">
                <a16:creationId xmlns:a16="http://schemas.microsoft.com/office/drawing/2014/main" id="{E3CD1CB6-5A9D-0B72-AAA1-D6693E3D5324}"/>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B792EE3F-94AE-305D-4327-284ABDCECF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6FFFBCD-076F-1721-14D9-C832E2A235A5}"/>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8E3A940A-D0E7-F612-E1CC-0ABE391AFD8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7FDF42C8-4069-6117-7472-EEC7DEBAC1E2}"/>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704F1BB7-D1D6-E339-C2D1-642740D3687E}"/>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046EC0B2-DBAF-4778-2CCF-74930DE475BF}"/>
              </a:ext>
            </a:extLst>
          </p:cNvPr>
          <p:cNvSpPr txBox="1"/>
          <p:nvPr/>
        </p:nvSpPr>
        <p:spPr>
          <a:xfrm>
            <a:off x="396599" y="4529198"/>
            <a:ext cx="2349677" cy="33855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err="1">
                <a:latin typeface="+mn-lt"/>
              </a:rPr>
              <a:t>Nuvama</a:t>
            </a:r>
            <a:r>
              <a:rPr lang="en-US" sz="800" dirty="0">
                <a:latin typeface="+mn-lt"/>
              </a:rPr>
              <a:t> research &amp;  Trading economics</a:t>
            </a:r>
          </a:p>
          <a:p>
            <a:pPr algn="just"/>
            <a:r>
              <a:rPr lang="en-US" sz="800" dirty="0">
                <a:latin typeface="+mn-lt"/>
              </a:rPr>
              <a:t>INR data as on 7</a:t>
            </a:r>
            <a:r>
              <a:rPr lang="en-US" sz="800" baseline="30000" dirty="0">
                <a:latin typeface="+mn-lt"/>
              </a:rPr>
              <a:t>th</a:t>
            </a:r>
            <a:r>
              <a:rPr lang="en-US" sz="800" dirty="0">
                <a:latin typeface="+mn-lt"/>
              </a:rPr>
              <a:t> April,2026</a:t>
            </a:r>
          </a:p>
        </p:txBody>
      </p:sp>
      <p:pic>
        <p:nvPicPr>
          <p:cNvPr id="7" name="Picture 6">
            <a:extLst>
              <a:ext uri="{FF2B5EF4-FFF2-40B4-BE49-F238E27FC236}">
                <a16:creationId xmlns:a16="http://schemas.microsoft.com/office/drawing/2014/main" id="{B8A382A7-A986-0E86-955F-F7828705A3AB}"/>
              </a:ext>
            </a:extLst>
          </p:cNvPr>
          <p:cNvPicPr>
            <a:picLocks noChangeAspect="1"/>
          </p:cNvPicPr>
          <p:nvPr/>
        </p:nvPicPr>
        <p:blipFill>
          <a:blip r:embed="rId4"/>
          <a:stretch>
            <a:fillRect/>
          </a:stretch>
        </p:blipFill>
        <p:spPr>
          <a:xfrm>
            <a:off x="4959120" y="1221214"/>
            <a:ext cx="3752309" cy="2194560"/>
          </a:xfrm>
          <a:prstGeom prst="rect">
            <a:avLst/>
          </a:prstGeom>
          <a:ln>
            <a:solidFill>
              <a:schemeClr val="tx1"/>
            </a:solidFill>
          </a:ln>
        </p:spPr>
      </p:pic>
      <p:sp>
        <p:nvSpPr>
          <p:cNvPr id="12" name="TextBox 11">
            <a:extLst>
              <a:ext uri="{FF2B5EF4-FFF2-40B4-BE49-F238E27FC236}">
                <a16:creationId xmlns:a16="http://schemas.microsoft.com/office/drawing/2014/main" id="{023AE93D-F396-9A36-BB2D-25C52EBB366D}"/>
              </a:ext>
            </a:extLst>
          </p:cNvPr>
          <p:cNvSpPr txBox="1"/>
          <p:nvPr/>
        </p:nvSpPr>
        <p:spPr>
          <a:xfrm>
            <a:off x="6217920" y="1221214"/>
            <a:ext cx="1539240" cy="253916"/>
          </a:xfrm>
          <a:prstGeom prst="rect">
            <a:avLst/>
          </a:prstGeom>
          <a:noFill/>
        </p:spPr>
        <p:txBody>
          <a:bodyPr wrap="square" rtlCol="0">
            <a:spAutoFit/>
          </a:bodyPr>
          <a:lstStyle/>
          <a:p>
            <a:r>
              <a:rPr lang="en-US" sz="1050" b="1" dirty="0">
                <a:latin typeface="+mj-lt"/>
              </a:rPr>
              <a:t>BSE 500 EBITDA margins </a:t>
            </a:r>
          </a:p>
        </p:txBody>
      </p:sp>
      <p:pic>
        <p:nvPicPr>
          <p:cNvPr id="14" name="Picture 13">
            <a:extLst>
              <a:ext uri="{FF2B5EF4-FFF2-40B4-BE49-F238E27FC236}">
                <a16:creationId xmlns:a16="http://schemas.microsoft.com/office/drawing/2014/main" id="{50952467-98DF-2CEC-848E-991AC479ADC4}"/>
              </a:ext>
            </a:extLst>
          </p:cNvPr>
          <p:cNvPicPr>
            <a:picLocks noChangeAspect="1"/>
          </p:cNvPicPr>
          <p:nvPr/>
        </p:nvPicPr>
        <p:blipFill>
          <a:blip r:embed="rId5"/>
          <a:stretch>
            <a:fillRect/>
          </a:stretch>
        </p:blipFill>
        <p:spPr>
          <a:xfrm>
            <a:off x="735954" y="1221214"/>
            <a:ext cx="3821786" cy="2194560"/>
          </a:xfrm>
          <a:prstGeom prst="rect">
            <a:avLst/>
          </a:prstGeom>
          <a:ln>
            <a:solidFill>
              <a:schemeClr val="tx1"/>
            </a:solidFill>
          </a:ln>
        </p:spPr>
      </p:pic>
      <p:sp>
        <p:nvSpPr>
          <p:cNvPr id="16" name="TextBox 15">
            <a:extLst>
              <a:ext uri="{FF2B5EF4-FFF2-40B4-BE49-F238E27FC236}">
                <a16:creationId xmlns:a16="http://schemas.microsoft.com/office/drawing/2014/main" id="{5ADA83EC-BC0F-CD3C-B479-06003E2716A8}"/>
              </a:ext>
            </a:extLst>
          </p:cNvPr>
          <p:cNvSpPr txBox="1"/>
          <p:nvPr/>
        </p:nvSpPr>
        <p:spPr>
          <a:xfrm>
            <a:off x="2156460" y="1221214"/>
            <a:ext cx="1539240" cy="253916"/>
          </a:xfrm>
          <a:prstGeom prst="rect">
            <a:avLst/>
          </a:prstGeom>
          <a:noFill/>
        </p:spPr>
        <p:txBody>
          <a:bodyPr wrap="square" rtlCol="0">
            <a:spAutoFit/>
          </a:bodyPr>
          <a:lstStyle/>
          <a:p>
            <a:r>
              <a:rPr lang="en-US" sz="1050" b="1" dirty="0">
                <a:latin typeface="+mj-lt"/>
              </a:rPr>
              <a:t>USD/INR price  6M data</a:t>
            </a:r>
          </a:p>
        </p:txBody>
      </p:sp>
      <p:sp>
        <p:nvSpPr>
          <p:cNvPr id="17" name="TextBox 16">
            <a:extLst>
              <a:ext uri="{FF2B5EF4-FFF2-40B4-BE49-F238E27FC236}">
                <a16:creationId xmlns:a16="http://schemas.microsoft.com/office/drawing/2014/main" id="{0C01B624-138A-162A-EF4B-9AFA7C229104}"/>
              </a:ext>
            </a:extLst>
          </p:cNvPr>
          <p:cNvSpPr txBox="1"/>
          <p:nvPr/>
        </p:nvSpPr>
        <p:spPr>
          <a:xfrm>
            <a:off x="735954" y="3634886"/>
            <a:ext cx="3682531"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INR briefly hit ~95 in Mar-26 before stabilizing on RBI support</a:t>
            </a:r>
          </a:p>
        </p:txBody>
      </p:sp>
    </p:spTree>
    <p:extLst>
      <p:ext uri="{BB962C8B-B14F-4D97-AF65-F5344CB8AC3E}">
        <p14:creationId xmlns:p14="http://schemas.microsoft.com/office/powerpoint/2010/main" val="185986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4E497EF-50A4-2DFB-5A27-7F5F1019B260}"/>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D58CF9A7-037F-6C4D-EBB3-0CF326A2F698}"/>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Middle East oil shock risks higher for India</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38001A2-DB08-F11F-DD89-86C7333F80F4}"/>
              </a:ext>
            </a:extLst>
          </p:cNvPr>
          <p:cNvSpPr txBox="1"/>
          <p:nvPr/>
        </p:nvSpPr>
        <p:spPr>
          <a:xfrm>
            <a:off x="1400990" y="4004835"/>
            <a:ext cx="6707780" cy="38209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Middle east contributes ~15% of exports &amp; 38% of remittances, ~$100bn annual inflows</a:t>
            </a:r>
          </a:p>
        </p:txBody>
      </p:sp>
      <p:grpSp>
        <p:nvGrpSpPr>
          <p:cNvPr id="2" name="Google Shape;262;p6">
            <a:extLst>
              <a:ext uri="{FF2B5EF4-FFF2-40B4-BE49-F238E27FC236}">
                <a16:creationId xmlns:a16="http://schemas.microsoft.com/office/drawing/2014/main" id="{AB58A97F-9D4C-6549-7DF9-4633F10F5C43}"/>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16711EB5-B453-3120-3FF0-95787D46C14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6B6A1EC-7BEE-7FB4-7451-AEE2E218CDE3}"/>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29C1DFE0-A8CB-6406-0922-FD1F2662770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4042C9F7-D7BD-3F69-54F5-FEC565C41B6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3C41375B-B1B1-E7C8-225B-5FEE09B6B538}"/>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29AA2154-F5E3-D089-441B-BA3451AE8B79}"/>
              </a:ext>
            </a:extLst>
          </p:cNvPr>
          <p:cNvSpPr txBox="1"/>
          <p:nvPr/>
        </p:nvSpPr>
        <p:spPr>
          <a:xfrm>
            <a:off x="7631079" y="4681241"/>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err="1">
                <a:latin typeface="+mn-lt"/>
              </a:rPr>
              <a:t>Nuvamaesearch</a:t>
            </a:r>
            <a:endParaRPr lang="en-US" sz="800" dirty="0">
              <a:latin typeface="+mn-lt"/>
            </a:endParaRPr>
          </a:p>
        </p:txBody>
      </p:sp>
      <p:pic>
        <p:nvPicPr>
          <p:cNvPr id="11" name="Picture 10">
            <a:extLst>
              <a:ext uri="{FF2B5EF4-FFF2-40B4-BE49-F238E27FC236}">
                <a16:creationId xmlns:a16="http://schemas.microsoft.com/office/drawing/2014/main" id="{D1EA2BB0-5F36-B953-0102-DAFDFFAE0E00}"/>
              </a:ext>
            </a:extLst>
          </p:cNvPr>
          <p:cNvPicPr>
            <a:picLocks noChangeAspect="1"/>
          </p:cNvPicPr>
          <p:nvPr/>
        </p:nvPicPr>
        <p:blipFill>
          <a:blip r:embed="rId4"/>
          <a:srcRect l="8975"/>
          <a:stretch>
            <a:fillRect/>
          </a:stretch>
        </p:blipFill>
        <p:spPr>
          <a:xfrm>
            <a:off x="623750" y="1226368"/>
            <a:ext cx="3688080" cy="2297851"/>
          </a:xfrm>
          <a:prstGeom prst="rect">
            <a:avLst/>
          </a:prstGeom>
          <a:ln>
            <a:solidFill>
              <a:schemeClr val="tx1"/>
            </a:solidFill>
          </a:ln>
        </p:spPr>
      </p:pic>
      <p:pic>
        <p:nvPicPr>
          <p:cNvPr id="16" name="Picture 15">
            <a:extLst>
              <a:ext uri="{FF2B5EF4-FFF2-40B4-BE49-F238E27FC236}">
                <a16:creationId xmlns:a16="http://schemas.microsoft.com/office/drawing/2014/main" id="{7CDE76F1-CE2F-1172-9F44-11EC0E05C618}"/>
              </a:ext>
            </a:extLst>
          </p:cNvPr>
          <p:cNvPicPr>
            <a:picLocks noChangeAspect="1"/>
          </p:cNvPicPr>
          <p:nvPr/>
        </p:nvPicPr>
        <p:blipFill>
          <a:blip r:embed="rId5"/>
          <a:srcRect r="6549"/>
          <a:stretch>
            <a:fillRect/>
          </a:stretch>
        </p:blipFill>
        <p:spPr>
          <a:xfrm>
            <a:off x="4832170" y="1277729"/>
            <a:ext cx="3688080" cy="2225233"/>
          </a:xfrm>
          <a:prstGeom prst="rect">
            <a:avLst/>
          </a:prstGeom>
          <a:ln>
            <a:solidFill>
              <a:schemeClr val="tx1"/>
            </a:solidFill>
          </a:ln>
        </p:spPr>
      </p:pic>
    </p:spTree>
    <p:extLst>
      <p:ext uri="{BB962C8B-B14F-4D97-AF65-F5344CB8AC3E}">
        <p14:creationId xmlns:p14="http://schemas.microsoft.com/office/powerpoint/2010/main" val="931375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478D195-8864-1385-4F64-D9C3001EE1A0}"/>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0F3DE0CB-24D9-242F-64D0-AAC0B867DE17}"/>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India’s CAD and </a:t>
            </a:r>
            <a:r>
              <a:rPr lang="en-US" sz="2000" dirty="0" err="1">
                <a:latin typeface="+mn-lt"/>
              </a:rPr>
              <a:t>BoP</a:t>
            </a:r>
            <a:r>
              <a:rPr lang="en-US" sz="2000" dirty="0">
                <a:latin typeface="+mn-lt"/>
              </a:rPr>
              <a:t> under pressure</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3E701FF-2EFE-3B4A-E253-115936D04995}"/>
              </a:ext>
            </a:extLst>
          </p:cNvPr>
          <p:cNvSpPr txBox="1"/>
          <p:nvPr/>
        </p:nvSpPr>
        <p:spPr>
          <a:xfrm>
            <a:off x="707571" y="4162040"/>
            <a:ext cx="6923507" cy="340734"/>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War-driven risks to CAD and </a:t>
            </a:r>
            <a:r>
              <a:rPr lang="en-US" sz="1200" dirty="0" err="1">
                <a:solidFill>
                  <a:schemeClr val="tx1"/>
                </a:solidFill>
              </a:rPr>
              <a:t>BoP</a:t>
            </a:r>
            <a:r>
              <a:rPr lang="en-US" sz="1200" dirty="0">
                <a:solidFill>
                  <a:schemeClr val="tx1"/>
                </a:solidFill>
              </a:rPr>
              <a:t> through higher oil imports, softer remittances, and volatile capital flows</a:t>
            </a:r>
          </a:p>
        </p:txBody>
      </p:sp>
      <p:grpSp>
        <p:nvGrpSpPr>
          <p:cNvPr id="2" name="Google Shape;262;p6">
            <a:extLst>
              <a:ext uri="{FF2B5EF4-FFF2-40B4-BE49-F238E27FC236}">
                <a16:creationId xmlns:a16="http://schemas.microsoft.com/office/drawing/2014/main" id="{FCF0339D-2398-1614-0566-78A640BF0DB4}"/>
              </a:ext>
            </a:extLst>
          </p:cNvPr>
          <p:cNvGrpSpPr/>
          <p:nvPr/>
        </p:nvGrpSpPr>
        <p:grpSpPr>
          <a:xfrm>
            <a:off x="0" y="4872600"/>
            <a:ext cx="9144000" cy="270900"/>
            <a:chOff x="-25" y="4872600"/>
            <a:chExt cx="9144000" cy="270900"/>
          </a:xfrm>
        </p:grpSpPr>
        <p:sp>
          <p:nvSpPr>
            <p:cNvPr id="3" name="Google Shape;263;p6">
              <a:extLst>
                <a:ext uri="{FF2B5EF4-FFF2-40B4-BE49-F238E27FC236}">
                  <a16:creationId xmlns:a16="http://schemas.microsoft.com/office/drawing/2014/main" id="{F81B27E1-4F9F-E408-BAD4-FDC03F37A4E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CAC0282-1029-0D10-10A1-A469056482E1}"/>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F6C85178-1BE2-B05E-FB32-64DE97F7720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76CE0CEA-A152-CAEE-42C2-0624500303FD}"/>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DFEF6B6F-9F79-92F2-340D-54C7CDA2E0F6}"/>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5B42B1BE-3FFE-13C3-25C2-5E3A5AC1F85C}"/>
              </a:ext>
            </a:extLst>
          </p:cNvPr>
          <p:cNvSpPr txBox="1"/>
          <p:nvPr/>
        </p:nvSpPr>
        <p:spPr>
          <a:xfrm>
            <a:off x="7631079" y="4681241"/>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err="1">
                <a:latin typeface="+mn-lt"/>
              </a:rPr>
              <a:t>Nuvama</a:t>
            </a:r>
            <a:r>
              <a:rPr lang="en-US" sz="800" dirty="0">
                <a:latin typeface="+mn-lt"/>
              </a:rPr>
              <a:t> research</a:t>
            </a:r>
          </a:p>
        </p:txBody>
      </p:sp>
      <p:pic>
        <p:nvPicPr>
          <p:cNvPr id="7" name="Picture 6">
            <a:extLst>
              <a:ext uri="{FF2B5EF4-FFF2-40B4-BE49-F238E27FC236}">
                <a16:creationId xmlns:a16="http://schemas.microsoft.com/office/drawing/2014/main" id="{8CE433C9-126B-6A1E-DDFA-285759AA7F57}"/>
              </a:ext>
            </a:extLst>
          </p:cNvPr>
          <p:cNvPicPr>
            <a:picLocks noChangeAspect="1"/>
          </p:cNvPicPr>
          <p:nvPr/>
        </p:nvPicPr>
        <p:blipFill>
          <a:blip r:embed="rId4"/>
          <a:stretch>
            <a:fillRect/>
          </a:stretch>
        </p:blipFill>
        <p:spPr>
          <a:xfrm>
            <a:off x="935243" y="1133008"/>
            <a:ext cx="6400800" cy="2749574"/>
          </a:xfrm>
          <a:prstGeom prst="rect">
            <a:avLst/>
          </a:prstGeom>
          <a:ln>
            <a:solidFill>
              <a:schemeClr val="tx1"/>
            </a:solidFill>
          </a:ln>
        </p:spPr>
      </p:pic>
    </p:spTree>
    <p:extLst>
      <p:ext uri="{BB962C8B-B14F-4D97-AF65-F5344CB8AC3E}">
        <p14:creationId xmlns:p14="http://schemas.microsoft.com/office/powerpoint/2010/main" val="2452823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8D87D47-EBE0-E070-414D-6EB4151AAE87}"/>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A1FB2D1E-DB6E-6334-B1DA-CD4214088BD7}"/>
              </a:ext>
            </a:extLst>
          </p:cNvPr>
          <p:cNvSpPr txBox="1">
            <a:spLocks noGrp="1"/>
          </p:cNvSpPr>
          <p:nvPr>
            <p:ph type="title"/>
          </p:nvPr>
        </p:nvSpPr>
        <p:spPr>
          <a:xfrm>
            <a:off x="719999" y="445025"/>
            <a:ext cx="6299366"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mn-lt"/>
                <a:ea typeface="Calibri" panose="020F0502020204030204" pitchFamily="34" charset="0"/>
                <a:cs typeface="Calibri" panose="020F0502020204030204" pitchFamily="34" charset="0"/>
              </a:rPr>
              <a:t>RBI liquidity management remains key  </a:t>
            </a:r>
            <a:endParaRPr sz="2000" dirty="0">
              <a:latin typeface="+mn-lt"/>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E60D0E5F-3128-B2D0-BDBA-52A569133E3B}"/>
              </a:ext>
            </a:extLst>
          </p:cNvPr>
          <p:cNvSpPr txBox="1"/>
          <p:nvPr/>
        </p:nvSpPr>
        <p:spPr>
          <a:xfrm>
            <a:off x="5362598" y="3813426"/>
            <a:ext cx="2616389" cy="430887"/>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100" dirty="0">
                <a:solidFill>
                  <a:schemeClr val="tx1"/>
                </a:solidFill>
                <a:ea typeface="Calibri" panose="020F0502020204030204" pitchFamily="34" charset="0"/>
                <a:cs typeface="Calibri" panose="020F0502020204030204" pitchFamily="34" charset="0"/>
              </a:rPr>
              <a:t>RBI’s liquidity support helps cushion growth despite outflows </a:t>
            </a:r>
          </a:p>
        </p:txBody>
      </p:sp>
      <p:sp>
        <p:nvSpPr>
          <p:cNvPr id="29" name="TextBox 28">
            <a:extLst>
              <a:ext uri="{FF2B5EF4-FFF2-40B4-BE49-F238E27FC236}">
                <a16:creationId xmlns:a16="http://schemas.microsoft.com/office/drawing/2014/main" id="{38136BED-CC8D-84B7-0388-6A8D9BC1E435}"/>
              </a:ext>
            </a:extLst>
          </p:cNvPr>
          <p:cNvSpPr txBox="1"/>
          <p:nvPr/>
        </p:nvSpPr>
        <p:spPr>
          <a:xfrm>
            <a:off x="7795907" y="4585669"/>
            <a:ext cx="2696135" cy="215444"/>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Source: </a:t>
            </a:r>
            <a:r>
              <a:rPr lang="en-US" sz="800" dirty="0" err="1">
                <a:latin typeface="Calibri" panose="020F0502020204030204" pitchFamily="34" charset="0"/>
                <a:ea typeface="Calibri" panose="020F0502020204030204" pitchFamily="34" charset="0"/>
                <a:cs typeface="Calibri" panose="020F0502020204030204" pitchFamily="34" charset="0"/>
              </a:rPr>
              <a:t>Nuvama</a:t>
            </a:r>
            <a:r>
              <a:rPr lang="en-US" sz="800" dirty="0">
                <a:latin typeface="Calibri" panose="020F0502020204030204" pitchFamily="34" charset="0"/>
                <a:ea typeface="Calibri" panose="020F0502020204030204" pitchFamily="34" charset="0"/>
                <a:cs typeface="Calibri" panose="020F0502020204030204" pitchFamily="34" charset="0"/>
              </a:rPr>
              <a:t> Research</a:t>
            </a:r>
          </a:p>
        </p:txBody>
      </p:sp>
      <p:grpSp>
        <p:nvGrpSpPr>
          <p:cNvPr id="2" name="Google Shape;262;p6">
            <a:extLst>
              <a:ext uri="{FF2B5EF4-FFF2-40B4-BE49-F238E27FC236}">
                <a16:creationId xmlns:a16="http://schemas.microsoft.com/office/drawing/2014/main" id="{52DF6E1D-CEE3-B858-5493-B7F40343303A}"/>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36AE5A1-A2B3-5736-F447-0547C5C1CC9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0F542AE9-1F6B-8373-EA4C-BA5EC1F2CA27}"/>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F2D5AD-7ADE-94F6-A51C-E65078587B9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50118105-9552-9920-A0EA-17CDBF4894C1}"/>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84405619-4716-C985-F1E2-A1F26EE82B24}"/>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9" name="Picture 8">
            <a:extLst>
              <a:ext uri="{FF2B5EF4-FFF2-40B4-BE49-F238E27FC236}">
                <a16:creationId xmlns:a16="http://schemas.microsoft.com/office/drawing/2014/main" id="{3CEED237-67EE-38C8-EF17-0DBAC863F094}"/>
              </a:ext>
            </a:extLst>
          </p:cNvPr>
          <p:cNvPicPr>
            <a:picLocks noChangeAspect="1"/>
          </p:cNvPicPr>
          <p:nvPr/>
        </p:nvPicPr>
        <p:blipFill>
          <a:blip r:embed="rId4"/>
          <a:stretch>
            <a:fillRect/>
          </a:stretch>
        </p:blipFill>
        <p:spPr>
          <a:xfrm>
            <a:off x="4802459" y="1198839"/>
            <a:ext cx="3882481" cy="2335195"/>
          </a:xfrm>
          <a:prstGeom prst="rect">
            <a:avLst/>
          </a:prstGeom>
          <a:ln>
            <a:solidFill>
              <a:schemeClr val="tx1"/>
            </a:solidFill>
          </a:ln>
        </p:spPr>
      </p:pic>
      <p:pic>
        <p:nvPicPr>
          <p:cNvPr id="17" name="Picture 16">
            <a:extLst>
              <a:ext uri="{FF2B5EF4-FFF2-40B4-BE49-F238E27FC236}">
                <a16:creationId xmlns:a16="http://schemas.microsoft.com/office/drawing/2014/main" id="{A50979FF-311D-C0AA-218C-1C5F54DAD938}"/>
              </a:ext>
            </a:extLst>
          </p:cNvPr>
          <p:cNvPicPr>
            <a:picLocks noChangeAspect="1"/>
          </p:cNvPicPr>
          <p:nvPr/>
        </p:nvPicPr>
        <p:blipFill>
          <a:blip r:embed="rId5"/>
          <a:stretch>
            <a:fillRect/>
          </a:stretch>
        </p:blipFill>
        <p:spPr>
          <a:xfrm>
            <a:off x="838200" y="1185244"/>
            <a:ext cx="3733775" cy="2335195"/>
          </a:xfrm>
          <a:prstGeom prst="rect">
            <a:avLst/>
          </a:prstGeom>
          <a:ln>
            <a:solidFill>
              <a:schemeClr val="tx1"/>
            </a:solidFill>
          </a:ln>
        </p:spPr>
      </p:pic>
      <p:sp>
        <p:nvSpPr>
          <p:cNvPr id="18" name="TextBox 17">
            <a:extLst>
              <a:ext uri="{FF2B5EF4-FFF2-40B4-BE49-F238E27FC236}">
                <a16:creationId xmlns:a16="http://schemas.microsoft.com/office/drawing/2014/main" id="{ADA20F2F-8924-F526-0FF4-CCDEB251E093}"/>
              </a:ext>
            </a:extLst>
          </p:cNvPr>
          <p:cNvSpPr txBox="1"/>
          <p:nvPr/>
        </p:nvSpPr>
        <p:spPr>
          <a:xfrm>
            <a:off x="1720580" y="1214485"/>
            <a:ext cx="1686989" cy="261610"/>
          </a:xfrm>
          <a:prstGeom prst="rect">
            <a:avLst/>
          </a:prstGeom>
          <a:noFill/>
        </p:spPr>
        <p:txBody>
          <a:bodyPr wrap="square" rtlCol="0">
            <a:spAutoFit/>
          </a:bodyPr>
          <a:lstStyle/>
          <a:p>
            <a:r>
              <a:rPr lang="en-US" sz="1100" b="1" dirty="0">
                <a:latin typeface="+mj-lt"/>
              </a:rPr>
              <a:t>Bank Credit growth </a:t>
            </a:r>
          </a:p>
        </p:txBody>
      </p:sp>
      <p:sp>
        <p:nvSpPr>
          <p:cNvPr id="19" name="TextBox 18">
            <a:extLst>
              <a:ext uri="{FF2B5EF4-FFF2-40B4-BE49-F238E27FC236}">
                <a16:creationId xmlns:a16="http://schemas.microsoft.com/office/drawing/2014/main" id="{35EE9DEB-79D4-CA47-DA15-4A33E8B1314A}"/>
              </a:ext>
            </a:extLst>
          </p:cNvPr>
          <p:cNvSpPr txBox="1"/>
          <p:nvPr/>
        </p:nvSpPr>
        <p:spPr>
          <a:xfrm>
            <a:off x="5348810" y="1230440"/>
            <a:ext cx="1394889" cy="261610"/>
          </a:xfrm>
          <a:prstGeom prst="rect">
            <a:avLst/>
          </a:prstGeom>
          <a:noFill/>
        </p:spPr>
        <p:txBody>
          <a:bodyPr wrap="square" rtlCol="0">
            <a:spAutoFit/>
          </a:bodyPr>
          <a:lstStyle/>
          <a:p>
            <a:r>
              <a:rPr lang="en-US" sz="1100" b="1" dirty="0">
                <a:latin typeface="+mj-lt"/>
              </a:rPr>
              <a:t>RBI LAF as % of NDTL </a:t>
            </a:r>
          </a:p>
        </p:txBody>
      </p:sp>
      <p:sp>
        <p:nvSpPr>
          <p:cNvPr id="21" name="TextBox 20">
            <a:extLst>
              <a:ext uri="{FF2B5EF4-FFF2-40B4-BE49-F238E27FC236}">
                <a16:creationId xmlns:a16="http://schemas.microsoft.com/office/drawing/2014/main" id="{C0D0EC79-32DB-FEB5-B9DD-F2FCBB19A7CD}"/>
              </a:ext>
            </a:extLst>
          </p:cNvPr>
          <p:cNvSpPr txBox="1"/>
          <p:nvPr/>
        </p:nvSpPr>
        <p:spPr>
          <a:xfrm>
            <a:off x="1396892" y="3831123"/>
            <a:ext cx="2616389" cy="430887"/>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100" dirty="0">
                <a:solidFill>
                  <a:schemeClr val="tx1"/>
                </a:solidFill>
                <a:ea typeface="Calibri" panose="020F0502020204030204" pitchFamily="34" charset="0"/>
                <a:cs typeface="Calibri" panose="020F0502020204030204" pitchFamily="34" charset="0"/>
              </a:rPr>
              <a:t>RBI’s regulatory easing has revived credit growth</a:t>
            </a:r>
          </a:p>
        </p:txBody>
      </p:sp>
    </p:spTree>
    <p:extLst>
      <p:ext uri="{BB962C8B-B14F-4D97-AF65-F5344CB8AC3E}">
        <p14:creationId xmlns:p14="http://schemas.microsoft.com/office/powerpoint/2010/main" val="161220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3FF8B99-5BB7-55C6-D55C-878849BF00E4}"/>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A1213E2-D655-5E7F-DB41-284EDB1ABA6C}"/>
              </a:ext>
            </a:extLst>
          </p:cNvPr>
          <p:cNvGraphicFramePr>
            <a:graphicFrameLocks noGrp="1"/>
          </p:cNvGraphicFramePr>
          <p:nvPr>
            <p:extLst>
              <p:ext uri="{D42A27DB-BD31-4B8C-83A1-F6EECF244321}">
                <p14:modId xmlns:p14="http://schemas.microsoft.com/office/powerpoint/2010/main" val="2516894299"/>
              </p:ext>
            </p:extLst>
          </p:nvPr>
        </p:nvGraphicFramePr>
        <p:xfrm>
          <a:off x="719998" y="1355691"/>
          <a:ext cx="8067658" cy="2409580"/>
        </p:xfrm>
        <a:graphic>
          <a:graphicData uri="http://schemas.openxmlformats.org/drawingml/2006/table">
            <a:tbl>
              <a:tblPr/>
              <a:tblGrid>
                <a:gridCol w="604132">
                  <a:extLst>
                    <a:ext uri="{9D8B030D-6E8A-4147-A177-3AD203B41FA5}">
                      <a16:colId xmlns:a16="http://schemas.microsoft.com/office/drawing/2014/main" val="624211874"/>
                    </a:ext>
                  </a:extLst>
                </a:gridCol>
                <a:gridCol w="653653">
                  <a:extLst>
                    <a:ext uri="{9D8B030D-6E8A-4147-A177-3AD203B41FA5}">
                      <a16:colId xmlns:a16="http://schemas.microsoft.com/office/drawing/2014/main" val="2337598546"/>
                    </a:ext>
                  </a:extLst>
                </a:gridCol>
                <a:gridCol w="534808">
                  <a:extLst>
                    <a:ext uri="{9D8B030D-6E8A-4147-A177-3AD203B41FA5}">
                      <a16:colId xmlns:a16="http://schemas.microsoft.com/office/drawing/2014/main" val="2801850226"/>
                    </a:ext>
                  </a:extLst>
                </a:gridCol>
                <a:gridCol w="690902">
                  <a:extLst>
                    <a:ext uri="{9D8B030D-6E8A-4147-A177-3AD203B41FA5}">
                      <a16:colId xmlns:a16="http://schemas.microsoft.com/office/drawing/2014/main" val="463315111"/>
                    </a:ext>
                  </a:extLst>
                </a:gridCol>
                <a:gridCol w="583924">
                  <a:extLst>
                    <a:ext uri="{9D8B030D-6E8A-4147-A177-3AD203B41FA5}">
                      <a16:colId xmlns:a16="http://schemas.microsoft.com/office/drawing/2014/main" val="1184091386"/>
                    </a:ext>
                  </a:extLst>
                </a:gridCol>
                <a:gridCol w="579153">
                  <a:extLst>
                    <a:ext uri="{9D8B030D-6E8A-4147-A177-3AD203B41FA5}">
                      <a16:colId xmlns:a16="http://schemas.microsoft.com/office/drawing/2014/main" val="2139231602"/>
                    </a:ext>
                  </a:extLst>
                </a:gridCol>
                <a:gridCol w="597316">
                  <a:extLst>
                    <a:ext uri="{9D8B030D-6E8A-4147-A177-3AD203B41FA5}">
                      <a16:colId xmlns:a16="http://schemas.microsoft.com/office/drawing/2014/main" val="3413373166"/>
                    </a:ext>
                  </a:extLst>
                </a:gridCol>
                <a:gridCol w="604157">
                  <a:extLst>
                    <a:ext uri="{9D8B030D-6E8A-4147-A177-3AD203B41FA5}">
                      <a16:colId xmlns:a16="http://schemas.microsoft.com/office/drawing/2014/main" val="1913518683"/>
                    </a:ext>
                  </a:extLst>
                </a:gridCol>
                <a:gridCol w="608047">
                  <a:extLst>
                    <a:ext uri="{9D8B030D-6E8A-4147-A177-3AD203B41FA5}">
                      <a16:colId xmlns:a16="http://schemas.microsoft.com/office/drawing/2014/main" val="3186044143"/>
                    </a:ext>
                  </a:extLst>
                </a:gridCol>
                <a:gridCol w="562098">
                  <a:extLst>
                    <a:ext uri="{9D8B030D-6E8A-4147-A177-3AD203B41FA5}">
                      <a16:colId xmlns:a16="http://schemas.microsoft.com/office/drawing/2014/main" val="139409997"/>
                    </a:ext>
                  </a:extLst>
                </a:gridCol>
                <a:gridCol w="609669">
                  <a:extLst>
                    <a:ext uri="{9D8B030D-6E8A-4147-A177-3AD203B41FA5}">
                      <a16:colId xmlns:a16="http://schemas.microsoft.com/office/drawing/2014/main" val="2108164566"/>
                    </a:ext>
                  </a:extLst>
                </a:gridCol>
                <a:gridCol w="604461">
                  <a:extLst>
                    <a:ext uri="{9D8B030D-6E8A-4147-A177-3AD203B41FA5}">
                      <a16:colId xmlns:a16="http://schemas.microsoft.com/office/drawing/2014/main" val="3496611585"/>
                    </a:ext>
                  </a:extLst>
                </a:gridCol>
                <a:gridCol w="835338">
                  <a:extLst>
                    <a:ext uri="{9D8B030D-6E8A-4147-A177-3AD203B41FA5}">
                      <a16:colId xmlns:a16="http://schemas.microsoft.com/office/drawing/2014/main" val="1482322004"/>
                    </a:ext>
                  </a:extLst>
                </a:gridCol>
              </a:tblGrid>
              <a:tr h="66069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Period</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Auto</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Bank</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Consumer Durables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CPSE</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FMCG</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Pharma</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IT</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Metal</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Oil &amp; Gas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Realty</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Energy</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Commodities</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4013886"/>
                  </a:ext>
                </a:extLst>
              </a:tr>
              <a:tr h="38698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1M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-15%</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3826171"/>
                  </a:ext>
                </a:extLst>
              </a:tr>
              <a:tr h="439084">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-10%</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-26%</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extLst>
                  <a:ext uri="{0D108BD9-81ED-4DB2-BD59-A6C34878D82A}">
                    <a16:rowId xmlns:a16="http://schemas.microsoft.com/office/drawing/2014/main" val="3715848493"/>
                  </a:ext>
                </a:extLst>
              </a:tr>
              <a:tr h="46140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6M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-10%</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-11%</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983413"/>
                  </a:ext>
                </a:extLst>
              </a:tr>
              <a:tr h="46140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1Y</a:t>
                      </a: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-7%</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-15%</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-21%</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8%</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3294774"/>
                  </a:ext>
                </a:extLst>
              </a:tr>
            </a:tbl>
          </a:graphicData>
        </a:graphic>
      </p:graphicFrame>
      <p:sp>
        <p:nvSpPr>
          <p:cNvPr id="301" name="Google Shape;301;p7">
            <a:extLst>
              <a:ext uri="{FF2B5EF4-FFF2-40B4-BE49-F238E27FC236}">
                <a16:creationId xmlns:a16="http://schemas.microsoft.com/office/drawing/2014/main" id="{A91D3CF5-2B1E-DA21-B37A-ACBF655A90BF}"/>
              </a:ext>
            </a:extLst>
          </p:cNvPr>
          <p:cNvSpPr txBox="1">
            <a:spLocks noGrp="1"/>
          </p:cNvSpPr>
          <p:nvPr>
            <p:ph type="title"/>
          </p:nvPr>
        </p:nvSpPr>
        <p:spPr>
          <a:xfrm>
            <a:off x="719998" y="445025"/>
            <a:ext cx="5257220"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 Indices performance – Mar-26</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7761202-B856-E71E-B2E4-1E4C539FD6DB}"/>
              </a:ext>
            </a:extLst>
          </p:cNvPr>
          <p:cNvSpPr txBox="1"/>
          <p:nvPr/>
        </p:nvSpPr>
        <p:spPr>
          <a:xfrm>
            <a:off x="6857030" y="4550246"/>
            <a:ext cx="2155631"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March,2026</a:t>
            </a:r>
          </a:p>
        </p:txBody>
      </p:sp>
      <p:sp>
        <p:nvSpPr>
          <p:cNvPr id="22" name="TextBox 21">
            <a:extLst>
              <a:ext uri="{FF2B5EF4-FFF2-40B4-BE49-F238E27FC236}">
                <a16:creationId xmlns:a16="http://schemas.microsoft.com/office/drawing/2014/main" id="{6E478BBA-5CEA-16E5-93CF-93EE2C135DD4}"/>
              </a:ext>
            </a:extLst>
          </p:cNvPr>
          <p:cNvSpPr txBox="1"/>
          <p:nvPr/>
        </p:nvSpPr>
        <p:spPr>
          <a:xfrm>
            <a:off x="2988527" y="4088683"/>
            <a:ext cx="3297973" cy="307777"/>
          </a:xfrm>
          <a:prstGeom prst="rect">
            <a:avLst/>
          </a:prstGeom>
          <a:noFill/>
          <a:ln w="6350">
            <a:solidFill>
              <a:schemeClr val="tx1"/>
            </a:solidFill>
          </a:ln>
        </p:spPr>
        <p:txBody>
          <a:bodyPr wrap="square">
            <a:spAutoFit/>
          </a:bodyPr>
          <a:lstStyle/>
          <a:p>
            <a:r>
              <a:rPr lang="en-US" sz="1200" dirty="0">
                <a:solidFill>
                  <a:schemeClr val="tx1"/>
                </a:solidFill>
                <a:latin typeface="+mn-lt"/>
                <a:ea typeface="Calibri" panose="020F0502020204030204" pitchFamily="34" charset="0"/>
                <a:cs typeface="Calibri" panose="020F0502020204030204" pitchFamily="34" charset="0"/>
              </a:rPr>
              <a:t>         </a:t>
            </a:r>
            <a:r>
              <a:rPr lang="en-US" dirty="0">
                <a:solidFill>
                  <a:schemeClr val="tx1"/>
                </a:solidFill>
                <a:latin typeface="+mn-lt"/>
                <a:ea typeface="Calibri" panose="020F0502020204030204" pitchFamily="34" charset="0"/>
                <a:cs typeface="Calibri" panose="020F0502020204030204" pitchFamily="34" charset="0"/>
              </a:rPr>
              <a:t>All sectors in red in 1M period </a:t>
            </a:r>
            <a:endParaRPr lang="en-US" sz="1200" dirty="0">
              <a:solidFill>
                <a:schemeClr val="tx1"/>
              </a:solidFill>
              <a:latin typeface="+mn-lt"/>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0FFCB12-AA47-F5F8-7C2A-79A9D0206E23}"/>
              </a:ext>
            </a:extLst>
          </p:cNvPr>
          <p:cNvSpPr txBox="1"/>
          <p:nvPr/>
        </p:nvSpPr>
        <p:spPr>
          <a:xfrm>
            <a:off x="618660" y="468909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grpSp>
        <p:nvGrpSpPr>
          <p:cNvPr id="2" name="Google Shape;262;p6">
            <a:extLst>
              <a:ext uri="{FF2B5EF4-FFF2-40B4-BE49-F238E27FC236}">
                <a16:creationId xmlns:a16="http://schemas.microsoft.com/office/drawing/2014/main" id="{8B50962C-F7A3-54F7-94A1-6A090A312603}"/>
              </a:ext>
            </a:extLst>
          </p:cNvPr>
          <p:cNvGrpSpPr/>
          <p:nvPr/>
        </p:nvGrpSpPr>
        <p:grpSpPr>
          <a:xfrm>
            <a:off x="-25" y="4872600"/>
            <a:ext cx="9144000" cy="270900"/>
            <a:chOff x="-25" y="4872600"/>
            <a:chExt cx="9144000" cy="270900"/>
          </a:xfrm>
        </p:grpSpPr>
        <p:sp>
          <p:nvSpPr>
            <p:cNvPr id="8" name="Google Shape;263;p6">
              <a:extLst>
                <a:ext uri="{FF2B5EF4-FFF2-40B4-BE49-F238E27FC236}">
                  <a16:creationId xmlns:a16="http://schemas.microsoft.com/office/drawing/2014/main" id="{9AC521B3-FD61-ADCF-69AF-6A81FBA9AC55}"/>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9" name="Google Shape;264;p6">
              <a:extLst>
                <a:ext uri="{FF2B5EF4-FFF2-40B4-BE49-F238E27FC236}">
                  <a16:creationId xmlns:a16="http://schemas.microsoft.com/office/drawing/2014/main" id="{CD2D24D4-66C6-CA1C-77E6-1F3FC0C45A97}"/>
                </a:ext>
              </a:extLst>
            </p:cNvPr>
            <p:cNvGrpSpPr/>
            <p:nvPr/>
          </p:nvGrpSpPr>
          <p:grpSpPr>
            <a:xfrm>
              <a:off x="3101100" y="4872600"/>
              <a:ext cx="2941800" cy="270900"/>
              <a:chOff x="3084200" y="4934525"/>
              <a:chExt cx="2941800" cy="270900"/>
            </a:xfrm>
          </p:grpSpPr>
          <p:sp>
            <p:nvSpPr>
              <p:cNvPr id="10" name="Google Shape;265;p6">
                <a:extLst>
                  <a:ext uri="{FF2B5EF4-FFF2-40B4-BE49-F238E27FC236}">
                    <a16:creationId xmlns:a16="http://schemas.microsoft.com/office/drawing/2014/main" id="{E5ACA95E-81E8-4379-68BF-8B530C4B47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37AC26C0-D90A-01E6-4FD8-EBBB5D09B9A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9F125C38-3309-2356-25E8-FFC61D0CC065}"/>
              </a:ext>
            </a:extLst>
          </p:cNvPr>
          <p:cNvPicPr>
            <a:picLocks noChangeAspect="1"/>
          </p:cNvPicPr>
          <p:nvPr/>
        </p:nvPicPr>
        <p:blipFill>
          <a:blip r:embed="rId3"/>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2311325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1919621612"/>
              </p:ext>
            </p:extLst>
          </p:nvPr>
        </p:nvGraphicFramePr>
        <p:xfrm>
          <a:off x="550494" y="992227"/>
          <a:ext cx="8076811" cy="3699253"/>
        </p:xfrm>
        <a:graphic>
          <a:graphicData uri="http://schemas.openxmlformats.org/drawingml/2006/table">
            <a:tbl>
              <a:tblPr firstRow="1" bandRow="1">
                <a:tableStyleId>{7E9639D4-E3E2-4D34-9284-5A2195B3D0D7}</a:tableStyleId>
              </a:tblPr>
              <a:tblGrid>
                <a:gridCol w="737093">
                  <a:extLst>
                    <a:ext uri="{9D8B030D-6E8A-4147-A177-3AD203B41FA5}">
                      <a16:colId xmlns:a16="http://schemas.microsoft.com/office/drawing/2014/main" val="20000"/>
                    </a:ext>
                  </a:extLst>
                </a:gridCol>
                <a:gridCol w="4426636">
                  <a:extLst>
                    <a:ext uri="{9D8B030D-6E8A-4147-A177-3AD203B41FA5}">
                      <a16:colId xmlns:a16="http://schemas.microsoft.com/office/drawing/2014/main" val="20001"/>
                    </a:ext>
                  </a:extLst>
                </a:gridCol>
                <a:gridCol w="1349828">
                  <a:extLst>
                    <a:ext uri="{9D8B030D-6E8A-4147-A177-3AD203B41FA5}">
                      <a16:colId xmlns:a16="http://schemas.microsoft.com/office/drawing/2014/main" val="20002"/>
                    </a:ext>
                  </a:extLst>
                </a:gridCol>
                <a:gridCol w="1563254">
                  <a:extLst>
                    <a:ext uri="{9D8B030D-6E8A-4147-A177-3AD203B41FA5}">
                      <a16:colId xmlns:a16="http://schemas.microsoft.com/office/drawing/2014/main" val="20003"/>
                    </a:ext>
                  </a:extLst>
                </a:gridCol>
              </a:tblGrid>
              <a:tr h="248103">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819493">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Consumer</a:t>
                      </a:r>
                      <a:r>
                        <a:rPr lang="en-IN" sz="1050" b="1" baseline="0" dirty="0">
                          <a:latin typeface="Calibri" panose="020F0502020204030204" pitchFamily="34" charset="0"/>
                          <a:ea typeface="Calibri" panose="020F0502020204030204" pitchFamily="34" charset="0"/>
                          <a:cs typeface="Calibri" panose="020F0502020204030204" pitchFamily="34" charset="0"/>
                        </a:rPr>
                        <a:t> </a:t>
                      </a:r>
                      <a:r>
                        <a:rPr lang="en-IN" sz="1050" b="1" dirty="0">
                          <a:latin typeface="Calibri" panose="020F0502020204030204" pitchFamily="34" charset="0"/>
                          <a:ea typeface="Calibri" panose="020F0502020204030204" pitchFamily="34" charset="0"/>
                          <a:cs typeface="Calibri" panose="020F0502020204030204" pitchFamily="34" charset="0"/>
                        </a:rPr>
                        <a:t>Durables</a:t>
                      </a:r>
                    </a:p>
                  </a:txBody>
                  <a:tcPr marL="68580" marR="68580" marT="34290" marB="34290" anchor="ctr">
                    <a:noFill/>
                  </a:tcPr>
                </a:tc>
                <a:tc>
                  <a:txBody>
                    <a:bodyPr/>
                    <a:lstStyle/>
                    <a:p>
                      <a:pPr algn="just"/>
                      <a:r>
                        <a:rPr lang="en-US" sz="1000" dirty="0"/>
                        <a:t>RAC companies plan 8–10% price hikes amid rising commodity costs and BEE changes, with hotter summers this year likely to boost demand. West Asia LPG disruptions have also increased demand for induction cooktops and other electric appliances. Companies with higher inventories are positioned to benefit amid limited gas supply</a:t>
                      </a:r>
                      <a:endParaRPr lang="en-US" sz="1000" dirty="0">
                        <a:highlight>
                          <a:srgbClr val="FFFF00"/>
                        </a:highlight>
                        <a:latin typeface="+mj-lt"/>
                      </a:endParaRPr>
                    </a:p>
                  </a:txBody>
                  <a:tcPr marL="68580" marR="68580" marT="34290" marB="34290" anchor="ctr">
                    <a:noFill/>
                  </a:tcPr>
                </a:tc>
                <a:tc>
                  <a:txBody>
                    <a:bodyPr/>
                    <a:lstStyle/>
                    <a:p>
                      <a:pPr algn="ctr"/>
                      <a:r>
                        <a:rPr lang="en-US" sz="1000" dirty="0">
                          <a:latin typeface="+mj-lt"/>
                        </a:rPr>
                        <a:t>Trailing P/BV at  5 yr average</a:t>
                      </a:r>
                      <a:endParaRPr lang="en-IN"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pPr algn="ctr"/>
                      <a:r>
                        <a:rPr lang="en-IN" sz="1000" b="0" baseline="0" dirty="0">
                          <a:solidFill>
                            <a:schemeClr val="tx1"/>
                          </a:solidFill>
                          <a:latin typeface="+mj-lt"/>
                          <a:ea typeface="Calibri" panose="020F0502020204030204" pitchFamily="34" charset="0"/>
                          <a:cs typeface="Calibri" panose="020F0502020204030204" pitchFamily="34" charset="0"/>
                        </a:rPr>
                        <a:t>Underweight</a:t>
                      </a:r>
                      <a:endParaRPr lang="en-IN"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891957">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Oil &amp;</a:t>
                      </a:r>
                      <a:r>
                        <a:rPr lang="en-IN" sz="1050" b="1" baseline="0" dirty="0">
                          <a:latin typeface="Calibri" panose="020F0502020204030204" pitchFamily="34" charset="0"/>
                          <a:ea typeface="Calibri" panose="020F0502020204030204" pitchFamily="34" charset="0"/>
                          <a:cs typeface="Calibri" panose="020F0502020204030204" pitchFamily="34" charset="0"/>
                        </a:rPr>
                        <a:t> Gas </a:t>
                      </a:r>
                      <a:endParaRPr lang="en-IN" sz="105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r>
                        <a:rPr lang="en-US" sz="1000" dirty="0"/>
                        <a:t>Sector remains geopolitically driven, with crude elevated (~$105/</a:t>
                      </a:r>
                      <a:r>
                        <a:rPr lang="en-US" sz="1000" dirty="0" err="1"/>
                        <a:t>bbl</a:t>
                      </a:r>
                      <a:r>
                        <a:rPr lang="en-US" sz="1000" dirty="0"/>
                        <a:t>) keeping volatility high, while global LNG markets stay tight despite softer US gas. ATF and diesel prices have risen with crude, and domestic LPG losses remain high (ATF ~₹64/</a:t>
                      </a:r>
                      <a:r>
                        <a:rPr lang="en-US" sz="1000" dirty="0" err="1"/>
                        <a:t>litre</a:t>
                      </a:r>
                      <a:r>
                        <a:rPr lang="en-US" sz="1000" dirty="0"/>
                        <a:t>; LPG ~₹380/cylinder) due to limited pass-through, keeping OMC margins under pressure</a:t>
                      </a:r>
                      <a:endParaRPr lang="en-US" sz="1000" dirty="0">
                        <a:latin typeface="+mj-lt"/>
                      </a:endParaRPr>
                    </a:p>
                  </a:txBody>
                  <a:tcPr marL="68580" marR="68580" marT="34290" marB="34290" anchor="ctr">
                    <a:solidFill>
                      <a:schemeClr val="accent2"/>
                    </a:solidFill>
                  </a:tcPr>
                </a:tc>
                <a:tc>
                  <a:txBody>
                    <a:bodyPr/>
                    <a:lstStyle/>
                    <a:p>
                      <a:pPr marR="0" algn="ctr" rtl="0">
                        <a:lnSpc>
                          <a:spcPct val="100000"/>
                        </a:lnSpc>
                        <a:spcBef>
                          <a:spcPts val="0"/>
                        </a:spcBef>
                        <a:spcAft>
                          <a:spcPts val="0"/>
                        </a:spcAft>
                        <a:buClr>
                          <a:srgbClr val="000000"/>
                        </a:buClr>
                        <a:buFont typeface="Arial"/>
                      </a:pPr>
                      <a:r>
                        <a:rPr lang="en-US" sz="1000" dirty="0">
                          <a:latin typeface="+mj-lt"/>
                        </a:rPr>
                        <a:t>Trailing P/BV  below 5-yr average </a:t>
                      </a:r>
                      <a:endParaRPr lang="en-IN" sz="1000" b="0" i="0" u="none" strike="noStrike" cap="none" dirty="0">
                        <a:solidFill>
                          <a:schemeClr val="tx1"/>
                        </a:solidFill>
                        <a:latin typeface="+mj-lt"/>
                        <a:ea typeface="Calibri" panose="020F0502020204030204" pitchFamily="34" charset="0"/>
                        <a:cs typeface="Calibri" panose="020F0502020204030204" pitchFamily="34" charset="0"/>
                        <a:sym typeface="Arial"/>
                      </a:endParaRPr>
                    </a:p>
                  </a:txBody>
                  <a:tcPr marL="68580" marR="68580" marT="34290" marB="34290" anchor="ctr">
                    <a:solidFill>
                      <a:schemeClr val="bg1"/>
                    </a:solidFill>
                  </a:tcPr>
                </a:tc>
                <a:tc>
                  <a:txBody>
                    <a:bodyPr/>
                    <a:lstStyle/>
                    <a:p>
                      <a:pPr algn="ctr"/>
                      <a:r>
                        <a:rPr lang="en-IN" sz="10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10002"/>
                  </a:ext>
                </a:extLst>
              </a:tr>
              <a:tr h="894676">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Auto</a:t>
                      </a:r>
                    </a:p>
                  </a:txBody>
                  <a:tcPr marL="68580" marR="68580" marT="34290" marB="34290" anchor="ctr"/>
                </a:tc>
                <a:tc>
                  <a:txBody>
                    <a:bodyPr/>
                    <a:lstStyle/>
                    <a:p>
                      <a:pPr algn="just"/>
                      <a:r>
                        <a:rPr lang="en-US" sz="1000" dirty="0"/>
                        <a:t>March’26 retail data shows demand remains intact across 2Ws, PVs, CVs and tractors, growth has moderated from a high base, with EV penetration rising, led by 2Ws. Elevated crude and West Asia tensions are beginning to pressure input costs and logistics, posing risks to OEMs and exporters, with crude trajectory and supply chain disruptions key monitorable into FY27</a:t>
                      </a:r>
                      <a:endParaRPr lang="en-IN" sz="1000" b="0" i="0" u="none" strike="noStrike" cap="none" dirty="0">
                        <a:solidFill>
                          <a:schemeClr val="tx1"/>
                        </a:solidFill>
                        <a:highlight>
                          <a:srgbClr val="FFFF00"/>
                        </a:highlight>
                        <a:latin typeface="+mj-lt"/>
                        <a:ea typeface="+mn-ea"/>
                        <a:cs typeface="+mn-cs"/>
                        <a:sym typeface="Arial"/>
                      </a:endParaRPr>
                    </a:p>
                  </a:txBody>
                  <a:tcPr marL="68580" marR="68580" marT="34290" marB="34290" anchor="ctr"/>
                </a:tc>
                <a:tc>
                  <a:txBody>
                    <a:bodyPr/>
                    <a:lstStyle/>
                    <a:p>
                      <a:pPr algn="ctr"/>
                      <a:r>
                        <a:rPr lang="en-US" sz="1000" dirty="0">
                          <a:latin typeface="+mj-lt"/>
                        </a:rPr>
                        <a:t>Trailing P/BV trading at 5-yr average</a:t>
                      </a:r>
                      <a:endParaRPr lang="en-IN"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algn="ctr"/>
                      <a:r>
                        <a:rPr lang="en-IN" sz="1000" b="0" dirty="0">
                          <a:solidFill>
                            <a:schemeClr val="tx1"/>
                          </a:solidFill>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4191346065"/>
                  </a:ext>
                </a:extLst>
              </a:tr>
              <a:tr h="764425">
                <a:tc>
                  <a:txBody>
                    <a:bodyPr/>
                    <a:lstStyle/>
                    <a:p>
                      <a:pPr algn="just"/>
                      <a:r>
                        <a:rPr lang="en-US" sz="1050" b="1" dirty="0">
                          <a:latin typeface="Calibri" panose="020F0502020204030204" pitchFamily="34" charset="0"/>
                          <a:ea typeface="Calibri" panose="020F0502020204030204" pitchFamily="34" charset="0"/>
                          <a:cs typeface="Calibri" panose="020F0502020204030204" pitchFamily="34" charset="0"/>
                        </a:rPr>
                        <a:t>FMCG</a:t>
                      </a:r>
                    </a:p>
                  </a:txBody>
                  <a:tcPr marL="68580" marR="68580" marT="34290" marB="34290" anchor="ctr">
                    <a:no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West Asia tensions are likely to impact FMCG through higher crude-linked input costs (petroleum derivatives), along with pressures on packaging, freight and palm oil, making crude volatility a key margin risk for Q1 FY27 (with limited Q4 impact due to inventory buffers). Unseasonal rains across North and East India in March’26 have also dampened demand for summer categories</a:t>
                      </a:r>
                      <a:endParaRPr lang="en-US" sz="1000" strike="sngStrike" dirty="0">
                        <a:latin typeface="+mj-lt"/>
                      </a:endParaRPr>
                    </a:p>
                  </a:txBody>
                  <a:tcPr marL="68580" marR="68580" marT="34290" marB="34290" anchor="ctr">
                    <a:noFill/>
                  </a:tcPr>
                </a:tc>
                <a:tc>
                  <a:txBody>
                    <a:bodyPr/>
                    <a:lstStyle/>
                    <a:p>
                      <a:pPr algn="ctr"/>
                      <a:r>
                        <a:rPr lang="en-US" sz="1000" dirty="0">
                          <a:latin typeface="+mj-lt"/>
                        </a:rPr>
                        <a:t>Trailing P/BV j below    -1yr  SD</a:t>
                      </a:r>
                      <a:endParaRPr lang="en-US"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3347416445"/>
                  </a:ext>
                </a:extLst>
              </a:tr>
            </a:tbl>
          </a:graphicData>
        </a:graphic>
      </p:graphicFrame>
      <p:sp>
        <p:nvSpPr>
          <p:cNvPr id="2" name="TextBox 1">
            <a:extLst>
              <a:ext uri="{FF2B5EF4-FFF2-40B4-BE49-F238E27FC236}">
                <a16:creationId xmlns:a16="http://schemas.microsoft.com/office/drawing/2014/main" id="{39C53B6D-06C5-2B43-F2ED-586117131F8A}"/>
              </a:ext>
            </a:extLst>
          </p:cNvPr>
          <p:cNvSpPr txBox="1"/>
          <p:nvPr/>
        </p:nvSpPr>
        <p:spPr>
          <a:xfrm>
            <a:off x="720000" y="4688859"/>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367160A0-FDEE-F288-39EE-F9E9F437A299}"/>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379FAD92-B74F-A5C6-2B4E-FD73CAA50546}"/>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A606104-F350-29B2-92BC-871B31BE8E8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B61EB2E-1B78-8885-0C05-00A01FA6820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FA5A640D-8F09-8CA6-3815-CB1F0433EA8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B98F33B3-35B4-9BD7-BAAB-4956B59C5BFA}"/>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248219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2987642802"/>
              </p:ext>
            </p:extLst>
          </p:nvPr>
        </p:nvGraphicFramePr>
        <p:xfrm>
          <a:off x="770006" y="1050467"/>
          <a:ext cx="7940479" cy="3437713"/>
        </p:xfrm>
        <a:graphic>
          <a:graphicData uri="http://schemas.openxmlformats.org/drawingml/2006/table">
            <a:tbl>
              <a:tblPr firstRow="1" bandRow="1">
                <a:tableStyleId>{7E9639D4-E3E2-4D34-9284-5A2195B3D0D7}</a:tableStyleId>
              </a:tblPr>
              <a:tblGrid>
                <a:gridCol w="759437">
                  <a:extLst>
                    <a:ext uri="{9D8B030D-6E8A-4147-A177-3AD203B41FA5}">
                      <a16:colId xmlns:a16="http://schemas.microsoft.com/office/drawing/2014/main" val="20000"/>
                    </a:ext>
                  </a:extLst>
                </a:gridCol>
                <a:gridCol w="4071257">
                  <a:extLst>
                    <a:ext uri="{9D8B030D-6E8A-4147-A177-3AD203B41FA5}">
                      <a16:colId xmlns:a16="http://schemas.microsoft.com/office/drawing/2014/main" val="20001"/>
                    </a:ext>
                  </a:extLst>
                </a:gridCol>
                <a:gridCol w="1301085">
                  <a:extLst>
                    <a:ext uri="{9D8B030D-6E8A-4147-A177-3AD203B41FA5}">
                      <a16:colId xmlns:a16="http://schemas.microsoft.com/office/drawing/2014/main" val="20002"/>
                    </a:ext>
                  </a:extLst>
                </a:gridCol>
                <a:gridCol w="1808700">
                  <a:extLst>
                    <a:ext uri="{9D8B030D-6E8A-4147-A177-3AD203B41FA5}">
                      <a16:colId xmlns:a16="http://schemas.microsoft.com/office/drawing/2014/main" val="20003"/>
                    </a:ext>
                  </a:extLst>
                </a:gridCol>
              </a:tblGrid>
              <a:tr h="243680">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92930">
                <a:tc>
                  <a:txBody>
                    <a:bodyPr/>
                    <a:lstStyle/>
                    <a:p>
                      <a:pPr algn="just"/>
                      <a:r>
                        <a:rPr lang="en-US" sz="1000" b="1" dirty="0">
                          <a:latin typeface="+mj-lt"/>
                          <a:ea typeface="Calibri" panose="020F0502020204030204" pitchFamily="34" charset="0"/>
                          <a:cs typeface="Calibri" panose="020F0502020204030204" pitchFamily="34" charset="0"/>
                        </a:rPr>
                        <a:t>Banks</a:t>
                      </a:r>
                    </a:p>
                  </a:txBody>
                  <a:tcPr marL="68580" marR="68580" marT="34290" marB="34290" anchor="ctr"/>
                </a:tc>
                <a:tc>
                  <a:txBody>
                    <a:bodyPr/>
                    <a:lstStyle/>
                    <a:p>
                      <a:pPr algn="just"/>
                      <a:r>
                        <a:rPr lang="en-US" sz="1000" dirty="0"/>
                        <a:t>Bank credit growth remained strong at 14.6% YoY (15 Mar’26), outpacing deposits at 11.1%, with broad-based demand across industry, retail, and services (Feb’26). System liquidity stays in surplus (~₹1.3 </a:t>
                      </a:r>
                      <a:r>
                        <a:rPr lang="en-US" sz="1000" dirty="0" err="1"/>
                        <a:t>tn</a:t>
                      </a:r>
                      <a:r>
                        <a:rPr lang="en-US" sz="1000" dirty="0"/>
                        <a:t>), aided by RBI OMO/VRR. Regulatory changes and rising G-Sec yields may cause short-term MTM pressures, but credit momentum, stabilizing NIMs, and limited stressed exposure support a positive sector outlook</a:t>
                      </a:r>
                      <a:endParaRPr lang="en-US" sz="1000" dirty="0">
                        <a:latin typeface="+mj-lt"/>
                      </a:endParaRPr>
                    </a:p>
                  </a:txBody>
                  <a:tcPr marL="68580" marR="68580" marT="34290" marB="34290" anchor="ctr">
                    <a:solidFill>
                      <a:schemeClr val="bg1"/>
                    </a:solidFill>
                  </a:tcPr>
                </a:tc>
                <a:tc>
                  <a:txBody>
                    <a:bodyPr/>
                    <a:lstStyle/>
                    <a:p>
                      <a:pPr algn="ctr"/>
                      <a:r>
                        <a:rPr lang="en-US" sz="1000" dirty="0">
                          <a:latin typeface="+mj-lt"/>
                        </a:rPr>
                        <a:t>Trailing P/BV near –2 SD</a:t>
                      </a:r>
                      <a:endParaRPr lang="en-US" sz="1000" b="1" dirty="0">
                        <a:solidFill>
                          <a:srgbClr val="C00000"/>
                        </a:solidFill>
                        <a:latin typeface="+mj-lt"/>
                        <a:ea typeface="Calibri" panose="020F0502020204030204" pitchFamily="34" charset="0"/>
                        <a:cs typeface="Calibri" panose="020F0502020204030204" pitchFamily="34" charset="0"/>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Stock Specific</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1110343">
                <a:tc>
                  <a:txBody>
                    <a:bodyPr/>
                    <a:lstStyle/>
                    <a:p>
                      <a:pPr algn="just"/>
                      <a:r>
                        <a:rPr lang="en-US" sz="1000" b="1" dirty="0">
                          <a:latin typeface="+mj-lt"/>
                          <a:ea typeface="Calibri" panose="020F0502020204030204" pitchFamily="34" charset="0"/>
                          <a:cs typeface="Calibri" panose="020F0502020204030204" pitchFamily="34" charset="0"/>
                        </a:rPr>
                        <a:t>Metals</a:t>
                      </a:r>
                    </a:p>
                  </a:txBody>
                  <a:tcPr marL="68580" marR="68580" marT="34290" marB="34290" anchor="ctr"/>
                </a:tc>
                <a:tc>
                  <a:txBody>
                    <a:bodyPr/>
                    <a:lstStyle/>
                    <a:p>
                      <a:r>
                        <a:rPr lang="en-US" sz="1000" dirty="0"/>
                        <a:t>Steel HRC prices rose in March 2026 on strong demand, while higher coking coal and iron ore keep raw material costs elevated. Middle East disruptions have limited impact on integrated steel players but may strain secondary producers. Aluminum nears 4 years highs due to supply constraints and smelter shutdowns, with West Asia developments remaining key for non-ferrous price trends</a:t>
                      </a:r>
                    </a:p>
                  </a:txBody>
                  <a:tcPr marL="68580" marR="68580" marT="34290" marB="34290" anchor="ctr">
                    <a:solidFill>
                      <a:schemeClr val="bg1"/>
                    </a:solidFill>
                  </a:tcPr>
                </a:tc>
                <a:tc>
                  <a:txBody>
                    <a:bodyPr/>
                    <a:lstStyle/>
                    <a:p>
                      <a:pPr algn="ctr"/>
                      <a:r>
                        <a:rPr lang="en-US" sz="1000" dirty="0">
                          <a:latin typeface="+mj-lt"/>
                        </a:rPr>
                        <a:t>Trailing P/BV ~ 5-yr &gt;+2×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Stock specific</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2"/>
                  </a:ext>
                </a:extLst>
              </a:tr>
              <a:tr h="882272">
                <a:tc>
                  <a:txBody>
                    <a:bodyPr/>
                    <a:lstStyle/>
                    <a:p>
                      <a:pPr algn="just"/>
                      <a:endParaRPr lang="en-US" sz="1000" b="1" dirty="0">
                        <a:latin typeface="+mj-lt"/>
                        <a:ea typeface="Calibri" panose="020F0502020204030204" pitchFamily="34" charset="0"/>
                        <a:cs typeface="Calibri" panose="020F0502020204030204" pitchFamily="34" charset="0"/>
                      </a:endParaRPr>
                    </a:p>
                    <a:p>
                      <a:pPr algn="just"/>
                      <a:r>
                        <a:rPr lang="en-US" sz="1000" b="1" dirty="0">
                          <a:latin typeface="+mj-lt"/>
                          <a:ea typeface="Calibri" panose="020F0502020204030204" pitchFamily="34" charset="0"/>
                          <a:cs typeface="Calibri" panose="020F0502020204030204" pitchFamily="34" charset="0"/>
                        </a:rPr>
                        <a:t>CPSE</a:t>
                      </a:r>
                    </a:p>
                  </a:txBody>
                  <a:tcPr marL="68580" marR="68580" marT="34290" marB="34290" anchor="ctr">
                    <a:solidFill>
                      <a:schemeClr val="bg1"/>
                    </a:solidFill>
                  </a:tcPr>
                </a:tc>
                <a:tc>
                  <a:txBody>
                    <a:bodyPr/>
                    <a:lstStyle/>
                    <a:p>
                      <a:r>
                        <a:rPr lang="en-US" sz="1000" dirty="0"/>
                        <a:t>Sector is supported by a strong multi-year </a:t>
                      </a:r>
                      <a:r>
                        <a:rPr lang="en-US" sz="1000" dirty="0" err="1"/>
                        <a:t>defence</a:t>
                      </a:r>
                      <a:r>
                        <a:rPr lang="en-US" sz="1000" dirty="0"/>
                        <a:t> capex cycle (~INR2.38 </a:t>
                      </a:r>
                      <a:r>
                        <a:rPr lang="en-US" sz="1000" dirty="0" err="1"/>
                        <a:t>tn</a:t>
                      </a:r>
                      <a:r>
                        <a:rPr lang="en-US" sz="1000" dirty="0"/>
                        <a:t>), driving modernization and localization across Army, Air Force, and Coast Guard platforms. The power sector faces a surge in electricity demand due to West Asia LPG disruptions, accelerating the shift to electric cooking and commercial use, stressing grids and thermal plants, while government measures aim to boost LPG production and PNG adoption</a:t>
                      </a:r>
                      <a:endParaRPr lang="en-US" sz="1000" dirty="0">
                        <a:latin typeface="+mj-lt"/>
                      </a:endParaRPr>
                    </a:p>
                  </a:txBody>
                  <a:tcPr marL="68580" marR="68580" marT="34290" marB="34290" anchor="ctr">
                    <a:solidFill>
                      <a:schemeClr val="bg1"/>
                    </a:solidFill>
                  </a:tcPr>
                </a:tc>
                <a:tc>
                  <a:txBody>
                    <a:bodyPr/>
                    <a:lstStyle/>
                    <a:p>
                      <a:pPr algn="ctr"/>
                      <a:r>
                        <a:rPr lang="en-US" sz="1000" dirty="0">
                          <a:latin typeface="+mj-lt"/>
                        </a:rPr>
                        <a:t>Trailing P/BV ~ 5-yr near +1×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96E35FC3-F6F3-A5CA-A0CF-4909705FCC3C}"/>
              </a:ext>
            </a:extLst>
          </p:cNvPr>
          <p:cNvSpPr txBox="1"/>
          <p:nvPr/>
        </p:nvSpPr>
        <p:spPr>
          <a:xfrm>
            <a:off x="720000" y="4628517"/>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0A5B8D48-E131-B36D-C6A1-1D6706BAAE44}"/>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921A29B-B5C6-2777-F6B9-A8DF5D016020}"/>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CB1AAFAC-F8A0-C057-2F06-36C5E1AE3CA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DA0DA70-F511-0EB9-C3E6-89483BAB4CDC}"/>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D68E7CDB-4B03-6B81-9182-2EC1117648C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C1062F57-F680-BDCF-E43C-721622495479}"/>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700929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2823123056"/>
              </p:ext>
            </p:extLst>
          </p:nvPr>
        </p:nvGraphicFramePr>
        <p:xfrm>
          <a:off x="720000" y="1097558"/>
          <a:ext cx="8135998" cy="3565943"/>
        </p:xfrm>
        <a:graphic>
          <a:graphicData uri="http://schemas.openxmlformats.org/drawingml/2006/table">
            <a:tbl>
              <a:tblPr firstRow="1" bandRow="1">
                <a:tableStyleId>{7E9639D4-E3E2-4D34-9284-5A2195B3D0D7}</a:tableStyleId>
              </a:tblPr>
              <a:tblGrid>
                <a:gridCol w="81488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949012">
                  <a:extLst>
                    <a:ext uri="{9D8B030D-6E8A-4147-A177-3AD203B41FA5}">
                      <a16:colId xmlns:a16="http://schemas.microsoft.com/office/drawing/2014/main" val="20003"/>
                    </a:ext>
                  </a:extLst>
                </a:gridCol>
              </a:tblGrid>
              <a:tr h="263569">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ValuationFY25</a:t>
                      </a:r>
                    </a:p>
                  </a:txBody>
                  <a:tcPr marL="68580" marR="68580" marT="34290" marB="34290" anchor="ctr">
                    <a:solidFill>
                      <a:schemeClr val="bg2"/>
                    </a:solidFill>
                  </a:tcPr>
                </a:tc>
                <a:tc>
                  <a:txBody>
                    <a:bodyPr/>
                    <a:lstStyle/>
                    <a:p>
                      <a:pPr algn="ctr"/>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IT</a:t>
                      </a:r>
                    </a:p>
                  </a:txBody>
                  <a:tcPr anchor="ctr"/>
                </a:tc>
                <a:tc>
                  <a:txBody>
                    <a:bodyPr/>
                    <a:lstStyle/>
                    <a:p>
                      <a:r>
                        <a:rPr lang="en-US" sz="1000" dirty="0"/>
                        <a:t>Indian IT companies are leveraging AI partnerships to position themselves as transformation leaders. Despite a sharp valuation correction due to AI disruption fears, strong deal pipelines and steady demand support medium-term optimism. Near-term growth may be muted, with Tier-2 firms outperforming, benefiting from INR depreciation and stable margins amid ongoing uncertainties</a:t>
                      </a:r>
                    </a:p>
                  </a:txBody>
                  <a:tcPr anchor="ctr"/>
                </a:tc>
                <a:tc>
                  <a:txBody>
                    <a:bodyPr/>
                    <a:lstStyle/>
                    <a:p>
                      <a:pPr algn="ctr"/>
                      <a:r>
                        <a:rPr lang="en-US" sz="1000" dirty="0">
                          <a:latin typeface="+mj-lt"/>
                        </a:rPr>
                        <a:t>Trailing P/BV below -2 SD</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bg1"/>
                    </a:solidFill>
                  </a:tcP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Stock Specific</a:t>
                      </a:r>
                    </a:p>
                  </a:txBody>
                  <a:tcPr anchor="ctr">
                    <a:solidFill>
                      <a:schemeClr val="accent2"/>
                    </a:solidFill>
                  </a:tcPr>
                </a:tc>
                <a:extLst>
                  <a:ext uri="{0D108BD9-81ED-4DB2-BD59-A6C34878D82A}">
                    <a16:rowId xmlns:a16="http://schemas.microsoft.com/office/drawing/2014/main" val="10001"/>
                  </a:ext>
                </a:extLst>
              </a:tr>
              <a:tr h="952263">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Pharma</a:t>
                      </a:r>
                    </a:p>
                  </a:txBody>
                  <a:tcPr anchor="ctr"/>
                </a:tc>
                <a:tc>
                  <a:txBody>
                    <a:bodyPr/>
                    <a:lstStyle/>
                    <a:p>
                      <a:pPr algn="just"/>
                      <a:r>
                        <a:rPr lang="en-US" sz="1000" dirty="0"/>
                        <a:t>A major recent development in the Indian healthcare space has been the surge in generic launches of Semaglutide following the patent expiry of Novo Nordisk in March 2026. The entry of multiple domestic players at sharply lower price points is expected to significantly broaden access and expand the market opportunity. The imaging segment faces emerging headwinds due to geopolitical tensions, as disruptions in West Asia have constrained helium supply, which is an essential input for MRI operations</a:t>
                      </a:r>
                      <a:endParaRPr lang="en-US" sz="1000" strike="sngStrike" dirty="0">
                        <a:highlight>
                          <a:srgbClr val="00FFFF"/>
                        </a:highlight>
                        <a:latin typeface="+mj-lt"/>
                      </a:endParaRPr>
                    </a:p>
                  </a:txBody>
                  <a:tcPr anchor="ctr"/>
                </a:tc>
                <a:tc>
                  <a:txBody>
                    <a:bodyPr/>
                    <a:lstStyle/>
                    <a:p>
                      <a:pPr algn="ctr"/>
                      <a:r>
                        <a:rPr lang="en-US" sz="1000" dirty="0">
                          <a:latin typeface="+mj-lt"/>
                        </a:rPr>
                        <a:t>Trailing P/BV near +1 SD</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10002"/>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Chemicals</a:t>
                      </a:r>
                    </a:p>
                  </a:txBody>
                  <a:tcPr anchor="ctr"/>
                </a:tc>
                <a:tc>
                  <a:txBody>
                    <a:bodyPr/>
                    <a:lstStyle/>
                    <a:p>
                      <a:pPr lvl="0" algn="just"/>
                      <a:r>
                        <a:rPr lang="en-US" sz="1000" dirty="0"/>
                        <a:t>India’s chemicals industry is projected to reach USD 230–255bn by 2030, driven by high-growth segments such as EVs, semiconductors, renewables, and aerospace. In 2026, the sector faces weak demand, inventory destocking, and global oversupply from China, putting pressure on margins and resulting in a bearish near-term outlook</a:t>
                      </a:r>
                      <a:endParaRPr lang="en-US" sz="1000" b="0" i="0" u="none" strike="noStrike" cap="none" dirty="0">
                        <a:solidFill>
                          <a:schemeClr val="tx1"/>
                        </a:solidFill>
                        <a:effectLst/>
                        <a:latin typeface="+mj-lt"/>
                        <a:ea typeface="+mn-ea"/>
                        <a:cs typeface="+mn-cs"/>
                        <a:sym typeface="Arial"/>
                      </a:endParaRPr>
                    </a:p>
                  </a:txBody>
                  <a:tcPr anchor="ct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Trailing P/BV fairly valued</a:t>
                      </a:r>
                    </a:p>
                  </a:txBody>
                  <a:tcPr anchor="ctr">
                    <a:solidFill>
                      <a:schemeClr val="accent2"/>
                    </a:solidFill>
                  </a:tcPr>
                </a:tc>
                <a:tc>
                  <a:txBody>
                    <a:bodyPr/>
                    <a:lstStyle/>
                    <a:p>
                      <a:pPr algn="ctr"/>
                      <a:r>
                        <a:rPr lang="en-US" sz="1000" b="0" baseline="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658AECD7-5B33-92C3-16C1-1331BC9AFC75}"/>
              </a:ext>
            </a:extLst>
          </p:cNvPr>
          <p:cNvSpPr txBox="1"/>
          <p:nvPr/>
        </p:nvSpPr>
        <p:spPr>
          <a:xfrm>
            <a:off x="817758" y="4641031"/>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8B58B6AD-48AE-F694-D4B3-FD71722A2758}"/>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FB472E2-4F1F-82B1-A7AE-E42887406DF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7E92677-0F6B-53D7-F269-7E763379BE93}"/>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7BFA5D9D-4D1C-6AC2-D718-FDC936FF59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3DF62E22-3CBD-7B2D-6171-36453BFF56B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428A1629-1457-9103-A63C-1A7FADEF5CE0}"/>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67294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46101" y="368375"/>
            <a:ext cx="5695520"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 FIIs selling spikes in Mar-26</a:t>
            </a:r>
            <a:endParaRPr lang="en-US" sz="2800"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4278086" y="4450965"/>
            <a:ext cx="4774913"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Moneycontrol.com</a:t>
            </a:r>
          </a:p>
          <a:p>
            <a:pPr algn="r"/>
            <a:r>
              <a:rPr lang="en-IN" sz="800" dirty="0">
                <a:latin typeface="Calibri" panose="020F0502020204030204" pitchFamily="34" charset="0"/>
                <a:ea typeface="Calibri" panose="020F0502020204030204" pitchFamily="34" charset="0"/>
                <a:cs typeface="Calibri" panose="020F0502020204030204" pitchFamily="34" charset="0"/>
              </a:rPr>
              <a:t>FII data as on 25</a:t>
            </a:r>
            <a:r>
              <a:rPr lang="en-IN" sz="800" baseline="30000" dirty="0">
                <a:latin typeface="Calibri" panose="020F0502020204030204" pitchFamily="34" charset="0"/>
                <a:ea typeface="Calibri" panose="020F0502020204030204" pitchFamily="34" charset="0"/>
                <a:cs typeface="Calibri" panose="020F0502020204030204" pitchFamily="34" charset="0"/>
              </a:rPr>
              <a:t>th</a:t>
            </a:r>
            <a:r>
              <a:rPr lang="en-IN" sz="800" dirty="0">
                <a:latin typeface="Calibri" panose="020F0502020204030204" pitchFamily="34" charset="0"/>
                <a:ea typeface="Calibri" panose="020F0502020204030204" pitchFamily="34" charset="0"/>
                <a:cs typeface="Calibri" panose="020F0502020204030204" pitchFamily="34" charset="0"/>
              </a:rPr>
              <a:t> Mar-26 &amp;DII data as on 20</a:t>
            </a:r>
            <a:r>
              <a:rPr lang="en-IN" sz="800" baseline="30000" dirty="0">
                <a:latin typeface="Calibri" panose="020F0502020204030204" pitchFamily="34" charset="0"/>
                <a:ea typeface="Calibri" panose="020F0502020204030204" pitchFamily="34" charset="0"/>
                <a:cs typeface="Calibri" panose="020F0502020204030204" pitchFamily="34" charset="0"/>
              </a:rPr>
              <a:t>th</a:t>
            </a:r>
            <a:r>
              <a:rPr lang="en-IN" sz="800" dirty="0">
                <a:latin typeface="Calibri" panose="020F0502020204030204" pitchFamily="34" charset="0"/>
                <a:ea typeface="Calibri" panose="020F0502020204030204" pitchFamily="34" charset="0"/>
                <a:cs typeface="Calibri" panose="020F0502020204030204" pitchFamily="34" charset="0"/>
              </a:rPr>
              <a:t> Mar-26  </a:t>
            </a:r>
          </a:p>
        </p:txBody>
      </p:sp>
      <p:sp>
        <p:nvSpPr>
          <p:cNvPr id="4" name="TextBox 3">
            <a:extLst>
              <a:ext uri="{FF2B5EF4-FFF2-40B4-BE49-F238E27FC236}">
                <a16:creationId xmlns:a16="http://schemas.microsoft.com/office/drawing/2014/main" id="{3293F608-2FB5-A8D2-B31B-85998ABE1CD6}"/>
              </a:ext>
            </a:extLst>
          </p:cNvPr>
          <p:cNvSpPr txBox="1"/>
          <p:nvPr/>
        </p:nvSpPr>
        <p:spPr>
          <a:xfrm>
            <a:off x="2836037" y="4017010"/>
            <a:ext cx="3749819" cy="261610"/>
          </a:xfrm>
          <a:prstGeom prst="rect">
            <a:avLst/>
          </a:prstGeom>
          <a:noFill/>
          <a:ln w="6350">
            <a:solidFill>
              <a:schemeClr val="tx1"/>
            </a:solidFill>
          </a:ln>
        </p:spPr>
        <p:txBody>
          <a:bodyPr wrap="square">
            <a:spAutoFit/>
          </a:bodyPr>
          <a:lstStyle/>
          <a:p>
            <a:r>
              <a:rPr lang="en-US" sz="1100" dirty="0"/>
              <a:t>DIIs continued to offset heavy FII selling in March 2026</a:t>
            </a:r>
            <a:endParaRPr lang="en-US" sz="1100" dirty="0">
              <a:latin typeface="+mj-lt"/>
            </a:endParaRPr>
          </a:p>
        </p:txBody>
      </p:sp>
      <p:grpSp>
        <p:nvGrpSpPr>
          <p:cNvPr id="5" name="Google Shape;262;p6">
            <a:extLst>
              <a:ext uri="{FF2B5EF4-FFF2-40B4-BE49-F238E27FC236}">
                <a16:creationId xmlns:a16="http://schemas.microsoft.com/office/drawing/2014/main" id="{00316FCA-DF16-BEAF-DC0D-7A08823A80FF}"/>
              </a:ext>
            </a:extLst>
          </p:cNvPr>
          <p:cNvGrpSpPr/>
          <p:nvPr/>
        </p:nvGrpSpPr>
        <p:grpSpPr>
          <a:xfrm>
            <a:off x="-25" y="4872600"/>
            <a:ext cx="9144000" cy="270900"/>
            <a:chOff x="-25" y="4872600"/>
            <a:chExt cx="9144000" cy="270900"/>
          </a:xfrm>
        </p:grpSpPr>
        <p:sp>
          <p:nvSpPr>
            <p:cNvPr id="6" name="Google Shape;263;p6">
              <a:extLst>
                <a:ext uri="{FF2B5EF4-FFF2-40B4-BE49-F238E27FC236}">
                  <a16:creationId xmlns:a16="http://schemas.microsoft.com/office/drawing/2014/main" id="{9C4F68EB-969C-2C44-DB82-470BED496D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7" name="Google Shape;264;p6">
              <a:extLst>
                <a:ext uri="{FF2B5EF4-FFF2-40B4-BE49-F238E27FC236}">
                  <a16:creationId xmlns:a16="http://schemas.microsoft.com/office/drawing/2014/main" id="{BAC8779C-694B-C91F-BF50-7E2C68CA5E21}"/>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97695A90-D7E7-F1CB-78EC-DA38093850E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13CAEA80-D5A2-55B1-50A1-BD97D196785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C5C31158-9C92-9418-16F6-C81518685E6F}"/>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2" name="Chart 1">
            <a:extLst>
              <a:ext uri="{FF2B5EF4-FFF2-40B4-BE49-F238E27FC236}">
                <a16:creationId xmlns:a16="http://schemas.microsoft.com/office/drawing/2014/main" id="{9B6E021B-7B91-4F6F-9281-EAA1EF796A4C}"/>
              </a:ext>
            </a:extLst>
          </p:cNvPr>
          <p:cNvGraphicFramePr/>
          <p:nvPr>
            <p:extLst>
              <p:ext uri="{D42A27DB-BD31-4B8C-83A1-F6EECF244321}">
                <p14:modId xmlns:p14="http://schemas.microsoft.com/office/powerpoint/2010/main" val="1867163837"/>
              </p:ext>
            </p:extLst>
          </p:nvPr>
        </p:nvGraphicFramePr>
        <p:xfrm>
          <a:off x="577251" y="1073581"/>
          <a:ext cx="7241801" cy="270144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95810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dirty="0">
                <a:latin typeface="Calibri" panose="020F0502020204030204" pitchFamily="34" charset="0"/>
                <a:ea typeface="Calibri" panose="020F0502020204030204" pitchFamily="34" charset="0"/>
                <a:cs typeface="Calibri" panose="020F0502020204030204" pitchFamily="34" charset="0"/>
              </a:rPr>
              <a:t>Global Update</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 name="Google Shape;832;p36">
            <a:extLst>
              <a:ext uri="{FF2B5EF4-FFF2-40B4-BE49-F238E27FC236}">
                <a16:creationId xmlns:a16="http://schemas.microsoft.com/office/drawing/2014/main" id="{C6FC1D95-C845-4365-831D-DAEB2F513E48}"/>
              </a:ext>
            </a:extLst>
          </p:cNvPr>
          <p:cNvSpPr/>
          <p:nvPr/>
        </p:nvSpPr>
        <p:spPr>
          <a:xfrm>
            <a:off x="970666" y="1969281"/>
            <a:ext cx="871576" cy="995792"/>
          </a:xfrm>
          <a:custGeom>
            <a:avLst/>
            <a:gdLst/>
            <a:ahLst/>
            <a:cxnLst/>
            <a:rect l="l" t="t" r="r" b="b"/>
            <a:pathLst>
              <a:path w="10740" h="12240" extrusionOk="0">
                <a:moveTo>
                  <a:pt x="5441" y="714"/>
                </a:moveTo>
                <a:cubicBezTo>
                  <a:pt x="5310" y="714"/>
                  <a:pt x="5049" y="1084"/>
                  <a:pt x="4882" y="1786"/>
                </a:cubicBezTo>
                <a:lnTo>
                  <a:pt x="6013" y="1786"/>
                </a:lnTo>
                <a:cubicBezTo>
                  <a:pt x="5834" y="1084"/>
                  <a:pt x="5584" y="714"/>
                  <a:pt x="5441" y="714"/>
                </a:cubicBezTo>
                <a:close/>
                <a:moveTo>
                  <a:pt x="5441" y="0"/>
                </a:moveTo>
                <a:cubicBezTo>
                  <a:pt x="4179" y="0"/>
                  <a:pt x="3096" y="750"/>
                  <a:pt x="2560" y="1798"/>
                </a:cubicBezTo>
                <a:lnTo>
                  <a:pt x="4156" y="1798"/>
                </a:lnTo>
                <a:cubicBezTo>
                  <a:pt x="4358" y="774"/>
                  <a:pt x="4787" y="0"/>
                  <a:pt x="5441" y="0"/>
                </a:cubicBezTo>
                <a:close/>
                <a:moveTo>
                  <a:pt x="5441" y="0"/>
                </a:moveTo>
                <a:cubicBezTo>
                  <a:pt x="6096" y="0"/>
                  <a:pt x="6537" y="774"/>
                  <a:pt x="6739" y="1798"/>
                </a:cubicBezTo>
                <a:lnTo>
                  <a:pt x="8335" y="1798"/>
                </a:lnTo>
                <a:cubicBezTo>
                  <a:pt x="7799" y="750"/>
                  <a:pt x="6715" y="0"/>
                  <a:pt x="5441" y="0"/>
                </a:cubicBezTo>
                <a:close/>
                <a:moveTo>
                  <a:pt x="2286" y="2512"/>
                </a:moveTo>
                <a:cubicBezTo>
                  <a:pt x="2227" y="2750"/>
                  <a:pt x="2203" y="2989"/>
                  <a:pt x="2203" y="3227"/>
                </a:cubicBezTo>
                <a:cubicBezTo>
                  <a:pt x="2203" y="3489"/>
                  <a:pt x="2227" y="3727"/>
                  <a:pt x="2286" y="3941"/>
                </a:cubicBezTo>
                <a:lnTo>
                  <a:pt x="4036" y="3941"/>
                </a:lnTo>
                <a:cubicBezTo>
                  <a:pt x="4013" y="3703"/>
                  <a:pt x="4001" y="3465"/>
                  <a:pt x="4001" y="3227"/>
                </a:cubicBezTo>
                <a:cubicBezTo>
                  <a:pt x="4001" y="2989"/>
                  <a:pt x="4013" y="2750"/>
                  <a:pt x="4036" y="2512"/>
                </a:cubicBezTo>
                <a:close/>
                <a:moveTo>
                  <a:pt x="4763" y="2512"/>
                </a:moveTo>
                <a:cubicBezTo>
                  <a:pt x="4727" y="2738"/>
                  <a:pt x="4715" y="2977"/>
                  <a:pt x="4715" y="3227"/>
                </a:cubicBezTo>
                <a:cubicBezTo>
                  <a:pt x="4715" y="3500"/>
                  <a:pt x="4727" y="3727"/>
                  <a:pt x="4763" y="3941"/>
                </a:cubicBezTo>
                <a:lnTo>
                  <a:pt x="6108" y="3941"/>
                </a:lnTo>
                <a:cubicBezTo>
                  <a:pt x="6144" y="3727"/>
                  <a:pt x="6156" y="3489"/>
                  <a:pt x="6156" y="3227"/>
                </a:cubicBezTo>
                <a:cubicBezTo>
                  <a:pt x="6156" y="2965"/>
                  <a:pt x="6144" y="2738"/>
                  <a:pt x="6108" y="2512"/>
                </a:cubicBezTo>
                <a:close/>
                <a:moveTo>
                  <a:pt x="6846" y="2512"/>
                </a:moveTo>
                <a:cubicBezTo>
                  <a:pt x="6858" y="2750"/>
                  <a:pt x="6870" y="2989"/>
                  <a:pt x="6870" y="3227"/>
                </a:cubicBezTo>
                <a:cubicBezTo>
                  <a:pt x="6870" y="3465"/>
                  <a:pt x="6858" y="3703"/>
                  <a:pt x="6846" y="3941"/>
                </a:cubicBezTo>
                <a:lnTo>
                  <a:pt x="8585" y="3941"/>
                </a:lnTo>
                <a:cubicBezTo>
                  <a:pt x="8644" y="3703"/>
                  <a:pt x="8680" y="3465"/>
                  <a:pt x="8680" y="3227"/>
                </a:cubicBezTo>
                <a:cubicBezTo>
                  <a:pt x="8680" y="2977"/>
                  <a:pt x="8644" y="2738"/>
                  <a:pt x="8585" y="2512"/>
                </a:cubicBezTo>
                <a:close/>
                <a:moveTo>
                  <a:pt x="4882" y="4679"/>
                </a:moveTo>
                <a:cubicBezTo>
                  <a:pt x="5049" y="5370"/>
                  <a:pt x="5310" y="5751"/>
                  <a:pt x="5441" y="5751"/>
                </a:cubicBezTo>
                <a:cubicBezTo>
                  <a:pt x="5584" y="5751"/>
                  <a:pt x="5846" y="5370"/>
                  <a:pt x="6013" y="4679"/>
                </a:cubicBezTo>
                <a:close/>
                <a:moveTo>
                  <a:pt x="2560" y="4679"/>
                </a:moveTo>
                <a:cubicBezTo>
                  <a:pt x="3095" y="5725"/>
                  <a:pt x="4175" y="6474"/>
                  <a:pt x="5434" y="6477"/>
                </a:cubicBezTo>
                <a:lnTo>
                  <a:pt x="5434" y="6477"/>
                </a:lnTo>
                <a:cubicBezTo>
                  <a:pt x="5432" y="6477"/>
                  <a:pt x="5431" y="6477"/>
                  <a:pt x="5430" y="6477"/>
                </a:cubicBezTo>
                <a:cubicBezTo>
                  <a:pt x="5432" y="6477"/>
                  <a:pt x="5434" y="6477"/>
                  <a:pt x="5436" y="6477"/>
                </a:cubicBezTo>
                <a:lnTo>
                  <a:pt x="5436" y="6477"/>
                </a:lnTo>
                <a:cubicBezTo>
                  <a:pt x="5437" y="6477"/>
                  <a:pt x="5439" y="6477"/>
                  <a:pt x="5441" y="6477"/>
                </a:cubicBezTo>
                <a:cubicBezTo>
                  <a:pt x="5440" y="6477"/>
                  <a:pt x="5439" y="6477"/>
                  <a:pt x="5437" y="6477"/>
                </a:cubicBezTo>
                <a:lnTo>
                  <a:pt x="5437" y="6477"/>
                </a:lnTo>
                <a:cubicBezTo>
                  <a:pt x="6720" y="6474"/>
                  <a:pt x="7800" y="5725"/>
                  <a:pt x="8323" y="4679"/>
                </a:cubicBezTo>
                <a:lnTo>
                  <a:pt x="6727" y="4679"/>
                </a:lnTo>
                <a:cubicBezTo>
                  <a:pt x="6514" y="5688"/>
                  <a:pt x="6087" y="6472"/>
                  <a:pt x="5435" y="6477"/>
                </a:cubicBezTo>
                <a:lnTo>
                  <a:pt x="5435" y="6477"/>
                </a:lnTo>
                <a:cubicBezTo>
                  <a:pt x="4784" y="6472"/>
                  <a:pt x="4357" y="5688"/>
                  <a:pt x="4156" y="4679"/>
                </a:cubicBezTo>
                <a:close/>
                <a:moveTo>
                  <a:pt x="10371" y="5763"/>
                </a:moveTo>
                <a:cubicBezTo>
                  <a:pt x="9728" y="5763"/>
                  <a:pt x="9156" y="6120"/>
                  <a:pt x="8870" y="6668"/>
                </a:cubicBezTo>
                <a:lnTo>
                  <a:pt x="7763" y="8763"/>
                </a:lnTo>
                <a:cubicBezTo>
                  <a:pt x="7573" y="9120"/>
                  <a:pt x="7215" y="9346"/>
                  <a:pt x="6811" y="9346"/>
                </a:cubicBezTo>
                <a:lnTo>
                  <a:pt x="4370" y="9346"/>
                </a:lnTo>
                <a:cubicBezTo>
                  <a:pt x="4179" y="9346"/>
                  <a:pt x="4013" y="9180"/>
                  <a:pt x="4013" y="8989"/>
                </a:cubicBezTo>
                <a:cubicBezTo>
                  <a:pt x="4013" y="8799"/>
                  <a:pt x="4179" y="8632"/>
                  <a:pt x="4370" y="8632"/>
                </a:cubicBezTo>
                <a:lnTo>
                  <a:pt x="6811" y="8632"/>
                </a:lnTo>
                <a:cubicBezTo>
                  <a:pt x="6954" y="8632"/>
                  <a:pt x="7073" y="8561"/>
                  <a:pt x="7132" y="8442"/>
                </a:cubicBezTo>
                <a:cubicBezTo>
                  <a:pt x="7192" y="8322"/>
                  <a:pt x="7382" y="7965"/>
                  <a:pt x="7549" y="7656"/>
                </a:cubicBezTo>
                <a:cubicBezTo>
                  <a:pt x="7585" y="7549"/>
                  <a:pt x="7585" y="7441"/>
                  <a:pt x="7525" y="7334"/>
                </a:cubicBezTo>
                <a:cubicBezTo>
                  <a:pt x="7465" y="7251"/>
                  <a:pt x="7370" y="7191"/>
                  <a:pt x="7263" y="7191"/>
                </a:cubicBezTo>
                <a:lnTo>
                  <a:pt x="3525" y="7191"/>
                </a:lnTo>
                <a:cubicBezTo>
                  <a:pt x="3048" y="7191"/>
                  <a:pt x="2584" y="7382"/>
                  <a:pt x="2262" y="7715"/>
                </a:cubicBezTo>
                <a:lnTo>
                  <a:pt x="131" y="9835"/>
                </a:lnTo>
                <a:cubicBezTo>
                  <a:pt x="0" y="9977"/>
                  <a:pt x="0" y="10216"/>
                  <a:pt x="131" y="10347"/>
                </a:cubicBezTo>
                <a:lnTo>
                  <a:pt x="1929" y="12132"/>
                </a:lnTo>
                <a:cubicBezTo>
                  <a:pt x="2012" y="12204"/>
                  <a:pt x="2096" y="12240"/>
                  <a:pt x="2191" y="12240"/>
                </a:cubicBezTo>
                <a:cubicBezTo>
                  <a:pt x="2274" y="12240"/>
                  <a:pt x="2370" y="12204"/>
                  <a:pt x="2441" y="12132"/>
                </a:cubicBezTo>
                <a:lnTo>
                  <a:pt x="3810" y="10775"/>
                </a:lnTo>
                <a:lnTo>
                  <a:pt x="6811" y="10775"/>
                </a:lnTo>
                <a:cubicBezTo>
                  <a:pt x="7751" y="10775"/>
                  <a:pt x="8597" y="10251"/>
                  <a:pt x="9049" y="9418"/>
                </a:cubicBezTo>
                <a:lnTo>
                  <a:pt x="10704" y="6263"/>
                </a:lnTo>
                <a:cubicBezTo>
                  <a:pt x="10740" y="6191"/>
                  <a:pt x="10740" y="6060"/>
                  <a:pt x="10680" y="5941"/>
                </a:cubicBezTo>
                <a:cubicBezTo>
                  <a:pt x="10621" y="5834"/>
                  <a:pt x="10502" y="5763"/>
                  <a:pt x="10371" y="5763"/>
                </a:cubicBezTo>
                <a:close/>
              </a:path>
            </a:pathLst>
          </a:custGeom>
          <a:solidFill>
            <a:schemeClr val="bg1">
              <a:lumMod val="50000"/>
            </a:schemeClr>
          </a:solidFill>
          <a:ln>
            <a:solidFill>
              <a:schemeClr val="tx1"/>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2" name="Google Shape;262;p6">
            <a:extLst>
              <a:ext uri="{FF2B5EF4-FFF2-40B4-BE49-F238E27FC236}">
                <a16:creationId xmlns:a16="http://schemas.microsoft.com/office/drawing/2014/main" id="{A8210EAB-1BAD-FD0D-1549-FDBDCEB34D73}"/>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DD922339-7516-0B5B-764B-516D99285EC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59AB65E3-7A91-632A-FFFB-8A1B8383B9DD}"/>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68CE6D3B-D5E7-BE28-45B1-9638458FEEB4}"/>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4F09A209-FCF8-1A23-D957-DB01C0CDD26E}"/>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BE055D3A-3F88-3183-4D4D-C38DD54ADAD5}"/>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20" name="Picture 19">
            <a:extLst>
              <a:ext uri="{FF2B5EF4-FFF2-40B4-BE49-F238E27FC236}">
                <a16:creationId xmlns:a16="http://schemas.microsoft.com/office/drawing/2014/main" id="{4D86A519-690E-3F17-D943-84B90C539452}"/>
              </a:ext>
            </a:extLst>
          </p:cNvPr>
          <p:cNvPicPr>
            <a:picLocks noChangeAspect="1"/>
          </p:cNvPicPr>
          <p:nvPr/>
        </p:nvPicPr>
        <p:blipFill>
          <a:blip r:embed="rId3"/>
          <a:stretch>
            <a:fillRect/>
          </a:stretch>
        </p:blipFill>
        <p:spPr>
          <a:xfrm>
            <a:off x="4895898" y="2991358"/>
            <a:ext cx="3497168" cy="1417320"/>
          </a:xfrm>
          <a:prstGeom prst="rect">
            <a:avLst/>
          </a:prstGeom>
          <a:ln>
            <a:solidFill>
              <a:schemeClr val="tx1"/>
            </a:solidFill>
          </a:ln>
        </p:spPr>
      </p:pic>
      <p:pic>
        <p:nvPicPr>
          <p:cNvPr id="16" name="Picture 15">
            <a:extLst>
              <a:ext uri="{FF2B5EF4-FFF2-40B4-BE49-F238E27FC236}">
                <a16:creationId xmlns:a16="http://schemas.microsoft.com/office/drawing/2014/main" id="{74BE4CE5-32CE-EE61-B87B-5C6271DA6C29}"/>
              </a:ext>
            </a:extLst>
          </p:cNvPr>
          <p:cNvPicPr>
            <a:picLocks noChangeAspect="1"/>
          </p:cNvPicPr>
          <p:nvPr/>
        </p:nvPicPr>
        <p:blipFill>
          <a:blip r:embed="rId4"/>
          <a:stretch>
            <a:fillRect/>
          </a:stretch>
        </p:blipFill>
        <p:spPr>
          <a:xfrm>
            <a:off x="787375" y="2991358"/>
            <a:ext cx="3474720" cy="1466488"/>
          </a:xfrm>
          <a:prstGeom prst="rect">
            <a:avLst/>
          </a:prstGeom>
          <a:ln>
            <a:solidFill>
              <a:schemeClr val="tx1"/>
            </a:solidFill>
          </a:ln>
        </p:spPr>
      </p:pic>
      <p:pic>
        <p:nvPicPr>
          <p:cNvPr id="12" name="Picture 11">
            <a:extLst>
              <a:ext uri="{FF2B5EF4-FFF2-40B4-BE49-F238E27FC236}">
                <a16:creationId xmlns:a16="http://schemas.microsoft.com/office/drawing/2014/main" id="{35354660-43A8-C95F-18AB-16650FC01B00}"/>
              </a:ext>
            </a:extLst>
          </p:cNvPr>
          <p:cNvPicPr>
            <a:picLocks noChangeAspect="1"/>
          </p:cNvPicPr>
          <p:nvPr/>
        </p:nvPicPr>
        <p:blipFill>
          <a:blip r:embed="rId5"/>
          <a:stretch>
            <a:fillRect/>
          </a:stretch>
        </p:blipFill>
        <p:spPr>
          <a:xfrm>
            <a:off x="4895898" y="1330794"/>
            <a:ext cx="3474720" cy="1309379"/>
          </a:xfrm>
          <a:prstGeom prst="rect">
            <a:avLst/>
          </a:prstGeom>
          <a:ln>
            <a:solidFill>
              <a:schemeClr val="tx1"/>
            </a:solidFill>
          </a:ln>
        </p:spPr>
      </p:pic>
      <p:pic>
        <p:nvPicPr>
          <p:cNvPr id="6" name="Picture 5">
            <a:extLst>
              <a:ext uri="{FF2B5EF4-FFF2-40B4-BE49-F238E27FC236}">
                <a16:creationId xmlns:a16="http://schemas.microsoft.com/office/drawing/2014/main" id="{70CE1A8F-17A8-8B4A-BE5B-D756C68CEE7E}"/>
              </a:ext>
            </a:extLst>
          </p:cNvPr>
          <p:cNvPicPr>
            <a:picLocks noChangeAspect="1"/>
          </p:cNvPicPr>
          <p:nvPr/>
        </p:nvPicPr>
        <p:blipFill>
          <a:blip r:embed="rId6"/>
          <a:stretch>
            <a:fillRect/>
          </a:stretch>
        </p:blipFill>
        <p:spPr>
          <a:xfrm>
            <a:off x="797133" y="1330795"/>
            <a:ext cx="3474720" cy="1417320"/>
          </a:xfrm>
          <a:prstGeom prst="rect">
            <a:avLst/>
          </a:prstGeom>
          <a:ln>
            <a:solidFill>
              <a:schemeClr val="tx1"/>
            </a:solidFill>
          </a:ln>
        </p:spPr>
      </p:pic>
      <p:sp>
        <p:nvSpPr>
          <p:cNvPr id="301" name="Google Shape;301;p7"/>
          <p:cNvSpPr txBox="1">
            <a:spLocks noGrp="1"/>
          </p:cNvSpPr>
          <p:nvPr>
            <p:ph type="title"/>
          </p:nvPr>
        </p:nvSpPr>
        <p:spPr>
          <a:xfrm>
            <a:off x="719998" y="445025"/>
            <a:ext cx="6176988"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interest rate unchanged  </a:t>
            </a:r>
            <a:endParaRPr lang="en-US" sz="2000" strike="sngStrike"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3676327" y="4667120"/>
            <a:ext cx="5376672" cy="21544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27" name="TextBox 26">
            <a:extLst>
              <a:ext uri="{FF2B5EF4-FFF2-40B4-BE49-F238E27FC236}">
                <a16:creationId xmlns:a16="http://schemas.microsoft.com/office/drawing/2014/main" id="{0D8054E3-F992-4297-88FD-1A681AC62156}"/>
              </a:ext>
            </a:extLst>
          </p:cNvPr>
          <p:cNvSpPr txBox="1"/>
          <p:nvPr/>
        </p:nvSpPr>
        <p:spPr>
          <a:xfrm>
            <a:off x="2550990" y="2960318"/>
            <a:ext cx="1724722" cy="253916"/>
          </a:xfrm>
          <a:prstGeom prst="rect">
            <a:avLst/>
          </a:prstGeom>
          <a:noFill/>
        </p:spPr>
        <p:txBody>
          <a:bodyPr wrap="square" rtlCol="0">
            <a:spAutoFit/>
          </a:bodyP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EU (unchanged in Mar-26</a:t>
            </a:r>
            <a:r>
              <a:rPr lang="en-US" sz="1000" b="1" dirty="0">
                <a:solidFill>
                  <a:srgbClr val="333333"/>
                </a:solidFill>
                <a:latin typeface="Calibri" panose="020F0502020204030204" pitchFamily="34" charset="0"/>
                <a:ea typeface="Calibri" panose="020F0502020204030204" pitchFamily="34" charset="0"/>
                <a:cs typeface="Calibri" panose="020F0502020204030204" pitchFamily="34" charset="0"/>
              </a:rPr>
              <a:t>)</a:t>
            </a:r>
          </a:p>
        </p:txBody>
      </p:sp>
      <p:sp>
        <p:nvSpPr>
          <p:cNvPr id="28" name="TextBox 27">
            <a:extLst>
              <a:ext uri="{FF2B5EF4-FFF2-40B4-BE49-F238E27FC236}">
                <a16:creationId xmlns:a16="http://schemas.microsoft.com/office/drawing/2014/main" id="{9EEB858C-5D1D-4461-9F03-30C41ED8F14B}"/>
              </a:ext>
            </a:extLst>
          </p:cNvPr>
          <p:cNvSpPr txBox="1"/>
          <p:nvPr/>
        </p:nvSpPr>
        <p:spPr>
          <a:xfrm>
            <a:off x="2524735" y="1333234"/>
            <a:ext cx="20462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U.S.  </a:t>
            </a:r>
            <a:r>
              <a:rPr lang="en-US" sz="1000" b="1" dirty="0">
                <a:latin typeface="+mn-lt"/>
              </a:rPr>
              <a:t>(unchanged in Mar-26)</a:t>
            </a:r>
            <a:r>
              <a:rPr lang="en-US" sz="1000" b="1" dirty="0">
                <a:solidFill>
                  <a:schemeClr val="tx1"/>
                </a:solidFill>
                <a:latin typeface="+mn-lt"/>
                <a:ea typeface="Calibri" panose="020F0502020204030204" pitchFamily="34" charset="0"/>
                <a:cs typeface="Calibri" panose="020F0502020204030204" pitchFamily="34" charset="0"/>
              </a:rPr>
              <a:t> </a:t>
            </a:r>
            <a:endParaRPr lang="en-US" sz="1050" b="1" dirty="0">
              <a:latin typeface="+mn-lt"/>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4F2B919B-7549-4791-BD51-7BD8FDC7F6AB}"/>
              </a:ext>
            </a:extLst>
          </p:cNvPr>
          <p:cNvSpPr txBox="1"/>
          <p:nvPr/>
        </p:nvSpPr>
        <p:spPr>
          <a:xfrm>
            <a:off x="6705599" y="1321048"/>
            <a:ext cx="18288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UK </a:t>
            </a:r>
            <a:r>
              <a:rPr lang="en-US" sz="1000" b="1" dirty="0">
                <a:latin typeface="+mn-lt"/>
              </a:rPr>
              <a:t>(unchanged in Mar-26)</a:t>
            </a:r>
            <a:r>
              <a:rPr lang="en-US" sz="1000" b="1" dirty="0">
                <a:solidFill>
                  <a:schemeClr val="tx1"/>
                </a:solidFill>
                <a:latin typeface="+mn-lt"/>
                <a:ea typeface="Calibri" panose="020F0502020204030204" pitchFamily="34" charset="0"/>
                <a:cs typeface="Calibri" panose="020F0502020204030204" pitchFamily="34" charset="0"/>
              </a:rPr>
              <a:t> </a:t>
            </a:r>
            <a:endParaRPr lang="en-US" sz="1200" b="1" dirty="0">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A4F1FC91-F756-4F7F-934C-E3E5EBF99D41}"/>
              </a:ext>
            </a:extLst>
          </p:cNvPr>
          <p:cNvSpPr txBox="1"/>
          <p:nvPr/>
        </p:nvSpPr>
        <p:spPr>
          <a:xfrm>
            <a:off x="4895898" y="2971385"/>
            <a:ext cx="18097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Japan </a:t>
            </a:r>
            <a:r>
              <a:rPr lang="en-US" sz="1000" b="1" dirty="0">
                <a:latin typeface="+mn-lt"/>
              </a:rPr>
              <a:t>(unchanged in Mar-26)</a:t>
            </a:r>
            <a:endParaRPr lang="en-US" sz="1000" b="1" dirty="0">
              <a:latin typeface="+mn-lt"/>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84EC2844-0F37-7D8C-89AA-4015986AE2E2}"/>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79B18A34-0322-021C-DF50-69759AE4F979}"/>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B6D5EAE-B649-4BF7-19B6-1D59DB00B322}"/>
                </a:ext>
              </a:extLst>
            </p:cNvPr>
            <p:cNvGrpSpPr/>
            <p:nvPr/>
          </p:nvGrpSpPr>
          <p:grpSpPr>
            <a:xfrm>
              <a:off x="3101100" y="4872600"/>
              <a:ext cx="2941800" cy="270900"/>
              <a:chOff x="3084200" y="4934525"/>
              <a:chExt cx="2941800" cy="270900"/>
            </a:xfrm>
          </p:grpSpPr>
          <p:sp>
            <p:nvSpPr>
              <p:cNvPr id="7" name="Google Shape;265;p6">
                <a:extLst>
                  <a:ext uri="{FF2B5EF4-FFF2-40B4-BE49-F238E27FC236}">
                    <a16:creationId xmlns:a16="http://schemas.microsoft.com/office/drawing/2014/main" id="{C8BF563F-2F6F-9B3D-E7FB-8E713B51921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37A98A3C-8824-FE6A-F0BD-9ADC73A6163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1" name="Picture 10">
            <a:extLst>
              <a:ext uri="{FF2B5EF4-FFF2-40B4-BE49-F238E27FC236}">
                <a16:creationId xmlns:a16="http://schemas.microsoft.com/office/drawing/2014/main" id="{D9DB6A53-A0D4-9B80-FEDF-68C44646BB2A}"/>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270295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22" name="Picture 21">
            <a:extLst>
              <a:ext uri="{FF2B5EF4-FFF2-40B4-BE49-F238E27FC236}">
                <a16:creationId xmlns:a16="http://schemas.microsoft.com/office/drawing/2014/main" id="{AB6532BF-D795-CD0E-1A2D-2C1071FA39AB}"/>
              </a:ext>
            </a:extLst>
          </p:cNvPr>
          <p:cNvPicPr>
            <a:picLocks noChangeAspect="1"/>
          </p:cNvPicPr>
          <p:nvPr/>
        </p:nvPicPr>
        <p:blipFill>
          <a:blip r:embed="rId3"/>
          <a:stretch>
            <a:fillRect/>
          </a:stretch>
        </p:blipFill>
        <p:spPr>
          <a:xfrm>
            <a:off x="4939583" y="3017483"/>
            <a:ext cx="3464405" cy="1417320"/>
          </a:xfrm>
          <a:prstGeom prst="rect">
            <a:avLst/>
          </a:prstGeom>
          <a:ln>
            <a:solidFill>
              <a:schemeClr val="tx1"/>
            </a:solidFill>
          </a:ln>
        </p:spPr>
      </p:pic>
      <p:pic>
        <p:nvPicPr>
          <p:cNvPr id="18" name="Picture 17">
            <a:extLst>
              <a:ext uri="{FF2B5EF4-FFF2-40B4-BE49-F238E27FC236}">
                <a16:creationId xmlns:a16="http://schemas.microsoft.com/office/drawing/2014/main" id="{C8B991D5-2975-C0CB-D440-1D5C59416767}"/>
              </a:ext>
            </a:extLst>
          </p:cNvPr>
          <p:cNvPicPr>
            <a:picLocks noChangeAspect="1"/>
          </p:cNvPicPr>
          <p:nvPr/>
        </p:nvPicPr>
        <p:blipFill>
          <a:blip r:embed="rId4"/>
          <a:stretch>
            <a:fillRect/>
          </a:stretch>
        </p:blipFill>
        <p:spPr>
          <a:xfrm>
            <a:off x="842041" y="3056867"/>
            <a:ext cx="3495356" cy="1417320"/>
          </a:xfrm>
          <a:prstGeom prst="rect">
            <a:avLst/>
          </a:prstGeom>
          <a:ln>
            <a:solidFill>
              <a:schemeClr val="tx1"/>
            </a:solidFill>
          </a:ln>
        </p:spPr>
      </p:pic>
      <p:pic>
        <p:nvPicPr>
          <p:cNvPr id="15" name="Picture 14">
            <a:extLst>
              <a:ext uri="{FF2B5EF4-FFF2-40B4-BE49-F238E27FC236}">
                <a16:creationId xmlns:a16="http://schemas.microsoft.com/office/drawing/2014/main" id="{7EDD5600-578D-EDF5-7108-E4D70E2C3EEF}"/>
              </a:ext>
            </a:extLst>
          </p:cNvPr>
          <p:cNvPicPr>
            <a:picLocks noChangeAspect="1"/>
          </p:cNvPicPr>
          <p:nvPr/>
        </p:nvPicPr>
        <p:blipFill>
          <a:blip r:embed="rId5"/>
          <a:stretch>
            <a:fillRect/>
          </a:stretch>
        </p:blipFill>
        <p:spPr>
          <a:xfrm>
            <a:off x="4929268" y="1348573"/>
            <a:ext cx="3474720" cy="1417320"/>
          </a:xfrm>
          <a:prstGeom prst="rect">
            <a:avLst/>
          </a:prstGeom>
          <a:ln>
            <a:solidFill>
              <a:schemeClr val="tx1"/>
            </a:solidFill>
          </a:ln>
        </p:spPr>
      </p:pic>
      <p:pic>
        <p:nvPicPr>
          <p:cNvPr id="9" name="Picture 8">
            <a:extLst>
              <a:ext uri="{FF2B5EF4-FFF2-40B4-BE49-F238E27FC236}">
                <a16:creationId xmlns:a16="http://schemas.microsoft.com/office/drawing/2014/main" id="{568E2352-9378-11D8-AF47-8777B8404015}"/>
              </a:ext>
            </a:extLst>
          </p:cNvPr>
          <p:cNvPicPr>
            <a:picLocks noChangeAspect="1"/>
          </p:cNvPicPr>
          <p:nvPr/>
        </p:nvPicPr>
        <p:blipFill>
          <a:blip r:embed="rId6"/>
          <a:stretch>
            <a:fillRect/>
          </a:stretch>
        </p:blipFill>
        <p:spPr>
          <a:xfrm>
            <a:off x="852357" y="1336609"/>
            <a:ext cx="3485039" cy="1459155"/>
          </a:xfrm>
          <a:prstGeom prst="rect">
            <a:avLst/>
          </a:prstGeom>
          <a:ln>
            <a:solidFill>
              <a:schemeClr val="tx1"/>
            </a:solidFill>
          </a:ln>
        </p:spPr>
      </p:pic>
      <p:sp>
        <p:nvSpPr>
          <p:cNvPr id="301" name="Google Shape;301;p7"/>
          <p:cNvSpPr txBox="1">
            <a:spLocks noGrp="1"/>
          </p:cNvSpPr>
          <p:nvPr>
            <p:ph type="title"/>
          </p:nvPr>
        </p:nvSpPr>
        <p:spPr>
          <a:xfrm>
            <a:off x="719999" y="445025"/>
            <a:ext cx="5485819"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inflation trends remain mixed</a:t>
            </a:r>
            <a:endParaRPr sz="20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8830DCD-9317-4CE2-A2C6-E836372D021F}"/>
              </a:ext>
            </a:extLst>
          </p:cNvPr>
          <p:cNvSpPr txBox="1"/>
          <p:nvPr/>
        </p:nvSpPr>
        <p:spPr>
          <a:xfrm>
            <a:off x="7832913" y="4673356"/>
            <a:ext cx="1636945"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4" name="TextBox 3">
            <a:extLst>
              <a:ext uri="{FF2B5EF4-FFF2-40B4-BE49-F238E27FC236}">
                <a16:creationId xmlns:a16="http://schemas.microsoft.com/office/drawing/2014/main" id="{89FBA75C-BF13-40EC-B7E1-FA0CF9447EE5}"/>
              </a:ext>
            </a:extLst>
          </p:cNvPr>
          <p:cNvSpPr txBox="1"/>
          <p:nvPr/>
        </p:nvSpPr>
        <p:spPr>
          <a:xfrm>
            <a:off x="842041" y="1329056"/>
            <a:ext cx="3485039"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U.S</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6909A2A-6FD0-4387-8BD8-CD503DD7CCA3}"/>
              </a:ext>
            </a:extLst>
          </p:cNvPr>
          <p:cNvSpPr txBox="1"/>
          <p:nvPr/>
        </p:nvSpPr>
        <p:spPr>
          <a:xfrm>
            <a:off x="4939583" y="1336609"/>
            <a:ext cx="2729065"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UK</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950C81C-B04F-4C7E-B9D8-D5A51C4974A4}"/>
              </a:ext>
            </a:extLst>
          </p:cNvPr>
          <p:cNvSpPr txBox="1"/>
          <p:nvPr/>
        </p:nvSpPr>
        <p:spPr>
          <a:xfrm>
            <a:off x="4929268" y="3017659"/>
            <a:ext cx="3689693"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Japan</a:t>
            </a:r>
            <a:endParaRPr lang="en-IN" sz="1100" b="1" dirty="0">
              <a:highlight>
                <a:srgbClr val="FFFF00"/>
              </a:highlight>
              <a:latin typeface="+mn-lt"/>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8CA2C49-8B6F-4E9E-8529-72FD22D79849}"/>
              </a:ext>
            </a:extLst>
          </p:cNvPr>
          <p:cNvSpPr txBox="1"/>
          <p:nvPr/>
        </p:nvSpPr>
        <p:spPr>
          <a:xfrm>
            <a:off x="842041" y="3056942"/>
            <a:ext cx="2041073"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EU</a:t>
            </a:r>
            <a:r>
              <a:rPr lang="en-US" sz="1050" b="1" dirty="0">
                <a:latin typeface="+mn-lt"/>
                <a:ea typeface="Calibri" panose="020F0502020204030204" pitchFamily="34" charset="0"/>
                <a:cs typeface="Calibri" panose="020F0502020204030204" pitchFamily="34" charset="0"/>
              </a:rPr>
              <a:t> </a:t>
            </a:r>
          </a:p>
        </p:txBody>
      </p:sp>
      <p:grpSp>
        <p:nvGrpSpPr>
          <p:cNvPr id="2" name="Google Shape;262;p6">
            <a:extLst>
              <a:ext uri="{FF2B5EF4-FFF2-40B4-BE49-F238E27FC236}">
                <a16:creationId xmlns:a16="http://schemas.microsoft.com/office/drawing/2014/main" id="{40328464-C498-3EBB-5B1D-26DA36302E44}"/>
              </a:ext>
            </a:extLst>
          </p:cNvPr>
          <p:cNvGrpSpPr/>
          <p:nvPr/>
        </p:nvGrpSpPr>
        <p:grpSpPr>
          <a:xfrm>
            <a:off x="-25" y="4872600"/>
            <a:ext cx="9144000" cy="270900"/>
            <a:chOff x="-25" y="4872600"/>
            <a:chExt cx="9144000" cy="270900"/>
          </a:xfrm>
        </p:grpSpPr>
        <p:sp>
          <p:nvSpPr>
            <p:cNvPr id="5" name="Google Shape;263;p6">
              <a:extLst>
                <a:ext uri="{FF2B5EF4-FFF2-40B4-BE49-F238E27FC236}">
                  <a16:creationId xmlns:a16="http://schemas.microsoft.com/office/drawing/2014/main" id="{9731E2BA-1669-E3B5-2103-62D0437FC9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6" name="Google Shape;264;p6">
              <a:extLst>
                <a:ext uri="{FF2B5EF4-FFF2-40B4-BE49-F238E27FC236}">
                  <a16:creationId xmlns:a16="http://schemas.microsoft.com/office/drawing/2014/main" id="{DACF81EC-7B0E-D866-2B5A-CE191D68F47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3B156E6A-6CB6-50AA-4578-BE4F14B05E6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56069E84-E520-6658-804F-1FA8FE91300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E10EC708-19ED-8911-B1C7-4E616379CF20}"/>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368941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sz="4000" dirty="0">
                <a:latin typeface="Calibri" panose="020F0502020204030204" pitchFamily="34" charset="0"/>
                <a:ea typeface="Calibri" panose="020F0502020204030204" pitchFamily="34" charset="0"/>
                <a:cs typeface="Calibri" panose="020F0502020204030204" pitchFamily="34" charset="0"/>
              </a:rPr>
              <a:t>Domestic Update</a:t>
            </a:r>
            <a:endParaRPr sz="4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Graphic 6" descr="Coins">
            <a:extLst>
              <a:ext uri="{FF2B5EF4-FFF2-40B4-BE49-F238E27FC236}">
                <a16:creationId xmlns:a16="http://schemas.microsoft.com/office/drawing/2014/main" id="{FC37BCE7-93FA-459E-85E2-D8E04FAA5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4694" y="1969281"/>
            <a:ext cx="996696" cy="996696"/>
          </a:xfrm>
          <a:prstGeom prst="rect">
            <a:avLst/>
          </a:prstGeom>
        </p:spPr>
      </p:pic>
      <p:grpSp>
        <p:nvGrpSpPr>
          <p:cNvPr id="2" name="Google Shape;262;p6">
            <a:extLst>
              <a:ext uri="{FF2B5EF4-FFF2-40B4-BE49-F238E27FC236}">
                <a16:creationId xmlns:a16="http://schemas.microsoft.com/office/drawing/2014/main" id="{924C2B21-4177-C5DD-7E82-6EA9E22FBB2D}"/>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015803C1-9F32-1F4F-49DA-95443E50A68E}"/>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23D2C27F-79C1-5ADF-70AE-AB09448D2C7B}"/>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2DDCD6FB-89DB-1E10-4678-5DE14E8FA48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02A24646-9187-1F55-7AE5-1A7854983FD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90C867DA-0387-C2AD-2623-59C70DB88C92}"/>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189327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F70CAB5-92DA-951D-F1C4-79F0640E7E36}"/>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B55EB11D-65BD-5436-EB1A-436A7CFE71CE}"/>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Macro updates </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C177F43-BAB2-5079-C38A-BD286D926549}"/>
              </a:ext>
            </a:extLst>
          </p:cNvPr>
          <p:cNvSpPr txBox="1"/>
          <p:nvPr/>
        </p:nvSpPr>
        <p:spPr>
          <a:xfrm>
            <a:off x="796384" y="3974770"/>
            <a:ext cx="5675173"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sz="1200" dirty="0">
                <a:solidFill>
                  <a:schemeClr val="tx1"/>
                </a:solidFill>
              </a:rPr>
              <a:t>Inflation remain benign, with risks limited unless supply shocks broaden</a:t>
            </a:r>
          </a:p>
          <a:p>
            <a:pPr marL="171450" indent="-171450">
              <a:lnSpc>
                <a:spcPct val="150000"/>
              </a:lnSpc>
              <a:buFont typeface="Wingdings" panose="05000000000000000000" pitchFamily="2" charset="2"/>
              <a:buChar char="q"/>
            </a:pPr>
            <a:r>
              <a:rPr lang="en-US" sz="1200" dirty="0">
                <a:solidFill>
                  <a:schemeClr val="tx1"/>
                </a:solidFill>
                <a:ea typeface="Calibri" panose="020F0502020204030204" pitchFamily="34" charset="0"/>
                <a:cs typeface="Calibri" panose="020F0502020204030204" pitchFamily="34" charset="0"/>
              </a:rPr>
              <a:t>Capital flows turn negative amid FII outflows and weak FDI, driven by high valuations</a:t>
            </a:r>
          </a:p>
        </p:txBody>
      </p:sp>
      <p:grpSp>
        <p:nvGrpSpPr>
          <p:cNvPr id="2" name="Google Shape;262;p6">
            <a:extLst>
              <a:ext uri="{FF2B5EF4-FFF2-40B4-BE49-F238E27FC236}">
                <a16:creationId xmlns:a16="http://schemas.microsoft.com/office/drawing/2014/main" id="{28375DA6-2F13-1F33-07F3-7734E775AD62}"/>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F86598C6-2470-3049-ED11-7ECE89BC26C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A874151-13D6-6821-1E5E-3A7656504C02}"/>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DD18DB1D-6A7B-E441-B45D-42EF48DBA55B}"/>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A07270FB-EC09-E023-F530-B77606E260C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1EC225B3-74E4-95BE-17DF-609C1347B875}"/>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A7768682-B26F-F9F0-7BE6-4BA80E14BCFF}"/>
              </a:ext>
            </a:extLst>
          </p:cNvPr>
          <p:cNvPicPr>
            <a:picLocks noChangeAspect="1"/>
          </p:cNvPicPr>
          <p:nvPr/>
        </p:nvPicPr>
        <p:blipFill>
          <a:blip r:embed="rId4"/>
          <a:stretch>
            <a:fillRect/>
          </a:stretch>
        </p:blipFill>
        <p:spPr>
          <a:xfrm>
            <a:off x="796384" y="1209244"/>
            <a:ext cx="3674512" cy="2547361"/>
          </a:xfrm>
          <a:prstGeom prst="rect">
            <a:avLst/>
          </a:prstGeom>
          <a:ln>
            <a:solidFill>
              <a:schemeClr val="tx1"/>
            </a:solidFill>
          </a:ln>
        </p:spPr>
      </p:pic>
      <p:sp>
        <p:nvSpPr>
          <p:cNvPr id="11" name="TextBox 10">
            <a:extLst>
              <a:ext uri="{FF2B5EF4-FFF2-40B4-BE49-F238E27FC236}">
                <a16:creationId xmlns:a16="http://schemas.microsoft.com/office/drawing/2014/main" id="{DB027377-F704-D40A-9828-714D0EBCA185}"/>
              </a:ext>
            </a:extLst>
          </p:cNvPr>
          <p:cNvSpPr txBox="1"/>
          <p:nvPr/>
        </p:nvSpPr>
        <p:spPr>
          <a:xfrm>
            <a:off x="1348500" y="1246112"/>
            <a:ext cx="1028940" cy="246221"/>
          </a:xfrm>
          <a:prstGeom prst="rect">
            <a:avLst/>
          </a:prstGeom>
          <a:noFill/>
        </p:spPr>
        <p:txBody>
          <a:bodyPr wrap="square" rtlCol="0">
            <a:spAutoFit/>
          </a:bodyPr>
          <a:lstStyle/>
          <a:p>
            <a:r>
              <a:rPr lang="en-US" sz="1000" b="1" dirty="0">
                <a:latin typeface="+mj-lt"/>
              </a:rPr>
              <a:t>Headline CPI %</a:t>
            </a:r>
          </a:p>
        </p:txBody>
      </p:sp>
      <p:pic>
        <p:nvPicPr>
          <p:cNvPr id="16" name="Picture 15">
            <a:extLst>
              <a:ext uri="{FF2B5EF4-FFF2-40B4-BE49-F238E27FC236}">
                <a16:creationId xmlns:a16="http://schemas.microsoft.com/office/drawing/2014/main" id="{C55288BF-F7DF-ACB6-9255-632BC28691F8}"/>
              </a:ext>
            </a:extLst>
          </p:cNvPr>
          <p:cNvPicPr>
            <a:picLocks noChangeAspect="1"/>
          </p:cNvPicPr>
          <p:nvPr/>
        </p:nvPicPr>
        <p:blipFill>
          <a:blip r:embed="rId5"/>
          <a:stretch>
            <a:fillRect/>
          </a:stretch>
        </p:blipFill>
        <p:spPr>
          <a:xfrm>
            <a:off x="4903565" y="1246112"/>
            <a:ext cx="3674512" cy="2510493"/>
          </a:xfrm>
          <a:prstGeom prst="rect">
            <a:avLst/>
          </a:prstGeom>
          <a:ln>
            <a:solidFill>
              <a:schemeClr val="tx1"/>
            </a:solidFill>
          </a:ln>
        </p:spPr>
      </p:pic>
      <p:sp>
        <p:nvSpPr>
          <p:cNvPr id="17" name="TextBox 16">
            <a:extLst>
              <a:ext uri="{FF2B5EF4-FFF2-40B4-BE49-F238E27FC236}">
                <a16:creationId xmlns:a16="http://schemas.microsoft.com/office/drawing/2014/main" id="{2843183B-53C0-1983-7615-3C000CF2C892}"/>
              </a:ext>
            </a:extLst>
          </p:cNvPr>
          <p:cNvSpPr txBox="1"/>
          <p:nvPr/>
        </p:nvSpPr>
        <p:spPr>
          <a:xfrm>
            <a:off x="6740821" y="1246037"/>
            <a:ext cx="1572905" cy="246221"/>
          </a:xfrm>
          <a:prstGeom prst="rect">
            <a:avLst/>
          </a:prstGeom>
          <a:noFill/>
        </p:spPr>
        <p:txBody>
          <a:bodyPr wrap="square" rtlCol="0">
            <a:spAutoFit/>
          </a:bodyPr>
          <a:lstStyle/>
          <a:p>
            <a:r>
              <a:rPr lang="en-US" sz="1000" b="1" dirty="0">
                <a:latin typeface="+mj-lt"/>
              </a:rPr>
              <a:t>Capital account % of GDP</a:t>
            </a:r>
          </a:p>
        </p:txBody>
      </p:sp>
      <p:sp>
        <p:nvSpPr>
          <p:cNvPr id="18" name="TextBox 17">
            <a:extLst>
              <a:ext uri="{FF2B5EF4-FFF2-40B4-BE49-F238E27FC236}">
                <a16:creationId xmlns:a16="http://schemas.microsoft.com/office/drawing/2014/main" id="{92670C80-975D-1918-F6D1-DC0C5D3B9ECD}"/>
              </a:ext>
            </a:extLst>
          </p:cNvPr>
          <p:cNvSpPr txBox="1"/>
          <p:nvPr/>
        </p:nvSpPr>
        <p:spPr>
          <a:xfrm>
            <a:off x="6648365" y="4554551"/>
            <a:ext cx="2537460" cy="33855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Source: </a:t>
            </a:r>
            <a:r>
              <a:rPr lang="en-IN" sz="800" dirty="0" err="1">
                <a:latin typeface="Calibri" panose="020F0502020204030204" pitchFamily="34" charset="0"/>
                <a:ea typeface="Calibri" panose="020F0502020204030204" pitchFamily="34" charset="0"/>
                <a:cs typeface="Calibri" panose="020F0502020204030204" pitchFamily="34" charset="0"/>
              </a:rPr>
              <a:t>Nuvama</a:t>
            </a:r>
            <a:r>
              <a:rPr lang="en-IN" sz="800" dirty="0">
                <a:latin typeface="Calibri" panose="020F0502020204030204" pitchFamily="34" charset="0"/>
                <a:ea typeface="Calibri" panose="020F0502020204030204" pitchFamily="34" charset="0"/>
                <a:cs typeface="Calibri" panose="020F0502020204030204" pitchFamily="34" charset="0"/>
              </a:rPr>
              <a:t> research                                                                               CPI data as on Feb-26, Capital account data as on Dec-25</a:t>
            </a:r>
          </a:p>
        </p:txBody>
      </p:sp>
    </p:spTree>
    <p:extLst>
      <p:ext uri="{BB962C8B-B14F-4D97-AF65-F5344CB8AC3E}">
        <p14:creationId xmlns:p14="http://schemas.microsoft.com/office/powerpoint/2010/main" val="186889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5E63CBD-1853-F6B9-05EB-7D5FE9D0009A}"/>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E7DF67EC-820C-02F0-5590-0E172B5B2E23}"/>
              </a:ext>
            </a:extLst>
          </p:cNvPr>
          <p:cNvSpPr txBox="1">
            <a:spLocks noGrp="1"/>
          </p:cNvSpPr>
          <p:nvPr>
            <p:ph type="title"/>
          </p:nvPr>
        </p:nvSpPr>
        <p:spPr>
          <a:xfrm>
            <a:off x="719999" y="445025"/>
            <a:ext cx="6299366"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mn-lt"/>
              </a:rPr>
              <a:t>Robust GST collections in Mar-26</a:t>
            </a:r>
            <a:endParaRPr sz="2000" dirty="0">
              <a:latin typeface="+mn-lt"/>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82736C9-6E8A-41CE-8624-E1FDEF62D439}"/>
              </a:ext>
            </a:extLst>
          </p:cNvPr>
          <p:cNvSpPr txBox="1"/>
          <p:nvPr/>
        </p:nvSpPr>
        <p:spPr>
          <a:xfrm>
            <a:off x="719999" y="4039971"/>
            <a:ext cx="7939377" cy="276999"/>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200" dirty="0">
                <a:solidFill>
                  <a:schemeClr val="tx1"/>
                </a:solidFill>
              </a:rPr>
              <a:t>              GST collections up 8.8% YoY to ~Rs 2 lakh </a:t>
            </a:r>
            <a:r>
              <a:rPr lang="en-US" sz="1200" dirty="0" err="1">
                <a:solidFill>
                  <a:schemeClr val="tx1"/>
                </a:solidFill>
              </a:rPr>
              <a:t>crs</a:t>
            </a:r>
            <a:r>
              <a:rPr lang="en-US" sz="1200" dirty="0">
                <a:solidFill>
                  <a:schemeClr val="tx1"/>
                </a:solidFill>
              </a:rPr>
              <a:t> in Mar-26, driven by steady demand</a:t>
            </a:r>
          </a:p>
        </p:txBody>
      </p:sp>
      <p:sp>
        <p:nvSpPr>
          <p:cNvPr id="29" name="TextBox 28">
            <a:extLst>
              <a:ext uri="{FF2B5EF4-FFF2-40B4-BE49-F238E27FC236}">
                <a16:creationId xmlns:a16="http://schemas.microsoft.com/office/drawing/2014/main" id="{56C44403-AEE0-A8B7-89D8-51111D7CD418}"/>
              </a:ext>
            </a:extLst>
          </p:cNvPr>
          <p:cNvSpPr txBox="1"/>
          <p:nvPr/>
        </p:nvSpPr>
        <p:spPr>
          <a:xfrm>
            <a:off x="7795907" y="4585669"/>
            <a:ext cx="2696135" cy="215444"/>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Source: Gst.gov.in</a:t>
            </a:r>
          </a:p>
        </p:txBody>
      </p:sp>
      <p:grpSp>
        <p:nvGrpSpPr>
          <p:cNvPr id="2" name="Google Shape;262;p6">
            <a:extLst>
              <a:ext uri="{FF2B5EF4-FFF2-40B4-BE49-F238E27FC236}">
                <a16:creationId xmlns:a16="http://schemas.microsoft.com/office/drawing/2014/main" id="{C3B56AB0-8C71-4829-FBEA-F6B30F4C73C0}"/>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34E31FBC-D5A4-E8AE-7D59-59DE272571DD}"/>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70509C44-FF7C-E93C-D975-B9BBCCB196B2}"/>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582F2B56-E108-A488-4765-3D6787D964BF}"/>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F34741B9-D3B0-E608-ACAB-688061C0CBE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67E37209-AB1C-C055-697F-FB35150D35ED}"/>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8" name="Content Placeholder 3">
            <a:extLst>
              <a:ext uri="{FF2B5EF4-FFF2-40B4-BE49-F238E27FC236}">
                <a16:creationId xmlns:a16="http://schemas.microsoft.com/office/drawing/2014/main" id="{88119ACB-07AA-5CE1-F257-CC800D60C47E}"/>
              </a:ext>
            </a:extLst>
          </p:cNvPr>
          <p:cNvGraphicFramePr>
            <a:graphicFrameLocks/>
          </p:cNvGraphicFramePr>
          <p:nvPr>
            <p:extLst>
              <p:ext uri="{D42A27DB-BD31-4B8C-83A1-F6EECF244321}">
                <p14:modId xmlns:p14="http://schemas.microsoft.com/office/powerpoint/2010/main" val="4132594093"/>
              </p:ext>
            </p:extLst>
          </p:nvPr>
        </p:nvGraphicFramePr>
        <p:xfrm>
          <a:off x="768698" y="1185245"/>
          <a:ext cx="7890678" cy="26290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37908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E8966B4-688B-E075-14A9-497608EDF8F1}"/>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1F0664CC-3590-2727-FD58-11427EEBF6C9}"/>
              </a:ext>
            </a:extLst>
          </p:cNvPr>
          <p:cNvSpPr txBox="1">
            <a:spLocks noGrp="1"/>
          </p:cNvSpPr>
          <p:nvPr>
            <p:ph type="title"/>
          </p:nvPr>
        </p:nvSpPr>
        <p:spPr>
          <a:xfrm>
            <a:off x="719999" y="445025"/>
            <a:ext cx="4091487"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PMI : Manufacturing  Strengthens </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DA92A46-0B9F-78A0-FB8A-EE0E56CC61C4}"/>
              </a:ext>
            </a:extLst>
          </p:cNvPr>
          <p:cNvSpPr txBox="1"/>
          <p:nvPr/>
        </p:nvSpPr>
        <p:spPr>
          <a:xfrm>
            <a:off x="750323" y="4129402"/>
            <a:ext cx="5721234" cy="573940"/>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44" indent="-285744" defTabSz="1219170">
              <a:lnSpc>
                <a:spcPct val="150000"/>
              </a:lnSpc>
              <a:buFont typeface="Wingdings" panose="05000000000000000000" pitchFamily="2" charset="2"/>
              <a:buChar char="q"/>
            </a:pPr>
            <a:r>
              <a:rPr lang="en-US" sz="1100" dirty="0">
                <a:solidFill>
                  <a:schemeClr val="tx1"/>
                </a:solidFill>
              </a:rPr>
              <a:t>India’s Manufacturing PMI rose to 56.9 in Mar-26, back of slow factory output</a:t>
            </a:r>
          </a:p>
          <a:p>
            <a:pPr marL="285744" indent="-285744" defTabSz="1219170">
              <a:lnSpc>
                <a:spcPct val="150000"/>
              </a:lnSpc>
              <a:buFont typeface="Wingdings" panose="05000000000000000000" pitchFamily="2" charset="2"/>
              <a:buChar char="q"/>
            </a:pPr>
            <a:r>
              <a:rPr lang="en-US" sz="1100" dirty="0">
                <a:solidFill>
                  <a:schemeClr val="tx1"/>
                </a:solidFill>
              </a:rPr>
              <a:t>India’s Services PMI remained steady at  57.2 in Mar-26, amid slower demand</a:t>
            </a:r>
            <a:endParaRPr lang="en-US" sz="1100" dirty="0">
              <a:solidFill>
                <a:schemeClr val="tx1"/>
              </a:solidFill>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C433CDF-44CD-0BCF-82F8-6C981688DB00}"/>
              </a:ext>
            </a:extLst>
          </p:cNvPr>
          <p:cNvSpPr txBox="1"/>
          <p:nvPr/>
        </p:nvSpPr>
        <p:spPr>
          <a:xfrm>
            <a:off x="7819053" y="4470863"/>
            <a:ext cx="2242943" cy="338554"/>
          </a:xfrm>
          <a:prstGeom prst="rect">
            <a:avLst/>
          </a:prstGeom>
          <a:noFill/>
        </p:spPr>
        <p:txBody>
          <a:bodyPr wrap="square" rtlCol="0">
            <a:spAutoFit/>
          </a:bodyP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Source: Trading Economics</a:t>
            </a:r>
          </a:p>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Data as on </a:t>
            </a:r>
            <a:r>
              <a:rPr lang="en-IN" sz="800" dirty="0">
                <a:solidFill>
                  <a:schemeClr val="tx1"/>
                </a:solidFill>
                <a:latin typeface="Calibri" panose="020F0502020204030204" pitchFamily="34" charset="0"/>
                <a:ea typeface="Calibri" panose="020F0502020204030204" pitchFamily="34" charset="0"/>
                <a:cs typeface="Calibri" panose="020F0502020204030204" pitchFamily="34" charset="0"/>
              </a:rPr>
              <a:t>Mar-26</a:t>
            </a:r>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US" sz="800" dirty="0">
              <a:solidFill>
                <a:schemeClr val="tx1"/>
              </a:solidFill>
              <a:highlight>
                <a:srgbClr val="FF00FF"/>
              </a:highlight>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DDD708C4-7AA7-A26D-3F94-ED05CD3BB803}"/>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B9DD285-9D3E-6A14-30F3-6A1431EFB09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1299F53A-7AC1-76EE-51A7-94CEC2CAB4CB}"/>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7A08B44-2581-B5DC-A734-027DE6C926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404A7A56-E127-B3FF-B1D7-CAA9B7960B9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7D1FC4FF-E417-8612-8C61-23B093C245B5}"/>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10" name="Chart 9">
            <a:extLst>
              <a:ext uri="{FF2B5EF4-FFF2-40B4-BE49-F238E27FC236}">
                <a16:creationId xmlns:a16="http://schemas.microsoft.com/office/drawing/2014/main" id="{D14A91E1-8A63-AC94-B826-68AC0C1F8B69}"/>
              </a:ext>
            </a:extLst>
          </p:cNvPr>
          <p:cNvGraphicFramePr/>
          <p:nvPr>
            <p:extLst>
              <p:ext uri="{D42A27DB-BD31-4B8C-83A1-F6EECF244321}">
                <p14:modId xmlns:p14="http://schemas.microsoft.com/office/powerpoint/2010/main" val="780342658"/>
              </p:ext>
            </p:extLst>
          </p:nvPr>
        </p:nvGraphicFramePr>
        <p:xfrm>
          <a:off x="750323" y="1141955"/>
          <a:ext cx="7814013" cy="28149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15396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45025"/>
            <a:ext cx="3448589"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Outlook – Medium Term</a:t>
            </a:r>
            <a:endParaRPr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Diagram 10">
            <a:extLst>
              <a:ext uri="{FF2B5EF4-FFF2-40B4-BE49-F238E27FC236}">
                <a16:creationId xmlns:a16="http://schemas.microsoft.com/office/drawing/2014/main" id="{96EDC516-54F1-488D-9CFC-DB645FBB4FF6}"/>
              </a:ext>
            </a:extLst>
          </p:cNvPr>
          <p:cNvGraphicFramePr/>
          <p:nvPr>
            <p:extLst>
              <p:ext uri="{D42A27DB-BD31-4B8C-83A1-F6EECF244321}">
                <p14:modId xmlns:p14="http://schemas.microsoft.com/office/powerpoint/2010/main" val="3686667766"/>
              </p:ext>
            </p:extLst>
          </p:nvPr>
        </p:nvGraphicFramePr>
        <p:xfrm>
          <a:off x="292378" y="1092829"/>
          <a:ext cx="8027895" cy="3548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Down Arrow 2">
            <a:extLst>
              <a:ext uri="{FF2B5EF4-FFF2-40B4-BE49-F238E27FC236}">
                <a16:creationId xmlns:a16="http://schemas.microsoft.com/office/drawing/2014/main" id="{F0B0499F-96D5-427D-93F6-0DE8D47CAA81}"/>
              </a:ext>
            </a:extLst>
          </p:cNvPr>
          <p:cNvSpPr/>
          <p:nvPr/>
        </p:nvSpPr>
        <p:spPr>
          <a:xfrm rot="10800000">
            <a:off x="8438721" y="1348635"/>
            <a:ext cx="347361" cy="308367"/>
          </a:xfrm>
          <a:prstGeom prst="down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Left-Right Arrow 6">
            <a:extLst>
              <a:ext uri="{FF2B5EF4-FFF2-40B4-BE49-F238E27FC236}">
                <a16:creationId xmlns:a16="http://schemas.microsoft.com/office/drawing/2014/main" id="{9BB9C202-27EC-4527-B625-AAA2FCD1279D}"/>
              </a:ext>
            </a:extLst>
          </p:cNvPr>
          <p:cNvSpPr/>
          <p:nvPr/>
        </p:nvSpPr>
        <p:spPr>
          <a:xfrm>
            <a:off x="8403302" y="2761002"/>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Left-Right Arrow 7">
            <a:extLst>
              <a:ext uri="{FF2B5EF4-FFF2-40B4-BE49-F238E27FC236}">
                <a16:creationId xmlns:a16="http://schemas.microsoft.com/office/drawing/2014/main" id="{C2B4A3FD-5DE7-48D6-9163-7EC3D76EF456}"/>
              </a:ext>
            </a:extLst>
          </p:cNvPr>
          <p:cNvSpPr/>
          <p:nvPr/>
        </p:nvSpPr>
        <p:spPr>
          <a:xfrm>
            <a:off x="8403302" y="3491438"/>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Left-Right Arrow 8">
            <a:extLst>
              <a:ext uri="{FF2B5EF4-FFF2-40B4-BE49-F238E27FC236}">
                <a16:creationId xmlns:a16="http://schemas.microsoft.com/office/drawing/2014/main" id="{B6D75F66-93AD-4A90-8DCE-FE36FC9052FA}"/>
              </a:ext>
            </a:extLst>
          </p:cNvPr>
          <p:cNvSpPr/>
          <p:nvPr/>
        </p:nvSpPr>
        <p:spPr>
          <a:xfrm>
            <a:off x="8403302" y="4197733"/>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Left-Right Arrow 9">
            <a:extLst>
              <a:ext uri="{FF2B5EF4-FFF2-40B4-BE49-F238E27FC236}">
                <a16:creationId xmlns:a16="http://schemas.microsoft.com/office/drawing/2014/main" id="{06F6397A-0F4B-41F3-AE75-9723C0445003}"/>
              </a:ext>
            </a:extLst>
          </p:cNvPr>
          <p:cNvSpPr/>
          <p:nvPr/>
        </p:nvSpPr>
        <p:spPr>
          <a:xfrm>
            <a:off x="8396578" y="2011565"/>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A4A21F-1F8E-3CF0-6B12-975E6E9936E1}"/>
              </a:ext>
            </a:extLst>
          </p:cNvPr>
          <p:cNvSpPr txBox="1"/>
          <p:nvPr/>
        </p:nvSpPr>
        <p:spPr>
          <a:xfrm>
            <a:off x="5809269" y="4673281"/>
            <a:ext cx="3334731" cy="215444"/>
          </a:xfrm>
          <a:prstGeom prst="rect">
            <a:avLst/>
          </a:prstGeom>
          <a:noFill/>
        </p:spPr>
        <p:txBody>
          <a:bodyPr wrap="square" rtlCol="0">
            <a:spAutoFit/>
          </a:bodyPr>
          <a:lstStyle/>
          <a:p>
            <a:r>
              <a:rPr lang="en-US" sz="800" dirty="0">
                <a:solidFill>
                  <a:srgbClr val="333333"/>
                </a:solidFill>
                <a:latin typeface="Calibri" panose="020F0502020204030204" pitchFamily="34" charset="0"/>
                <a:ea typeface="Calibri" panose="020F0502020204030204" pitchFamily="34" charset="0"/>
                <a:cs typeface="Calibri" panose="020F0502020204030204" pitchFamily="34" charset="0"/>
              </a:rPr>
              <a:t>Source: Trading Economics, Investing.com, Money control, Federal reserve</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163FDCD3-794C-97AB-CADF-72429916C03B}"/>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AEA0327-7D80-9177-A69E-AE2F60471DD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93E2A88-C19E-AFA9-7668-83C8C04E697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1EC85C24-D284-0C04-22ED-E893714E48D6}"/>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6BC501F8-4AE6-0D61-B3A4-77D3291245F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3E846EEA-8795-90A4-3796-018C990AD23F}"/>
              </a:ext>
            </a:extLst>
          </p:cNvPr>
          <p:cNvPicPr>
            <a:picLocks noChangeAspect="1"/>
          </p:cNvPicPr>
          <p:nvPr/>
        </p:nvPicPr>
        <p:blipFill>
          <a:blip r:embed="rId8"/>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763538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D3D3AB-BC0D-4147-A428-30951BFA4E05}"/>
              </a:ext>
            </a:extLst>
          </p:cNvPr>
          <p:cNvSpPr/>
          <p:nvPr/>
        </p:nvSpPr>
        <p:spPr>
          <a:xfrm>
            <a:off x="719999" y="1157867"/>
            <a:ext cx="7952053" cy="3259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Concerns remain as high FY27 earnings estimates coincide with stretched market valuations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INR depreciation amid  higher oil prices and FII outflows, despite RBI intervention</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ea typeface="Calibri" panose="020F0502020204030204" pitchFamily="34" charset="0"/>
                <a:cs typeface="Calibri" panose="020F0502020204030204" pitchFamily="34" charset="0"/>
              </a:rPr>
              <a:t>Trump’s proposed 100% tariffs on pharma imports raise market risks</a:t>
            </a:r>
          </a:p>
          <a:p>
            <a:pPr marL="171450" indent="-171450">
              <a:buFont typeface="Arial" panose="020B0604020202020204" pitchFamily="34" charset="0"/>
              <a:buChar char="•"/>
            </a:pPr>
            <a:endParaRPr lang="en-US" sz="1200" dirty="0">
              <a:solidFill>
                <a:schemeClr val="tx1"/>
              </a:solidFill>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solidFill>
                <a:ea typeface="Calibri" panose="020F0502020204030204" pitchFamily="34" charset="0"/>
                <a:cs typeface="Calibri" panose="020F0502020204030204" pitchFamily="34" charset="0"/>
              </a:rPr>
              <a:t>Energy crisis from conflict could hit the economy, creating both price and supply shocks</a:t>
            </a:r>
          </a:p>
          <a:p>
            <a:pPr marL="171450" indent="-171450">
              <a:buFont typeface="Arial" panose="020B0604020202020204" pitchFamily="34" charset="0"/>
              <a:buChar char="•"/>
            </a:pPr>
            <a:endParaRPr lang="en-US" sz="1200" dirty="0">
              <a:solidFill>
                <a:schemeClr val="tx1"/>
              </a:solidFill>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solidFill>
                <a:ea typeface="Calibri" panose="020F0502020204030204" pitchFamily="34" charset="0"/>
                <a:cs typeface="Calibri" panose="020F0502020204030204" pitchFamily="34" charset="0"/>
              </a:rPr>
              <a:t>Q4FY26 earnings and forward commentary key for markets</a:t>
            </a:r>
          </a:p>
          <a:p>
            <a:pPr marL="171450" indent="-171450">
              <a:buFont typeface="Arial" panose="020B0604020202020204" pitchFamily="34" charset="0"/>
              <a:buChar char="•"/>
            </a:pPr>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A9A6565E-1E40-C80E-4B77-ED61ABC2EB27}"/>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F747E186-2253-7CD2-4DFD-20BDDBE01EF1}"/>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8BDFEDC-04D6-2E94-776E-180F8AE0C6CD}"/>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D5ACD7F-E5A0-7597-8120-CE1646513EC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1F55750C-44DD-920A-F662-1CB5D7843A2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04874DCD-4EDD-0F82-3D55-7F0E0BD0826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0" name="Title 9">
            <a:extLst>
              <a:ext uri="{FF2B5EF4-FFF2-40B4-BE49-F238E27FC236}">
                <a16:creationId xmlns:a16="http://schemas.microsoft.com/office/drawing/2014/main" id="{D3FD31D1-0421-E655-4BC8-8CAE6CE6D273}"/>
              </a:ext>
            </a:extLst>
          </p:cNvPr>
          <p:cNvSpPr>
            <a:spLocks noGrp="1"/>
          </p:cNvSpPr>
          <p:nvPr>
            <p:ph type="title"/>
          </p:nvPr>
        </p:nvSpPr>
        <p:spPr/>
        <p:txBody>
          <a:bodyPr/>
          <a:lstStyle/>
          <a:p>
            <a:r>
              <a:rPr lang="en-US" sz="2000" dirty="0">
                <a:latin typeface="+mn-lt"/>
              </a:rPr>
              <a:t>Key Risks</a:t>
            </a:r>
          </a:p>
        </p:txBody>
      </p:sp>
    </p:spTree>
    <p:extLst>
      <p:ext uri="{BB962C8B-B14F-4D97-AF65-F5344CB8AC3E}">
        <p14:creationId xmlns:p14="http://schemas.microsoft.com/office/powerpoint/2010/main" val="1459753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Disclaimer</a:t>
            </a:r>
          </a:p>
        </p:txBody>
      </p:sp>
      <p:sp>
        <p:nvSpPr>
          <p:cNvPr id="20" name="Content Placeholder 2">
            <a:extLst>
              <a:ext uri="{FF2B5EF4-FFF2-40B4-BE49-F238E27FC236}">
                <a16:creationId xmlns:a16="http://schemas.microsoft.com/office/drawing/2014/main" id="{446CA3D9-C2F5-9AC5-4D3B-216048E03B47}"/>
              </a:ext>
            </a:extLst>
          </p:cNvPr>
          <p:cNvSpPr txBox="1">
            <a:spLocks/>
          </p:cNvSpPr>
          <p:nvPr/>
        </p:nvSpPr>
        <p:spPr>
          <a:xfrm>
            <a:off x="541020" y="1109288"/>
            <a:ext cx="8290560" cy="3542830"/>
          </a:xfrm>
          <a:prstGeom prst="rect">
            <a:avLst/>
          </a:prstGeom>
          <a:solidFill>
            <a:srgbClr val="000000">
              <a:alpha val="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Medium"/>
                <a:ea typeface="DM Sans Medium"/>
                <a:cs typeface="DM Sans Medium"/>
                <a:sym typeface="DM Sans Medium"/>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lgn="just">
              <a:lnSpc>
                <a:spcPct val="170000"/>
              </a:lnSpc>
            </a:pPr>
            <a:r>
              <a:rPr lang="en-IN" sz="900" dirty="0">
                <a:latin typeface="Calibri" panose="020F0502020204030204" pitchFamily="34" charset="0"/>
                <a:ea typeface="Calibri" panose="020F0502020204030204" pitchFamily="34" charset="0"/>
                <a:cs typeface="Calibri" panose="020F0502020204030204" pitchFamily="34" charset="0"/>
              </a:rPr>
              <a:t>DISCLAIMER The views expressed herein are based on internal data, publicly available information and other sources believed to be reliable. Any calculations made are approximations, meant as guidelines only, which you must confirm before relying on them. This document has been prepared based on information, which is already available in publicly accessible media or developed through analysis of Shriram Mutual Fund. The recipient should note and understand that the information provided above may not contain all the material aspects relevant for making an investment decision and the security may or may not continue to form part of the scheme's portfolio in the future. Investors are advised to consult their investment advisor before making any investment decision in light of their risk appetite, investment goals, and horizon. The decision of the Investment Manager may not always be profitable; as such decisions are based on the prevailing market conditions and the understanding of the Investment Manager. Actual market movements may vary from the anticipated trends. Past performance may or may not be sustained in future. Sectors referred above are illustrative and not recommended by Shriram Mutual Fund (the Fund) / Shriram AMC. The Fund may or may not have any present or future positions in these sectors. Shriram AMC / the Fund is not guaranteeing / offering / communicating any indicative yield on investments made in the scheme(s). Neither Shriram AMC and the Fund nor any person connected with them, accepts any liability arising from the use of this document. The recipient(s) before acting on any information herein should make his/her/their own investigation and seek appropriate professional advice and shall alone be fully responsible / liable for any decision taken on the basis of information contained herein. Please refer to the Offer Documents/ Statement of Additional Information/ Key Information Memorandum of the Scheme before investing.</a:t>
            </a:r>
          </a:p>
          <a:p>
            <a:pPr marL="0" indent="0" algn="just"/>
            <a:endParaRPr lang="en-IN" sz="900" dirty="0">
              <a:latin typeface="Calibri" panose="020F0502020204030204" pitchFamily="34" charset="0"/>
              <a:ea typeface="Calibri" panose="020F0502020204030204" pitchFamily="34" charset="0"/>
              <a:cs typeface="Calibri" panose="020F0502020204030204" pitchFamily="34" charset="0"/>
            </a:endParaRPr>
          </a:p>
          <a:p>
            <a:pPr marL="0" indent="0" algn="just"/>
            <a:r>
              <a:rPr lang="en-IN" sz="900" b="1" i="1" dirty="0">
                <a:latin typeface="Calibri" panose="020F0502020204030204" pitchFamily="34" charset="0"/>
                <a:ea typeface="Calibri" panose="020F0502020204030204" pitchFamily="34" charset="0"/>
                <a:cs typeface="Calibri" panose="020F0502020204030204" pitchFamily="34" charset="0"/>
              </a:rPr>
              <a:t>MUTUAL FUND INVESTMENTS ARE SUBJECT TO MARKET RISKS, READ ALL SCHEME RELATED DOCUMENTS CAREFULLY.</a:t>
            </a:r>
          </a:p>
        </p:txBody>
      </p:sp>
      <p:grpSp>
        <p:nvGrpSpPr>
          <p:cNvPr id="2" name="Google Shape;262;p6">
            <a:extLst>
              <a:ext uri="{FF2B5EF4-FFF2-40B4-BE49-F238E27FC236}">
                <a16:creationId xmlns:a16="http://schemas.microsoft.com/office/drawing/2014/main" id="{68351EFC-8A98-53F2-88D8-F46F98F023FF}"/>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C4800DD-C9E9-C66D-347F-02ACBB17F048}"/>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CAD5EC11-C395-4C9F-FE1E-249A7564B316}"/>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C4205B-6FEB-225B-3E71-70CED726C79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D99498F4-1346-BD33-3A10-76ECF37F184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EF38F678-A471-680A-6C9B-52DD0001BC14}"/>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2E8CD-E4E0-9F68-9A0A-09849BCCFC39}"/>
              </a:ext>
            </a:extLst>
          </p:cNvPr>
          <p:cNvSpPr txBox="1"/>
          <p:nvPr/>
        </p:nvSpPr>
        <p:spPr>
          <a:xfrm>
            <a:off x="2617749" y="2306293"/>
            <a:ext cx="2892714" cy="646331"/>
          </a:xfrm>
          <a:prstGeom prst="rect">
            <a:avLst/>
          </a:prstGeom>
          <a:noFill/>
        </p:spPr>
        <p:txBody>
          <a:bodyPr wrap="square" rtlCol="0">
            <a:spAutoFit/>
          </a:bodyPr>
          <a:lstStyle/>
          <a:p>
            <a:pPr algn="ctr"/>
            <a:r>
              <a:rPr lang="en-US" sz="3600" b="1" dirty="0">
                <a:latin typeface="+mj-lt"/>
              </a:rPr>
              <a:t>Thank You</a:t>
            </a:r>
          </a:p>
        </p:txBody>
      </p:sp>
      <p:sp>
        <p:nvSpPr>
          <p:cNvPr id="3" name="Slide Number Placeholder 2"/>
          <p:cNvSpPr>
            <a:spLocks noGrp="1"/>
          </p:cNvSpPr>
          <p:nvPr>
            <p:ph type="sldNum" sz="quarter" idx="12"/>
          </p:nvPr>
        </p:nvSpPr>
        <p:spPr>
          <a:xfrm>
            <a:off x="8716457" y="632812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5430A5-9376-4D7E-A28C-CDCCC8918707}" type="slidenum">
              <a:rPr lang="en-US" smtClean="0"/>
              <a:pPr/>
              <a:t>33</a:t>
            </a:fld>
            <a:endParaRPr lang="en-US" dirty="0"/>
          </a:p>
        </p:txBody>
      </p:sp>
    </p:spTree>
    <p:extLst>
      <p:ext uri="{BB962C8B-B14F-4D97-AF65-F5344CB8AC3E}">
        <p14:creationId xmlns:p14="http://schemas.microsoft.com/office/powerpoint/2010/main" val="309313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Monochrome Strong Yellow Theme for Marketing by Slidesgo">
  <a:themeElements>
    <a:clrScheme name="Simple Light">
      <a:dk1>
        <a:srgbClr val="191919"/>
      </a:dk1>
      <a:lt1>
        <a:srgbClr val="FFFFFF"/>
      </a:lt1>
      <a:dk2>
        <a:srgbClr val="FDD900"/>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Retrospect</Template>
  <TotalTime>63372</TotalTime>
  <Words>2899</Words>
  <Application>Microsoft Office PowerPoint</Application>
  <PresentationFormat>On-screen Show (16:9)</PresentationFormat>
  <Paragraphs>359</Paragraphs>
  <Slides>33</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Calibri</vt:lpstr>
      <vt:lpstr>Arial</vt:lpstr>
      <vt:lpstr>Bebas Neue</vt:lpstr>
      <vt:lpstr>DM Sans Medium</vt:lpstr>
      <vt:lpstr>Nunito Light</vt:lpstr>
      <vt:lpstr>Wingdings</vt:lpstr>
      <vt:lpstr>DM Sans</vt:lpstr>
      <vt:lpstr>Montserrat</vt:lpstr>
      <vt:lpstr>Monochrome Strong Yellow Theme for Marketing by Slidesgo</vt:lpstr>
      <vt:lpstr>PowerPoint Presentation</vt:lpstr>
      <vt:lpstr>Market Overview  </vt:lpstr>
      <vt:lpstr>Indian markets see sharp correction in Mar-26</vt:lpstr>
      <vt:lpstr>Global Markets (MSCI) – Geopolitical Impact</vt:lpstr>
      <vt:lpstr>Energy prices continue to rise in Mar-26…… </vt:lpstr>
      <vt:lpstr>…..LNG and Natural gas prices elevate in Mar-26 </vt:lpstr>
      <vt:lpstr>Global oil production leader</vt:lpstr>
      <vt:lpstr>Hormuz plays a vital role </vt:lpstr>
      <vt:lpstr>US energy resilience through supply strength</vt:lpstr>
      <vt:lpstr>US energy support weakening?</vt:lpstr>
      <vt:lpstr>US equity markets vulnerable? </vt:lpstr>
      <vt:lpstr>High US debt limits military spending ?</vt:lpstr>
      <vt:lpstr>Global bond markets unlike past cycles</vt:lpstr>
      <vt:lpstr>India more exposed to supply shocks</vt:lpstr>
      <vt:lpstr>Middle East oil shock risks higher for India</vt:lpstr>
      <vt:lpstr>India’s CAD and BoP under pressure</vt:lpstr>
      <vt:lpstr>RBI liquidity management remains key  </vt:lpstr>
      <vt:lpstr>Sector Indices performance – Mar-26</vt:lpstr>
      <vt:lpstr>Sectors update</vt:lpstr>
      <vt:lpstr>Sectors update </vt:lpstr>
      <vt:lpstr>Sectors update </vt:lpstr>
      <vt:lpstr> FIIs selling spikes in Mar-26</vt:lpstr>
      <vt:lpstr>Global Update</vt:lpstr>
      <vt:lpstr>Global interest rate unchanged  </vt:lpstr>
      <vt:lpstr>Global inflation trends remain mixed</vt:lpstr>
      <vt:lpstr>Domestic Update</vt:lpstr>
      <vt:lpstr>Macro updates </vt:lpstr>
      <vt:lpstr>Robust GST collections in Mar-26</vt:lpstr>
      <vt:lpstr>PMI : Manufacturing  Strengthens </vt:lpstr>
      <vt:lpstr>Outlook – Medium Term</vt:lpstr>
      <vt:lpstr>Key Risks</vt:lpstr>
      <vt:lpstr>Disclaimer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Ramaraju</dc:creator>
  <cp:lastModifiedBy>Sheetal Keswani</cp:lastModifiedBy>
  <cp:revision>2322</cp:revision>
  <dcterms:modified xsi:type="dcterms:W3CDTF">2026-04-13T07:42:17Z</dcterms:modified>
</cp:coreProperties>
</file>